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55"/>
  </p:notesMasterIdLst>
  <p:sldIdLst>
    <p:sldId id="309"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0" roundtripDataSignature="AMtx7mi92yNh5SZOM8R2WRUVxhxruPIc5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1FDF5B3-072C-431E-B7EF-4AB523532A8C}">
  <a:tblStyle styleId="{F1FDF5B3-072C-431E-B7EF-4AB523532A8C}"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C95FAF0B-75DE-49B8-8A69-EB26AC6AE8BD}"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0" d="100"/>
          <a:sy n="130" d="100"/>
        </p:scale>
        <p:origin x="82" y="187"/>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customschemas.google.com/relationships/presentationmetadata" Target="metadata"/><Relationship Id="rId65"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yur M" userId="4f169486fe4141b2" providerId="LiveId" clId="{55D0DEFB-2E76-4D5D-B212-C4B8A18F8203}"/>
    <pc:docChg chg="modSld">
      <pc:chgData name="Mayur M" userId="4f169486fe4141b2" providerId="LiveId" clId="{55D0DEFB-2E76-4D5D-B212-C4B8A18F8203}" dt="2026-05-24T11:30:05.525" v="2" actId="14100"/>
      <pc:docMkLst>
        <pc:docMk/>
      </pc:docMkLst>
      <pc:sldChg chg="modSp mod">
        <pc:chgData name="Mayur M" userId="4f169486fe4141b2" providerId="LiveId" clId="{55D0DEFB-2E76-4D5D-B212-C4B8A18F8203}" dt="2026-05-24T11:30:05.525" v="2" actId="14100"/>
        <pc:sldMkLst>
          <pc:docMk/>
          <pc:sldMk cId="0" sldId="272"/>
        </pc:sldMkLst>
        <pc:picChg chg="mod">
          <ac:chgData name="Mayur M" userId="4f169486fe4141b2" providerId="LiveId" clId="{55D0DEFB-2E76-4D5D-B212-C4B8A18F8203}" dt="2026-05-24T11:30:05.525" v="2" actId="14100"/>
          <ac:picMkLst>
            <pc:docMk/>
            <pc:sldMk cId="0" sldId="272"/>
            <ac:picMk id="190"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lnSpc>
                  <a:spcPct val="100000"/>
                </a:lnSpc>
                <a:spcBef>
                  <a:spcPts val="0"/>
                </a:spcBef>
                <a:spcAft>
                  <a:spcPts val="0"/>
                </a:spcAft>
                <a:buClr>
                  <a:srgbClr val="000000"/>
                </a:buClr>
                <a:buSzPts val="1200"/>
                <a:buFont typeface="Arial"/>
                <a:buNone/>
              </a:p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
        <p:nvSpPr>
          <p:cNvPr id="80" name="Google Shape;8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84" name="Google Shape;8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90" name="Google Shape;9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97" name="Google Shape;9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04" name="Google Shape;10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1" name="Google Shape;11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8" name="Google Shape;11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25" name="Google Shape;12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32" name="Google Shape;132;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39" name="Google Shape;139;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46" name="Google Shape;146;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6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p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59" name="Google Shape;159;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66" name="Google Shape;166;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73" name="Google Shape;173;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80" name="Google Shape;180;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87" name="Google Shape;187;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94" name="Google Shape;194;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201" name="Google Shape;201;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208" name="Google Shape;208;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215" name="Google Shape;215;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222" name="Google Shape;222;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229" name="Google Shape;229;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236" name="Google Shape;236;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243" name="Google Shape;243;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250" name="Google Shape;250;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257" name="Google Shape;257;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264" name="Google Shape;264;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271" name="Google Shape;271;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278" name="Google Shape;278;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285" name="Google Shape;285;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292" name="Google Shape;292;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299" name="Google Shape;299;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306" name="Google Shape;306;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313" name="Google Shape;313;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320" name="Google Shape;320;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6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7" name="Google Shape;327;p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6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4" name="Google Shape;334;p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339" name="Google Shape;339;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345" name="Google Shape;345;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353" name="Google Shape;353;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361" name="Google Shape;361;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369" name="Google Shape;369;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7" name="Google Shape;377;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7" name="Google Shape;387;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6" name="Google Shape;396;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4" name="Google Shape;404;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3" name="Google Shape;413;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p4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3" name="Google Shape;423;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p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0" name="Google Shape;430;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p4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9" name="Google Shape;439;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p4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9" name="Google Shape;449;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p5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
        <p:nvSpPr>
          <p:cNvPr id="458" name="Google Shape;458;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52"/>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52"/>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52"/>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53"/>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53"/>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2" name="Google Shape;22;p53"/>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53"/>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53"/>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5"/>
        <p:cNvGrpSpPr/>
        <p:nvPr/>
      </p:nvGrpSpPr>
      <p:grpSpPr>
        <a:xfrm>
          <a:off x="0" y="0"/>
          <a:ext cx="0" cy="0"/>
          <a:chOff x="0" y="0"/>
          <a:chExt cx="0" cy="0"/>
        </a:xfrm>
      </p:grpSpPr>
      <p:sp>
        <p:nvSpPr>
          <p:cNvPr id="26" name="Google Shape;26;p54"/>
          <p:cNvSpPr txBox="1">
            <a:spLocks noGrp="1"/>
          </p:cNvSpPr>
          <p:nvPr>
            <p:ph type="ctrTitle"/>
          </p:nvPr>
        </p:nvSpPr>
        <p:spPr>
          <a:xfrm>
            <a:off x="685800" y="1597819"/>
            <a:ext cx="7772400" cy="1102519"/>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54"/>
          <p:cNvSpPr txBox="1">
            <a:spLocks noGrp="1"/>
          </p:cNvSpPr>
          <p:nvPr>
            <p:ph type="subTitle" idx="1"/>
          </p:nvPr>
        </p:nvSpPr>
        <p:spPr>
          <a:xfrm>
            <a:off x="1371600" y="2914650"/>
            <a:ext cx="6400800" cy="131445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28" name="Google Shape;28;p54"/>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54"/>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54"/>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55"/>
          <p:cNvSpPr txBox="1">
            <a:spLocks noGrp="1"/>
          </p:cNvSpPr>
          <p:nvPr>
            <p:ph type="title"/>
          </p:nvPr>
        </p:nvSpPr>
        <p:spPr>
          <a:xfrm>
            <a:off x="722313" y="3305176"/>
            <a:ext cx="7772400" cy="1021556"/>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55"/>
          <p:cNvSpPr txBox="1">
            <a:spLocks noGrp="1"/>
          </p:cNvSpPr>
          <p:nvPr>
            <p:ph type="body" idx="1"/>
          </p:nvPr>
        </p:nvSpPr>
        <p:spPr>
          <a:xfrm>
            <a:off x="722313" y="2180035"/>
            <a:ext cx="7772400" cy="1125140"/>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4" name="Google Shape;34;p55"/>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5"/>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55"/>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56"/>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56"/>
          <p:cNvSpPr txBox="1">
            <a:spLocks noGrp="1"/>
          </p:cNvSpPr>
          <p:nvPr>
            <p:ph type="body" idx="1"/>
          </p:nvPr>
        </p:nvSpPr>
        <p:spPr>
          <a:xfrm>
            <a:off x="457200" y="1200151"/>
            <a:ext cx="4038600" cy="3394472"/>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40" name="Google Shape;40;p56"/>
          <p:cNvSpPr txBox="1">
            <a:spLocks noGrp="1"/>
          </p:cNvSpPr>
          <p:nvPr>
            <p:ph type="body" idx="2"/>
          </p:nvPr>
        </p:nvSpPr>
        <p:spPr>
          <a:xfrm>
            <a:off x="4648200" y="1200151"/>
            <a:ext cx="4038600" cy="3394472"/>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41" name="Google Shape;41;p56"/>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56"/>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56"/>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4"/>
        <p:cNvGrpSpPr/>
        <p:nvPr/>
      </p:nvGrpSpPr>
      <p:grpSpPr>
        <a:xfrm>
          <a:off x="0" y="0"/>
          <a:ext cx="0" cy="0"/>
          <a:chOff x="0" y="0"/>
          <a:chExt cx="0" cy="0"/>
        </a:xfrm>
      </p:grpSpPr>
      <p:sp>
        <p:nvSpPr>
          <p:cNvPr id="45" name="Google Shape;45;p58"/>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58"/>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58"/>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58"/>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9"/>
        <p:cNvGrpSpPr/>
        <p:nvPr/>
      </p:nvGrpSpPr>
      <p:grpSpPr>
        <a:xfrm>
          <a:off x="0" y="0"/>
          <a:ext cx="0" cy="0"/>
          <a:chOff x="0" y="0"/>
          <a:chExt cx="0" cy="0"/>
        </a:xfrm>
      </p:grpSpPr>
      <p:sp>
        <p:nvSpPr>
          <p:cNvPr id="50" name="Google Shape;50;p59"/>
          <p:cNvSpPr txBox="1">
            <a:spLocks noGrp="1"/>
          </p:cNvSpPr>
          <p:nvPr>
            <p:ph type="title"/>
          </p:nvPr>
        </p:nvSpPr>
        <p:spPr>
          <a:xfrm>
            <a:off x="457201" y="204787"/>
            <a:ext cx="3008313" cy="8715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59"/>
          <p:cNvSpPr txBox="1">
            <a:spLocks noGrp="1"/>
          </p:cNvSpPr>
          <p:nvPr>
            <p:ph type="body" idx="1"/>
          </p:nvPr>
        </p:nvSpPr>
        <p:spPr>
          <a:xfrm>
            <a:off x="3575050" y="204788"/>
            <a:ext cx="5111750" cy="4389835"/>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52" name="Google Shape;52;p59"/>
          <p:cNvSpPr txBox="1">
            <a:spLocks noGrp="1"/>
          </p:cNvSpPr>
          <p:nvPr>
            <p:ph type="body" idx="2"/>
          </p:nvPr>
        </p:nvSpPr>
        <p:spPr>
          <a:xfrm>
            <a:off x="457201" y="1076326"/>
            <a:ext cx="3008313" cy="3518297"/>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53" name="Google Shape;53;p59"/>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59"/>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59"/>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6"/>
        <p:cNvGrpSpPr/>
        <p:nvPr/>
      </p:nvGrpSpPr>
      <p:grpSpPr>
        <a:xfrm>
          <a:off x="0" y="0"/>
          <a:ext cx="0" cy="0"/>
          <a:chOff x="0" y="0"/>
          <a:chExt cx="0" cy="0"/>
        </a:xfrm>
      </p:grpSpPr>
      <p:sp>
        <p:nvSpPr>
          <p:cNvPr id="57" name="Google Shape;57;p60"/>
          <p:cNvSpPr txBox="1">
            <a:spLocks noGrp="1"/>
          </p:cNvSpPr>
          <p:nvPr>
            <p:ph type="title"/>
          </p:nvPr>
        </p:nvSpPr>
        <p:spPr>
          <a:xfrm>
            <a:off x="1792288" y="3600450"/>
            <a:ext cx="5486400" cy="425054"/>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60"/>
          <p:cNvSpPr>
            <a:spLocks noGrp="1"/>
          </p:cNvSpPr>
          <p:nvPr>
            <p:ph type="pic" idx="2"/>
          </p:nvPr>
        </p:nvSpPr>
        <p:spPr>
          <a:xfrm>
            <a:off x="1792288" y="459581"/>
            <a:ext cx="5486400" cy="3086100"/>
          </a:xfrm>
          <a:prstGeom prst="rect">
            <a:avLst/>
          </a:prstGeom>
          <a:noFill/>
          <a:ln>
            <a:noFill/>
          </a:ln>
        </p:spPr>
      </p:sp>
      <p:sp>
        <p:nvSpPr>
          <p:cNvPr id="59" name="Google Shape;59;p60"/>
          <p:cNvSpPr txBox="1">
            <a:spLocks noGrp="1"/>
          </p:cNvSpPr>
          <p:nvPr>
            <p:ph type="body" idx="1"/>
          </p:nvPr>
        </p:nvSpPr>
        <p:spPr>
          <a:xfrm>
            <a:off x="1792288" y="4025503"/>
            <a:ext cx="5486400" cy="603647"/>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0" name="Google Shape;60;p60"/>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60"/>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60"/>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3"/>
        <p:cNvGrpSpPr/>
        <p:nvPr/>
      </p:nvGrpSpPr>
      <p:grpSpPr>
        <a:xfrm>
          <a:off x="0" y="0"/>
          <a:ext cx="0" cy="0"/>
          <a:chOff x="0" y="0"/>
          <a:chExt cx="0" cy="0"/>
        </a:xfrm>
      </p:grpSpPr>
      <p:sp>
        <p:nvSpPr>
          <p:cNvPr id="64" name="Google Shape;64;p61"/>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61"/>
          <p:cNvSpPr txBox="1">
            <a:spLocks noGrp="1"/>
          </p:cNvSpPr>
          <p:nvPr>
            <p:ph type="body" idx="1"/>
          </p:nvPr>
        </p:nvSpPr>
        <p:spPr>
          <a:xfrm rot="5400000">
            <a:off x="2874764" y="-1217413"/>
            <a:ext cx="3394472"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66" name="Google Shape;66;p61"/>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61"/>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61"/>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9"/>
        <p:cNvGrpSpPr/>
        <p:nvPr/>
      </p:nvGrpSpPr>
      <p:grpSpPr>
        <a:xfrm>
          <a:off x="0" y="0"/>
          <a:ext cx="0" cy="0"/>
          <a:chOff x="0" y="0"/>
          <a:chExt cx="0" cy="0"/>
        </a:xfrm>
      </p:grpSpPr>
      <p:sp>
        <p:nvSpPr>
          <p:cNvPr id="70" name="Google Shape;70;p62"/>
          <p:cNvSpPr txBox="1">
            <a:spLocks noGrp="1"/>
          </p:cNvSpPr>
          <p:nvPr>
            <p:ph type="title"/>
          </p:nvPr>
        </p:nvSpPr>
        <p:spPr>
          <a:xfrm rot="5400000">
            <a:off x="5463778" y="1371601"/>
            <a:ext cx="4388644"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62"/>
          <p:cNvSpPr txBox="1">
            <a:spLocks noGrp="1"/>
          </p:cNvSpPr>
          <p:nvPr>
            <p:ph type="body" idx="1"/>
          </p:nvPr>
        </p:nvSpPr>
        <p:spPr>
          <a:xfrm rot="5400000">
            <a:off x="1272778" y="-609599"/>
            <a:ext cx="4388644"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2" name="Google Shape;72;p62"/>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62"/>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62"/>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1"/>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1"/>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51"/>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1"/>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1"/>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8.png"/></Relationships>
</file>

<file path=ppt/slides/_rels/slide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5.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10.png"/></Relationships>
</file>

<file path=ppt/slides/_rels/slide4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8.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14.png"/></Relationships>
</file>

<file path=ppt/slides/_rels/slide4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51.xml.rels><?xml version="1.0" encoding="UTF-8" standalone="yes"?>
<Relationships xmlns="http://schemas.openxmlformats.org/package/2006/relationships"><Relationship Id="rId3" Type="http://schemas.openxmlformats.org/officeDocument/2006/relationships/hyperlink" Target="https://en.wikipedia.org/wiki/Linear_algebra" TargetMode="External"/><Relationship Id="rId7"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hyperlink" Target="https://en.wikipedia.org/wiki/Matrix_(mathematics)" TargetMode="External"/></Relationships>
</file>

<file path=ppt/slides/_rels/slide5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
          <p:cNvSpPr txBox="1"/>
          <p:nvPr/>
        </p:nvSpPr>
        <p:spPr>
          <a:xfrm>
            <a:off x="1830418" y="715766"/>
            <a:ext cx="5951700" cy="1979365"/>
          </a:xfrm>
          <a:prstGeom prst="rect">
            <a:avLst/>
          </a:prstGeom>
          <a:noFill/>
          <a:ln>
            <a:noFill/>
          </a:ln>
        </p:spPr>
        <p:txBody>
          <a:bodyPr spcFirstLastPara="1" wrap="square" lIns="51400" tIns="25700" rIns="51400" bIns="25700" anchor="t" anchorCtr="0">
            <a:spAutoFit/>
          </a:bodyPr>
          <a:lstStyle/>
          <a:p>
            <a:pPr marL="2400300" marR="0" lvl="0" indent="342900" algn="l" rtl="0">
              <a:lnSpc>
                <a:spcPct val="100000"/>
              </a:lnSpc>
              <a:spcBef>
                <a:spcPts val="0"/>
              </a:spcBef>
              <a:spcAft>
                <a:spcPts val="0"/>
              </a:spcAft>
              <a:buClr>
                <a:srgbClr val="000000"/>
              </a:buClr>
              <a:buSzPts val="4875"/>
              <a:buFont typeface="Arial"/>
              <a:buNone/>
            </a:pPr>
            <a:r>
              <a:rPr lang="en-US" sz="4875" b="1" i="0" u="none" strike="noStrike" cap="none" dirty="0">
                <a:solidFill>
                  <a:srgbClr val="FF0000"/>
                </a:solidFill>
                <a:latin typeface="Calibri"/>
                <a:ea typeface="Calibri"/>
                <a:cs typeface="Calibri"/>
                <a:sym typeface="Calibri"/>
              </a:rPr>
              <a:t>C </a:t>
            </a:r>
            <a:endParaRPr sz="4875" b="1" i="0" u="none" strike="noStrike" cap="none">
              <a:solidFill>
                <a:srgbClr val="FF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550"/>
              <a:buFont typeface="Arial"/>
              <a:buNone/>
            </a:pPr>
            <a:r>
              <a:rPr lang="en-US" sz="2550" b="1" i="0" u="none" strike="noStrike" cap="none" dirty="0">
                <a:solidFill>
                  <a:srgbClr val="000000"/>
                </a:solidFill>
                <a:latin typeface="Calibri"/>
                <a:ea typeface="Calibri"/>
                <a:cs typeface="Calibri"/>
                <a:sym typeface="Calibri"/>
              </a:rPr>
              <a:t>PROGRAMMING FOR PROBLEM SOLVING</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550"/>
              <a:buFont typeface="Arial"/>
              <a:buNone/>
            </a:pPr>
            <a:r>
              <a:rPr lang="en-US" sz="2550" b="1" i="0" u="none" strike="noStrike" cap="none" dirty="0">
                <a:solidFill>
                  <a:srgbClr val="000000"/>
                </a:solidFill>
                <a:latin typeface="Calibri"/>
                <a:ea typeface="Calibri"/>
                <a:cs typeface="Calibri"/>
                <a:sym typeface="Calibri"/>
              </a:rPr>
              <a:t>Unit 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550"/>
              <a:buFont typeface="Arial"/>
              <a:buNone/>
            </a:pPr>
            <a:r>
              <a:rPr lang="en-US" sz="2550" b="1" i="0" u="none" strike="noStrike" cap="none" dirty="0">
                <a:solidFill>
                  <a:srgbClr val="000000"/>
                </a:solidFill>
                <a:latin typeface="Calibri"/>
                <a:ea typeface="Calibri"/>
                <a:cs typeface="Calibri"/>
                <a:sym typeface="Calibri"/>
              </a:rPr>
              <a:t>Arrays</a:t>
            </a:r>
            <a:endParaRPr sz="2100" b="0" i="0" u="none" strike="noStrike" cap="none">
              <a:solidFill>
                <a:srgbClr val="000000"/>
              </a:solidFill>
              <a:latin typeface="Calibri"/>
              <a:ea typeface="Calibri"/>
              <a:cs typeface="Calibri"/>
              <a:sym typeface="Calibri"/>
            </a:endParaRPr>
          </a:p>
        </p:txBody>
      </p:sp>
      <p:sp>
        <p:nvSpPr>
          <p:cNvPr id="83" name="Google Shape;83;p1"/>
          <p:cNvSpPr txBox="1"/>
          <p:nvPr/>
        </p:nvSpPr>
        <p:spPr>
          <a:xfrm>
            <a:off x="1177159" y="3006090"/>
            <a:ext cx="6779681" cy="1713895"/>
          </a:xfrm>
          <a:prstGeom prst="rect">
            <a:avLst/>
          </a:prstGeom>
          <a:noFill/>
          <a:ln>
            <a:noFill/>
          </a:ln>
        </p:spPr>
        <p:txBody>
          <a:bodyPr spcFirstLastPara="1" wrap="square" lIns="51400" tIns="25700" rIns="51400" bIns="2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rgbClr val="00B0F0"/>
                </a:solidFill>
                <a:latin typeface="Calibri"/>
                <a:ea typeface="Calibri"/>
                <a:cs typeface="Calibri"/>
                <a:sym typeface="Calibri"/>
              </a:rPr>
              <a:t>Course Code: 2</a:t>
            </a:r>
            <a:r>
              <a:rPr lang="en-US" sz="1800" b="1" dirty="0">
                <a:solidFill>
                  <a:srgbClr val="00B0F0"/>
                </a:solidFill>
                <a:latin typeface="Calibri"/>
                <a:ea typeface="Calibri"/>
                <a:cs typeface="Calibri"/>
                <a:sym typeface="Calibri"/>
              </a:rPr>
              <a:t>5</a:t>
            </a:r>
            <a:r>
              <a:rPr lang="en-US" sz="1800" b="1" i="0" u="none" strike="noStrike" cap="none" dirty="0">
                <a:solidFill>
                  <a:srgbClr val="00B0F0"/>
                </a:solidFill>
                <a:latin typeface="Calibri"/>
                <a:ea typeface="Calibri"/>
                <a:cs typeface="Calibri"/>
                <a:sym typeface="Calibri"/>
              </a:rPr>
              <a:t>EN</a:t>
            </a:r>
            <a:r>
              <a:rPr lang="en-US" sz="1800" b="1" dirty="0">
                <a:solidFill>
                  <a:srgbClr val="00B0F0"/>
                </a:solidFill>
                <a:latin typeface="Calibri"/>
                <a:ea typeface="Calibri"/>
                <a:cs typeface="Calibri"/>
                <a:sym typeface="Calibri"/>
              </a:rPr>
              <a:t>1114</a:t>
            </a:r>
            <a:endParaRPr sz="788"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800" b="1" i="0" u="none" strike="noStrike" cap="none" dirty="0">
                <a:solidFill>
                  <a:srgbClr val="000000"/>
                </a:solidFill>
                <a:latin typeface="Calibri"/>
                <a:ea typeface="Calibri"/>
                <a:cs typeface="Calibri"/>
                <a:sym typeface="Calibri"/>
              </a:rPr>
              <a:t>Course </a:t>
            </a:r>
            <a:r>
              <a:rPr lang="en-US" sz="1800" b="1" i="0" u="none" strike="noStrike" cap="none" dirty="0" err="1">
                <a:solidFill>
                  <a:srgbClr val="000000"/>
                </a:solidFill>
                <a:latin typeface="Calibri"/>
                <a:ea typeface="Calibri"/>
                <a:cs typeface="Calibri"/>
                <a:sym typeface="Calibri"/>
              </a:rPr>
              <a:t>Course</a:t>
            </a:r>
            <a:r>
              <a:rPr lang="en-US" sz="1800" b="1" i="0" u="none" strike="noStrike" cap="none" dirty="0">
                <a:solidFill>
                  <a:srgbClr val="000000"/>
                </a:solidFill>
                <a:latin typeface="Calibri"/>
                <a:ea typeface="Calibri"/>
                <a:cs typeface="Calibri"/>
                <a:sym typeface="Calibri"/>
              </a:rPr>
              <a:t> Coordinator(s) : </a:t>
            </a:r>
            <a:r>
              <a:rPr lang="en-US" sz="1800" b="0" i="0" u="none" strike="noStrike" cap="none" dirty="0">
                <a:solidFill>
                  <a:srgbClr val="000000"/>
                </a:solidFill>
                <a:latin typeface="Calibri"/>
                <a:ea typeface="Calibri"/>
                <a:cs typeface="Calibri"/>
                <a:sym typeface="Calibri"/>
              </a:rPr>
              <a:t>Dr. SR</a:t>
            </a:r>
            <a:r>
              <a:rPr lang="en-US" sz="1800" dirty="0">
                <a:latin typeface="Calibri"/>
                <a:ea typeface="Calibri"/>
                <a:cs typeface="Calibri"/>
                <a:sym typeface="Calibri"/>
              </a:rPr>
              <a:t>IKANTH</a:t>
            </a:r>
            <a:r>
              <a:rPr lang="en-US" sz="1800" b="0" i="0" u="none" strike="noStrike" cap="none" dirty="0">
                <a:solidFill>
                  <a:srgbClr val="000000"/>
                </a:solidFill>
                <a:latin typeface="Calibri"/>
                <a:ea typeface="Calibri"/>
                <a:cs typeface="Calibri"/>
                <a:sym typeface="Calibri"/>
              </a:rPr>
              <a:t>/TANAYA BALA BEHERA</a:t>
            </a:r>
            <a:r>
              <a:rPr lang="en-US" sz="1800" b="1" i="0" u="none" strike="noStrike" cap="none" dirty="0">
                <a:solidFill>
                  <a:srgbClr val="000000"/>
                </a:solidFill>
                <a:latin typeface="Calibri"/>
                <a:ea typeface="Calibri"/>
                <a:cs typeface="Calibri"/>
                <a:sym typeface="Calibri"/>
              </a:rPr>
              <a:t> </a:t>
            </a:r>
          </a:p>
          <a:p>
            <a:pPr marL="0" marR="0" lvl="0" indent="0" algn="l" rtl="0">
              <a:lnSpc>
                <a:spcPct val="100000"/>
              </a:lnSpc>
              <a:spcBef>
                <a:spcPts val="0"/>
              </a:spcBef>
              <a:spcAft>
                <a:spcPts val="0"/>
              </a:spcAft>
              <a:buNone/>
            </a:pPr>
            <a:r>
              <a:rPr lang="en-US" sz="1800" b="1" i="0" u="none" strike="noStrike" cap="none" dirty="0">
                <a:solidFill>
                  <a:srgbClr val="000000"/>
                </a:solidFill>
                <a:latin typeface="Calibri"/>
                <a:ea typeface="Calibri"/>
                <a:cs typeface="Calibri"/>
                <a:sym typeface="Calibri"/>
              </a:rPr>
              <a:t>Course Instructor  :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rgbClr val="000000"/>
                </a:solidFill>
                <a:latin typeface="Calibri"/>
                <a:ea typeface="Calibri"/>
                <a:cs typeface="Calibri"/>
                <a:sym typeface="Calibri"/>
              </a:rPr>
              <a:t>Academic Year: 2025–2026</a:t>
            </a:r>
            <a:endParaRPr sz="18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Calibri"/>
                <a:ea typeface="Calibri"/>
                <a:cs typeface="Calibri"/>
                <a:sym typeface="Calibri"/>
              </a:rPr>
              <a:t>Year </a:t>
            </a:r>
            <a:r>
              <a:rPr lang="en-US" sz="1800" b="0" i="0" u="none" strike="noStrike" cap="none" dirty="0">
                <a:solidFill>
                  <a:schemeClr val="dk1"/>
                </a:solidFill>
                <a:latin typeface="Calibri"/>
                <a:ea typeface="Calibri"/>
                <a:cs typeface="Calibri"/>
                <a:sym typeface="Calibri"/>
              </a:rPr>
              <a:t>:</a:t>
            </a:r>
            <a:r>
              <a:rPr lang="en-US" sz="1800" b="0" i="0" u="none" strike="noStrike" cap="none" dirty="0">
                <a:solidFill>
                  <a:srgbClr val="000000"/>
                </a:solidFill>
                <a:latin typeface="Calibri"/>
                <a:ea typeface="Calibri"/>
                <a:cs typeface="Calibri"/>
                <a:sym typeface="Calibri"/>
              </a:rPr>
              <a:t>1st  </a:t>
            </a:r>
            <a:endParaRPr sz="18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Calibri"/>
                <a:ea typeface="Calibri"/>
                <a:cs typeface="Calibri"/>
                <a:sym typeface="Calibri"/>
              </a:rPr>
              <a:t>Semester : II</a:t>
            </a:r>
            <a:endParaRPr sz="788" b="0" i="0" u="none" strike="noStrike" cap="none">
              <a:solidFill>
                <a:srgbClr val="000000"/>
              </a:solidFill>
              <a:latin typeface="Arial"/>
              <a:ea typeface="Arial"/>
              <a:cs typeface="Arial"/>
              <a:sym typeface="Arial"/>
            </a:endParaRPr>
          </a:p>
        </p:txBody>
      </p:sp>
      <p:pic>
        <p:nvPicPr>
          <p:cNvPr id="84" name="Google Shape;84;p1"/>
          <p:cNvPicPr preferRelativeResize="0"/>
          <p:nvPr/>
        </p:nvPicPr>
        <p:blipFill rotWithShape="1">
          <a:blip r:embed="rId3">
            <a:alphaModFix/>
          </a:blip>
          <a:srcRect/>
          <a:stretch/>
        </p:blipFill>
        <p:spPr>
          <a:xfrm>
            <a:off x="7239000" y="7783"/>
            <a:ext cx="1653683" cy="61727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2"/>
          <p:cNvSpPr txBox="1">
            <a:spLocks noGrp="1"/>
          </p:cNvSpPr>
          <p:nvPr>
            <p:ph type="title"/>
          </p:nvPr>
        </p:nvSpPr>
        <p:spPr>
          <a:xfrm>
            <a:off x="914400" y="2114550"/>
            <a:ext cx="7886700" cy="994172"/>
          </a:xfrm>
          <a:prstGeom prst="rect">
            <a:avLst/>
          </a:prstGeom>
          <a:noFill/>
          <a:ln>
            <a:noFill/>
          </a:ln>
        </p:spPr>
        <p:txBody>
          <a:bodyPr spcFirstLastPara="1" wrap="square" lIns="68550" tIns="34275" rIns="68550" bIns="34275" anchor="ctr" anchorCtr="0">
            <a:normAutofit fontScale="90000"/>
          </a:bodyPr>
          <a:lstStyle/>
          <a:p>
            <a:pPr marL="0" lvl="0" indent="0" algn="ctr" rtl="0">
              <a:lnSpc>
                <a:spcPct val="90000"/>
              </a:lnSpc>
              <a:spcBef>
                <a:spcPts val="0"/>
              </a:spcBef>
              <a:spcAft>
                <a:spcPts val="0"/>
              </a:spcAft>
              <a:buClr>
                <a:schemeClr val="dk1"/>
              </a:buClr>
              <a:buSzPct val="111111"/>
              <a:buFont typeface="Calibri"/>
              <a:buNone/>
            </a:pPr>
            <a:r>
              <a:rPr lang="en-US" b="1"/>
              <a:t>Applications of One Dimensional Array</a:t>
            </a:r>
            <a:endParaRPr b="1"/>
          </a:p>
        </p:txBody>
      </p:sp>
      <p:pic>
        <p:nvPicPr>
          <p:cNvPr id="87" name="Google Shape;87;p2"/>
          <p:cNvPicPr preferRelativeResize="0"/>
          <p:nvPr/>
        </p:nvPicPr>
        <p:blipFill rotWithShape="1">
          <a:blip r:embed="rId3">
            <a:alphaModFix/>
          </a:blip>
          <a:srcRect/>
          <a:stretch/>
        </p:blipFill>
        <p:spPr>
          <a:xfrm>
            <a:off x="7239000" y="7783"/>
            <a:ext cx="1653683" cy="61727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6"/>
                                        </p:tgtEl>
                                        <p:attrNameLst>
                                          <p:attrName>style.visibility</p:attrName>
                                        </p:attrNameLst>
                                      </p:cBhvr>
                                      <p:to>
                                        <p:strVal val="visible"/>
                                      </p:to>
                                    </p:set>
                                    <p:animEffect transition="in" filter="fade">
                                      <p:cBhvr>
                                        <p:cTn id="7" dur="10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3"/>
          <p:cNvSpPr txBox="1">
            <a:spLocks noGrp="1"/>
          </p:cNvSpPr>
          <p:nvPr>
            <p:ph type="title"/>
          </p:nvPr>
        </p:nvSpPr>
        <p:spPr>
          <a:xfrm>
            <a:off x="628650" y="273844"/>
            <a:ext cx="7886700" cy="994172"/>
          </a:xfrm>
          <a:prstGeom prst="rect">
            <a:avLst/>
          </a:prstGeom>
          <a:noFill/>
          <a:ln>
            <a:noFill/>
          </a:ln>
        </p:spPr>
        <p:txBody>
          <a:bodyPr spcFirstLastPara="1" wrap="square" lIns="68550" tIns="34275" rIns="68550" bIns="34275"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Linear Search</a:t>
            </a:r>
            <a:endParaRPr b="1"/>
          </a:p>
        </p:txBody>
      </p:sp>
      <p:sp>
        <p:nvSpPr>
          <p:cNvPr id="93" name="Google Shape;93;p3"/>
          <p:cNvSpPr txBox="1">
            <a:spLocks noGrp="1"/>
          </p:cNvSpPr>
          <p:nvPr>
            <p:ph type="body" idx="1"/>
          </p:nvPr>
        </p:nvSpPr>
        <p:spPr>
          <a:xfrm>
            <a:off x="628650" y="1369219"/>
            <a:ext cx="7886700" cy="2567587"/>
          </a:xfrm>
          <a:prstGeom prst="rect">
            <a:avLst/>
          </a:prstGeom>
          <a:noFill/>
          <a:ln>
            <a:noFill/>
          </a:ln>
        </p:spPr>
        <p:txBody>
          <a:bodyPr spcFirstLastPara="1" wrap="square" lIns="68550" tIns="34275" rIns="68550" bIns="34275" anchor="t" anchorCtr="0">
            <a:normAutofit fontScale="92500"/>
          </a:bodyPr>
          <a:lstStyle/>
          <a:p>
            <a:pPr marL="171450" lvl="0" indent="-171450" algn="just" rtl="0">
              <a:lnSpc>
                <a:spcPct val="90000"/>
              </a:lnSpc>
              <a:spcBef>
                <a:spcPts val="0"/>
              </a:spcBef>
              <a:spcAft>
                <a:spcPts val="0"/>
              </a:spcAft>
              <a:buClr>
                <a:schemeClr val="dk1"/>
              </a:buClr>
              <a:buSzPct val="126126"/>
              <a:buChar char="•"/>
            </a:pPr>
            <a:r>
              <a:rPr lang="en-US" sz="2400" b="1"/>
              <a:t> What is Linear Search?</a:t>
            </a:r>
            <a:endParaRPr/>
          </a:p>
          <a:p>
            <a:pPr marL="400050" lvl="1" indent="0" algn="just" rtl="0">
              <a:lnSpc>
                <a:spcPct val="200000"/>
              </a:lnSpc>
              <a:spcBef>
                <a:spcPts val="0"/>
              </a:spcBef>
              <a:spcAft>
                <a:spcPts val="0"/>
              </a:spcAft>
              <a:buClr>
                <a:schemeClr val="dk1"/>
              </a:buClr>
              <a:buSzPct val="126126"/>
              <a:buNone/>
            </a:pPr>
            <a:r>
              <a:rPr lang="en-US" sz="2400"/>
              <a:t>Linear search is a method for finding a specific element (target) in a list or array by checking each element one by one, from start to end, until the target is found or the list ends.</a:t>
            </a:r>
            <a:endParaRPr sz="2400"/>
          </a:p>
        </p:txBody>
      </p:sp>
      <p:pic>
        <p:nvPicPr>
          <p:cNvPr id="94" name="Google Shape;94;p3"/>
          <p:cNvPicPr preferRelativeResize="0"/>
          <p:nvPr/>
        </p:nvPicPr>
        <p:blipFill rotWithShape="1">
          <a:blip r:embed="rId3">
            <a:alphaModFix/>
          </a:blip>
          <a:srcRect/>
          <a:stretch/>
        </p:blipFill>
        <p:spPr>
          <a:xfrm>
            <a:off x="7239000" y="7783"/>
            <a:ext cx="1653683" cy="61727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2"/>
                                        </p:tgtEl>
                                        <p:attrNameLst>
                                          <p:attrName>style.visibility</p:attrName>
                                        </p:attrNameLst>
                                      </p:cBhvr>
                                      <p:to>
                                        <p:strVal val="visible"/>
                                      </p:to>
                                    </p:set>
                                    <p:animEffect transition="in" filter="fade">
                                      <p:cBhvr>
                                        <p:cTn id="7" dur="1000"/>
                                        <p:tgtEl>
                                          <p:spTgt spid="9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93">
                                            <p:txEl>
                                              <p:pRg st="0" end="0"/>
                                            </p:txEl>
                                          </p:spTgt>
                                        </p:tgtEl>
                                        <p:attrNameLst>
                                          <p:attrName>style.visibility</p:attrName>
                                        </p:attrNameLst>
                                      </p:cBhvr>
                                      <p:to>
                                        <p:strVal val="visible"/>
                                      </p:to>
                                    </p:set>
                                    <p:anim calcmode="lin" valueType="num">
                                      <p:cBhvr additive="base">
                                        <p:cTn id="12" dur="500"/>
                                        <p:tgtEl>
                                          <p:spTgt spid="9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93">
                                            <p:txEl>
                                              <p:pRg st="1" end="1"/>
                                            </p:txEl>
                                          </p:spTgt>
                                        </p:tgtEl>
                                        <p:attrNameLst>
                                          <p:attrName>style.visibility</p:attrName>
                                        </p:attrNameLst>
                                      </p:cBhvr>
                                      <p:to>
                                        <p:strVal val="visible"/>
                                      </p:to>
                                    </p:set>
                                    <p:anim calcmode="lin" valueType="num">
                                      <p:cBhvr additive="base">
                                        <p:cTn id="17" dur="500"/>
                                        <p:tgtEl>
                                          <p:spTgt spid="9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4"/>
          <p:cNvSpPr txBox="1">
            <a:spLocks noGrp="1"/>
          </p:cNvSpPr>
          <p:nvPr>
            <p:ph type="title"/>
          </p:nvPr>
        </p:nvSpPr>
        <p:spPr>
          <a:xfrm>
            <a:off x="628650" y="273844"/>
            <a:ext cx="7886700" cy="994172"/>
          </a:xfrm>
          <a:prstGeom prst="rect">
            <a:avLst/>
          </a:prstGeom>
          <a:noFill/>
          <a:ln>
            <a:noFill/>
          </a:ln>
        </p:spPr>
        <p:txBody>
          <a:bodyPr spcFirstLastPara="1" wrap="square" lIns="68550" tIns="34275" rIns="68550" bIns="34275"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Linear Search</a:t>
            </a:r>
            <a:endParaRPr b="1"/>
          </a:p>
        </p:txBody>
      </p:sp>
      <p:sp>
        <p:nvSpPr>
          <p:cNvPr id="100" name="Google Shape;100;p4"/>
          <p:cNvSpPr txBox="1">
            <a:spLocks noGrp="1"/>
          </p:cNvSpPr>
          <p:nvPr>
            <p:ph type="body" idx="1"/>
          </p:nvPr>
        </p:nvSpPr>
        <p:spPr>
          <a:xfrm>
            <a:off x="628650" y="1369219"/>
            <a:ext cx="7886700" cy="3263504"/>
          </a:xfrm>
          <a:prstGeom prst="rect">
            <a:avLst/>
          </a:prstGeom>
          <a:noFill/>
          <a:ln>
            <a:noFill/>
          </a:ln>
        </p:spPr>
        <p:txBody>
          <a:bodyPr spcFirstLastPara="1" wrap="square" lIns="68550" tIns="34275" rIns="68550" bIns="34275" anchor="t" anchorCtr="0">
            <a:normAutofit fontScale="85000" lnSpcReduction="10000"/>
          </a:bodyPr>
          <a:lstStyle/>
          <a:p>
            <a:pPr marL="171450" lvl="0" indent="-171450" algn="just" rtl="0">
              <a:lnSpc>
                <a:spcPct val="90000"/>
              </a:lnSpc>
              <a:spcBef>
                <a:spcPts val="0"/>
              </a:spcBef>
              <a:spcAft>
                <a:spcPts val="0"/>
              </a:spcAft>
              <a:buClr>
                <a:schemeClr val="dk1"/>
              </a:buClr>
              <a:buSzPct val="137254"/>
              <a:buChar char="•"/>
            </a:pPr>
            <a:r>
              <a:rPr lang="en-US" sz="2400" b="1"/>
              <a:t>Linear Search Algorithm</a:t>
            </a:r>
            <a:endParaRPr/>
          </a:p>
          <a:p>
            <a:pPr marL="857250" lvl="1" indent="-457200" algn="just" rtl="0">
              <a:lnSpc>
                <a:spcPct val="150000"/>
              </a:lnSpc>
              <a:spcBef>
                <a:spcPts val="0"/>
              </a:spcBef>
              <a:spcAft>
                <a:spcPts val="0"/>
              </a:spcAft>
              <a:buClr>
                <a:schemeClr val="dk1"/>
              </a:buClr>
              <a:buSzPct val="96000"/>
              <a:buFont typeface="Calibri"/>
              <a:buAutoNum type="arabicPeriod"/>
            </a:pPr>
            <a:r>
              <a:rPr lang="en-US" sz="2000"/>
              <a:t>Start</a:t>
            </a:r>
            <a:endParaRPr/>
          </a:p>
          <a:p>
            <a:pPr marL="857250" lvl="1" indent="-457200" algn="just" rtl="0">
              <a:lnSpc>
                <a:spcPct val="150000"/>
              </a:lnSpc>
              <a:spcBef>
                <a:spcPts val="0"/>
              </a:spcBef>
              <a:spcAft>
                <a:spcPts val="0"/>
              </a:spcAft>
              <a:buClr>
                <a:schemeClr val="dk1"/>
              </a:buClr>
              <a:buSzPct val="96000"/>
              <a:buFont typeface="Calibri"/>
              <a:buAutoNum type="arabicPeriod"/>
            </a:pPr>
            <a:r>
              <a:rPr lang="en-US" sz="2000"/>
              <a:t>Input: An array arr[] of size n and the target value x.</a:t>
            </a:r>
            <a:endParaRPr/>
          </a:p>
          <a:p>
            <a:pPr marL="857250" lvl="1" indent="-457200" algn="just" rtl="0">
              <a:lnSpc>
                <a:spcPct val="150000"/>
              </a:lnSpc>
              <a:spcBef>
                <a:spcPts val="0"/>
              </a:spcBef>
              <a:spcAft>
                <a:spcPts val="0"/>
              </a:spcAft>
              <a:buClr>
                <a:schemeClr val="dk1"/>
              </a:buClr>
              <a:buSzPct val="96000"/>
              <a:buFont typeface="Calibri"/>
              <a:buAutoNum type="arabicPeriod"/>
            </a:pPr>
            <a:r>
              <a:rPr lang="en-US" sz="2000"/>
              <a:t>Loop through the array from index i = 0 to n-1:</a:t>
            </a:r>
            <a:endParaRPr/>
          </a:p>
          <a:p>
            <a:pPr marL="1143000" lvl="2" indent="-228600" algn="just" rtl="0">
              <a:lnSpc>
                <a:spcPct val="150000"/>
              </a:lnSpc>
              <a:spcBef>
                <a:spcPts val="0"/>
              </a:spcBef>
              <a:spcAft>
                <a:spcPts val="0"/>
              </a:spcAft>
              <a:buClr>
                <a:schemeClr val="dk1"/>
              </a:buClr>
              <a:buSzPct val="96000"/>
              <a:buChar char="•"/>
            </a:pPr>
            <a:r>
              <a:rPr lang="en-US" sz="2000"/>
              <a:t>If arr[i] == x:</a:t>
            </a:r>
            <a:endParaRPr/>
          </a:p>
          <a:p>
            <a:pPr marL="1714500" lvl="3" indent="-457200" algn="just" rtl="0">
              <a:lnSpc>
                <a:spcPct val="150000"/>
              </a:lnSpc>
              <a:spcBef>
                <a:spcPts val="0"/>
              </a:spcBef>
              <a:spcAft>
                <a:spcPts val="0"/>
              </a:spcAft>
              <a:buClr>
                <a:schemeClr val="dk1"/>
              </a:buClr>
              <a:buSzPct val="96000"/>
              <a:buFont typeface="Arial"/>
              <a:buChar char="•"/>
            </a:pPr>
            <a:r>
              <a:rPr lang="en-US"/>
              <a:t>Return the index i (element found).</a:t>
            </a:r>
            <a:endParaRPr/>
          </a:p>
          <a:p>
            <a:pPr marL="857250" lvl="1" indent="-457200" algn="just" rtl="0">
              <a:lnSpc>
                <a:spcPct val="150000"/>
              </a:lnSpc>
              <a:spcBef>
                <a:spcPts val="0"/>
              </a:spcBef>
              <a:spcAft>
                <a:spcPts val="0"/>
              </a:spcAft>
              <a:buClr>
                <a:schemeClr val="dk1"/>
              </a:buClr>
              <a:buSzPct val="96000"/>
              <a:buFont typeface="Calibri"/>
              <a:buAutoNum type="arabicPeriod"/>
            </a:pPr>
            <a:r>
              <a:rPr lang="en-US" sz="2000"/>
              <a:t>If the loop ends without finding the element:</a:t>
            </a:r>
            <a:endParaRPr/>
          </a:p>
          <a:p>
            <a:pPr marL="1257300" lvl="2" indent="-457198" algn="just" rtl="0">
              <a:lnSpc>
                <a:spcPct val="150000"/>
              </a:lnSpc>
              <a:spcBef>
                <a:spcPts val="0"/>
              </a:spcBef>
              <a:spcAft>
                <a:spcPts val="0"/>
              </a:spcAft>
              <a:buClr>
                <a:schemeClr val="dk1"/>
              </a:buClr>
              <a:buSzPct val="96000"/>
              <a:buChar char="•"/>
            </a:pPr>
            <a:r>
              <a:rPr lang="en-US" sz="2000"/>
              <a:t>Return -1 (element not found).</a:t>
            </a:r>
            <a:endParaRPr/>
          </a:p>
          <a:p>
            <a:pPr marL="857250" lvl="1" indent="-457200" algn="just" rtl="0">
              <a:lnSpc>
                <a:spcPct val="150000"/>
              </a:lnSpc>
              <a:spcBef>
                <a:spcPts val="0"/>
              </a:spcBef>
              <a:spcAft>
                <a:spcPts val="0"/>
              </a:spcAft>
              <a:buClr>
                <a:schemeClr val="dk1"/>
              </a:buClr>
              <a:buSzPct val="96000"/>
              <a:buFont typeface="Calibri"/>
              <a:buAutoNum type="arabicPeriod"/>
            </a:pPr>
            <a:r>
              <a:rPr lang="en-US" sz="2000"/>
              <a:t>End</a:t>
            </a:r>
            <a:endParaRPr sz="2000"/>
          </a:p>
        </p:txBody>
      </p:sp>
      <p:pic>
        <p:nvPicPr>
          <p:cNvPr id="101" name="Google Shape;101;p4"/>
          <p:cNvPicPr preferRelativeResize="0"/>
          <p:nvPr/>
        </p:nvPicPr>
        <p:blipFill rotWithShape="1">
          <a:blip r:embed="rId3">
            <a:alphaModFix/>
          </a:blip>
          <a:srcRect/>
          <a:stretch/>
        </p:blipFill>
        <p:spPr>
          <a:xfrm>
            <a:off x="7239000" y="49477"/>
            <a:ext cx="1653683" cy="61727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fade">
                                      <p:cBhvr>
                                        <p:cTn id="7" dur="1000"/>
                                        <p:tgtEl>
                                          <p:spTgt spid="9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00">
                                            <p:txEl>
                                              <p:pRg st="0" end="0"/>
                                            </p:txEl>
                                          </p:spTgt>
                                        </p:tgtEl>
                                        <p:attrNameLst>
                                          <p:attrName>style.visibility</p:attrName>
                                        </p:attrNameLst>
                                      </p:cBhvr>
                                      <p:to>
                                        <p:strVal val="visible"/>
                                      </p:to>
                                    </p:set>
                                    <p:anim calcmode="lin" valueType="num">
                                      <p:cBhvr additive="base">
                                        <p:cTn id="12" dur="500"/>
                                        <p:tgtEl>
                                          <p:spTgt spid="10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00">
                                            <p:txEl>
                                              <p:pRg st="1" end="1"/>
                                            </p:txEl>
                                          </p:spTgt>
                                        </p:tgtEl>
                                        <p:attrNameLst>
                                          <p:attrName>style.visibility</p:attrName>
                                        </p:attrNameLst>
                                      </p:cBhvr>
                                      <p:to>
                                        <p:strVal val="visible"/>
                                      </p:to>
                                    </p:set>
                                    <p:anim calcmode="lin" valueType="num">
                                      <p:cBhvr additive="base">
                                        <p:cTn id="17" dur="500"/>
                                        <p:tgtEl>
                                          <p:spTgt spid="10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00">
                                            <p:txEl>
                                              <p:pRg st="2" end="2"/>
                                            </p:txEl>
                                          </p:spTgt>
                                        </p:tgtEl>
                                        <p:attrNameLst>
                                          <p:attrName>style.visibility</p:attrName>
                                        </p:attrNameLst>
                                      </p:cBhvr>
                                      <p:to>
                                        <p:strVal val="visible"/>
                                      </p:to>
                                    </p:set>
                                    <p:anim calcmode="lin" valueType="num">
                                      <p:cBhvr additive="base">
                                        <p:cTn id="22" dur="500"/>
                                        <p:tgtEl>
                                          <p:spTgt spid="10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00">
                                            <p:txEl>
                                              <p:pRg st="3" end="3"/>
                                            </p:txEl>
                                          </p:spTgt>
                                        </p:tgtEl>
                                        <p:attrNameLst>
                                          <p:attrName>style.visibility</p:attrName>
                                        </p:attrNameLst>
                                      </p:cBhvr>
                                      <p:to>
                                        <p:strVal val="visible"/>
                                      </p:to>
                                    </p:set>
                                    <p:anim calcmode="lin" valueType="num">
                                      <p:cBhvr additive="base">
                                        <p:cTn id="27" dur="500"/>
                                        <p:tgtEl>
                                          <p:spTgt spid="10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00">
                                            <p:txEl>
                                              <p:pRg st="4" end="4"/>
                                            </p:txEl>
                                          </p:spTgt>
                                        </p:tgtEl>
                                        <p:attrNameLst>
                                          <p:attrName>style.visibility</p:attrName>
                                        </p:attrNameLst>
                                      </p:cBhvr>
                                      <p:to>
                                        <p:strVal val="visible"/>
                                      </p:to>
                                    </p:set>
                                    <p:anim calcmode="lin" valueType="num">
                                      <p:cBhvr additive="base">
                                        <p:cTn id="32" dur="500"/>
                                        <p:tgtEl>
                                          <p:spTgt spid="10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00">
                                            <p:txEl>
                                              <p:pRg st="5" end="5"/>
                                            </p:txEl>
                                          </p:spTgt>
                                        </p:tgtEl>
                                        <p:attrNameLst>
                                          <p:attrName>style.visibility</p:attrName>
                                        </p:attrNameLst>
                                      </p:cBhvr>
                                      <p:to>
                                        <p:strVal val="visible"/>
                                      </p:to>
                                    </p:set>
                                    <p:anim calcmode="lin" valueType="num">
                                      <p:cBhvr additive="base">
                                        <p:cTn id="37" dur="500"/>
                                        <p:tgtEl>
                                          <p:spTgt spid="10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100">
                                            <p:txEl>
                                              <p:pRg st="6" end="6"/>
                                            </p:txEl>
                                          </p:spTgt>
                                        </p:tgtEl>
                                        <p:attrNameLst>
                                          <p:attrName>style.visibility</p:attrName>
                                        </p:attrNameLst>
                                      </p:cBhvr>
                                      <p:to>
                                        <p:strVal val="visible"/>
                                      </p:to>
                                    </p:set>
                                    <p:anim calcmode="lin" valueType="num">
                                      <p:cBhvr additive="base">
                                        <p:cTn id="42" dur="500"/>
                                        <p:tgtEl>
                                          <p:spTgt spid="100">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100">
                                            <p:txEl>
                                              <p:pRg st="7" end="7"/>
                                            </p:txEl>
                                          </p:spTgt>
                                        </p:tgtEl>
                                        <p:attrNameLst>
                                          <p:attrName>style.visibility</p:attrName>
                                        </p:attrNameLst>
                                      </p:cBhvr>
                                      <p:to>
                                        <p:strVal val="visible"/>
                                      </p:to>
                                    </p:set>
                                    <p:anim calcmode="lin" valueType="num">
                                      <p:cBhvr additive="base">
                                        <p:cTn id="47" dur="500"/>
                                        <p:tgtEl>
                                          <p:spTgt spid="100">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100">
                                            <p:txEl>
                                              <p:pRg st="8" end="8"/>
                                            </p:txEl>
                                          </p:spTgt>
                                        </p:tgtEl>
                                        <p:attrNameLst>
                                          <p:attrName>style.visibility</p:attrName>
                                        </p:attrNameLst>
                                      </p:cBhvr>
                                      <p:to>
                                        <p:strVal val="visible"/>
                                      </p:to>
                                    </p:set>
                                    <p:anim calcmode="lin" valueType="num">
                                      <p:cBhvr additive="base">
                                        <p:cTn id="52" dur="500"/>
                                        <p:tgtEl>
                                          <p:spTgt spid="100">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5"/>
          <p:cNvSpPr txBox="1">
            <a:spLocks noGrp="1"/>
          </p:cNvSpPr>
          <p:nvPr>
            <p:ph type="title"/>
          </p:nvPr>
        </p:nvSpPr>
        <p:spPr>
          <a:xfrm>
            <a:off x="628650" y="273844"/>
            <a:ext cx="7886700" cy="994172"/>
          </a:xfrm>
          <a:prstGeom prst="rect">
            <a:avLst/>
          </a:prstGeom>
          <a:noFill/>
          <a:ln>
            <a:noFill/>
          </a:ln>
        </p:spPr>
        <p:txBody>
          <a:bodyPr spcFirstLastPara="1" wrap="square" lIns="68550" tIns="34275" rIns="68550" bIns="34275"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Linear Search</a:t>
            </a:r>
            <a:endParaRPr b="1"/>
          </a:p>
        </p:txBody>
      </p:sp>
      <p:sp>
        <p:nvSpPr>
          <p:cNvPr id="107" name="Google Shape;107;p5"/>
          <p:cNvSpPr txBox="1">
            <a:spLocks noGrp="1"/>
          </p:cNvSpPr>
          <p:nvPr>
            <p:ph type="body" idx="1"/>
          </p:nvPr>
        </p:nvSpPr>
        <p:spPr>
          <a:xfrm>
            <a:off x="628650" y="1369219"/>
            <a:ext cx="7886700" cy="3263504"/>
          </a:xfrm>
          <a:prstGeom prst="rect">
            <a:avLst/>
          </a:prstGeom>
          <a:noFill/>
          <a:ln>
            <a:noFill/>
          </a:ln>
        </p:spPr>
        <p:txBody>
          <a:bodyPr spcFirstLastPara="1" wrap="square" lIns="68550" tIns="34275" rIns="68550" bIns="34275" anchor="t" anchorCtr="0">
            <a:normAutofit/>
          </a:bodyPr>
          <a:lstStyle/>
          <a:p>
            <a:pPr marL="171450" lvl="0" indent="-171450" algn="just" rtl="0">
              <a:lnSpc>
                <a:spcPct val="90000"/>
              </a:lnSpc>
              <a:spcBef>
                <a:spcPts val="0"/>
              </a:spcBef>
              <a:spcAft>
                <a:spcPts val="0"/>
              </a:spcAft>
              <a:buClr>
                <a:schemeClr val="dk1"/>
              </a:buClr>
              <a:buSzPts val="2800"/>
              <a:buChar char="•"/>
            </a:pPr>
            <a:r>
              <a:rPr lang="en-US" sz="2000" b="1"/>
              <a:t>Problem</a:t>
            </a:r>
            <a:endParaRPr/>
          </a:p>
          <a:p>
            <a:pPr marL="0" lvl="0" indent="0" algn="just" rtl="0">
              <a:lnSpc>
                <a:spcPct val="90000"/>
              </a:lnSpc>
              <a:spcBef>
                <a:spcPts val="0"/>
              </a:spcBef>
              <a:spcAft>
                <a:spcPts val="0"/>
              </a:spcAft>
              <a:buClr>
                <a:schemeClr val="dk1"/>
              </a:buClr>
              <a:buSzPts val="2800"/>
              <a:buNone/>
            </a:pPr>
            <a:r>
              <a:rPr lang="en-US" sz="2000"/>
              <a:t>arr[] = {4, 7, 1, 9, 3} search for the number 9.</a:t>
            </a:r>
            <a:endParaRPr/>
          </a:p>
          <a:p>
            <a:pPr marL="342900" lvl="0" indent="-342900" algn="just" rtl="0">
              <a:lnSpc>
                <a:spcPct val="150000"/>
              </a:lnSpc>
              <a:spcBef>
                <a:spcPts val="0"/>
              </a:spcBef>
              <a:spcAft>
                <a:spcPts val="0"/>
              </a:spcAft>
              <a:buClr>
                <a:schemeClr val="dk1"/>
              </a:buClr>
              <a:buSzPts val="2800"/>
              <a:buChar char="•"/>
            </a:pPr>
            <a:r>
              <a:rPr lang="en-US" sz="2000"/>
              <a:t>Start from the first element: Compare 4 with 9 → Not a match.</a:t>
            </a:r>
            <a:endParaRPr/>
          </a:p>
          <a:p>
            <a:pPr marL="342900" lvl="0" indent="-342900" algn="just" rtl="0">
              <a:lnSpc>
                <a:spcPct val="150000"/>
              </a:lnSpc>
              <a:spcBef>
                <a:spcPts val="0"/>
              </a:spcBef>
              <a:spcAft>
                <a:spcPts val="0"/>
              </a:spcAft>
              <a:buClr>
                <a:schemeClr val="dk1"/>
              </a:buClr>
              <a:buSzPts val="2800"/>
              <a:buChar char="•"/>
            </a:pPr>
            <a:r>
              <a:rPr lang="en-US" sz="2000"/>
              <a:t>Move to the next element: Compare 7 with 9 →  Not a match.</a:t>
            </a:r>
            <a:endParaRPr/>
          </a:p>
          <a:p>
            <a:pPr marL="342900" lvl="0" indent="-342900" algn="just" rtl="0">
              <a:lnSpc>
                <a:spcPct val="150000"/>
              </a:lnSpc>
              <a:spcBef>
                <a:spcPts val="0"/>
              </a:spcBef>
              <a:spcAft>
                <a:spcPts val="0"/>
              </a:spcAft>
              <a:buClr>
                <a:schemeClr val="dk1"/>
              </a:buClr>
              <a:buSzPts val="2800"/>
              <a:buChar char="•"/>
            </a:pPr>
            <a:r>
              <a:rPr lang="en-US" sz="2000"/>
              <a:t>Move to the next: Compare 1 with 9 → Not a match.</a:t>
            </a:r>
            <a:endParaRPr/>
          </a:p>
          <a:p>
            <a:pPr marL="342900" lvl="0" indent="-342900" algn="just" rtl="0">
              <a:lnSpc>
                <a:spcPct val="150000"/>
              </a:lnSpc>
              <a:spcBef>
                <a:spcPts val="0"/>
              </a:spcBef>
              <a:spcAft>
                <a:spcPts val="0"/>
              </a:spcAft>
              <a:buClr>
                <a:schemeClr val="dk1"/>
              </a:buClr>
              <a:buSzPts val="2800"/>
              <a:buChar char="•"/>
            </a:pPr>
            <a:r>
              <a:rPr lang="en-US" sz="2000"/>
              <a:t>Move to the next: Compare 9 with 9 →  Match found!</a:t>
            </a:r>
            <a:endParaRPr/>
          </a:p>
          <a:p>
            <a:pPr marL="342900" lvl="0" indent="-342900" algn="just" rtl="0">
              <a:lnSpc>
                <a:spcPct val="150000"/>
              </a:lnSpc>
              <a:spcBef>
                <a:spcPts val="0"/>
              </a:spcBef>
              <a:spcAft>
                <a:spcPts val="0"/>
              </a:spcAft>
              <a:buClr>
                <a:schemeClr val="dk1"/>
              </a:buClr>
              <a:buSzPts val="2800"/>
              <a:buChar char="•"/>
            </a:pPr>
            <a:r>
              <a:rPr lang="en-US" sz="2000"/>
              <a:t>Return the index → Index = 3</a:t>
            </a:r>
            <a:endParaRPr sz="2000"/>
          </a:p>
        </p:txBody>
      </p:sp>
      <p:pic>
        <p:nvPicPr>
          <p:cNvPr id="108" name="Google Shape;108;p5"/>
          <p:cNvPicPr preferRelativeResize="0"/>
          <p:nvPr/>
        </p:nvPicPr>
        <p:blipFill rotWithShape="1">
          <a:blip r:embed="rId3">
            <a:alphaModFix/>
          </a:blip>
          <a:srcRect/>
          <a:stretch/>
        </p:blipFill>
        <p:spPr>
          <a:xfrm>
            <a:off x="7239000" y="7783"/>
            <a:ext cx="1653683" cy="61727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6"/>
                                        </p:tgtEl>
                                        <p:attrNameLst>
                                          <p:attrName>style.visibility</p:attrName>
                                        </p:attrNameLst>
                                      </p:cBhvr>
                                      <p:to>
                                        <p:strVal val="visible"/>
                                      </p:to>
                                    </p:set>
                                    <p:animEffect transition="in" filter="fade">
                                      <p:cBhvr>
                                        <p:cTn id="7" dur="1000"/>
                                        <p:tgtEl>
                                          <p:spTgt spid="10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07">
                                            <p:txEl>
                                              <p:pRg st="0" end="0"/>
                                            </p:txEl>
                                          </p:spTgt>
                                        </p:tgtEl>
                                        <p:attrNameLst>
                                          <p:attrName>style.visibility</p:attrName>
                                        </p:attrNameLst>
                                      </p:cBhvr>
                                      <p:to>
                                        <p:strVal val="visible"/>
                                      </p:to>
                                    </p:set>
                                    <p:anim calcmode="lin" valueType="num">
                                      <p:cBhvr additive="base">
                                        <p:cTn id="12" dur="500"/>
                                        <p:tgtEl>
                                          <p:spTgt spid="10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07">
                                            <p:txEl>
                                              <p:pRg st="1" end="1"/>
                                            </p:txEl>
                                          </p:spTgt>
                                        </p:tgtEl>
                                        <p:attrNameLst>
                                          <p:attrName>style.visibility</p:attrName>
                                        </p:attrNameLst>
                                      </p:cBhvr>
                                      <p:to>
                                        <p:strVal val="visible"/>
                                      </p:to>
                                    </p:set>
                                    <p:anim calcmode="lin" valueType="num">
                                      <p:cBhvr additive="base">
                                        <p:cTn id="17" dur="500"/>
                                        <p:tgtEl>
                                          <p:spTgt spid="10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07">
                                            <p:txEl>
                                              <p:pRg st="2" end="2"/>
                                            </p:txEl>
                                          </p:spTgt>
                                        </p:tgtEl>
                                        <p:attrNameLst>
                                          <p:attrName>style.visibility</p:attrName>
                                        </p:attrNameLst>
                                      </p:cBhvr>
                                      <p:to>
                                        <p:strVal val="visible"/>
                                      </p:to>
                                    </p:set>
                                    <p:anim calcmode="lin" valueType="num">
                                      <p:cBhvr additive="base">
                                        <p:cTn id="22" dur="500"/>
                                        <p:tgtEl>
                                          <p:spTgt spid="10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07">
                                            <p:txEl>
                                              <p:pRg st="3" end="3"/>
                                            </p:txEl>
                                          </p:spTgt>
                                        </p:tgtEl>
                                        <p:attrNameLst>
                                          <p:attrName>style.visibility</p:attrName>
                                        </p:attrNameLst>
                                      </p:cBhvr>
                                      <p:to>
                                        <p:strVal val="visible"/>
                                      </p:to>
                                    </p:set>
                                    <p:anim calcmode="lin" valueType="num">
                                      <p:cBhvr additive="base">
                                        <p:cTn id="27" dur="500"/>
                                        <p:tgtEl>
                                          <p:spTgt spid="10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07">
                                            <p:txEl>
                                              <p:pRg st="4" end="4"/>
                                            </p:txEl>
                                          </p:spTgt>
                                        </p:tgtEl>
                                        <p:attrNameLst>
                                          <p:attrName>style.visibility</p:attrName>
                                        </p:attrNameLst>
                                      </p:cBhvr>
                                      <p:to>
                                        <p:strVal val="visible"/>
                                      </p:to>
                                    </p:set>
                                    <p:anim calcmode="lin" valueType="num">
                                      <p:cBhvr additive="base">
                                        <p:cTn id="32" dur="500"/>
                                        <p:tgtEl>
                                          <p:spTgt spid="10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07">
                                            <p:txEl>
                                              <p:pRg st="5" end="5"/>
                                            </p:txEl>
                                          </p:spTgt>
                                        </p:tgtEl>
                                        <p:attrNameLst>
                                          <p:attrName>style.visibility</p:attrName>
                                        </p:attrNameLst>
                                      </p:cBhvr>
                                      <p:to>
                                        <p:strVal val="visible"/>
                                      </p:to>
                                    </p:set>
                                    <p:anim calcmode="lin" valueType="num">
                                      <p:cBhvr additive="base">
                                        <p:cTn id="37" dur="500"/>
                                        <p:tgtEl>
                                          <p:spTgt spid="10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107">
                                            <p:txEl>
                                              <p:pRg st="6" end="6"/>
                                            </p:txEl>
                                          </p:spTgt>
                                        </p:tgtEl>
                                        <p:attrNameLst>
                                          <p:attrName>style.visibility</p:attrName>
                                        </p:attrNameLst>
                                      </p:cBhvr>
                                      <p:to>
                                        <p:strVal val="visible"/>
                                      </p:to>
                                    </p:set>
                                    <p:anim calcmode="lin" valueType="num">
                                      <p:cBhvr additive="base">
                                        <p:cTn id="42" dur="500"/>
                                        <p:tgtEl>
                                          <p:spTgt spid="10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6"/>
          <p:cNvSpPr txBox="1">
            <a:spLocks noGrp="1"/>
          </p:cNvSpPr>
          <p:nvPr>
            <p:ph type="title"/>
          </p:nvPr>
        </p:nvSpPr>
        <p:spPr>
          <a:xfrm>
            <a:off x="559650" y="143550"/>
            <a:ext cx="3825000" cy="707400"/>
          </a:xfrm>
          <a:prstGeom prst="rect">
            <a:avLst/>
          </a:prstGeom>
          <a:noFill/>
          <a:ln>
            <a:noFill/>
          </a:ln>
        </p:spPr>
        <p:txBody>
          <a:bodyPr spcFirstLastPara="1" wrap="square" lIns="68550" tIns="34275" rIns="68550" bIns="34275"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Linear Search</a:t>
            </a:r>
            <a:endParaRPr b="1"/>
          </a:p>
        </p:txBody>
      </p:sp>
      <p:sp>
        <p:nvSpPr>
          <p:cNvPr id="114" name="Google Shape;114;p6"/>
          <p:cNvSpPr txBox="1">
            <a:spLocks noGrp="1"/>
          </p:cNvSpPr>
          <p:nvPr>
            <p:ph type="body" idx="1"/>
          </p:nvPr>
        </p:nvSpPr>
        <p:spPr>
          <a:xfrm>
            <a:off x="685800" y="803031"/>
            <a:ext cx="7829550" cy="4130919"/>
          </a:xfrm>
          <a:prstGeom prst="rect">
            <a:avLst/>
          </a:prstGeom>
          <a:noFill/>
          <a:ln>
            <a:noFill/>
          </a:ln>
        </p:spPr>
        <p:txBody>
          <a:bodyPr spcFirstLastPara="1" wrap="square" lIns="68550" tIns="34275" rIns="68550" bIns="34275" anchor="t" anchorCtr="0">
            <a:noAutofit/>
          </a:bodyPr>
          <a:lstStyle/>
          <a:p>
            <a:pPr marL="0" lvl="0" indent="0" algn="just" rtl="0">
              <a:lnSpc>
                <a:spcPct val="90000"/>
              </a:lnSpc>
              <a:spcBef>
                <a:spcPts val="0"/>
              </a:spcBef>
              <a:spcAft>
                <a:spcPts val="0"/>
              </a:spcAft>
              <a:buClr>
                <a:schemeClr val="dk1"/>
              </a:buClr>
              <a:buSzPts val="2800"/>
              <a:buNone/>
            </a:pPr>
            <a:r>
              <a:rPr lang="en-US" sz="1400" dirty="0"/>
              <a:t>#include &lt;</a:t>
            </a:r>
            <a:r>
              <a:rPr lang="en-US" sz="1400" dirty="0" err="1"/>
              <a:t>stdio.h</a:t>
            </a:r>
            <a:r>
              <a:rPr lang="en-US" sz="1400" dirty="0"/>
              <a:t>&gt;</a:t>
            </a:r>
            <a:endParaRPr dirty="0"/>
          </a:p>
          <a:p>
            <a:pPr marL="0" lvl="0" indent="0" algn="just" rtl="0">
              <a:lnSpc>
                <a:spcPct val="90000"/>
              </a:lnSpc>
              <a:spcBef>
                <a:spcPts val="0"/>
              </a:spcBef>
              <a:spcAft>
                <a:spcPts val="0"/>
              </a:spcAft>
              <a:buClr>
                <a:schemeClr val="dk1"/>
              </a:buClr>
              <a:buSzPts val="2800"/>
              <a:buNone/>
            </a:pPr>
            <a:r>
              <a:rPr lang="en-US" sz="1400" dirty="0"/>
              <a:t>int </a:t>
            </a:r>
            <a:r>
              <a:rPr lang="en-US" sz="1400" dirty="0" err="1"/>
              <a:t>linearSearch</a:t>
            </a:r>
            <a:r>
              <a:rPr lang="en-US" sz="1400" dirty="0"/>
              <a:t>(int </a:t>
            </a:r>
            <a:r>
              <a:rPr lang="en-US" sz="1400" dirty="0" err="1"/>
              <a:t>arr</a:t>
            </a:r>
            <a:r>
              <a:rPr lang="en-US" sz="1400" dirty="0"/>
              <a:t>[], int size, int target) {</a:t>
            </a:r>
            <a:endParaRPr dirty="0"/>
          </a:p>
          <a:p>
            <a:pPr marL="0" lvl="0" indent="0" algn="just" rtl="0">
              <a:lnSpc>
                <a:spcPct val="90000"/>
              </a:lnSpc>
              <a:spcBef>
                <a:spcPts val="0"/>
              </a:spcBef>
              <a:spcAft>
                <a:spcPts val="0"/>
              </a:spcAft>
              <a:buClr>
                <a:schemeClr val="dk1"/>
              </a:buClr>
              <a:buSzPts val="2800"/>
              <a:buNone/>
            </a:pPr>
            <a:r>
              <a:rPr lang="en-US" sz="1400" dirty="0"/>
              <a:t>    for (int </a:t>
            </a:r>
            <a:r>
              <a:rPr lang="en-US" sz="1400" dirty="0" err="1"/>
              <a:t>i</a:t>
            </a:r>
            <a:r>
              <a:rPr lang="en-US" sz="1400" dirty="0"/>
              <a:t> = 0; </a:t>
            </a:r>
            <a:r>
              <a:rPr lang="en-US" sz="1400" dirty="0" err="1"/>
              <a:t>i</a:t>
            </a:r>
            <a:r>
              <a:rPr lang="en-US" sz="1400" dirty="0"/>
              <a:t> &lt; size; </a:t>
            </a:r>
            <a:r>
              <a:rPr lang="en-US" sz="1400" dirty="0" err="1"/>
              <a:t>i</a:t>
            </a:r>
            <a:r>
              <a:rPr lang="en-US" sz="1400" dirty="0"/>
              <a:t>++) {</a:t>
            </a:r>
            <a:endParaRPr dirty="0"/>
          </a:p>
          <a:p>
            <a:pPr marL="0" lvl="0" indent="0" algn="just" rtl="0">
              <a:lnSpc>
                <a:spcPct val="90000"/>
              </a:lnSpc>
              <a:spcBef>
                <a:spcPts val="0"/>
              </a:spcBef>
              <a:spcAft>
                <a:spcPts val="0"/>
              </a:spcAft>
              <a:buClr>
                <a:schemeClr val="dk1"/>
              </a:buClr>
              <a:buSzPts val="2800"/>
              <a:buNone/>
            </a:pPr>
            <a:r>
              <a:rPr lang="en-US" sz="1400" dirty="0"/>
              <a:t>        if (</a:t>
            </a:r>
            <a:r>
              <a:rPr lang="en-US" sz="1400" dirty="0" err="1"/>
              <a:t>arr</a:t>
            </a:r>
            <a:r>
              <a:rPr lang="en-US" sz="1400" dirty="0"/>
              <a:t>[</a:t>
            </a:r>
            <a:r>
              <a:rPr lang="en-US" sz="1400" dirty="0" err="1"/>
              <a:t>i</a:t>
            </a:r>
            <a:r>
              <a:rPr lang="en-US" sz="1400" dirty="0"/>
              <a:t>] == target) {</a:t>
            </a:r>
            <a:endParaRPr dirty="0"/>
          </a:p>
          <a:p>
            <a:pPr marL="0" lvl="0" indent="0" algn="just" rtl="0">
              <a:lnSpc>
                <a:spcPct val="90000"/>
              </a:lnSpc>
              <a:spcBef>
                <a:spcPts val="0"/>
              </a:spcBef>
              <a:spcAft>
                <a:spcPts val="0"/>
              </a:spcAft>
              <a:buClr>
                <a:schemeClr val="dk1"/>
              </a:buClr>
              <a:buSzPts val="2800"/>
              <a:buNone/>
            </a:pPr>
            <a:r>
              <a:rPr lang="en-US" sz="1400" dirty="0"/>
              <a:t>            return </a:t>
            </a:r>
            <a:r>
              <a:rPr lang="en-US" sz="1400" dirty="0" err="1"/>
              <a:t>i</a:t>
            </a:r>
            <a:r>
              <a:rPr lang="en-US" sz="1400" dirty="0"/>
              <a:t>;  // Return the index if the element is found</a:t>
            </a:r>
            <a:endParaRPr dirty="0"/>
          </a:p>
          <a:p>
            <a:pPr marL="0" lvl="0" indent="0" algn="just" rtl="0">
              <a:lnSpc>
                <a:spcPct val="90000"/>
              </a:lnSpc>
              <a:spcBef>
                <a:spcPts val="0"/>
              </a:spcBef>
              <a:spcAft>
                <a:spcPts val="0"/>
              </a:spcAft>
              <a:buClr>
                <a:schemeClr val="dk1"/>
              </a:buClr>
              <a:buSzPts val="2800"/>
              <a:buNone/>
            </a:pPr>
            <a:r>
              <a:rPr lang="en-US" sz="1400" dirty="0"/>
              <a:t>        }</a:t>
            </a:r>
            <a:endParaRPr dirty="0"/>
          </a:p>
          <a:p>
            <a:pPr marL="0" lvl="0" indent="0" algn="just" rtl="0">
              <a:lnSpc>
                <a:spcPct val="90000"/>
              </a:lnSpc>
              <a:spcBef>
                <a:spcPts val="0"/>
              </a:spcBef>
              <a:spcAft>
                <a:spcPts val="0"/>
              </a:spcAft>
              <a:buClr>
                <a:schemeClr val="dk1"/>
              </a:buClr>
              <a:buSzPts val="2800"/>
              <a:buNone/>
            </a:pPr>
            <a:r>
              <a:rPr lang="en-US" sz="1400" dirty="0"/>
              <a:t>    }</a:t>
            </a:r>
            <a:endParaRPr dirty="0"/>
          </a:p>
          <a:p>
            <a:pPr marL="0" lvl="0" indent="0" algn="just" rtl="0">
              <a:lnSpc>
                <a:spcPct val="90000"/>
              </a:lnSpc>
              <a:spcBef>
                <a:spcPts val="0"/>
              </a:spcBef>
              <a:spcAft>
                <a:spcPts val="0"/>
              </a:spcAft>
              <a:buClr>
                <a:schemeClr val="dk1"/>
              </a:buClr>
              <a:buSzPts val="2800"/>
              <a:buNone/>
            </a:pPr>
            <a:r>
              <a:rPr lang="en-US" sz="1400" dirty="0"/>
              <a:t>    return -1;  // Return -1 if not found</a:t>
            </a:r>
            <a:endParaRPr dirty="0"/>
          </a:p>
          <a:p>
            <a:pPr marL="0" lvl="0" indent="0" algn="just" rtl="0">
              <a:lnSpc>
                <a:spcPct val="90000"/>
              </a:lnSpc>
              <a:spcBef>
                <a:spcPts val="0"/>
              </a:spcBef>
              <a:spcAft>
                <a:spcPts val="0"/>
              </a:spcAft>
              <a:buClr>
                <a:schemeClr val="dk1"/>
              </a:buClr>
              <a:buSzPts val="2800"/>
              <a:buNone/>
            </a:pPr>
            <a:r>
              <a:rPr lang="en-US" sz="1400" dirty="0"/>
              <a:t>}</a:t>
            </a:r>
            <a:endParaRPr dirty="0"/>
          </a:p>
          <a:p>
            <a:pPr marL="0" lvl="0" indent="0" algn="just" rtl="0">
              <a:lnSpc>
                <a:spcPct val="90000"/>
              </a:lnSpc>
              <a:spcBef>
                <a:spcPts val="0"/>
              </a:spcBef>
              <a:spcAft>
                <a:spcPts val="0"/>
              </a:spcAft>
              <a:buClr>
                <a:schemeClr val="dk1"/>
              </a:buClr>
              <a:buSzPts val="2800"/>
              <a:buNone/>
            </a:pPr>
            <a:r>
              <a:rPr lang="en-US" sz="1400" dirty="0"/>
              <a:t>int main() {</a:t>
            </a:r>
            <a:endParaRPr dirty="0"/>
          </a:p>
          <a:p>
            <a:pPr marL="0" lvl="0" indent="0" algn="just" rtl="0">
              <a:lnSpc>
                <a:spcPct val="90000"/>
              </a:lnSpc>
              <a:spcBef>
                <a:spcPts val="0"/>
              </a:spcBef>
              <a:spcAft>
                <a:spcPts val="0"/>
              </a:spcAft>
              <a:buClr>
                <a:schemeClr val="dk1"/>
              </a:buClr>
              <a:buSzPts val="2800"/>
              <a:buNone/>
            </a:pPr>
            <a:r>
              <a:rPr lang="en-US" sz="1400" dirty="0"/>
              <a:t>    int </a:t>
            </a:r>
            <a:r>
              <a:rPr lang="en-US" sz="1400" dirty="0" err="1"/>
              <a:t>arr</a:t>
            </a:r>
            <a:r>
              <a:rPr lang="en-US" sz="1400" dirty="0"/>
              <a:t>[] = {4, 7, 1, 9, 3};</a:t>
            </a:r>
            <a:endParaRPr dirty="0"/>
          </a:p>
          <a:p>
            <a:pPr marL="0" lvl="0" indent="0" algn="just" rtl="0">
              <a:lnSpc>
                <a:spcPct val="90000"/>
              </a:lnSpc>
              <a:spcBef>
                <a:spcPts val="0"/>
              </a:spcBef>
              <a:spcAft>
                <a:spcPts val="0"/>
              </a:spcAft>
              <a:buClr>
                <a:schemeClr val="dk1"/>
              </a:buClr>
              <a:buSzPts val="2800"/>
              <a:buNone/>
            </a:pPr>
            <a:r>
              <a:rPr lang="en-US" sz="1400" dirty="0"/>
              <a:t>    int size = </a:t>
            </a:r>
            <a:r>
              <a:rPr lang="en-US" sz="1400" dirty="0" err="1"/>
              <a:t>sizeof</a:t>
            </a:r>
            <a:r>
              <a:rPr lang="en-US" sz="1400" dirty="0"/>
              <a:t>(</a:t>
            </a:r>
            <a:r>
              <a:rPr lang="en-US" sz="1400" dirty="0" err="1"/>
              <a:t>arr</a:t>
            </a:r>
            <a:r>
              <a:rPr lang="en-US" sz="1400" dirty="0"/>
              <a:t>) / </a:t>
            </a:r>
            <a:r>
              <a:rPr lang="en-US" sz="1400" dirty="0" err="1"/>
              <a:t>sizeof</a:t>
            </a:r>
            <a:r>
              <a:rPr lang="en-US" sz="1400" dirty="0"/>
              <a:t>(</a:t>
            </a:r>
            <a:r>
              <a:rPr lang="en-US" sz="1400" dirty="0" err="1"/>
              <a:t>arr</a:t>
            </a:r>
            <a:r>
              <a:rPr lang="en-US" sz="1400" dirty="0"/>
              <a:t>[0]);</a:t>
            </a:r>
            <a:endParaRPr dirty="0"/>
          </a:p>
          <a:p>
            <a:pPr marL="0" lvl="0" indent="0" algn="just" rtl="0">
              <a:lnSpc>
                <a:spcPct val="90000"/>
              </a:lnSpc>
              <a:spcBef>
                <a:spcPts val="0"/>
              </a:spcBef>
              <a:spcAft>
                <a:spcPts val="0"/>
              </a:spcAft>
              <a:buClr>
                <a:schemeClr val="dk1"/>
              </a:buClr>
              <a:buSzPts val="2800"/>
              <a:buNone/>
            </a:pPr>
            <a:r>
              <a:rPr lang="en-US" sz="1400" dirty="0"/>
              <a:t>    int target = 9;</a:t>
            </a:r>
            <a:endParaRPr dirty="0"/>
          </a:p>
          <a:p>
            <a:pPr marL="0" lvl="0" indent="0" algn="just" rtl="0">
              <a:lnSpc>
                <a:spcPct val="90000"/>
              </a:lnSpc>
              <a:spcBef>
                <a:spcPts val="0"/>
              </a:spcBef>
              <a:spcAft>
                <a:spcPts val="0"/>
              </a:spcAft>
              <a:buClr>
                <a:schemeClr val="dk1"/>
              </a:buClr>
              <a:buSzPts val="2800"/>
              <a:buNone/>
            </a:pPr>
            <a:r>
              <a:rPr lang="en-US" sz="1400" dirty="0"/>
              <a:t>    int result = </a:t>
            </a:r>
            <a:r>
              <a:rPr lang="en-US" sz="1400" dirty="0" err="1"/>
              <a:t>linearSearch</a:t>
            </a:r>
            <a:r>
              <a:rPr lang="en-US" sz="1400" dirty="0"/>
              <a:t>(</a:t>
            </a:r>
            <a:r>
              <a:rPr lang="en-US" sz="1400" dirty="0" err="1"/>
              <a:t>arr</a:t>
            </a:r>
            <a:r>
              <a:rPr lang="en-US" sz="1400" dirty="0"/>
              <a:t>, size, target);</a:t>
            </a:r>
            <a:endParaRPr dirty="0"/>
          </a:p>
          <a:p>
            <a:pPr marL="0" lvl="0" indent="0" algn="just" rtl="0">
              <a:lnSpc>
                <a:spcPct val="90000"/>
              </a:lnSpc>
              <a:spcBef>
                <a:spcPts val="0"/>
              </a:spcBef>
              <a:spcAft>
                <a:spcPts val="0"/>
              </a:spcAft>
              <a:buClr>
                <a:schemeClr val="dk1"/>
              </a:buClr>
              <a:buSzPts val="2800"/>
              <a:buNone/>
            </a:pPr>
            <a:r>
              <a:rPr lang="en-US" sz="1400" dirty="0"/>
              <a:t>    if (result != -1) {</a:t>
            </a:r>
            <a:endParaRPr dirty="0"/>
          </a:p>
          <a:p>
            <a:pPr marL="0" lvl="0" indent="0" algn="just" rtl="0">
              <a:lnSpc>
                <a:spcPct val="90000"/>
              </a:lnSpc>
              <a:spcBef>
                <a:spcPts val="0"/>
              </a:spcBef>
              <a:spcAft>
                <a:spcPts val="0"/>
              </a:spcAft>
              <a:buClr>
                <a:schemeClr val="dk1"/>
              </a:buClr>
              <a:buSzPts val="2800"/>
              <a:buNone/>
            </a:pPr>
            <a:r>
              <a:rPr lang="en-US" sz="1400" dirty="0"/>
              <a:t>        </a:t>
            </a:r>
            <a:r>
              <a:rPr lang="en-US" sz="1400" dirty="0" err="1"/>
              <a:t>printf</a:t>
            </a:r>
            <a:r>
              <a:rPr lang="en-US" sz="1400" dirty="0"/>
              <a:t>("Element %d found at index %d\n", target, result);</a:t>
            </a:r>
            <a:endParaRPr dirty="0"/>
          </a:p>
          <a:p>
            <a:pPr marL="0" lvl="0" indent="0" algn="just" rtl="0">
              <a:lnSpc>
                <a:spcPct val="90000"/>
              </a:lnSpc>
              <a:spcBef>
                <a:spcPts val="0"/>
              </a:spcBef>
              <a:spcAft>
                <a:spcPts val="0"/>
              </a:spcAft>
              <a:buClr>
                <a:schemeClr val="dk1"/>
              </a:buClr>
              <a:buSzPts val="2800"/>
              <a:buNone/>
            </a:pPr>
            <a:r>
              <a:rPr lang="en-US" sz="1400" dirty="0"/>
              <a:t>    } else {</a:t>
            </a:r>
            <a:endParaRPr dirty="0"/>
          </a:p>
          <a:p>
            <a:pPr marL="0" lvl="0" indent="0" algn="just" rtl="0">
              <a:lnSpc>
                <a:spcPct val="90000"/>
              </a:lnSpc>
              <a:spcBef>
                <a:spcPts val="0"/>
              </a:spcBef>
              <a:spcAft>
                <a:spcPts val="0"/>
              </a:spcAft>
              <a:buClr>
                <a:schemeClr val="dk1"/>
              </a:buClr>
              <a:buSzPts val="2800"/>
              <a:buNone/>
            </a:pPr>
            <a:r>
              <a:rPr lang="en-US" sz="1400" dirty="0"/>
              <a:t>        </a:t>
            </a:r>
            <a:r>
              <a:rPr lang="en-US" sz="1400" dirty="0" err="1"/>
              <a:t>printf</a:t>
            </a:r>
            <a:r>
              <a:rPr lang="en-US" sz="1400" dirty="0"/>
              <a:t>("Element %d not found\n", target);</a:t>
            </a:r>
            <a:endParaRPr dirty="0"/>
          </a:p>
          <a:p>
            <a:pPr marL="0" lvl="0" indent="0" algn="just" rtl="0">
              <a:lnSpc>
                <a:spcPct val="90000"/>
              </a:lnSpc>
              <a:spcBef>
                <a:spcPts val="0"/>
              </a:spcBef>
              <a:spcAft>
                <a:spcPts val="0"/>
              </a:spcAft>
              <a:buClr>
                <a:schemeClr val="dk1"/>
              </a:buClr>
              <a:buSzPts val="2800"/>
              <a:buNone/>
            </a:pPr>
            <a:r>
              <a:rPr lang="en-US" sz="1400" dirty="0"/>
              <a:t>    }</a:t>
            </a:r>
            <a:endParaRPr dirty="0"/>
          </a:p>
          <a:p>
            <a:pPr marL="0" lvl="0" indent="0" algn="just" rtl="0">
              <a:lnSpc>
                <a:spcPct val="90000"/>
              </a:lnSpc>
              <a:spcBef>
                <a:spcPts val="0"/>
              </a:spcBef>
              <a:spcAft>
                <a:spcPts val="0"/>
              </a:spcAft>
              <a:buClr>
                <a:schemeClr val="dk1"/>
              </a:buClr>
              <a:buSzPts val="2800"/>
              <a:buNone/>
            </a:pPr>
            <a:r>
              <a:rPr lang="en-US" sz="1400" dirty="0"/>
              <a:t>    return 0;</a:t>
            </a:r>
            <a:endParaRPr dirty="0"/>
          </a:p>
          <a:p>
            <a:pPr marL="0" lvl="0" indent="0" algn="just" rtl="0">
              <a:lnSpc>
                <a:spcPct val="90000"/>
              </a:lnSpc>
              <a:spcBef>
                <a:spcPts val="0"/>
              </a:spcBef>
              <a:spcAft>
                <a:spcPts val="0"/>
              </a:spcAft>
              <a:buClr>
                <a:schemeClr val="dk1"/>
              </a:buClr>
              <a:buSzPts val="2800"/>
              <a:buNone/>
            </a:pPr>
            <a:r>
              <a:rPr lang="en-US" sz="1400" dirty="0"/>
              <a:t>}</a:t>
            </a:r>
            <a:endParaRPr dirty="0"/>
          </a:p>
        </p:txBody>
      </p:sp>
      <p:pic>
        <p:nvPicPr>
          <p:cNvPr id="115" name="Google Shape;115;p6"/>
          <p:cNvPicPr preferRelativeResize="0"/>
          <p:nvPr/>
        </p:nvPicPr>
        <p:blipFill rotWithShape="1">
          <a:blip r:embed="rId3">
            <a:alphaModFix/>
          </a:blip>
          <a:srcRect/>
          <a:stretch/>
        </p:blipFill>
        <p:spPr>
          <a:xfrm>
            <a:off x="7239000" y="7783"/>
            <a:ext cx="1653683" cy="61727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3"/>
                                        </p:tgtEl>
                                        <p:attrNameLst>
                                          <p:attrName>style.visibility</p:attrName>
                                        </p:attrNameLst>
                                      </p:cBhvr>
                                      <p:to>
                                        <p:strVal val="visible"/>
                                      </p:to>
                                    </p:set>
                                    <p:animEffect transition="in" filter="fade">
                                      <p:cBhvr>
                                        <p:cTn id="7" dur="1000"/>
                                        <p:tgtEl>
                                          <p:spTgt spid="11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14">
                                            <p:txEl>
                                              <p:pRg st="0" end="0"/>
                                            </p:txEl>
                                          </p:spTgt>
                                        </p:tgtEl>
                                        <p:attrNameLst>
                                          <p:attrName>style.visibility</p:attrName>
                                        </p:attrNameLst>
                                      </p:cBhvr>
                                      <p:to>
                                        <p:strVal val="visible"/>
                                      </p:to>
                                    </p:set>
                                    <p:anim calcmode="lin" valueType="num">
                                      <p:cBhvr additive="base">
                                        <p:cTn id="12" dur="500"/>
                                        <p:tgtEl>
                                          <p:spTgt spid="11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14">
                                            <p:txEl>
                                              <p:pRg st="1" end="1"/>
                                            </p:txEl>
                                          </p:spTgt>
                                        </p:tgtEl>
                                        <p:attrNameLst>
                                          <p:attrName>style.visibility</p:attrName>
                                        </p:attrNameLst>
                                      </p:cBhvr>
                                      <p:to>
                                        <p:strVal val="visible"/>
                                      </p:to>
                                    </p:set>
                                    <p:anim calcmode="lin" valueType="num">
                                      <p:cBhvr additive="base">
                                        <p:cTn id="17" dur="500"/>
                                        <p:tgtEl>
                                          <p:spTgt spid="1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14">
                                            <p:txEl>
                                              <p:pRg st="2" end="2"/>
                                            </p:txEl>
                                          </p:spTgt>
                                        </p:tgtEl>
                                        <p:attrNameLst>
                                          <p:attrName>style.visibility</p:attrName>
                                        </p:attrNameLst>
                                      </p:cBhvr>
                                      <p:to>
                                        <p:strVal val="visible"/>
                                      </p:to>
                                    </p:set>
                                    <p:anim calcmode="lin" valueType="num">
                                      <p:cBhvr additive="base">
                                        <p:cTn id="22" dur="500"/>
                                        <p:tgtEl>
                                          <p:spTgt spid="1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14">
                                            <p:txEl>
                                              <p:pRg st="3" end="3"/>
                                            </p:txEl>
                                          </p:spTgt>
                                        </p:tgtEl>
                                        <p:attrNameLst>
                                          <p:attrName>style.visibility</p:attrName>
                                        </p:attrNameLst>
                                      </p:cBhvr>
                                      <p:to>
                                        <p:strVal val="visible"/>
                                      </p:to>
                                    </p:set>
                                    <p:anim calcmode="lin" valueType="num">
                                      <p:cBhvr additive="base">
                                        <p:cTn id="27" dur="500"/>
                                        <p:tgtEl>
                                          <p:spTgt spid="11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14">
                                            <p:txEl>
                                              <p:pRg st="4" end="4"/>
                                            </p:txEl>
                                          </p:spTgt>
                                        </p:tgtEl>
                                        <p:attrNameLst>
                                          <p:attrName>style.visibility</p:attrName>
                                        </p:attrNameLst>
                                      </p:cBhvr>
                                      <p:to>
                                        <p:strVal val="visible"/>
                                      </p:to>
                                    </p:set>
                                    <p:anim calcmode="lin" valueType="num">
                                      <p:cBhvr additive="base">
                                        <p:cTn id="32" dur="500"/>
                                        <p:tgtEl>
                                          <p:spTgt spid="11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14">
                                            <p:txEl>
                                              <p:pRg st="5" end="5"/>
                                            </p:txEl>
                                          </p:spTgt>
                                        </p:tgtEl>
                                        <p:attrNameLst>
                                          <p:attrName>style.visibility</p:attrName>
                                        </p:attrNameLst>
                                      </p:cBhvr>
                                      <p:to>
                                        <p:strVal val="visible"/>
                                      </p:to>
                                    </p:set>
                                    <p:anim calcmode="lin" valueType="num">
                                      <p:cBhvr additive="base">
                                        <p:cTn id="37" dur="500"/>
                                        <p:tgtEl>
                                          <p:spTgt spid="11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114">
                                            <p:txEl>
                                              <p:pRg st="6" end="6"/>
                                            </p:txEl>
                                          </p:spTgt>
                                        </p:tgtEl>
                                        <p:attrNameLst>
                                          <p:attrName>style.visibility</p:attrName>
                                        </p:attrNameLst>
                                      </p:cBhvr>
                                      <p:to>
                                        <p:strVal val="visible"/>
                                      </p:to>
                                    </p:set>
                                    <p:anim calcmode="lin" valueType="num">
                                      <p:cBhvr additive="base">
                                        <p:cTn id="42" dur="500"/>
                                        <p:tgtEl>
                                          <p:spTgt spid="11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114">
                                            <p:txEl>
                                              <p:pRg st="7" end="7"/>
                                            </p:txEl>
                                          </p:spTgt>
                                        </p:tgtEl>
                                        <p:attrNameLst>
                                          <p:attrName>style.visibility</p:attrName>
                                        </p:attrNameLst>
                                      </p:cBhvr>
                                      <p:to>
                                        <p:strVal val="visible"/>
                                      </p:to>
                                    </p:set>
                                    <p:anim calcmode="lin" valueType="num">
                                      <p:cBhvr additive="base">
                                        <p:cTn id="47" dur="500"/>
                                        <p:tgtEl>
                                          <p:spTgt spid="11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114">
                                            <p:txEl>
                                              <p:pRg st="8" end="8"/>
                                            </p:txEl>
                                          </p:spTgt>
                                        </p:tgtEl>
                                        <p:attrNameLst>
                                          <p:attrName>style.visibility</p:attrName>
                                        </p:attrNameLst>
                                      </p:cBhvr>
                                      <p:to>
                                        <p:strVal val="visible"/>
                                      </p:to>
                                    </p:set>
                                    <p:anim calcmode="lin" valueType="num">
                                      <p:cBhvr additive="base">
                                        <p:cTn id="52" dur="500"/>
                                        <p:tgtEl>
                                          <p:spTgt spid="11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114">
                                            <p:txEl>
                                              <p:pRg st="9" end="9"/>
                                            </p:txEl>
                                          </p:spTgt>
                                        </p:tgtEl>
                                        <p:attrNameLst>
                                          <p:attrName>style.visibility</p:attrName>
                                        </p:attrNameLst>
                                      </p:cBhvr>
                                      <p:to>
                                        <p:strVal val="visible"/>
                                      </p:to>
                                    </p:set>
                                    <p:anim calcmode="lin" valueType="num">
                                      <p:cBhvr additive="base">
                                        <p:cTn id="57" dur="500"/>
                                        <p:tgtEl>
                                          <p:spTgt spid="114">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nodeType="clickEffect">
                                  <p:stCondLst>
                                    <p:cond delay="0"/>
                                  </p:stCondLst>
                                  <p:childTnLst>
                                    <p:set>
                                      <p:cBhvr>
                                        <p:cTn id="61" dur="1" fill="hold">
                                          <p:stCondLst>
                                            <p:cond delay="0"/>
                                          </p:stCondLst>
                                        </p:cTn>
                                        <p:tgtEl>
                                          <p:spTgt spid="114">
                                            <p:txEl>
                                              <p:pRg st="10" end="10"/>
                                            </p:txEl>
                                          </p:spTgt>
                                        </p:tgtEl>
                                        <p:attrNameLst>
                                          <p:attrName>style.visibility</p:attrName>
                                        </p:attrNameLst>
                                      </p:cBhvr>
                                      <p:to>
                                        <p:strVal val="visible"/>
                                      </p:to>
                                    </p:set>
                                    <p:anim calcmode="lin" valueType="num">
                                      <p:cBhvr additive="base">
                                        <p:cTn id="62" dur="500"/>
                                        <p:tgtEl>
                                          <p:spTgt spid="114">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114">
                                            <p:txEl>
                                              <p:pRg st="11" end="11"/>
                                            </p:txEl>
                                          </p:spTgt>
                                        </p:tgtEl>
                                        <p:attrNameLst>
                                          <p:attrName>style.visibility</p:attrName>
                                        </p:attrNameLst>
                                      </p:cBhvr>
                                      <p:to>
                                        <p:strVal val="visible"/>
                                      </p:to>
                                    </p:set>
                                    <p:anim calcmode="lin" valueType="num">
                                      <p:cBhvr additive="base">
                                        <p:cTn id="67" dur="500"/>
                                        <p:tgtEl>
                                          <p:spTgt spid="114">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 presetClass="entr" presetSubtype="4" fill="hold" nodeType="clickEffect">
                                  <p:stCondLst>
                                    <p:cond delay="0"/>
                                  </p:stCondLst>
                                  <p:childTnLst>
                                    <p:set>
                                      <p:cBhvr>
                                        <p:cTn id="71" dur="1" fill="hold">
                                          <p:stCondLst>
                                            <p:cond delay="0"/>
                                          </p:stCondLst>
                                        </p:cTn>
                                        <p:tgtEl>
                                          <p:spTgt spid="114">
                                            <p:txEl>
                                              <p:pRg st="12" end="12"/>
                                            </p:txEl>
                                          </p:spTgt>
                                        </p:tgtEl>
                                        <p:attrNameLst>
                                          <p:attrName>style.visibility</p:attrName>
                                        </p:attrNameLst>
                                      </p:cBhvr>
                                      <p:to>
                                        <p:strVal val="visible"/>
                                      </p:to>
                                    </p:set>
                                    <p:anim calcmode="lin" valueType="num">
                                      <p:cBhvr additive="base">
                                        <p:cTn id="72" dur="500"/>
                                        <p:tgtEl>
                                          <p:spTgt spid="114">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nodeType="clickEffect">
                                  <p:stCondLst>
                                    <p:cond delay="0"/>
                                  </p:stCondLst>
                                  <p:childTnLst>
                                    <p:set>
                                      <p:cBhvr>
                                        <p:cTn id="76" dur="1" fill="hold">
                                          <p:stCondLst>
                                            <p:cond delay="0"/>
                                          </p:stCondLst>
                                        </p:cTn>
                                        <p:tgtEl>
                                          <p:spTgt spid="114">
                                            <p:txEl>
                                              <p:pRg st="13" end="13"/>
                                            </p:txEl>
                                          </p:spTgt>
                                        </p:tgtEl>
                                        <p:attrNameLst>
                                          <p:attrName>style.visibility</p:attrName>
                                        </p:attrNameLst>
                                      </p:cBhvr>
                                      <p:to>
                                        <p:strVal val="visible"/>
                                      </p:to>
                                    </p:set>
                                    <p:anim calcmode="lin" valueType="num">
                                      <p:cBhvr additive="base">
                                        <p:cTn id="77" dur="500"/>
                                        <p:tgtEl>
                                          <p:spTgt spid="114">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2" presetClass="entr" presetSubtype="4" fill="hold" nodeType="clickEffect">
                                  <p:stCondLst>
                                    <p:cond delay="0"/>
                                  </p:stCondLst>
                                  <p:childTnLst>
                                    <p:set>
                                      <p:cBhvr>
                                        <p:cTn id="81" dur="1" fill="hold">
                                          <p:stCondLst>
                                            <p:cond delay="0"/>
                                          </p:stCondLst>
                                        </p:cTn>
                                        <p:tgtEl>
                                          <p:spTgt spid="114">
                                            <p:txEl>
                                              <p:pRg st="14" end="14"/>
                                            </p:txEl>
                                          </p:spTgt>
                                        </p:tgtEl>
                                        <p:attrNameLst>
                                          <p:attrName>style.visibility</p:attrName>
                                        </p:attrNameLst>
                                      </p:cBhvr>
                                      <p:to>
                                        <p:strVal val="visible"/>
                                      </p:to>
                                    </p:set>
                                    <p:anim calcmode="lin" valueType="num">
                                      <p:cBhvr additive="base">
                                        <p:cTn id="82" dur="500"/>
                                        <p:tgtEl>
                                          <p:spTgt spid="114">
                                            <p:txEl>
                                              <p:pRg st="14" end="14"/>
                                            </p:txEl>
                                          </p:spTgt>
                                        </p:tgtEl>
                                        <p:attrNameLst>
                                          <p:attrName>ppt_y</p:attrName>
                                        </p:attrNameLst>
                                      </p:cBhvr>
                                      <p:tavLst>
                                        <p:tav tm="0">
                                          <p:val>
                                            <p:strVal val="#ppt_y+1"/>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2" presetClass="entr" presetSubtype="4" fill="hold" nodeType="clickEffect">
                                  <p:stCondLst>
                                    <p:cond delay="0"/>
                                  </p:stCondLst>
                                  <p:childTnLst>
                                    <p:set>
                                      <p:cBhvr>
                                        <p:cTn id="86" dur="1" fill="hold">
                                          <p:stCondLst>
                                            <p:cond delay="0"/>
                                          </p:stCondLst>
                                        </p:cTn>
                                        <p:tgtEl>
                                          <p:spTgt spid="114">
                                            <p:txEl>
                                              <p:pRg st="15" end="15"/>
                                            </p:txEl>
                                          </p:spTgt>
                                        </p:tgtEl>
                                        <p:attrNameLst>
                                          <p:attrName>style.visibility</p:attrName>
                                        </p:attrNameLst>
                                      </p:cBhvr>
                                      <p:to>
                                        <p:strVal val="visible"/>
                                      </p:to>
                                    </p:set>
                                    <p:anim calcmode="lin" valueType="num">
                                      <p:cBhvr additive="base">
                                        <p:cTn id="87" dur="500"/>
                                        <p:tgtEl>
                                          <p:spTgt spid="114">
                                            <p:txEl>
                                              <p:pRg st="15" end="15"/>
                                            </p:txEl>
                                          </p:spTgt>
                                        </p:tgtEl>
                                        <p:attrNameLst>
                                          <p:attrName>ppt_y</p:attrName>
                                        </p:attrNameLst>
                                      </p:cBhvr>
                                      <p:tavLst>
                                        <p:tav tm="0">
                                          <p:val>
                                            <p:strVal val="#ppt_y+1"/>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2" presetClass="entr" presetSubtype="4" fill="hold" nodeType="clickEffect">
                                  <p:stCondLst>
                                    <p:cond delay="0"/>
                                  </p:stCondLst>
                                  <p:childTnLst>
                                    <p:set>
                                      <p:cBhvr>
                                        <p:cTn id="91" dur="1" fill="hold">
                                          <p:stCondLst>
                                            <p:cond delay="0"/>
                                          </p:stCondLst>
                                        </p:cTn>
                                        <p:tgtEl>
                                          <p:spTgt spid="114">
                                            <p:txEl>
                                              <p:pRg st="16" end="16"/>
                                            </p:txEl>
                                          </p:spTgt>
                                        </p:tgtEl>
                                        <p:attrNameLst>
                                          <p:attrName>style.visibility</p:attrName>
                                        </p:attrNameLst>
                                      </p:cBhvr>
                                      <p:to>
                                        <p:strVal val="visible"/>
                                      </p:to>
                                    </p:set>
                                    <p:anim calcmode="lin" valueType="num">
                                      <p:cBhvr additive="base">
                                        <p:cTn id="92" dur="500"/>
                                        <p:tgtEl>
                                          <p:spTgt spid="114">
                                            <p:txEl>
                                              <p:pRg st="16" end="16"/>
                                            </p:txEl>
                                          </p:spTgt>
                                        </p:tgtEl>
                                        <p:attrNameLst>
                                          <p:attrName>ppt_y</p:attrName>
                                        </p:attrNameLst>
                                      </p:cBhvr>
                                      <p:tavLst>
                                        <p:tav tm="0">
                                          <p:val>
                                            <p:strVal val="#ppt_y+1"/>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114">
                                            <p:txEl>
                                              <p:pRg st="17" end="17"/>
                                            </p:txEl>
                                          </p:spTgt>
                                        </p:tgtEl>
                                        <p:attrNameLst>
                                          <p:attrName>style.visibility</p:attrName>
                                        </p:attrNameLst>
                                      </p:cBhvr>
                                      <p:to>
                                        <p:strVal val="visible"/>
                                      </p:to>
                                    </p:set>
                                    <p:anim calcmode="lin" valueType="num">
                                      <p:cBhvr additive="base">
                                        <p:cTn id="97" dur="500"/>
                                        <p:tgtEl>
                                          <p:spTgt spid="114">
                                            <p:txEl>
                                              <p:pRg st="17" end="17"/>
                                            </p:txEl>
                                          </p:spTgt>
                                        </p:tgtEl>
                                        <p:attrNameLst>
                                          <p:attrName>ppt_y</p:attrName>
                                        </p:attrNameLst>
                                      </p:cBhvr>
                                      <p:tavLst>
                                        <p:tav tm="0">
                                          <p:val>
                                            <p:strVal val="#ppt_y+1"/>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2" presetClass="entr" presetSubtype="4" fill="hold" nodeType="clickEffect">
                                  <p:stCondLst>
                                    <p:cond delay="0"/>
                                  </p:stCondLst>
                                  <p:childTnLst>
                                    <p:set>
                                      <p:cBhvr>
                                        <p:cTn id="101" dur="1" fill="hold">
                                          <p:stCondLst>
                                            <p:cond delay="0"/>
                                          </p:stCondLst>
                                        </p:cTn>
                                        <p:tgtEl>
                                          <p:spTgt spid="114">
                                            <p:txEl>
                                              <p:pRg st="18" end="18"/>
                                            </p:txEl>
                                          </p:spTgt>
                                        </p:tgtEl>
                                        <p:attrNameLst>
                                          <p:attrName>style.visibility</p:attrName>
                                        </p:attrNameLst>
                                      </p:cBhvr>
                                      <p:to>
                                        <p:strVal val="visible"/>
                                      </p:to>
                                    </p:set>
                                    <p:anim calcmode="lin" valueType="num">
                                      <p:cBhvr additive="base">
                                        <p:cTn id="102" dur="500"/>
                                        <p:tgtEl>
                                          <p:spTgt spid="114">
                                            <p:txEl>
                                              <p:pRg st="18" end="18"/>
                                            </p:txEl>
                                          </p:spTgt>
                                        </p:tgtEl>
                                        <p:attrNameLst>
                                          <p:attrName>ppt_y</p:attrName>
                                        </p:attrNameLst>
                                      </p:cBhvr>
                                      <p:tavLst>
                                        <p:tav tm="0">
                                          <p:val>
                                            <p:strVal val="#ppt_y+1"/>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2" presetClass="entr" presetSubtype="4" fill="hold" nodeType="clickEffect">
                                  <p:stCondLst>
                                    <p:cond delay="0"/>
                                  </p:stCondLst>
                                  <p:childTnLst>
                                    <p:set>
                                      <p:cBhvr>
                                        <p:cTn id="106" dur="1" fill="hold">
                                          <p:stCondLst>
                                            <p:cond delay="0"/>
                                          </p:stCondLst>
                                        </p:cTn>
                                        <p:tgtEl>
                                          <p:spTgt spid="114">
                                            <p:txEl>
                                              <p:pRg st="19" end="19"/>
                                            </p:txEl>
                                          </p:spTgt>
                                        </p:tgtEl>
                                        <p:attrNameLst>
                                          <p:attrName>style.visibility</p:attrName>
                                        </p:attrNameLst>
                                      </p:cBhvr>
                                      <p:to>
                                        <p:strVal val="visible"/>
                                      </p:to>
                                    </p:set>
                                    <p:anim calcmode="lin" valueType="num">
                                      <p:cBhvr additive="base">
                                        <p:cTn id="107" dur="500"/>
                                        <p:tgtEl>
                                          <p:spTgt spid="114">
                                            <p:txEl>
                                              <p:pRg st="19" end="19"/>
                                            </p:txEl>
                                          </p:spTgt>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2" presetClass="entr" presetSubtype="4" fill="hold" nodeType="clickEffect">
                                  <p:stCondLst>
                                    <p:cond delay="0"/>
                                  </p:stCondLst>
                                  <p:childTnLst>
                                    <p:set>
                                      <p:cBhvr>
                                        <p:cTn id="111" dur="1" fill="hold">
                                          <p:stCondLst>
                                            <p:cond delay="0"/>
                                          </p:stCondLst>
                                        </p:cTn>
                                        <p:tgtEl>
                                          <p:spTgt spid="114">
                                            <p:txEl>
                                              <p:pRg st="20" end="20"/>
                                            </p:txEl>
                                          </p:spTgt>
                                        </p:tgtEl>
                                        <p:attrNameLst>
                                          <p:attrName>style.visibility</p:attrName>
                                        </p:attrNameLst>
                                      </p:cBhvr>
                                      <p:to>
                                        <p:strVal val="visible"/>
                                      </p:to>
                                    </p:set>
                                    <p:anim calcmode="lin" valueType="num">
                                      <p:cBhvr additive="base">
                                        <p:cTn id="112" dur="500"/>
                                        <p:tgtEl>
                                          <p:spTgt spid="114">
                                            <p:txEl>
                                              <p:pRg st="20" end="2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7"/>
          <p:cNvSpPr txBox="1">
            <a:spLocks noGrp="1"/>
          </p:cNvSpPr>
          <p:nvPr>
            <p:ph type="title"/>
          </p:nvPr>
        </p:nvSpPr>
        <p:spPr>
          <a:xfrm>
            <a:off x="628650" y="273844"/>
            <a:ext cx="7886700" cy="994172"/>
          </a:xfrm>
          <a:prstGeom prst="rect">
            <a:avLst/>
          </a:prstGeom>
          <a:noFill/>
          <a:ln>
            <a:noFill/>
          </a:ln>
        </p:spPr>
        <p:txBody>
          <a:bodyPr spcFirstLastPara="1" wrap="square" lIns="68550" tIns="34275" rIns="68550" bIns="34275"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Linear Search</a:t>
            </a:r>
            <a:endParaRPr b="1"/>
          </a:p>
        </p:txBody>
      </p:sp>
      <p:pic>
        <p:nvPicPr>
          <p:cNvPr id="121" name="Google Shape;121;p7"/>
          <p:cNvPicPr preferRelativeResize="0"/>
          <p:nvPr/>
        </p:nvPicPr>
        <p:blipFill rotWithShape="1">
          <a:blip r:embed="rId3">
            <a:alphaModFix/>
          </a:blip>
          <a:srcRect/>
          <a:stretch/>
        </p:blipFill>
        <p:spPr>
          <a:xfrm>
            <a:off x="690981" y="971550"/>
            <a:ext cx="7819052" cy="3657600"/>
          </a:xfrm>
          <a:prstGeom prst="rect">
            <a:avLst/>
          </a:prstGeom>
          <a:noFill/>
          <a:ln>
            <a:noFill/>
          </a:ln>
        </p:spPr>
      </p:pic>
      <p:pic>
        <p:nvPicPr>
          <p:cNvPr id="122" name="Google Shape;122;p7"/>
          <p:cNvPicPr preferRelativeResize="0"/>
          <p:nvPr/>
        </p:nvPicPr>
        <p:blipFill rotWithShape="1">
          <a:blip r:embed="rId4">
            <a:alphaModFix/>
          </a:blip>
          <a:srcRect/>
          <a:stretch/>
        </p:blipFill>
        <p:spPr>
          <a:xfrm>
            <a:off x="7239000" y="7783"/>
            <a:ext cx="1653683" cy="61727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0"/>
                                        </p:tgtEl>
                                        <p:attrNameLst>
                                          <p:attrName>style.visibility</p:attrName>
                                        </p:attrNameLst>
                                      </p:cBhvr>
                                      <p:to>
                                        <p:strVal val="visible"/>
                                      </p:to>
                                    </p:set>
                                    <p:animEffect transition="in" filter="fade">
                                      <p:cBhvr>
                                        <p:cTn id="7" dur="1000"/>
                                        <p:tgtEl>
                                          <p:spTgt spid="1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8"/>
          <p:cNvSpPr txBox="1">
            <a:spLocks noGrp="1"/>
          </p:cNvSpPr>
          <p:nvPr>
            <p:ph type="title"/>
          </p:nvPr>
        </p:nvSpPr>
        <p:spPr>
          <a:xfrm>
            <a:off x="628650" y="273844"/>
            <a:ext cx="7886700" cy="994172"/>
          </a:xfrm>
          <a:prstGeom prst="rect">
            <a:avLst/>
          </a:prstGeom>
          <a:noFill/>
          <a:ln>
            <a:noFill/>
          </a:ln>
        </p:spPr>
        <p:txBody>
          <a:bodyPr spcFirstLastPara="1" wrap="square" lIns="68550" tIns="34275" rIns="68550" bIns="34275"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Linear Search</a:t>
            </a:r>
            <a:endParaRPr b="1"/>
          </a:p>
        </p:txBody>
      </p:sp>
      <p:sp>
        <p:nvSpPr>
          <p:cNvPr id="128" name="Google Shape;128;p8"/>
          <p:cNvSpPr txBox="1">
            <a:spLocks noGrp="1"/>
          </p:cNvSpPr>
          <p:nvPr>
            <p:ph type="body" idx="1"/>
          </p:nvPr>
        </p:nvSpPr>
        <p:spPr>
          <a:xfrm>
            <a:off x="628650" y="1369219"/>
            <a:ext cx="7886700" cy="3263504"/>
          </a:xfrm>
          <a:prstGeom prst="rect">
            <a:avLst/>
          </a:prstGeom>
          <a:noFill/>
          <a:ln>
            <a:noFill/>
          </a:ln>
        </p:spPr>
        <p:txBody>
          <a:bodyPr spcFirstLastPara="1" wrap="square" lIns="68550" tIns="34275" rIns="68550" bIns="34275" anchor="t" anchorCtr="0">
            <a:normAutofit/>
          </a:bodyPr>
          <a:lstStyle/>
          <a:p>
            <a:pPr marL="171450" lvl="0" indent="-171450" algn="just" rtl="0">
              <a:lnSpc>
                <a:spcPct val="150000"/>
              </a:lnSpc>
              <a:spcBef>
                <a:spcPts val="0"/>
              </a:spcBef>
              <a:spcAft>
                <a:spcPts val="0"/>
              </a:spcAft>
              <a:buClr>
                <a:schemeClr val="dk1"/>
              </a:buClr>
              <a:buSzPts val="2800"/>
              <a:buChar char="•"/>
            </a:pPr>
            <a:r>
              <a:rPr lang="en-US" sz="2000"/>
              <a:t>Linear Search checks each element one-by-one.</a:t>
            </a:r>
            <a:endParaRPr/>
          </a:p>
          <a:p>
            <a:pPr marL="171450" lvl="0" indent="-171450" algn="just" rtl="0">
              <a:lnSpc>
                <a:spcPct val="150000"/>
              </a:lnSpc>
              <a:spcBef>
                <a:spcPts val="0"/>
              </a:spcBef>
              <a:spcAft>
                <a:spcPts val="0"/>
              </a:spcAft>
              <a:buClr>
                <a:schemeClr val="dk1"/>
              </a:buClr>
              <a:buSzPts val="2800"/>
              <a:buChar char="•"/>
            </a:pPr>
            <a:r>
              <a:rPr lang="en-US" sz="2000"/>
              <a:t>If it finds a match → it stops immediately.</a:t>
            </a:r>
            <a:endParaRPr/>
          </a:p>
          <a:p>
            <a:pPr marL="171450" lvl="0" indent="-171450" algn="just" rtl="0">
              <a:lnSpc>
                <a:spcPct val="150000"/>
              </a:lnSpc>
              <a:spcBef>
                <a:spcPts val="0"/>
              </a:spcBef>
              <a:spcAft>
                <a:spcPts val="0"/>
              </a:spcAft>
              <a:buClr>
                <a:schemeClr val="dk1"/>
              </a:buClr>
              <a:buSzPts val="2800"/>
              <a:buChar char="•"/>
            </a:pPr>
            <a:r>
              <a:rPr lang="en-US" sz="2000"/>
              <a:t>If no match is found → it scans the entire array and returns "Not found.“</a:t>
            </a:r>
            <a:endParaRPr/>
          </a:p>
          <a:p>
            <a:pPr marL="171450" lvl="0" indent="-171450" algn="just" rtl="0">
              <a:lnSpc>
                <a:spcPct val="150000"/>
              </a:lnSpc>
              <a:spcBef>
                <a:spcPts val="0"/>
              </a:spcBef>
              <a:spcAft>
                <a:spcPts val="0"/>
              </a:spcAft>
              <a:buClr>
                <a:schemeClr val="dk1"/>
              </a:buClr>
              <a:buSzPts val="2800"/>
              <a:buChar char="•"/>
            </a:pPr>
            <a:r>
              <a:rPr lang="en-US" sz="2000"/>
              <a:t>Works on unsorted data too, which makes it versatile but slower for large datasets.</a:t>
            </a:r>
            <a:endParaRPr sz="2000"/>
          </a:p>
        </p:txBody>
      </p:sp>
      <p:pic>
        <p:nvPicPr>
          <p:cNvPr id="129" name="Google Shape;129;p8"/>
          <p:cNvPicPr preferRelativeResize="0"/>
          <p:nvPr/>
        </p:nvPicPr>
        <p:blipFill rotWithShape="1">
          <a:blip r:embed="rId3">
            <a:alphaModFix/>
          </a:blip>
          <a:srcRect/>
          <a:stretch/>
        </p:blipFill>
        <p:spPr>
          <a:xfrm>
            <a:off x="7239000" y="7783"/>
            <a:ext cx="1653683" cy="61727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7"/>
                                        </p:tgtEl>
                                        <p:attrNameLst>
                                          <p:attrName>style.visibility</p:attrName>
                                        </p:attrNameLst>
                                      </p:cBhvr>
                                      <p:to>
                                        <p:strVal val="visible"/>
                                      </p:to>
                                    </p:set>
                                    <p:animEffect transition="in" filter="fade">
                                      <p:cBhvr>
                                        <p:cTn id="7" dur="1000"/>
                                        <p:tgtEl>
                                          <p:spTgt spid="12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28">
                                            <p:txEl>
                                              <p:pRg st="0" end="0"/>
                                            </p:txEl>
                                          </p:spTgt>
                                        </p:tgtEl>
                                        <p:attrNameLst>
                                          <p:attrName>style.visibility</p:attrName>
                                        </p:attrNameLst>
                                      </p:cBhvr>
                                      <p:to>
                                        <p:strVal val="visible"/>
                                      </p:to>
                                    </p:set>
                                    <p:anim calcmode="lin" valueType="num">
                                      <p:cBhvr additive="base">
                                        <p:cTn id="12" dur="500"/>
                                        <p:tgtEl>
                                          <p:spTgt spid="12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28">
                                            <p:txEl>
                                              <p:pRg st="1" end="1"/>
                                            </p:txEl>
                                          </p:spTgt>
                                        </p:tgtEl>
                                        <p:attrNameLst>
                                          <p:attrName>style.visibility</p:attrName>
                                        </p:attrNameLst>
                                      </p:cBhvr>
                                      <p:to>
                                        <p:strVal val="visible"/>
                                      </p:to>
                                    </p:set>
                                    <p:anim calcmode="lin" valueType="num">
                                      <p:cBhvr additive="base">
                                        <p:cTn id="17" dur="500"/>
                                        <p:tgtEl>
                                          <p:spTgt spid="12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28">
                                            <p:txEl>
                                              <p:pRg st="2" end="2"/>
                                            </p:txEl>
                                          </p:spTgt>
                                        </p:tgtEl>
                                        <p:attrNameLst>
                                          <p:attrName>style.visibility</p:attrName>
                                        </p:attrNameLst>
                                      </p:cBhvr>
                                      <p:to>
                                        <p:strVal val="visible"/>
                                      </p:to>
                                    </p:set>
                                    <p:anim calcmode="lin" valueType="num">
                                      <p:cBhvr additive="base">
                                        <p:cTn id="22" dur="500"/>
                                        <p:tgtEl>
                                          <p:spTgt spid="12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28">
                                            <p:txEl>
                                              <p:pRg st="3" end="3"/>
                                            </p:txEl>
                                          </p:spTgt>
                                        </p:tgtEl>
                                        <p:attrNameLst>
                                          <p:attrName>style.visibility</p:attrName>
                                        </p:attrNameLst>
                                      </p:cBhvr>
                                      <p:to>
                                        <p:strVal val="visible"/>
                                      </p:to>
                                    </p:set>
                                    <p:anim calcmode="lin" valueType="num">
                                      <p:cBhvr additive="base">
                                        <p:cTn id="27" dur="500"/>
                                        <p:tgtEl>
                                          <p:spTgt spid="128">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9"/>
          <p:cNvSpPr txBox="1">
            <a:spLocks noGrp="1"/>
          </p:cNvSpPr>
          <p:nvPr>
            <p:ph type="title"/>
          </p:nvPr>
        </p:nvSpPr>
        <p:spPr>
          <a:xfrm>
            <a:off x="628650" y="273844"/>
            <a:ext cx="7886700" cy="994172"/>
          </a:xfrm>
          <a:prstGeom prst="rect">
            <a:avLst/>
          </a:prstGeom>
          <a:noFill/>
          <a:ln>
            <a:noFill/>
          </a:ln>
        </p:spPr>
        <p:txBody>
          <a:bodyPr spcFirstLastPara="1" wrap="square" lIns="68550" tIns="34275" rIns="68550" bIns="34275"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Linear Search</a:t>
            </a:r>
            <a:endParaRPr b="1"/>
          </a:p>
        </p:txBody>
      </p:sp>
      <p:sp>
        <p:nvSpPr>
          <p:cNvPr id="135" name="Google Shape;135;p9"/>
          <p:cNvSpPr txBox="1">
            <a:spLocks noGrp="1"/>
          </p:cNvSpPr>
          <p:nvPr>
            <p:ph type="body" idx="1"/>
          </p:nvPr>
        </p:nvSpPr>
        <p:spPr>
          <a:xfrm>
            <a:off x="628650" y="1369219"/>
            <a:ext cx="7886700" cy="3263504"/>
          </a:xfrm>
          <a:prstGeom prst="rect">
            <a:avLst/>
          </a:prstGeom>
          <a:noFill/>
          <a:ln>
            <a:noFill/>
          </a:ln>
        </p:spPr>
        <p:txBody>
          <a:bodyPr spcFirstLastPara="1" wrap="square" lIns="68550" tIns="34275" rIns="68550" bIns="34275" anchor="t" anchorCtr="0">
            <a:normAutofit/>
          </a:bodyPr>
          <a:lstStyle/>
          <a:p>
            <a:pPr marL="0" lvl="0" indent="0" algn="just" rtl="0">
              <a:lnSpc>
                <a:spcPct val="150000"/>
              </a:lnSpc>
              <a:spcBef>
                <a:spcPts val="0"/>
              </a:spcBef>
              <a:spcAft>
                <a:spcPts val="0"/>
              </a:spcAft>
              <a:buClr>
                <a:schemeClr val="dk1"/>
              </a:buClr>
              <a:buSzPts val="2800"/>
              <a:buNone/>
            </a:pPr>
            <a:r>
              <a:rPr lang="en-US" sz="2000"/>
              <a:t>Scenario 1: Finding a Book in a Shelf</a:t>
            </a:r>
            <a:endParaRPr/>
          </a:p>
          <a:p>
            <a:pPr marL="342900" lvl="0" indent="-342900" algn="just" rtl="0">
              <a:lnSpc>
                <a:spcPct val="150000"/>
              </a:lnSpc>
              <a:spcBef>
                <a:spcPts val="0"/>
              </a:spcBef>
              <a:spcAft>
                <a:spcPts val="0"/>
              </a:spcAft>
              <a:buClr>
                <a:schemeClr val="dk1"/>
              </a:buClr>
              <a:buSzPts val="2800"/>
              <a:buChar char="•"/>
            </a:pPr>
            <a:r>
              <a:rPr lang="en-US" sz="2000"/>
              <a:t>Imagine a long bookshelf where books are arranged randomly.</a:t>
            </a:r>
            <a:endParaRPr/>
          </a:p>
          <a:p>
            <a:pPr marL="342900" lvl="0" indent="-342900" algn="just" rtl="0">
              <a:lnSpc>
                <a:spcPct val="150000"/>
              </a:lnSpc>
              <a:spcBef>
                <a:spcPts val="0"/>
              </a:spcBef>
              <a:spcAft>
                <a:spcPts val="0"/>
              </a:spcAft>
              <a:buClr>
                <a:schemeClr val="dk1"/>
              </a:buClr>
              <a:buSzPts val="2800"/>
              <a:buChar char="•"/>
            </a:pPr>
            <a:r>
              <a:rPr lang="en-US" sz="2000"/>
              <a:t>You’re searching for a book titled "Harry Potter.“</a:t>
            </a:r>
            <a:endParaRPr/>
          </a:p>
          <a:p>
            <a:pPr marL="342900" lvl="0" indent="-342900" algn="just" rtl="0">
              <a:lnSpc>
                <a:spcPct val="150000"/>
              </a:lnSpc>
              <a:spcBef>
                <a:spcPts val="0"/>
              </a:spcBef>
              <a:spcAft>
                <a:spcPts val="0"/>
              </a:spcAft>
              <a:buClr>
                <a:schemeClr val="dk1"/>
              </a:buClr>
              <a:buSzPts val="2800"/>
              <a:buChar char="•"/>
            </a:pPr>
            <a:r>
              <a:rPr lang="en-US" sz="2000"/>
              <a:t>You start from the first book and check each one one by one until you find it.</a:t>
            </a:r>
            <a:endParaRPr/>
          </a:p>
          <a:p>
            <a:pPr marL="0" lvl="0" indent="0" algn="just" rtl="0">
              <a:lnSpc>
                <a:spcPct val="150000"/>
              </a:lnSpc>
              <a:spcBef>
                <a:spcPts val="0"/>
              </a:spcBef>
              <a:spcAft>
                <a:spcPts val="0"/>
              </a:spcAft>
              <a:buClr>
                <a:schemeClr val="dk1"/>
              </a:buClr>
              <a:buSzPts val="2800"/>
              <a:buNone/>
            </a:pPr>
            <a:r>
              <a:rPr lang="en-US" sz="2000"/>
              <a:t>This is Linear Search!</a:t>
            </a:r>
            <a:endParaRPr sz="2000"/>
          </a:p>
        </p:txBody>
      </p:sp>
      <p:pic>
        <p:nvPicPr>
          <p:cNvPr id="136" name="Google Shape;136;p9"/>
          <p:cNvPicPr preferRelativeResize="0"/>
          <p:nvPr/>
        </p:nvPicPr>
        <p:blipFill rotWithShape="1">
          <a:blip r:embed="rId3">
            <a:alphaModFix/>
          </a:blip>
          <a:srcRect/>
          <a:stretch/>
        </p:blipFill>
        <p:spPr>
          <a:xfrm>
            <a:off x="7239000" y="7783"/>
            <a:ext cx="1653683" cy="61727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4"/>
                                        </p:tgtEl>
                                        <p:attrNameLst>
                                          <p:attrName>style.visibility</p:attrName>
                                        </p:attrNameLst>
                                      </p:cBhvr>
                                      <p:to>
                                        <p:strVal val="visible"/>
                                      </p:to>
                                    </p:set>
                                    <p:animEffect transition="in" filter="fade">
                                      <p:cBhvr>
                                        <p:cTn id="7" dur="1000"/>
                                        <p:tgtEl>
                                          <p:spTgt spid="13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35">
                                            <p:txEl>
                                              <p:pRg st="0" end="0"/>
                                            </p:txEl>
                                          </p:spTgt>
                                        </p:tgtEl>
                                        <p:attrNameLst>
                                          <p:attrName>style.visibility</p:attrName>
                                        </p:attrNameLst>
                                      </p:cBhvr>
                                      <p:to>
                                        <p:strVal val="visible"/>
                                      </p:to>
                                    </p:set>
                                    <p:anim calcmode="lin" valueType="num">
                                      <p:cBhvr additive="base">
                                        <p:cTn id="12" dur="500"/>
                                        <p:tgtEl>
                                          <p:spTgt spid="13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35">
                                            <p:txEl>
                                              <p:pRg st="1" end="1"/>
                                            </p:txEl>
                                          </p:spTgt>
                                        </p:tgtEl>
                                        <p:attrNameLst>
                                          <p:attrName>style.visibility</p:attrName>
                                        </p:attrNameLst>
                                      </p:cBhvr>
                                      <p:to>
                                        <p:strVal val="visible"/>
                                      </p:to>
                                    </p:set>
                                    <p:anim calcmode="lin" valueType="num">
                                      <p:cBhvr additive="base">
                                        <p:cTn id="17" dur="500"/>
                                        <p:tgtEl>
                                          <p:spTgt spid="13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35">
                                            <p:txEl>
                                              <p:pRg st="2" end="2"/>
                                            </p:txEl>
                                          </p:spTgt>
                                        </p:tgtEl>
                                        <p:attrNameLst>
                                          <p:attrName>style.visibility</p:attrName>
                                        </p:attrNameLst>
                                      </p:cBhvr>
                                      <p:to>
                                        <p:strVal val="visible"/>
                                      </p:to>
                                    </p:set>
                                    <p:anim calcmode="lin" valueType="num">
                                      <p:cBhvr additive="base">
                                        <p:cTn id="22" dur="500"/>
                                        <p:tgtEl>
                                          <p:spTgt spid="13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35">
                                            <p:txEl>
                                              <p:pRg st="3" end="3"/>
                                            </p:txEl>
                                          </p:spTgt>
                                        </p:tgtEl>
                                        <p:attrNameLst>
                                          <p:attrName>style.visibility</p:attrName>
                                        </p:attrNameLst>
                                      </p:cBhvr>
                                      <p:to>
                                        <p:strVal val="visible"/>
                                      </p:to>
                                    </p:set>
                                    <p:anim calcmode="lin" valueType="num">
                                      <p:cBhvr additive="base">
                                        <p:cTn id="27" dur="500"/>
                                        <p:tgtEl>
                                          <p:spTgt spid="13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35">
                                            <p:txEl>
                                              <p:pRg st="4" end="4"/>
                                            </p:txEl>
                                          </p:spTgt>
                                        </p:tgtEl>
                                        <p:attrNameLst>
                                          <p:attrName>style.visibility</p:attrName>
                                        </p:attrNameLst>
                                      </p:cBhvr>
                                      <p:to>
                                        <p:strVal val="visible"/>
                                      </p:to>
                                    </p:set>
                                    <p:anim calcmode="lin" valueType="num">
                                      <p:cBhvr additive="base">
                                        <p:cTn id="32" dur="500"/>
                                        <p:tgtEl>
                                          <p:spTgt spid="13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10"/>
          <p:cNvSpPr txBox="1">
            <a:spLocks noGrp="1"/>
          </p:cNvSpPr>
          <p:nvPr>
            <p:ph type="title"/>
          </p:nvPr>
        </p:nvSpPr>
        <p:spPr>
          <a:xfrm>
            <a:off x="628650" y="273844"/>
            <a:ext cx="7886700" cy="994172"/>
          </a:xfrm>
          <a:prstGeom prst="rect">
            <a:avLst/>
          </a:prstGeom>
          <a:noFill/>
          <a:ln>
            <a:noFill/>
          </a:ln>
        </p:spPr>
        <p:txBody>
          <a:bodyPr spcFirstLastPara="1" wrap="square" lIns="68550" tIns="34275" rIns="68550" bIns="34275"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Linear Search</a:t>
            </a:r>
            <a:endParaRPr b="1"/>
          </a:p>
        </p:txBody>
      </p:sp>
      <p:sp>
        <p:nvSpPr>
          <p:cNvPr id="142" name="Google Shape;142;p10"/>
          <p:cNvSpPr txBox="1">
            <a:spLocks noGrp="1"/>
          </p:cNvSpPr>
          <p:nvPr>
            <p:ph type="body" idx="1"/>
          </p:nvPr>
        </p:nvSpPr>
        <p:spPr>
          <a:xfrm>
            <a:off x="628650" y="1369219"/>
            <a:ext cx="7886700" cy="3263504"/>
          </a:xfrm>
          <a:prstGeom prst="rect">
            <a:avLst/>
          </a:prstGeom>
          <a:noFill/>
          <a:ln>
            <a:noFill/>
          </a:ln>
        </p:spPr>
        <p:txBody>
          <a:bodyPr spcFirstLastPara="1" wrap="square" lIns="68550" tIns="34275" rIns="68550" bIns="34275" anchor="t" anchorCtr="0">
            <a:normAutofit/>
          </a:bodyPr>
          <a:lstStyle/>
          <a:p>
            <a:pPr marL="0" lvl="0" indent="0" algn="just" rtl="0">
              <a:lnSpc>
                <a:spcPct val="150000"/>
              </a:lnSpc>
              <a:spcBef>
                <a:spcPts val="0"/>
              </a:spcBef>
              <a:spcAft>
                <a:spcPts val="0"/>
              </a:spcAft>
              <a:buClr>
                <a:schemeClr val="dk1"/>
              </a:buClr>
              <a:buSzPts val="2800"/>
              <a:buNone/>
            </a:pPr>
            <a:r>
              <a:rPr lang="en-US" sz="2000"/>
              <a:t>Scenario 2: Searching for Your Friend in a Crowd</a:t>
            </a:r>
            <a:endParaRPr/>
          </a:p>
          <a:p>
            <a:pPr marL="342900" lvl="0" indent="-342900" algn="just" rtl="0">
              <a:lnSpc>
                <a:spcPct val="150000"/>
              </a:lnSpc>
              <a:spcBef>
                <a:spcPts val="0"/>
              </a:spcBef>
              <a:spcAft>
                <a:spcPts val="0"/>
              </a:spcAft>
              <a:buClr>
                <a:schemeClr val="dk1"/>
              </a:buClr>
              <a:buSzPts val="2800"/>
              <a:buChar char="•"/>
            </a:pPr>
            <a:r>
              <a:rPr lang="en-US" sz="2000"/>
              <a:t>You’re at a school event with a huge crowd.</a:t>
            </a:r>
            <a:endParaRPr/>
          </a:p>
          <a:p>
            <a:pPr marL="342900" lvl="0" indent="-342900" algn="just" rtl="0">
              <a:lnSpc>
                <a:spcPct val="150000"/>
              </a:lnSpc>
              <a:spcBef>
                <a:spcPts val="0"/>
              </a:spcBef>
              <a:spcAft>
                <a:spcPts val="0"/>
              </a:spcAft>
              <a:buClr>
                <a:schemeClr val="dk1"/>
              </a:buClr>
              <a:buSzPts val="2800"/>
              <a:buChar char="•"/>
            </a:pPr>
            <a:r>
              <a:rPr lang="en-US" sz="2000"/>
              <a:t>You look at each face individually until you spot your friend.</a:t>
            </a:r>
            <a:endParaRPr/>
          </a:p>
          <a:p>
            <a:pPr marL="0" lvl="0" indent="0" algn="just" rtl="0">
              <a:lnSpc>
                <a:spcPct val="150000"/>
              </a:lnSpc>
              <a:spcBef>
                <a:spcPts val="0"/>
              </a:spcBef>
              <a:spcAft>
                <a:spcPts val="0"/>
              </a:spcAft>
              <a:buClr>
                <a:schemeClr val="dk1"/>
              </a:buClr>
              <a:buSzPts val="2800"/>
              <a:buNone/>
            </a:pPr>
            <a:r>
              <a:rPr lang="en-US" sz="2000"/>
              <a:t>This is Linear Search — checking each "element" (person) until you find the target!</a:t>
            </a:r>
            <a:endParaRPr sz="2000"/>
          </a:p>
        </p:txBody>
      </p:sp>
      <p:pic>
        <p:nvPicPr>
          <p:cNvPr id="143" name="Google Shape;143;p10"/>
          <p:cNvPicPr preferRelativeResize="0"/>
          <p:nvPr/>
        </p:nvPicPr>
        <p:blipFill rotWithShape="1">
          <a:blip r:embed="rId3">
            <a:alphaModFix/>
          </a:blip>
          <a:srcRect/>
          <a:stretch/>
        </p:blipFill>
        <p:spPr>
          <a:xfrm>
            <a:off x="7239000" y="7783"/>
            <a:ext cx="1653683" cy="61727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1"/>
                                        </p:tgtEl>
                                        <p:attrNameLst>
                                          <p:attrName>style.visibility</p:attrName>
                                        </p:attrNameLst>
                                      </p:cBhvr>
                                      <p:to>
                                        <p:strVal val="visible"/>
                                      </p:to>
                                    </p:set>
                                    <p:animEffect transition="in" filter="fade">
                                      <p:cBhvr>
                                        <p:cTn id="7" dur="1000"/>
                                        <p:tgtEl>
                                          <p:spTgt spid="14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42">
                                            <p:txEl>
                                              <p:pRg st="0" end="0"/>
                                            </p:txEl>
                                          </p:spTgt>
                                        </p:tgtEl>
                                        <p:attrNameLst>
                                          <p:attrName>style.visibility</p:attrName>
                                        </p:attrNameLst>
                                      </p:cBhvr>
                                      <p:to>
                                        <p:strVal val="visible"/>
                                      </p:to>
                                    </p:set>
                                    <p:anim calcmode="lin" valueType="num">
                                      <p:cBhvr additive="base">
                                        <p:cTn id="12" dur="500"/>
                                        <p:tgtEl>
                                          <p:spTgt spid="14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42">
                                            <p:txEl>
                                              <p:pRg st="1" end="1"/>
                                            </p:txEl>
                                          </p:spTgt>
                                        </p:tgtEl>
                                        <p:attrNameLst>
                                          <p:attrName>style.visibility</p:attrName>
                                        </p:attrNameLst>
                                      </p:cBhvr>
                                      <p:to>
                                        <p:strVal val="visible"/>
                                      </p:to>
                                    </p:set>
                                    <p:anim calcmode="lin" valueType="num">
                                      <p:cBhvr additive="base">
                                        <p:cTn id="17" dur="500"/>
                                        <p:tgtEl>
                                          <p:spTgt spid="14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42">
                                            <p:txEl>
                                              <p:pRg st="2" end="2"/>
                                            </p:txEl>
                                          </p:spTgt>
                                        </p:tgtEl>
                                        <p:attrNameLst>
                                          <p:attrName>style.visibility</p:attrName>
                                        </p:attrNameLst>
                                      </p:cBhvr>
                                      <p:to>
                                        <p:strVal val="visible"/>
                                      </p:to>
                                    </p:set>
                                    <p:anim calcmode="lin" valueType="num">
                                      <p:cBhvr additive="base">
                                        <p:cTn id="22" dur="500"/>
                                        <p:tgtEl>
                                          <p:spTgt spid="14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42">
                                            <p:txEl>
                                              <p:pRg st="3" end="3"/>
                                            </p:txEl>
                                          </p:spTgt>
                                        </p:tgtEl>
                                        <p:attrNameLst>
                                          <p:attrName>style.visibility</p:attrName>
                                        </p:attrNameLst>
                                      </p:cBhvr>
                                      <p:to>
                                        <p:strVal val="visible"/>
                                      </p:to>
                                    </p:set>
                                    <p:anim calcmode="lin" valueType="num">
                                      <p:cBhvr additive="base">
                                        <p:cTn id="27" dur="500"/>
                                        <p:tgtEl>
                                          <p:spTgt spid="14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11"/>
          <p:cNvSpPr txBox="1">
            <a:spLocks noGrp="1"/>
          </p:cNvSpPr>
          <p:nvPr>
            <p:ph type="title"/>
          </p:nvPr>
        </p:nvSpPr>
        <p:spPr>
          <a:xfrm>
            <a:off x="628650" y="273844"/>
            <a:ext cx="7886700" cy="994172"/>
          </a:xfrm>
          <a:prstGeom prst="rect">
            <a:avLst/>
          </a:prstGeom>
          <a:noFill/>
          <a:ln>
            <a:noFill/>
          </a:ln>
        </p:spPr>
        <p:txBody>
          <a:bodyPr spcFirstLastPara="1" wrap="square" lIns="68550" tIns="34275" rIns="68550" bIns="34275"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Binary Search</a:t>
            </a:r>
            <a:endParaRPr b="1"/>
          </a:p>
        </p:txBody>
      </p:sp>
      <p:sp>
        <p:nvSpPr>
          <p:cNvPr id="149" name="Google Shape;149;p11"/>
          <p:cNvSpPr txBox="1">
            <a:spLocks noGrp="1"/>
          </p:cNvSpPr>
          <p:nvPr>
            <p:ph type="body" idx="1"/>
          </p:nvPr>
        </p:nvSpPr>
        <p:spPr>
          <a:xfrm>
            <a:off x="628650" y="1369219"/>
            <a:ext cx="7886700" cy="3263504"/>
          </a:xfrm>
          <a:prstGeom prst="rect">
            <a:avLst/>
          </a:prstGeom>
          <a:noFill/>
          <a:ln>
            <a:noFill/>
          </a:ln>
        </p:spPr>
        <p:txBody>
          <a:bodyPr spcFirstLastPara="1" wrap="square" lIns="68550" tIns="34275" rIns="68550" bIns="34275" anchor="t" anchorCtr="0">
            <a:normAutofit/>
          </a:bodyPr>
          <a:lstStyle/>
          <a:p>
            <a:pPr marL="171450" lvl="0" indent="-171450" algn="just" rtl="0">
              <a:lnSpc>
                <a:spcPct val="90000"/>
              </a:lnSpc>
              <a:spcBef>
                <a:spcPts val="0"/>
              </a:spcBef>
              <a:spcAft>
                <a:spcPts val="0"/>
              </a:spcAft>
              <a:buClr>
                <a:schemeClr val="dk1"/>
              </a:buClr>
              <a:buSzPts val="2800"/>
              <a:buChar char="•"/>
            </a:pPr>
            <a:r>
              <a:rPr lang="en-US" sz="2400" b="1"/>
              <a:t> What is Binary Search?</a:t>
            </a:r>
            <a:endParaRPr/>
          </a:p>
          <a:p>
            <a:pPr marL="400050" lvl="1" indent="0" algn="just" rtl="0">
              <a:lnSpc>
                <a:spcPct val="200000"/>
              </a:lnSpc>
              <a:spcBef>
                <a:spcPts val="0"/>
              </a:spcBef>
              <a:spcAft>
                <a:spcPts val="0"/>
              </a:spcAft>
              <a:buClr>
                <a:schemeClr val="dk1"/>
              </a:buClr>
              <a:buSzPts val="2800"/>
              <a:buNone/>
            </a:pPr>
            <a:r>
              <a:rPr lang="en-US" sz="2400"/>
              <a:t>Binary Search is an efficient searching algorithm that finds a target value within a sorted array by repeatedly dividing the search space in half.</a:t>
            </a:r>
            <a:endParaRPr sz="2400"/>
          </a:p>
        </p:txBody>
      </p:sp>
      <p:pic>
        <p:nvPicPr>
          <p:cNvPr id="150" name="Google Shape;150;p11"/>
          <p:cNvPicPr preferRelativeResize="0"/>
          <p:nvPr/>
        </p:nvPicPr>
        <p:blipFill rotWithShape="1">
          <a:blip r:embed="rId3">
            <a:alphaModFix/>
          </a:blip>
          <a:srcRect/>
          <a:stretch/>
        </p:blipFill>
        <p:spPr>
          <a:xfrm>
            <a:off x="7239000" y="7783"/>
            <a:ext cx="1653683" cy="61727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8"/>
                                        </p:tgtEl>
                                        <p:attrNameLst>
                                          <p:attrName>style.visibility</p:attrName>
                                        </p:attrNameLst>
                                      </p:cBhvr>
                                      <p:to>
                                        <p:strVal val="visible"/>
                                      </p:to>
                                    </p:set>
                                    <p:animEffect transition="in" filter="fade">
                                      <p:cBhvr>
                                        <p:cTn id="7" dur="1000"/>
                                        <p:tgtEl>
                                          <p:spTgt spid="14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49">
                                            <p:txEl>
                                              <p:pRg st="0" end="0"/>
                                            </p:txEl>
                                          </p:spTgt>
                                        </p:tgtEl>
                                        <p:attrNameLst>
                                          <p:attrName>style.visibility</p:attrName>
                                        </p:attrNameLst>
                                      </p:cBhvr>
                                      <p:to>
                                        <p:strVal val="visible"/>
                                      </p:to>
                                    </p:set>
                                    <p:anim calcmode="lin" valueType="num">
                                      <p:cBhvr additive="base">
                                        <p:cTn id="12" dur="500"/>
                                        <p:tgtEl>
                                          <p:spTgt spid="14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49">
                                            <p:txEl>
                                              <p:pRg st="1" end="1"/>
                                            </p:txEl>
                                          </p:spTgt>
                                        </p:tgtEl>
                                        <p:attrNameLst>
                                          <p:attrName>style.visibility</p:attrName>
                                        </p:attrNameLst>
                                      </p:cBhvr>
                                      <p:to>
                                        <p:strVal val="visible"/>
                                      </p:to>
                                    </p:set>
                                    <p:anim calcmode="lin" valueType="num">
                                      <p:cBhvr additive="base">
                                        <p:cTn id="17" dur="500"/>
                                        <p:tgtEl>
                                          <p:spTgt spid="149">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63"/>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a:t>Binary Search Algorithm</a:t>
            </a:r>
            <a:endParaRPr/>
          </a:p>
        </p:txBody>
      </p:sp>
      <p:sp>
        <p:nvSpPr>
          <p:cNvPr id="156" name="Google Shape;156;p63"/>
          <p:cNvSpPr txBox="1">
            <a:spLocks noGrp="1"/>
          </p:cNvSpPr>
          <p:nvPr>
            <p:ph type="body" idx="1"/>
          </p:nvPr>
        </p:nvSpPr>
        <p:spPr>
          <a:xfrm>
            <a:off x="579352" y="1006693"/>
            <a:ext cx="7196537" cy="3600986"/>
          </a:xfrm>
          <a:prstGeom prst="rect">
            <a:avLst/>
          </a:prstGeom>
          <a:noFill/>
          <a:ln>
            <a:noFill/>
          </a:ln>
        </p:spPr>
        <p:txBody>
          <a:bodyPr spcFirstLastPara="1" wrap="square" lIns="91425" tIns="45700" rIns="91425" bIns="45700" anchor="ctr" anchorCtr="0">
            <a:spAutoFit/>
          </a:bodyPr>
          <a:lstStyle/>
          <a:p>
            <a:pPr marL="0" marR="0" lvl="0" indent="-1143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Works only on </a:t>
            </a:r>
            <a:r>
              <a:rPr lang="en-US" sz="1800" b="1" i="0" u="none" strike="noStrike" cap="none">
                <a:solidFill>
                  <a:schemeClr val="dk1"/>
                </a:solidFill>
                <a:latin typeface="Arial"/>
                <a:ea typeface="Arial"/>
                <a:cs typeface="Arial"/>
                <a:sym typeface="Arial"/>
              </a:rPr>
              <a:t>sorted arrays or lists</a:t>
            </a:r>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1143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At each step, find the </a:t>
            </a:r>
            <a:r>
              <a:rPr lang="en-US" sz="1800" b="1" i="0" u="none" strike="noStrike" cap="none">
                <a:solidFill>
                  <a:schemeClr val="dk1"/>
                </a:solidFill>
                <a:latin typeface="Arial"/>
                <a:ea typeface="Arial"/>
                <a:cs typeface="Arial"/>
                <a:sym typeface="Arial"/>
              </a:rPr>
              <a:t>middle element</a:t>
            </a:r>
            <a:r>
              <a:rPr lang="en-US" sz="1800" b="0" i="0" u="none" strike="noStrike" cap="none">
                <a:solidFill>
                  <a:schemeClr val="dk1"/>
                </a:solidFill>
                <a:latin typeface="Arial"/>
                <a:ea typeface="Arial"/>
                <a:cs typeface="Arial"/>
                <a:sym typeface="Arial"/>
              </a:rPr>
              <a:t> of the current range</a:t>
            </a:r>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1143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Compare the target with the middle element:</a:t>
            </a:r>
            <a:endParaRPr/>
          </a:p>
          <a:p>
            <a:pPr marL="457200" lvl="1" indent="-10160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 If equal → target found</a:t>
            </a:r>
            <a:endParaRPr/>
          </a:p>
          <a:p>
            <a:pPr marL="457200" lvl="1" indent="-10160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 If smaller → search in the </a:t>
            </a:r>
            <a:r>
              <a:rPr lang="en-US" sz="1600" b="1" i="0" u="none" strike="noStrike" cap="none">
                <a:solidFill>
                  <a:schemeClr val="dk1"/>
                </a:solidFill>
                <a:latin typeface="Arial"/>
                <a:ea typeface="Arial"/>
                <a:cs typeface="Arial"/>
                <a:sym typeface="Arial"/>
              </a:rPr>
              <a:t>left half</a:t>
            </a:r>
            <a:endParaRPr sz="1600" b="0" i="0" u="none" strike="noStrike" cap="none">
              <a:solidFill>
                <a:schemeClr val="dk1"/>
              </a:solidFill>
              <a:latin typeface="Arial"/>
              <a:ea typeface="Arial"/>
              <a:cs typeface="Arial"/>
              <a:sym typeface="Arial"/>
            </a:endParaRPr>
          </a:p>
          <a:p>
            <a:pPr marL="457200" lvl="1" indent="-10160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 If larger → search in the </a:t>
            </a:r>
            <a:r>
              <a:rPr lang="en-US" sz="1600" b="1" i="0" u="none" strike="noStrike" cap="none">
                <a:solidFill>
                  <a:schemeClr val="dk1"/>
                </a:solidFill>
                <a:latin typeface="Arial"/>
                <a:ea typeface="Arial"/>
                <a:cs typeface="Arial"/>
                <a:sym typeface="Arial"/>
              </a:rPr>
              <a:t>right half</a:t>
            </a:r>
            <a:endParaRPr sz="1600" b="0" i="0" u="none" strike="noStrike" cap="none">
              <a:solidFill>
                <a:schemeClr val="dk1"/>
              </a:solidFill>
              <a:latin typeface="Arial"/>
              <a:ea typeface="Arial"/>
              <a:cs typeface="Arial"/>
              <a:sym typeface="Arial"/>
            </a:endParaRPr>
          </a:p>
          <a:p>
            <a:pPr marL="0" marR="0" lvl="0" indent="-1143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Each iteration </a:t>
            </a:r>
            <a:r>
              <a:rPr lang="en-US" sz="1800" b="1" i="0" u="none" strike="noStrike" cap="none">
                <a:solidFill>
                  <a:schemeClr val="dk1"/>
                </a:solidFill>
                <a:latin typeface="Arial"/>
                <a:ea typeface="Arial"/>
                <a:cs typeface="Arial"/>
                <a:sym typeface="Arial"/>
              </a:rPr>
              <a:t>eliminates about half of the search space</a:t>
            </a:r>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114300" algn="l" rtl="0">
              <a:lnSpc>
                <a:spcPct val="100000"/>
              </a:lnSpc>
              <a:spcBef>
                <a:spcPts val="0"/>
              </a:spcBef>
              <a:spcAft>
                <a:spcPts val="0"/>
              </a:spcAft>
              <a:buClr>
                <a:schemeClr val="dk1"/>
              </a:buClr>
              <a:buSzPts val="1800"/>
              <a:buFont typeface="Arial"/>
              <a:buChar char="•"/>
            </a:pPr>
            <a:r>
              <a:rPr lang="en-US" sz="1800" b="1" i="0" u="none" strike="noStrike" cap="none">
                <a:solidFill>
                  <a:schemeClr val="dk1"/>
                </a:solidFill>
                <a:latin typeface="Arial"/>
                <a:ea typeface="Arial"/>
                <a:cs typeface="Arial"/>
                <a:sym typeface="Arial"/>
              </a:rPr>
              <a:t>Time Complexity:</a:t>
            </a:r>
            <a:r>
              <a:rPr lang="en-US" sz="1800" b="0" i="0" u="none" strike="noStrike" cap="none">
                <a:solidFill>
                  <a:schemeClr val="dk1"/>
                </a:solidFill>
                <a:latin typeface="Arial"/>
                <a:ea typeface="Arial"/>
                <a:cs typeface="Arial"/>
                <a:sym typeface="Arial"/>
              </a:rPr>
              <a:t> O(log n)</a:t>
            </a:r>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1143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Much faster than </a:t>
            </a:r>
            <a:r>
              <a:rPr lang="en-US" sz="1800" b="1" i="0" u="none" strike="noStrike" cap="none">
                <a:solidFill>
                  <a:schemeClr val="dk1"/>
                </a:solidFill>
                <a:latin typeface="Arial"/>
                <a:ea typeface="Arial"/>
                <a:cs typeface="Arial"/>
                <a:sym typeface="Arial"/>
              </a:rPr>
              <a:t>Linear Search (O(n))</a:t>
            </a:r>
            <a:r>
              <a:rPr lang="en-US" sz="1800" b="0" i="0" u="none" strike="noStrike" cap="none">
                <a:solidFill>
                  <a:schemeClr val="dk1"/>
                </a:solidFill>
                <a:latin typeface="Arial"/>
                <a:ea typeface="Arial"/>
                <a:cs typeface="Arial"/>
                <a:sym typeface="Arial"/>
              </a:rPr>
              <a:t> for large datasets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2"/>
          <p:cNvSpPr txBox="1">
            <a:spLocks noGrp="1"/>
          </p:cNvSpPr>
          <p:nvPr>
            <p:ph type="title"/>
          </p:nvPr>
        </p:nvSpPr>
        <p:spPr>
          <a:xfrm>
            <a:off x="457200" y="28797"/>
            <a:ext cx="7886700" cy="994172"/>
          </a:xfrm>
          <a:prstGeom prst="rect">
            <a:avLst/>
          </a:prstGeom>
          <a:noFill/>
          <a:ln>
            <a:noFill/>
          </a:ln>
        </p:spPr>
        <p:txBody>
          <a:bodyPr spcFirstLastPara="1" wrap="square" lIns="68550" tIns="34275" rIns="68550" bIns="34275"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Binary Search</a:t>
            </a:r>
            <a:endParaRPr b="1"/>
          </a:p>
        </p:txBody>
      </p:sp>
      <p:sp>
        <p:nvSpPr>
          <p:cNvPr id="162" name="Google Shape;162;p12"/>
          <p:cNvSpPr txBox="1">
            <a:spLocks noGrp="1"/>
          </p:cNvSpPr>
          <p:nvPr>
            <p:ph type="body" idx="1"/>
          </p:nvPr>
        </p:nvSpPr>
        <p:spPr>
          <a:xfrm>
            <a:off x="381000" y="819150"/>
            <a:ext cx="8134350" cy="3813573"/>
          </a:xfrm>
          <a:prstGeom prst="rect">
            <a:avLst/>
          </a:prstGeom>
          <a:noFill/>
          <a:ln>
            <a:noFill/>
          </a:ln>
        </p:spPr>
        <p:txBody>
          <a:bodyPr spcFirstLastPara="1" wrap="square" lIns="68550" tIns="34275" rIns="68550" bIns="34275" anchor="t" anchorCtr="0">
            <a:noAutofit/>
          </a:bodyPr>
          <a:lstStyle/>
          <a:p>
            <a:pPr marL="171450" lvl="0" indent="-171450" algn="just" rtl="0">
              <a:lnSpc>
                <a:spcPct val="90000"/>
              </a:lnSpc>
              <a:spcBef>
                <a:spcPts val="0"/>
              </a:spcBef>
              <a:spcAft>
                <a:spcPts val="0"/>
              </a:spcAft>
              <a:buClr>
                <a:schemeClr val="dk1"/>
              </a:buClr>
              <a:buSzPts val="2800"/>
              <a:buChar char="•"/>
            </a:pPr>
            <a:r>
              <a:rPr lang="en-US" sz="2000" b="1"/>
              <a:t>Binary Search Algorithm</a:t>
            </a:r>
            <a:endParaRPr/>
          </a:p>
          <a:p>
            <a:pPr marL="800100" lvl="1" indent="-342900" algn="just" rtl="0">
              <a:lnSpc>
                <a:spcPct val="100000"/>
              </a:lnSpc>
              <a:spcBef>
                <a:spcPts val="0"/>
              </a:spcBef>
              <a:spcAft>
                <a:spcPts val="0"/>
              </a:spcAft>
              <a:buClr>
                <a:schemeClr val="dk1"/>
              </a:buClr>
              <a:buSzPts val="1504"/>
              <a:buFont typeface="Calibri"/>
              <a:buAutoNum type="arabicPeriod"/>
            </a:pPr>
            <a:r>
              <a:rPr lang="en-US" sz="1600"/>
              <a:t>Start</a:t>
            </a:r>
            <a:endParaRPr/>
          </a:p>
          <a:p>
            <a:pPr marL="800100" lvl="1" indent="-342900" algn="just" rtl="0">
              <a:lnSpc>
                <a:spcPct val="100000"/>
              </a:lnSpc>
              <a:spcBef>
                <a:spcPts val="0"/>
              </a:spcBef>
              <a:spcAft>
                <a:spcPts val="0"/>
              </a:spcAft>
              <a:buClr>
                <a:schemeClr val="dk1"/>
              </a:buClr>
              <a:buSzPts val="1504"/>
              <a:buFont typeface="Calibri"/>
              <a:buAutoNum type="arabicPeriod"/>
            </a:pPr>
            <a:r>
              <a:rPr lang="en-US" sz="1600"/>
              <a:t>Input:</a:t>
            </a:r>
            <a:endParaRPr/>
          </a:p>
          <a:p>
            <a:pPr marL="1143000" lvl="2" indent="-228600" algn="just" rtl="0">
              <a:lnSpc>
                <a:spcPct val="100000"/>
              </a:lnSpc>
              <a:spcBef>
                <a:spcPts val="0"/>
              </a:spcBef>
              <a:spcAft>
                <a:spcPts val="0"/>
              </a:spcAft>
              <a:buClr>
                <a:schemeClr val="dk1"/>
              </a:buClr>
              <a:buSzPts val="1504"/>
              <a:buChar char="•"/>
            </a:pPr>
            <a:r>
              <a:rPr lang="en-US" sz="1600"/>
              <a:t>A sorted array arr[]</a:t>
            </a:r>
            <a:endParaRPr/>
          </a:p>
          <a:p>
            <a:pPr marL="1143000" lvl="2" indent="-228600" algn="just" rtl="0">
              <a:lnSpc>
                <a:spcPct val="100000"/>
              </a:lnSpc>
              <a:spcBef>
                <a:spcPts val="0"/>
              </a:spcBef>
              <a:spcAft>
                <a:spcPts val="0"/>
              </a:spcAft>
              <a:buClr>
                <a:schemeClr val="dk1"/>
              </a:buClr>
              <a:buSzPts val="1504"/>
              <a:buChar char="•"/>
            </a:pPr>
            <a:r>
              <a:rPr lang="en-US" sz="1600"/>
              <a:t>A target value x</a:t>
            </a:r>
            <a:endParaRPr/>
          </a:p>
          <a:p>
            <a:pPr marL="800100" lvl="1" indent="-342900" algn="just" rtl="0">
              <a:lnSpc>
                <a:spcPct val="100000"/>
              </a:lnSpc>
              <a:spcBef>
                <a:spcPts val="0"/>
              </a:spcBef>
              <a:spcAft>
                <a:spcPts val="0"/>
              </a:spcAft>
              <a:buClr>
                <a:schemeClr val="dk1"/>
              </a:buClr>
              <a:buSzPts val="1504"/>
              <a:buFont typeface="Calibri"/>
              <a:buAutoNum type="arabicPeriod"/>
            </a:pPr>
            <a:r>
              <a:rPr lang="en-US" sz="1600"/>
              <a:t>Initialize:</a:t>
            </a:r>
            <a:endParaRPr/>
          </a:p>
          <a:p>
            <a:pPr marL="1143000" lvl="2" indent="-228600" algn="just" rtl="0">
              <a:lnSpc>
                <a:spcPct val="100000"/>
              </a:lnSpc>
              <a:spcBef>
                <a:spcPts val="0"/>
              </a:spcBef>
              <a:spcAft>
                <a:spcPts val="0"/>
              </a:spcAft>
              <a:buClr>
                <a:schemeClr val="dk1"/>
              </a:buClr>
              <a:buSzPts val="1504"/>
              <a:buChar char="•"/>
            </a:pPr>
            <a:r>
              <a:rPr lang="en-US" sz="1600"/>
              <a:t>low = 0</a:t>
            </a:r>
            <a:endParaRPr/>
          </a:p>
          <a:p>
            <a:pPr marL="1143000" lvl="2" indent="-228600" algn="just" rtl="0">
              <a:lnSpc>
                <a:spcPct val="100000"/>
              </a:lnSpc>
              <a:spcBef>
                <a:spcPts val="0"/>
              </a:spcBef>
              <a:spcAft>
                <a:spcPts val="0"/>
              </a:spcAft>
              <a:buClr>
                <a:schemeClr val="dk1"/>
              </a:buClr>
              <a:buSzPts val="1504"/>
              <a:buChar char="•"/>
            </a:pPr>
            <a:r>
              <a:rPr lang="en-US" sz="1600"/>
              <a:t>high = n - 1 (where n is the number of elements) </a:t>
            </a:r>
            <a:endParaRPr/>
          </a:p>
          <a:p>
            <a:pPr marL="800100" lvl="1" indent="-342900" algn="just" rtl="0">
              <a:lnSpc>
                <a:spcPct val="100000"/>
              </a:lnSpc>
              <a:spcBef>
                <a:spcPts val="0"/>
              </a:spcBef>
              <a:spcAft>
                <a:spcPts val="0"/>
              </a:spcAft>
              <a:buClr>
                <a:schemeClr val="dk1"/>
              </a:buClr>
              <a:buSzPts val="1504"/>
              <a:buFont typeface="Calibri"/>
              <a:buAutoNum type="arabicPeriod"/>
            </a:pPr>
            <a:r>
              <a:rPr lang="en-US" sz="1600"/>
              <a:t>Loop while low ≤ high:</a:t>
            </a:r>
            <a:endParaRPr/>
          </a:p>
          <a:p>
            <a:pPr marL="1143000" lvl="2" indent="-228600" algn="just" rtl="0">
              <a:lnSpc>
                <a:spcPct val="100000"/>
              </a:lnSpc>
              <a:spcBef>
                <a:spcPts val="0"/>
              </a:spcBef>
              <a:spcAft>
                <a:spcPts val="0"/>
              </a:spcAft>
              <a:buClr>
                <a:schemeClr val="dk1"/>
              </a:buClr>
              <a:buSzPts val="1504"/>
              <a:buChar char="•"/>
            </a:pPr>
            <a:r>
              <a:rPr lang="en-US" sz="1600"/>
              <a:t>Find the middle index:</a:t>
            </a:r>
            <a:endParaRPr/>
          </a:p>
          <a:p>
            <a:pPr marL="1657350" lvl="3" indent="-342900" algn="just" rtl="0">
              <a:lnSpc>
                <a:spcPct val="100000"/>
              </a:lnSpc>
              <a:spcBef>
                <a:spcPts val="0"/>
              </a:spcBef>
              <a:spcAft>
                <a:spcPts val="0"/>
              </a:spcAft>
              <a:buClr>
                <a:schemeClr val="dk1"/>
              </a:buClr>
              <a:buSzPts val="1504"/>
              <a:buFont typeface="Arial"/>
              <a:buChar char="•"/>
            </a:pPr>
            <a:r>
              <a:rPr lang="en-US" sz="1600"/>
              <a:t>mid=low+high/2​</a:t>
            </a:r>
            <a:endParaRPr/>
          </a:p>
          <a:p>
            <a:pPr marL="800100" lvl="1" indent="-342900" algn="just" rtl="0">
              <a:lnSpc>
                <a:spcPct val="100000"/>
              </a:lnSpc>
              <a:spcBef>
                <a:spcPts val="0"/>
              </a:spcBef>
              <a:spcAft>
                <a:spcPts val="0"/>
              </a:spcAft>
              <a:buClr>
                <a:schemeClr val="dk1"/>
              </a:buClr>
              <a:buSzPts val="1504"/>
              <a:buFont typeface="Calibri"/>
              <a:buAutoNum type="arabicPeriod"/>
            </a:pPr>
            <a:r>
              <a:rPr lang="en-US" sz="1600"/>
              <a:t>Check:</a:t>
            </a:r>
            <a:endParaRPr/>
          </a:p>
          <a:p>
            <a:pPr marL="1143000" lvl="2" indent="-228600" algn="just" rtl="0">
              <a:lnSpc>
                <a:spcPct val="100000"/>
              </a:lnSpc>
              <a:spcBef>
                <a:spcPts val="0"/>
              </a:spcBef>
              <a:spcAft>
                <a:spcPts val="0"/>
              </a:spcAft>
              <a:buClr>
                <a:schemeClr val="dk1"/>
              </a:buClr>
              <a:buSzPts val="1504"/>
              <a:buChar char="•"/>
            </a:pPr>
            <a:r>
              <a:rPr lang="en-US" sz="1600"/>
              <a:t>If arr[mid] == x → ✅ Return mid (Element found!)</a:t>
            </a:r>
            <a:endParaRPr/>
          </a:p>
          <a:p>
            <a:pPr marL="1143000" lvl="2" indent="-228600" algn="just" rtl="0">
              <a:lnSpc>
                <a:spcPct val="100000"/>
              </a:lnSpc>
              <a:spcBef>
                <a:spcPts val="0"/>
              </a:spcBef>
              <a:spcAft>
                <a:spcPts val="0"/>
              </a:spcAft>
              <a:buClr>
                <a:schemeClr val="dk1"/>
              </a:buClr>
              <a:buSzPts val="1504"/>
              <a:buChar char="•"/>
            </a:pPr>
            <a:r>
              <a:rPr lang="en-US" sz="1600"/>
              <a:t>If arr[mid] &gt; x → Search left half: Set high = mid – 1</a:t>
            </a:r>
            <a:endParaRPr/>
          </a:p>
          <a:p>
            <a:pPr marL="1143000" lvl="2" indent="-228600" algn="just" rtl="0">
              <a:lnSpc>
                <a:spcPct val="100000"/>
              </a:lnSpc>
              <a:spcBef>
                <a:spcPts val="0"/>
              </a:spcBef>
              <a:spcAft>
                <a:spcPts val="0"/>
              </a:spcAft>
              <a:buClr>
                <a:schemeClr val="dk1"/>
              </a:buClr>
              <a:buSzPts val="1504"/>
              <a:buChar char="•"/>
            </a:pPr>
            <a:r>
              <a:rPr lang="en-US" sz="1600"/>
              <a:t>If arr[mid] &lt; x →Search right half: Set low = mid + 1</a:t>
            </a:r>
            <a:endParaRPr/>
          </a:p>
          <a:p>
            <a:pPr marL="800100" lvl="1" indent="-342900" algn="just" rtl="0">
              <a:lnSpc>
                <a:spcPct val="100000"/>
              </a:lnSpc>
              <a:spcBef>
                <a:spcPts val="0"/>
              </a:spcBef>
              <a:spcAft>
                <a:spcPts val="0"/>
              </a:spcAft>
              <a:buClr>
                <a:schemeClr val="dk1"/>
              </a:buClr>
              <a:buSzPts val="1504"/>
              <a:buFont typeface="Calibri"/>
              <a:buAutoNum type="arabicPeriod"/>
            </a:pPr>
            <a:r>
              <a:rPr lang="en-US" sz="1600"/>
              <a:t>If not found:❌ Return -1</a:t>
            </a:r>
            <a:endParaRPr/>
          </a:p>
          <a:p>
            <a:pPr marL="800100" lvl="1" indent="-342900" algn="just" rtl="0">
              <a:lnSpc>
                <a:spcPct val="100000"/>
              </a:lnSpc>
              <a:spcBef>
                <a:spcPts val="0"/>
              </a:spcBef>
              <a:spcAft>
                <a:spcPts val="0"/>
              </a:spcAft>
              <a:buClr>
                <a:schemeClr val="dk1"/>
              </a:buClr>
              <a:buSzPts val="1504"/>
              <a:buFont typeface="Calibri"/>
              <a:buAutoNum type="arabicPeriod"/>
            </a:pPr>
            <a:r>
              <a:rPr lang="en-US" sz="1600"/>
              <a:t>End</a:t>
            </a:r>
            <a:endParaRPr sz="1600"/>
          </a:p>
        </p:txBody>
      </p:sp>
      <p:pic>
        <p:nvPicPr>
          <p:cNvPr id="163" name="Google Shape;163;p12"/>
          <p:cNvPicPr preferRelativeResize="0"/>
          <p:nvPr/>
        </p:nvPicPr>
        <p:blipFill rotWithShape="1">
          <a:blip r:embed="rId3">
            <a:alphaModFix/>
          </a:blip>
          <a:srcRect/>
          <a:stretch/>
        </p:blipFill>
        <p:spPr>
          <a:xfrm>
            <a:off x="7239000" y="7783"/>
            <a:ext cx="1653683" cy="61727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1"/>
                                        </p:tgtEl>
                                        <p:attrNameLst>
                                          <p:attrName>style.visibility</p:attrName>
                                        </p:attrNameLst>
                                      </p:cBhvr>
                                      <p:to>
                                        <p:strVal val="visible"/>
                                      </p:to>
                                    </p:set>
                                    <p:animEffect transition="in" filter="fade">
                                      <p:cBhvr>
                                        <p:cTn id="7" dur="1000"/>
                                        <p:tgtEl>
                                          <p:spTgt spid="16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62">
                                            <p:txEl>
                                              <p:pRg st="0" end="0"/>
                                            </p:txEl>
                                          </p:spTgt>
                                        </p:tgtEl>
                                        <p:attrNameLst>
                                          <p:attrName>style.visibility</p:attrName>
                                        </p:attrNameLst>
                                      </p:cBhvr>
                                      <p:to>
                                        <p:strVal val="visible"/>
                                      </p:to>
                                    </p:set>
                                    <p:anim calcmode="lin" valueType="num">
                                      <p:cBhvr additive="base">
                                        <p:cTn id="12" dur="500"/>
                                        <p:tgtEl>
                                          <p:spTgt spid="16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62">
                                            <p:txEl>
                                              <p:pRg st="1" end="1"/>
                                            </p:txEl>
                                          </p:spTgt>
                                        </p:tgtEl>
                                        <p:attrNameLst>
                                          <p:attrName>style.visibility</p:attrName>
                                        </p:attrNameLst>
                                      </p:cBhvr>
                                      <p:to>
                                        <p:strVal val="visible"/>
                                      </p:to>
                                    </p:set>
                                    <p:anim calcmode="lin" valueType="num">
                                      <p:cBhvr additive="base">
                                        <p:cTn id="17" dur="500"/>
                                        <p:tgtEl>
                                          <p:spTgt spid="16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62">
                                            <p:txEl>
                                              <p:pRg st="2" end="2"/>
                                            </p:txEl>
                                          </p:spTgt>
                                        </p:tgtEl>
                                        <p:attrNameLst>
                                          <p:attrName>style.visibility</p:attrName>
                                        </p:attrNameLst>
                                      </p:cBhvr>
                                      <p:to>
                                        <p:strVal val="visible"/>
                                      </p:to>
                                    </p:set>
                                    <p:anim calcmode="lin" valueType="num">
                                      <p:cBhvr additive="base">
                                        <p:cTn id="22" dur="500"/>
                                        <p:tgtEl>
                                          <p:spTgt spid="16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62">
                                            <p:txEl>
                                              <p:pRg st="3" end="3"/>
                                            </p:txEl>
                                          </p:spTgt>
                                        </p:tgtEl>
                                        <p:attrNameLst>
                                          <p:attrName>style.visibility</p:attrName>
                                        </p:attrNameLst>
                                      </p:cBhvr>
                                      <p:to>
                                        <p:strVal val="visible"/>
                                      </p:to>
                                    </p:set>
                                    <p:anim calcmode="lin" valueType="num">
                                      <p:cBhvr additive="base">
                                        <p:cTn id="27" dur="500"/>
                                        <p:tgtEl>
                                          <p:spTgt spid="16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62">
                                            <p:txEl>
                                              <p:pRg st="4" end="4"/>
                                            </p:txEl>
                                          </p:spTgt>
                                        </p:tgtEl>
                                        <p:attrNameLst>
                                          <p:attrName>style.visibility</p:attrName>
                                        </p:attrNameLst>
                                      </p:cBhvr>
                                      <p:to>
                                        <p:strVal val="visible"/>
                                      </p:to>
                                    </p:set>
                                    <p:anim calcmode="lin" valueType="num">
                                      <p:cBhvr additive="base">
                                        <p:cTn id="32" dur="500"/>
                                        <p:tgtEl>
                                          <p:spTgt spid="16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62">
                                            <p:txEl>
                                              <p:pRg st="5" end="5"/>
                                            </p:txEl>
                                          </p:spTgt>
                                        </p:tgtEl>
                                        <p:attrNameLst>
                                          <p:attrName>style.visibility</p:attrName>
                                        </p:attrNameLst>
                                      </p:cBhvr>
                                      <p:to>
                                        <p:strVal val="visible"/>
                                      </p:to>
                                    </p:set>
                                    <p:anim calcmode="lin" valueType="num">
                                      <p:cBhvr additive="base">
                                        <p:cTn id="37" dur="500"/>
                                        <p:tgtEl>
                                          <p:spTgt spid="16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162">
                                            <p:txEl>
                                              <p:pRg st="6" end="6"/>
                                            </p:txEl>
                                          </p:spTgt>
                                        </p:tgtEl>
                                        <p:attrNameLst>
                                          <p:attrName>style.visibility</p:attrName>
                                        </p:attrNameLst>
                                      </p:cBhvr>
                                      <p:to>
                                        <p:strVal val="visible"/>
                                      </p:to>
                                    </p:set>
                                    <p:anim calcmode="lin" valueType="num">
                                      <p:cBhvr additive="base">
                                        <p:cTn id="42" dur="500"/>
                                        <p:tgtEl>
                                          <p:spTgt spid="16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162">
                                            <p:txEl>
                                              <p:pRg st="7" end="7"/>
                                            </p:txEl>
                                          </p:spTgt>
                                        </p:tgtEl>
                                        <p:attrNameLst>
                                          <p:attrName>style.visibility</p:attrName>
                                        </p:attrNameLst>
                                      </p:cBhvr>
                                      <p:to>
                                        <p:strVal val="visible"/>
                                      </p:to>
                                    </p:set>
                                    <p:anim calcmode="lin" valueType="num">
                                      <p:cBhvr additive="base">
                                        <p:cTn id="47" dur="500"/>
                                        <p:tgtEl>
                                          <p:spTgt spid="162">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162">
                                            <p:txEl>
                                              <p:pRg st="8" end="8"/>
                                            </p:txEl>
                                          </p:spTgt>
                                        </p:tgtEl>
                                        <p:attrNameLst>
                                          <p:attrName>style.visibility</p:attrName>
                                        </p:attrNameLst>
                                      </p:cBhvr>
                                      <p:to>
                                        <p:strVal val="visible"/>
                                      </p:to>
                                    </p:set>
                                    <p:anim calcmode="lin" valueType="num">
                                      <p:cBhvr additive="base">
                                        <p:cTn id="52" dur="500"/>
                                        <p:tgtEl>
                                          <p:spTgt spid="162">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162">
                                            <p:txEl>
                                              <p:pRg st="9" end="9"/>
                                            </p:txEl>
                                          </p:spTgt>
                                        </p:tgtEl>
                                        <p:attrNameLst>
                                          <p:attrName>style.visibility</p:attrName>
                                        </p:attrNameLst>
                                      </p:cBhvr>
                                      <p:to>
                                        <p:strVal val="visible"/>
                                      </p:to>
                                    </p:set>
                                    <p:anim calcmode="lin" valueType="num">
                                      <p:cBhvr additive="base">
                                        <p:cTn id="57" dur="500"/>
                                        <p:tgtEl>
                                          <p:spTgt spid="162">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nodeType="clickEffect">
                                  <p:stCondLst>
                                    <p:cond delay="0"/>
                                  </p:stCondLst>
                                  <p:childTnLst>
                                    <p:set>
                                      <p:cBhvr>
                                        <p:cTn id="61" dur="1" fill="hold">
                                          <p:stCondLst>
                                            <p:cond delay="0"/>
                                          </p:stCondLst>
                                        </p:cTn>
                                        <p:tgtEl>
                                          <p:spTgt spid="162">
                                            <p:txEl>
                                              <p:pRg st="10" end="10"/>
                                            </p:txEl>
                                          </p:spTgt>
                                        </p:tgtEl>
                                        <p:attrNameLst>
                                          <p:attrName>style.visibility</p:attrName>
                                        </p:attrNameLst>
                                      </p:cBhvr>
                                      <p:to>
                                        <p:strVal val="visible"/>
                                      </p:to>
                                    </p:set>
                                    <p:anim calcmode="lin" valueType="num">
                                      <p:cBhvr additive="base">
                                        <p:cTn id="62" dur="500"/>
                                        <p:tgtEl>
                                          <p:spTgt spid="162">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162">
                                            <p:txEl>
                                              <p:pRg st="11" end="11"/>
                                            </p:txEl>
                                          </p:spTgt>
                                        </p:tgtEl>
                                        <p:attrNameLst>
                                          <p:attrName>style.visibility</p:attrName>
                                        </p:attrNameLst>
                                      </p:cBhvr>
                                      <p:to>
                                        <p:strVal val="visible"/>
                                      </p:to>
                                    </p:set>
                                    <p:anim calcmode="lin" valueType="num">
                                      <p:cBhvr additive="base">
                                        <p:cTn id="67" dur="500"/>
                                        <p:tgtEl>
                                          <p:spTgt spid="162">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 presetClass="entr" presetSubtype="4" fill="hold" nodeType="clickEffect">
                                  <p:stCondLst>
                                    <p:cond delay="0"/>
                                  </p:stCondLst>
                                  <p:childTnLst>
                                    <p:set>
                                      <p:cBhvr>
                                        <p:cTn id="71" dur="1" fill="hold">
                                          <p:stCondLst>
                                            <p:cond delay="0"/>
                                          </p:stCondLst>
                                        </p:cTn>
                                        <p:tgtEl>
                                          <p:spTgt spid="162">
                                            <p:txEl>
                                              <p:pRg st="12" end="12"/>
                                            </p:txEl>
                                          </p:spTgt>
                                        </p:tgtEl>
                                        <p:attrNameLst>
                                          <p:attrName>style.visibility</p:attrName>
                                        </p:attrNameLst>
                                      </p:cBhvr>
                                      <p:to>
                                        <p:strVal val="visible"/>
                                      </p:to>
                                    </p:set>
                                    <p:anim calcmode="lin" valueType="num">
                                      <p:cBhvr additive="base">
                                        <p:cTn id="72" dur="500"/>
                                        <p:tgtEl>
                                          <p:spTgt spid="162">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nodeType="clickEffect">
                                  <p:stCondLst>
                                    <p:cond delay="0"/>
                                  </p:stCondLst>
                                  <p:childTnLst>
                                    <p:set>
                                      <p:cBhvr>
                                        <p:cTn id="76" dur="1" fill="hold">
                                          <p:stCondLst>
                                            <p:cond delay="0"/>
                                          </p:stCondLst>
                                        </p:cTn>
                                        <p:tgtEl>
                                          <p:spTgt spid="162">
                                            <p:txEl>
                                              <p:pRg st="13" end="13"/>
                                            </p:txEl>
                                          </p:spTgt>
                                        </p:tgtEl>
                                        <p:attrNameLst>
                                          <p:attrName>style.visibility</p:attrName>
                                        </p:attrNameLst>
                                      </p:cBhvr>
                                      <p:to>
                                        <p:strVal val="visible"/>
                                      </p:to>
                                    </p:set>
                                    <p:anim calcmode="lin" valueType="num">
                                      <p:cBhvr additive="base">
                                        <p:cTn id="77" dur="500"/>
                                        <p:tgtEl>
                                          <p:spTgt spid="162">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2" presetClass="entr" presetSubtype="4" fill="hold" nodeType="clickEffect">
                                  <p:stCondLst>
                                    <p:cond delay="0"/>
                                  </p:stCondLst>
                                  <p:childTnLst>
                                    <p:set>
                                      <p:cBhvr>
                                        <p:cTn id="81" dur="1" fill="hold">
                                          <p:stCondLst>
                                            <p:cond delay="0"/>
                                          </p:stCondLst>
                                        </p:cTn>
                                        <p:tgtEl>
                                          <p:spTgt spid="162">
                                            <p:txEl>
                                              <p:pRg st="14" end="14"/>
                                            </p:txEl>
                                          </p:spTgt>
                                        </p:tgtEl>
                                        <p:attrNameLst>
                                          <p:attrName>style.visibility</p:attrName>
                                        </p:attrNameLst>
                                      </p:cBhvr>
                                      <p:to>
                                        <p:strVal val="visible"/>
                                      </p:to>
                                    </p:set>
                                    <p:anim calcmode="lin" valueType="num">
                                      <p:cBhvr additive="base">
                                        <p:cTn id="82" dur="500"/>
                                        <p:tgtEl>
                                          <p:spTgt spid="162">
                                            <p:txEl>
                                              <p:pRg st="14" end="14"/>
                                            </p:txEl>
                                          </p:spTgt>
                                        </p:tgtEl>
                                        <p:attrNameLst>
                                          <p:attrName>ppt_y</p:attrName>
                                        </p:attrNameLst>
                                      </p:cBhvr>
                                      <p:tavLst>
                                        <p:tav tm="0">
                                          <p:val>
                                            <p:strVal val="#ppt_y+1"/>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2" presetClass="entr" presetSubtype="4" fill="hold" nodeType="clickEffect">
                                  <p:stCondLst>
                                    <p:cond delay="0"/>
                                  </p:stCondLst>
                                  <p:childTnLst>
                                    <p:set>
                                      <p:cBhvr>
                                        <p:cTn id="86" dur="1" fill="hold">
                                          <p:stCondLst>
                                            <p:cond delay="0"/>
                                          </p:stCondLst>
                                        </p:cTn>
                                        <p:tgtEl>
                                          <p:spTgt spid="162">
                                            <p:txEl>
                                              <p:pRg st="15" end="15"/>
                                            </p:txEl>
                                          </p:spTgt>
                                        </p:tgtEl>
                                        <p:attrNameLst>
                                          <p:attrName>style.visibility</p:attrName>
                                        </p:attrNameLst>
                                      </p:cBhvr>
                                      <p:to>
                                        <p:strVal val="visible"/>
                                      </p:to>
                                    </p:set>
                                    <p:anim calcmode="lin" valueType="num">
                                      <p:cBhvr additive="base">
                                        <p:cTn id="87" dur="500"/>
                                        <p:tgtEl>
                                          <p:spTgt spid="162">
                                            <p:txEl>
                                              <p:pRg st="15" end="15"/>
                                            </p:txEl>
                                          </p:spTgt>
                                        </p:tgtEl>
                                        <p:attrNameLst>
                                          <p:attrName>ppt_y</p:attrName>
                                        </p:attrNameLst>
                                      </p:cBhvr>
                                      <p:tavLst>
                                        <p:tav tm="0">
                                          <p:val>
                                            <p:strVal val="#ppt_y+1"/>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2" presetClass="entr" presetSubtype="4" fill="hold" nodeType="clickEffect">
                                  <p:stCondLst>
                                    <p:cond delay="0"/>
                                  </p:stCondLst>
                                  <p:childTnLst>
                                    <p:set>
                                      <p:cBhvr>
                                        <p:cTn id="91" dur="1" fill="hold">
                                          <p:stCondLst>
                                            <p:cond delay="0"/>
                                          </p:stCondLst>
                                        </p:cTn>
                                        <p:tgtEl>
                                          <p:spTgt spid="162">
                                            <p:txEl>
                                              <p:pRg st="16" end="16"/>
                                            </p:txEl>
                                          </p:spTgt>
                                        </p:tgtEl>
                                        <p:attrNameLst>
                                          <p:attrName>style.visibility</p:attrName>
                                        </p:attrNameLst>
                                      </p:cBhvr>
                                      <p:to>
                                        <p:strVal val="visible"/>
                                      </p:to>
                                    </p:set>
                                    <p:anim calcmode="lin" valueType="num">
                                      <p:cBhvr additive="base">
                                        <p:cTn id="92" dur="500"/>
                                        <p:tgtEl>
                                          <p:spTgt spid="162">
                                            <p:txEl>
                                              <p:pRg st="16" end="1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3"/>
          <p:cNvSpPr txBox="1">
            <a:spLocks noGrp="1"/>
          </p:cNvSpPr>
          <p:nvPr>
            <p:ph type="title"/>
          </p:nvPr>
        </p:nvSpPr>
        <p:spPr>
          <a:xfrm>
            <a:off x="628650" y="273844"/>
            <a:ext cx="7886700" cy="994172"/>
          </a:xfrm>
          <a:prstGeom prst="rect">
            <a:avLst/>
          </a:prstGeom>
          <a:noFill/>
          <a:ln>
            <a:noFill/>
          </a:ln>
        </p:spPr>
        <p:txBody>
          <a:bodyPr spcFirstLastPara="1" wrap="square" lIns="68550" tIns="34275" rIns="68550" bIns="34275"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Binary Search</a:t>
            </a:r>
            <a:endParaRPr b="1"/>
          </a:p>
        </p:txBody>
      </p:sp>
      <p:sp>
        <p:nvSpPr>
          <p:cNvPr id="169" name="Google Shape;169;p13"/>
          <p:cNvSpPr txBox="1">
            <a:spLocks noGrp="1"/>
          </p:cNvSpPr>
          <p:nvPr>
            <p:ph type="body" idx="1"/>
          </p:nvPr>
        </p:nvSpPr>
        <p:spPr>
          <a:xfrm>
            <a:off x="628650" y="1369219"/>
            <a:ext cx="7886700" cy="3263504"/>
          </a:xfrm>
          <a:prstGeom prst="rect">
            <a:avLst/>
          </a:prstGeom>
          <a:noFill/>
          <a:ln>
            <a:noFill/>
          </a:ln>
        </p:spPr>
        <p:txBody>
          <a:bodyPr spcFirstLastPara="1" wrap="square" lIns="68550" tIns="34275" rIns="68550" bIns="34275" anchor="t" anchorCtr="0">
            <a:normAutofit fontScale="92500" lnSpcReduction="10000"/>
          </a:bodyPr>
          <a:lstStyle/>
          <a:p>
            <a:pPr marL="171450" lvl="0" indent="-171450" algn="just" rtl="0">
              <a:lnSpc>
                <a:spcPct val="90000"/>
              </a:lnSpc>
              <a:spcBef>
                <a:spcPts val="0"/>
              </a:spcBef>
              <a:spcAft>
                <a:spcPts val="0"/>
              </a:spcAft>
              <a:buClr>
                <a:schemeClr val="dk1"/>
              </a:buClr>
              <a:buSzPct val="151351"/>
              <a:buChar char="•"/>
            </a:pPr>
            <a:r>
              <a:rPr lang="en-US" sz="2000" b="1"/>
              <a:t>Problem</a:t>
            </a:r>
            <a:endParaRPr/>
          </a:p>
          <a:p>
            <a:pPr marL="0" lvl="0" indent="0" algn="just" rtl="0">
              <a:lnSpc>
                <a:spcPct val="150000"/>
              </a:lnSpc>
              <a:spcBef>
                <a:spcPts val="0"/>
              </a:spcBef>
              <a:spcAft>
                <a:spcPts val="0"/>
              </a:spcAft>
              <a:buClr>
                <a:schemeClr val="dk1"/>
              </a:buClr>
              <a:buSzPct val="151351"/>
              <a:buNone/>
            </a:pPr>
            <a:r>
              <a:rPr lang="en-US" sz="2000"/>
              <a:t>Array: {2, 4, 6, 8, 10, 12, 14}</a:t>
            </a:r>
            <a:endParaRPr/>
          </a:p>
          <a:p>
            <a:pPr marL="0" lvl="0" indent="0" algn="just" rtl="0">
              <a:lnSpc>
                <a:spcPct val="150000"/>
              </a:lnSpc>
              <a:spcBef>
                <a:spcPts val="0"/>
              </a:spcBef>
              <a:spcAft>
                <a:spcPts val="0"/>
              </a:spcAft>
              <a:buClr>
                <a:schemeClr val="dk1"/>
              </a:buClr>
              <a:buSzPct val="151351"/>
              <a:buNone/>
            </a:pPr>
            <a:r>
              <a:rPr lang="en-US" sz="2000"/>
              <a:t>Target: 10</a:t>
            </a:r>
            <a:endParaRPr/>
          </a:p>
          <a:p>
            <a:pPr marL="342900" lvl="0" indent="-342900" algn="just" rtl="0">
              <a:lnSpc>
                <a:spcPct val="150000"/>
              </a:lnSpc>
              <a:spcBef>
                <a:spcPts val="0"/>
              </a:spcBef>
              <a:spcAft>
                <a:spcPts val="0"/>
              </a:spcAft>
              <a:buClr>
                <a:schemeClr val="dk1"/>
              </a:buClr>
              <a:buSzPct val="151351"/>
              <a:buChar char="•"/>
            </a:pPr>
            <a:r>
              <a:rPr lang="en-US" sz="2000"/>
              <a:t>Step 1: low = 0, high = 6, mid = 3 → arr[3] = 8 </a:t>
            </a:r>
            <a:endParaRPr/>
          </a:p>
          <a:p>
            <a:pPr marL="342900" lvl="0" indent="-342900" algn="just" rtl="0">
              <a:lnSpc>
                <a:spcPct val="150000"/>
              </a:lnSpc>
              <a:spcBef>
                <a:spcPts val="0"/>
              </a:spcBef>
              <a:spcAft>
                <a:spcPts val="0"/>
              </a:spcAft>
              <a:buClr>
                <a:schemeClr val="dk1"/>
              </a:buClr>
              <a:buSzPct val="151351"/>
              <a:buChar char="•"/>
            </a:pPr>
            <a:r>
              <a:rPr lang="en-US" sz="2000"/>
              <a:t>Step 2: Search right half (low = 4)</a:t>
            </a:r>
            <a:endParaRPr/>
          </a:p>
          <a:p>
            <a:pPr marL="342900" lvl="0" indent="-342900" algn="just" rtl="0">
              <a:lnSpc>
                <a:spcPct val="150000"/>
              </a:lnSpc>
              <a:spcBef>
                <a:spcPts val="0"/>
              </a:spcBef>
              <a:spcAft>
                <a:spcPts val="0"/>
              </a:spcAft>
              <a:buClr>
                <a:schemeClr val="dk1"/>
              </a:buClr>
              <a:buSzPct val="151351"/>
              <a:buChar char="•"/>
            </a:pPr>
            <a:r>
              <a:rPr lang="en-US" sz="2000"/>
              <a:t>Step 3: New mid = 5, arr[5] = 12 </a:t>
            </a:r>
            <a:endParaRPr/>
          </a:p>
          <a:p>
            <a:pPr marL="342900" lvl="0" indent="-342900" algn="just" rtl="0">
              <a:lnSpc>
                <a:spcPct val="150000"/>
              </a:lnSpc>
              <a:spcBef>
                <a:spcPts val="0"/>
              </a:spcBef>
              <a:spcAft>
                <a:spcPts val="0"/>
              </a:spcAft>
              <a:buClr>
                <a:schemeClr val="dk1"/>
              </a:buClr>
              <a:buSzPct val="151351"/>
              <a:buChar char="•"/>
            </a:pPr>
            <a:r>
              <a:rPr lang="en-US" sz="2000"/>
              <a:t>Step 4: Search left half (high = 4)</a:t>
            </a:r>
            <a:endParaRPr/>
          </a:p>
          <a:p>
            <a:pPr marL="342900" lvl="0" indent="-342900" algn="just" rtl="0">
              <a:lnSpc>
                <a:spcPct val="150000"/>
              </a:lnSpc>
              <a:spcBef>
                <a:spcPts val="0"/>
              </a:spcBef>
              <a:spcAft>
                <a:spcPts val="0"/>
              </a:spcAft>
              <a:buClr>
                <a:schemeClr val="dk1"/>
              </a:buClr>
              <a:buSzPct val="151351"/>
              <a:buChar char="•"/>
            </a:pPr>
            <a:r>
              <a:rPr lang="en-US" sz="2000"/>
              <a:t>Step 5: mid = 4, arr[4] = 10 Found!</a:t>
            </a:r>
            <a:endParaRPr sz="2000"/>
          </a:p>
        </p:txBody>
      </p:sp>
      <p:pic>
        <p:nvPicPr>
          <p:cNvPr id="170" name="Google Shape;170;p13"/>
          <p:cNvPicPr preferRelativeResize="0"/>
          <p:nvPr/>
        </p:nvPicPr>
        <p:blipFill rotWithShape="1">
          <a:blip r:embed="rId3">
            <a:alphaModFix/>
          </a:blip>
          <a:srcRect/>
          <a:stretch/>
        </p:blipFill>
        <p:spPr>
          <a:xfrm>
            <a:off x="7239000" y="7783"/>
            <a:ext cx="1653683" cy="61727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8"/>
                                        </p:tgtEl>
                                        <p:attrNameLst>
                                          <p:attrName>style.visibility</p:attrName>
                                        </p:attrNameLst>
                                      </p:cBhvr>
                                      <p:to>
                                        <p:strVal val="visible"/>
                                      </p:to>
                                    </p:set>
                                    <p:animEffect transition="in" filter="fade">
                                      <p:cBhvr>
                                        <p:cTn id="7" dur="1000"/>
                                        <p:tgtEl>
                                          <p:spTgt spid="16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69">
                                            <p:txEl>
                                              <p:pRg st="0" end="0"/>
                                            </p:txEl>
                                          </p:spTgt>
                                        </p:tgtEl>
                                        <p:attrNameLst>
                                          <p:attrName>style.visibility</p:attrName>
                                        </p:attrNameLst>
                                      </p:cBhvr>
                                      <p:to>
                                        <p:strVal val="visible"/>
                                      </p:to>
                                    </p:set>
                                    <p:anim calcmode="lin" valueType="num">
                                      <p:cBhvr additive="base">
                                        <p:cTn id="12" dur="500"/>
                                        <p:tgtEl>
                                          <p:spTgt spid="16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69">
                                            <p:txEl>
                                              <p:pRg st="1" end="1"/>
                                            </p:txEl>
                                          </p:spTgt>
                                        </p:tgtEl>
                                        <p:attrNameLst>
                                          <p:attrName>style.visibility</p:attrName>
                                        </p:attrNameLst>
                                      </p:cBhvr>
                                      <p:to>
                                        <p:strVal val="visible"/>
                                      </p:to>
                                    </p:set>
                                    <p:anim calcmode="lin" valueType="num">
                                      <p:cBhvr additive="base">
                                        <p:cTn id="17" dur="500"/>
                                        <p:tgtEl>
                                          <p:spTgt spid="16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69">
                                            <p:txEl>
                                              <p:pRg st="2" end="2"/>
                                            </p:txEl>
                                          </p:spTgt>
                                        </p:tgtEl>
                                        <p:attrNameLst>
                                          <p:attrName>style.visibility</p:attrName>
                                        </p:attrNameLst>
                                      </p:cBhvr>
                                      <p:to>
                                        <p:strVal val="visible"/>
                                      </p:to>
                                    </p:set>
                                    <p:anim calcmode="lin" valueType="num">
                                      <p:cBhvr additive="base">
                                        <p:cTn id="22" dur="500"/>
                                        <p:tgtEl>
                                          <p:spTgt spid="16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69">
                                            <p:txEl>
                                              <p:pRg st="3" end="3"/>
                                            </p:txEl>
                                          </p:spTgt>
                                        </p:tgtEl>
                                        <p:attrNameLst>
                                          <p:attrName>style.visibility</p:attrName>
                                        </p:attrNameLst>
                                      </p:cBhvr>
                                      <p:to>
                                        <p:strVal val="visible"/>
                                      </p:to>
                                    </p:set>
                                    <p:anim calcmode="lin" valueType="num">
                                      <p:cBhvr additive="base">
                                        <p:cTn id="27" dur="500"/>
                                        <p:tgtEl>
                                          <p:spTgt spid="16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69">
                                            <p:txEl>
                                              <p:pRg st="4" end="4"/>
                                            </p:txEl>
                                          </p:spTgt>
                                        </p:tgtEl>
                                        <p:attrNameLst>
                                          <p:attrName>style.visibility</p:attrName>
                                        </p:attrNameLst>
                                      </p:cBhvr>
                                      <p:to>
                                        <p:strVal val="visible"/>
                                      </p:to>
                                    </p:set>
                                    <p:anim calcmode="lin" valueType="num">
                                      <p:cBhvr additive="base">
                                        <p:cTn id="32" dur="500"/>
                                        <p:tgtEl>
                                          <p:spTgt spid="16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69">
                                            <p:txEl>
                                              <p:pRg st="5" end="5"/>
                                            </p:txEl>
                                          </p:spTgt>
                                        </p:tgtEl>
                                        <p:attrNameLst>
                                          <p:attrName>style.visibility</p:attrName>
                                        </p:attrNameLst>
                                      </p:cBhvr>
                                      <p:to>
                                        <p:strVal val="visible"/>
                                      </p:to>
                                    </p:set>
                                    <p:anim calcmode="lin" valueType="num">
                                      <p:cBhvr additive="base">
                                        <p:cTn id="37" dur="500"/>
                                        <p:tgtEl>
                                          <p:spTgt spid="169">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169">
                                            <p:txEl>
                                              <p:pRg st="6" end="6"/>
                                            </p:txEl>
                                          </p:spTgt>
                                        </p:tgtEl>
                                        <p:attrNameLst>
                                          <p:attrName>style.visibility</p:attrName>
                                        </p:attrNameLst>
                                      </p:cBhvr>
                                      <p:to>
                                        <p:strVal val="visible"/>
                                      </p:to>
                                    </p:set>
                                    <p:anim calcmode="lin" valueType="num">
                                      <p:cBhvr additive="base">
                                        <p:cTn id="42" dur="500"/>
                                        <p:tgtEl>
                                          <p:spTgt spid="169">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169">
                                            <p:txEl>
                                              <p:pRg st="7" end="7"/>
                                            </p:txEl>
                                          </p:spTgt>
                                        </p:tgtEl>
                                        <p:attrNameLst>
                                          <p:attrName>style.visibility</p:attrName>
                                        </p:attrNameLst>
                                      </p:cBhvr>
                                      <p:to>
                                        <p:strVal val="visible"/>
                                      </p:to>
                                    </p:set>
                                    <p:anim calcmode="lin" valueType="num">
                                      <p:cBhvr additive="base">
                                        <p:cTn id="47" dur="500"/>
                                        <p:tgtEl>
                                          <p:spTgt spid="169">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14"/>
          <p:cNvSpPr txBox="1">
            <a:spLocks noGrp="1"/>
          </p:cNvSpPr>
          <p:nvPr>
            <p:ph type="title"/>
          </p:nvPr>
        </p:nvSpPr>
        <p:spPr>
          <a:xfrm>
            <a:off x="628650" y="273844"/>
            <a:ext cx="7886700" cy="994172"/>
          </a:xfrm>
          <a:prstGeom prst="rect">
            <a:avLst/>
          </a:prstGeom>
          <a:noFill/>
          <a:ln>
            <a:noFill/>
          </a:ln>
        </p:spPr>
        <p:txBody>
          <a:bodyPr spcFirstLastPara="1" wrap="square" lIns="68550" tIns="34275" rIns="68550" bIns="34275"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Binary Search</a:t>
            </a:r>
            <a:endParaRPr b="1"/>
          </a:p>
        </p:txBody>
      </p:sp>
      <p:sp>
        <p:nvSpPr>
          <p:cNvPr id="176" name="Google Shape;176;p14"/>
          <p:cNvSpPr txBox="1">
            <a:spLocks noGrp="1"/>
          </p:cNvSpPr>
          <p:nvPr>
            <p:ph type="body" idx="1"/>
          </p:nvPr>
        </p:nvSpPr>
        <p:spPr>
          <a:xfrm>
            <a:off x="685800" y="1047750"/>
            <a:ext cx="7829550" cy="3886200"/>
          </a:xfrm>
          <a:prstGeom prst="rect">
            <a:avLst/>
          </a:prstGeom>
          <a:noFill/>
          <a:ln>
            <a:noFill/>
          </a:ln>
        </p:spPr>
        <p:txBody>
          <a:bodyPr spcFirstLastPara="1" wrap="square" lIns="68550" tIns="34275" rIns="68550" bIns="34275" anchor="t" anchorCtr="0">
            <a:noAutofit/>
          </a:bodyPr>
          <a:lstStyle/>
          <a:p>
            <a:pPr marL="0" lvl="0" indent="0" algn="just" rtl="0">
              <a:lnSpc>
                <a:spcPct val="90000"/>
              </a:lnSpc>
              <a:spcBef>
                <a:spcPts val="0"/>
              </a:spcBef>
              <a:spcAft>
                <a:spcPts val="0"/>
              </a:spcAft>
              <a:buClr>
                <a:schemeClr val="dk1"/>
              </a:buClr>
              <a:buSzPts val="2800"/>
              <a:buNone/>
            </a:pPr>
            <a:r>
              <a:rPr lang="en-US" sz="1400"/>
              <a:t>#include &lt;stdio.h&gt;</a:t>
            </a:r>
            <a:endParaRPr/>
          </a:p>
          <a:p>
            <a:pPr marL="0" lvl="0" indent="0" algn="just" rtl="0">
              <a:lnSpc>
                <a:spcPct val="90000"/>
              </a:lnSpc>
              <a:spcBef>
                <a:spcPts val="0"/>
              </a:spcBef>
              <a:spcAft>
                <a:spcPts val="0"/>
              </a:spcAft>
              <a:buClr>
                <a:schemeClr val="dk1"/>
              </a:buClr>
              <a:buSzPts val="2800"/>
              <a:buNone/>
            </a:pPr>
            <a:endParaRPr sz="1400"/>
          </a:p>
          <a:p>
            <a:pPr marL="0" lvl="0" indent="0" algn="just" rtl="0">
              <a:lnSpc>
                <a:spcPct val="90000"/>
              </a:lnSpc>
              <a:spcBef>
                <a:spcPts val="0"/>
              </a:spcBef>
              <a:spcAft>
                <a:spcPts val="0"/>
              </a:spcAft>
              <a:buClr>
                <a:schemeClr val="dk1"/>
              </a:buClr>
              <a:buSzPts val="2800"/>
              <a:buNone/>
            </a:pPr>
            <a:r>
              <a:rPr lang="en-US" sz="1400"/>
              <a:t>int binarySearch(int arr[], int low, int high, int target) {</a:t>
            </a:r>
            <a:endParaRPr/>
          </a:p>
          <a:p>
            <a:pPr marL="0" lvl="0" indent="0" algn="just" rtl="0">
              <a:lnSpc>
                <a:spcPct val="90000"/>
              </a:lnSpc>
              <a:spcBef>
                <a:spcPts val="0"/>
              </a:spcBef>
              <a:spcAft>
                <a:spcPts val="0"/>
              </a:spcAft>
              <a:buClr>
                <a:schemeClr val="dk1"/>
              </a:buClr>
              <a:buSzPts val="2800"/>
              <a:buNone/>
            </a:pPr>
            <a:r>
              <a:rPr lang="en-US" sz="1400"/>
              <a:t>    while (low &lt;= high) {</a:t>
            </a:r>
            <a:endParaRPr/>
          </a:p>
          <a:p>
            <a:pPr marL="0" lvl="0" indent="0" algn="just" rtl="0">
              <a:lnSpc>
                <a:spcPct val="90000"/>
              </a:lnSpc>
              <a:spcBef>
                <a:spcPts val="0"/>
              </a:spcBef>
              <a:spcAft>
                <a:spcPts val="0"/>
              </a:spcAft>
              <a:buClr>
                <a:schemeClr val="dk1"/>
              </a:buClr>
              <a:buSzPts val="2800"/>
              <a:buNone/>
            </a:pPr>
            <a:r>
              <a:rPr lang="en-US" sz="1400"/>
              <a:t>        int mid = (low + high) / 2;</a:t>
            </a:r>
            <a:endParaRPr/>
          </a:p>
          <a:p>
            <a:pPr marL="0" lvl="0" indent="0" algn="just" rtl="0">
              <a:lnSpc>
                <a:spcPct val="90000"/>
              </a:lnSpc>
              <a:spcBef>
                <a:spcPts val="0"/>
              </a:spcBef>
              <a:spcAft>
                <a:spcPts val="0"/>
              </a:spcAft>
              <a:buClr>
                <a:schemeClr val="dk1"/>
              </a:buClr>
              <a:buSzPts val="2800"/>
              <a:buNone/>
            </a:pPr>
            <a:endParaRPr sz="1400"/>
          </a:p>
          <a:p>
            <a:pPr marL="0" lvl="0" indent="0" algn="just" rtl="0">
              <a:lnSpc>
                <a:spcPct val="90000"/>
              </a:lnSpc>
              <a:spcBef>
                <a:spcPts val="0"/>
              </a:spcBef>
              <a:spcAft>
                <a:spcPts val="0"/>
              </a:spcAft>
              <a:buClr>
                <a:schemeClr val="dk1"/>
              </a:buClr>
              <a:buSzPts val="2800"/>
              <a:buNone/>
            </a:pPr>
            <a:r>
              <a:rPr lang="en-US" sz="1400"/>
              <a:t>        // Check if target is found</a:t>
            </a:r>
            <a:endParaRPr/>
          </a:p>
          <a:p>
            <a:pPr marL="0" lvl="0" indent="0" algn="just" rtl="0">
              <a:lnSpc>
                <a:spcPct val="90000"/>
              </a:lnSpc>
              <a:spcBef>
                <a:spcPts val="0"/>
              </a:spcBef>
              <a:spcAft>
                <a:spcPts val="0"/>
              </a:spcAft>
              <a:buClr>
                <a:schemeClr val="dk1"/>
              </a:buClr>
              <a:buSzPts val="2800"/>
              <a:buNone/>
            </a:pPr>
            <a:r>
              <a:rPr lang="en-US" sz="1400"/>
              <a:t>        if (arr[mid] == target) {</a:t>
            </a:r>
            <a:endParaRPr/>
          </a:p>
          <a:p>
            <a:pPr marL="0" lvl="0" indent="0" algn="just" rtl="0">
              <a:lnSpc>
                <a:spcPct val="90000"/>
              </a:lnSpc>
              <a:spcBef>
                <a:spcPts val="0"/>
              </a:spcBef>
              <a:spcAft>
                <a:spcPts val="0"/>
              </a:spcAft>
              <a:buClr>
                <a:schemeClr val="dk1"/>
              </a:buClr>
              <a:buSzPts val="2800"/>
              <a:buNone/>
            </a:pPr>
            <a:r>
              <a:rPr lang="en-US" sz="1400"/>
              <a:t>            return mid;</a:t>
            </a:r>
            <a:endParaRPr/>
          </a:p>
          <a:p>
            <a:pPr marL="0" lvl="0" indent="0" algn="just" rtl="0">
              <a:lnSpc>
                <a:spcPct val="90000"/>
              </a:lnSpc>
              <a:spcBef>
                <a:spcPts val="0"/>
              </a:spcBef>
              <a:spcAft>
                <a:spcPts val="0"/>
              </a:spcAft>
              <a:buClr>
                <a:schemeClr val="dk1"/>
              </a:buClr>
              <a:buSzPts val="2800"/>
              <a:buNone/>
            </a:pPr>
            <a:r>
              <a:rPr lang="en-US" sz="1400"/>
              <a:t>        }</a:t>
            </a:r>
            <a:endParaRPr/>
          </a:p>
          <a:p>
            <a:pPr marL="0" lvl="0" indent="0" algn="just" rtl="0">
              <a:lnSpc>
                <a:spcPct val="90000"/>
              </a:lnSpc>
              <a:spcBef>
                <a:spcPts val="0"/>
              </a:spcBef>
              <a:spcAft>
                <a:spcPts val="0"/>
              </a:spcAft>
              <a:buClr>
                <a:schemeClr val="dk1"/>
              </a:buClr>
              <a:buSzPts val="2800"/>
              <a:buNone/>
            </a:pPr>
            <a:endParaRPr sz="1400"/>
          </a:p>
          <a:p>
            <a:pPr marL="0" lvl="0" indent="0" algn="just" rtl="0">
              <a:lnSpc>
                <a:spcPct val="90000"/>
              </a:lnSpc>
              <a:spcBef>
                <a:spcPts val="0"/>
              </a:spcBef>
              <a:spcAft>
                <a:spcPts val="0"/>
              </a:spcAft>
              <a:buClr>
                <a:schemeClr val="dk1"/>
              </a:buClr>
              <a:buSzPts val="2800"/>
              <a:buNone/>
            </a:pPr>
            <a:r>
              <a:rPr lang="en-US" sz="1400"/>
              <a:t>        // If target is larger, search the right half</a:t>
            </a:r>
            <a:endParaRPr/>
          </a:p>
          <a:p>
            <a:pPr marL="0" lvl="0" indent="0" algn="just" rtl="0">
              <a:lnSpc>
                <a:spcPct val="90000"/>
              </a:lnSpc>
              <a:spcBef>
                <a:spcPts val="0"/>
              </a:spcBef>
              <a:spcAft>
                <a:spcPts val="0"/>
              </a:spcAft>
              <a:buClr>
                <a:schemeClr val="dk1"/>
              </a:buClr>
              <a:buSzPts val="2800"/>
              <a:buNone/>
            </a:pPr>
            <a:r>
              <a:rPr lang="en-US" sz="1400"/>
              <a:t>        if (arr[mid] &lt; target) {</a:t>
            </a:r>
            <a:endParaRPr/>
          </a:p>
          <a:p>
            <a:pPr marL="0" lvl="0" indent="0" algn="just" rtl="0">
              <a:lnSpc>
                <a:spcPct val="90000"/>
              </a:lnSpc>
              <a:spcBef>
                <a:spcPts val="0"/>
              </a:spcBef>
              <a:spcAft>
                <a:spcPts val="0"/>
              </a:spcAft>
              <a:buClr>
                <a:schemeClr val="dk1"/>
              </a:buClr>
              <a:buSzPts val="2800"/>
              <a:buNone/>
            </a:pPr>
            <a:r>
              <a:rPr lang="en-US" sz="1400"/>
              <a:t>            low = mid + 1;</a:t>
            </a:r>
            <a:endParaRPr/>
          </a:p>
          <a:p>
            <a:pPr marL="0" lvl="0" indent="0" algn="just" rtl="0">
              <a:lnSpc>
                <a:spcPct val="90000"/>
              </a:lnSpc>
              <a:spcBef>
                <a:spcPts val="0"/>
              </a:spcBef>
              <a:spcAft>
                <a:spcPts val="0"/>
              </a:spcAft>
              <a:buClr>
                <a:schemeClr val="dk1"/>
              </a:buClr>
              <a:buSzPts val="2800"/>
              <a:buNone/>
            </a:pPr>
            <a:r>
              <a:rPr lang="en-US" sz="1400"/>
              <a:t>        }</a:t>
            </a:r>
            <a:endParaRPr/>
          </a:p>
          <a:p>
            <a:pPr marL="0" lvl="0" indent="0" algn="just" rtl="0">
              <a:lnSpc>
                <a:spcPct val="90000"/>
              </a:lnSpc>
              <a:spcBef>
                <a:spcPts val="0"/>
              </a:spcBef>
              <a:spcAft>
                <a:spcPts val="0"/>
              </a:spcAft>
              <a:buClr>
                <a:schemeClr val="dk1"/>
              </a:buClr>
              <a:buSzPts val="2800"/>
              <a:buNone/>
            </a:pPr>
            <a:r>
              <a:rPr lang="en-US" sz="1400"/>
              <a:t>        // If target is smaller, search the left half</a:t>
            </a:r>
            <a:endParaRPr/>
          </a:p>
          <a:p>
            <a:pPr marL="0" lvl="0" indent="0" algn="just" rtl="0">
              <a:lnSpc>
                <a:spcPct val="90000"/>
              </a:lnSpc>
              <a:spcBef>
                <a:spcPts val="0"/>
              </a:spcBef>
              <a:spcAft>
                <a:spcPts val="0"/>
              </a:spcAft>
              <a:buClr>
                <a:schemeClr val="dk1"/>
              </a:buClr>
              <a:buSzPts val="2800"/>
              <a:buNone/>
            </a:pPr>
            <a:r>
              <a:rPr lang="en-US" sz="1400"/>
              <a:t>        else {</a:t>
            </a:r>
            <a:endParaRPr/>
          </a:p>
          <a:p>
            <a:pPr marL="0" lvl="0" indent="0" algn="just" rtl="0">
              <a:lnSpc>
                <a:spcPct val="90000"/>
              </a:lnSpc>
              <a:spcBef>
                <a:spcPts val="0"/>
              </a:spcBef>
              <a:spcAft>
                <a:spcPts val="0"/>
              </a:spcAft>
              <a:buClr>
                <a:schemeClr val="dk1"/>
              </a:buClr>
              <a:buSzPts val="2800"/>
              <a:buNone/>
            </a:pPr>
            <a:r>
              <a:rPr lang="en-US" sz="1400"/>
              <a:t>            high = mid - 1;</a:t>
            </a:r>
            <a:endParaRPr/>
          </a:p>
          <a:p>
            <a:pPr marL="0" lvl="0" indent="0" algn="just" rtl="0">
              <a:lnSpc>
                <a:spcPct val="90000"/>
              </a:lnSpc>
              <a:spcBef>
                <a:spcPts val="0"/>
              </a:spcBef>
              <a:spcAft>
                <a:spcPts val="0"/>
              </a:spcAft>
              <a:buClr>
                <a:schemeClr val="dk1"/>
              </a:buClr>
              <a:buSzPts val="2800"/>
              <a:buNone/>
            </a:pPr>
            <a:r>
              <a:rPr lang="en-US" sz="1400"/>
              <a:t>        }</a:t>
            </a:r>
            <a:endParaRPr/>
          </a:p>
          <a:p>
            <a:pPr marL="0" lvl="0" indent="0" algn="just" rtl="0">
              <a:lnSpc>
                <a:spcPct val="90000"/>
              </a:lnSpc>
              <a:spcBef>
                <a:spcPts val="0"/>
              </a:spcBef>
              <a:spcAft>
                <a:spcPts val="0"/>
              </a:spcAft>
              <a:buClr>
                <a:schemeClr val="dk1"/>
              </a:buClr>
              <a:buSzPts val="2800"/>
              <a:buNone/>
            </a:pPr>
            <a:r>
              <a:rPr lang="en-US" sz="1400"/>
              <a:t>    }</a:t>
            </a:r>
            <a:endParaRPr/>
          </a:p>
        </p:txBody>
      </p:sp>
      <p:pic>
        <p:nvPicPr>
          <p:cNvPr id="177" name="Google Shape;177;p14"/>
          <p:cNvPicPr preferRelativeResize="0"/>
          <p:nvPr/>
        </p:nvPicPr>
        <p:blipFill rotWithShape="1">
          <a:blip r:embed="rId3">
            <a:alphaModFix/>
          </a:blip>
          <a:srcRect/>
          <a:stretch/>
        </p:blipFill>
        <p:spPr>
          <a:xfrm>
            <a:off x="7239000" y="7783"/>
            <a:ext cx="1653683" cy="61727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5"/>
                                        </p:tgtEl>
                                        <p:attrNameLst>
                                          <p:attrName>style.visibility</p:attrName>
                                        </p:attrNameLst>
                                      </p:cBhvr>
                                      <p:to>
                                        <p:strVal val="visible"/>
                                      </p:to>
                                    </p:set>
                                    <p:animEffect transition="in" filter="fade">
                                      <p:cBhvr>
                                        <p:cTn id="7" dur="1000"/>
                                        <p:tgtEl>
                                          <p:spTgt spid="17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76">
                                            <p:txEl>
                                              <p:pRg st="0" end="0"/>
                                            </p:txEl>
                                          </p:spTgt>
                                        </p:tgtEl>
                                        <p:attrNameLst>
                                          <p:attrName>style.visibility</p:attrName>
                                        </p:attrNameLst>
                                      </p:cBhvr>
                                      <p:to>
                                        <p:strVal val="visible"/>
                                      </p:to>
                                    </p:set>
                                    <p:anim calcmode="lin" valueType="num">
                                      <p:cBhvr additive="base">
                                        <p:cTn id="12" dur="500"/>
                                        <p:tgtEl>
                                          <p:spTgt spid="17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76">
                                            <p:txEl>
                                              <p:pRg st="1" end="1"/>
                                            </p:txEl>
                                          </p:spTgt>
                                        </p:tgtEl>
                                        <p:attrNameLst>
                                          <p:attrName>style.visibility</p:attrName>
                                        </p:attrNameLst>
                                      </p:cBhvr>
                                      <p:to>
                                        <p:strVal val="visible"/>
                                      </p:to>
                                    </p:set>
                                    <p:anim calcmode="lin" valueType="num">
                                      <p:cBhvr additive="base">
                                        <p:cTn id="17" dur="500"/>
                                        <p:tgtEl>
                                          <p:spTgt spid="17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76">
                                            <p:txEl>
                                              <p:pRg st="2" end="2"/>
                                            </p:txEl>
                                          </p:spTgt>
                                        </p:tgtEl>
                                        <p:attrNameLst>
                                          <p:attrName>style.visibility</p:attrName>
                                        </p:attrNameLst>
                                      </p:cBhvr>
                                      <p:to>
                                        <p:strVal val="visible"/>
                                      </p:to>
                                    </p:set>
                                    <p:anim calcmode="lin" valueType="num">
                                      <p:cBhvr additive="base">
                                        <p:cTn id="22" dur="500"/>
                                        <p:tgtEl>
                                          <p:spTgt spid="17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76">
                                            <p:txEl>
                                              <p:pRg st="3" end="3"/>
                                            </p:txEl>
                                          </p:spTgt>
                                        </p:tgtEl>
                                        <p:attrNameLst>
                                          <p:attrName>style.visibility</p:attrName>
                                        </p:attrNameLst>
                                      </p:cBhvr>
                                      <p:to>
                                        <p:strVal val="visible"/>
                                      </p:to>
                                    </p:set>
                                    <p:anim calcmode="lin" valueType="num">
                                      <p:cBhvr additive="base">
                                        <p:cTn id="27" dur="500"/>
                                        <p:tgtEl>
                                          <p:spTgt spid="17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76">
                                            <p:txEl>
                                              <p:pRg st="4" end="4"/>
                                            </p:txEl>
                                          </p:spTgt>
                                        </p:tgtEl>
                                        <p:attrNameLst>
                                          <p:attrName>style.visibility</p:attrName>
                                        </p:attrNameLst>
                                      </p:cBhvr>
                                      <p:to>
                                        <p:strVal val="visible"/>
                                      </p:to>
                                    </p:set>
                                    <p:anim calcmode="lin" valueType="num">
                                      <p:cBhvr additive="base">
                                        <p:cTn id="32" dur="500"/>
                                        <p:tgtEl>
                                          <p:spTgt spid="17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76">
                                            <p:txEl>
                                              <p:pRg st="5" end="5"/>
                                            </p:txEl>
                                          </p:spTgt>
                                        </p:tgtEl>
                                        <p:attrNameLst>
                                          <p:attrName>style.visibility</p:attrName>
                                        </p:attrNameLst>
                                      </p:cBhvr>
                                      <p:to>
                                        <p:strVal val="visible"/>
                                      </p:to>
                                    </p:set>
                                    <p:anim calcmode="lin" valueType="num">
                                      <p:cBhvr additive="base">
                                        <p:cTn id="37" dur="500"/>
                                        <p:tgtEl>
                                          <p:spTgt spid="17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176">
                                            <p:txEl>
                                              <p:pRg st="6" end="6"/>
                                            </p:txEl>
                                          </p:spTgt>
                                        </p:tgtEl>
                                        <p:attrNameLst>
                                          <p:attrName>style.visibility</p:attrName>
                                        </p:attrNameLst>
                                      </p:cBhvr>
                                      <p:to>
                                        <p:strVal val="visible"/>
                                      </p:to>
                                    </p:set>
                                    <p:anim calcmode="lin" valueType="num">
                                      <p:cBhvr additive="base">
                                        <p:cTn id="42" dur="500"/>
                                        <p:tgtEl>
                                          <p:spTgt spid="176">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176">
                                            <p:txEl>
                                              <p:pRg st="7" end="7"/>
                                            </p:txEl>
                                          </p:spTgt>
                                        </p:tgtEl>
                                        <p:attrNameLst>
                                          <p:attrName>style.visibility</p:attrName>
                                        </p:attrNameLst>
                                      </p:cBhvr>
                                      <p:to>
                                        <p:strVal val="visible"/>
                                      </p:to>
                                    </p:set>
                                    <p:anim calcmode="lin" valueType="num">
                                      <p:cBhvr additive="base">
                                        <p:cTn id="47" dur="500"/>
                                        <p:tgtEl>
                                          <p:spTgt spid="176">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176">
                                            <p:txEl>
                                              <p:pRg st="8" end="8"/>
                                            </p:txEl>
                                          </p:spTgt>
                                        </p:tgtEl>
                                        <p:attrNameLst>
                                          <p:attrName>style.visibility</p:attrName>
                                        </p:attrNameLst>
                                      </p:cBhvr>
                                      <p:to>
                                        <p:strVal val="visible"/>
                                      </p:to>
                                    </p:set>
                                    <p:anim calcmode="lin" valueType="num">
                                      <p:cBhvr additive="base">
                                        <p:cTn id="52" dur="500"/>
                                        <p:tgtEl>
                                          <p:spTgt spid="176">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176">
                                            <p:txEl>
                                              <p:pRg st="9" end="9"/>
                                            </p:txEl>
                                          </p:spTgt>
                                        </p:tgtEl>
                                        <p:attrNameLst>
                                          <p:attrName>style.visibility</p:attrName>
                                        </p:attrNameLst>
                                      </p:cBhvr>
                                      <p:to>
                                        <p:strVal val="visible"/>
                                      </p:to>
                                    </p:set>
                                    <p:anim calcmode="lin" valueType="num">
                                      <p:cBhvr additive="base">
                                        <p:cTn id="57" dur="500"/>
                                        <p:tgtEl>
                                          <p:spTgt spid="176">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nodeType="clickEffect">
                                  <p:stCondLst>
                                    <p:cond delay="0"/>
                                  </p:stCondLst>
                                  <p:childTnLst>
                                    <p:set>
                                      <p:cBhvr>
                                        <p:cTn id="61" dur="1" fill="hold">
                                          <p:stCondLst>
                                            <p:cond delay="0"/>
                                          </p:stCondLst>
                                        </p:cTn>
                                        <p:tgtEl>
                                          <p:spTgt spid="176">
                                            <p:txEl>
                                              <p:pRg st="10" end="10"/>
                                            </p:txEl>
                                          </p:spTgt>
                                        </p:tgtEl>
                                        <p:attrNameLst>
                                          <p:attrName>style.visibility</p:attrName>
                                        </p:attrNameLst>
                                      </p:cBhvr>
                                      <p:to>
                                        <p:strVal val="visible"/>
                                      </p:to>
                                    </p:set>
                                    <p:anim calcmode="lin" valueType="num">
                                      <p:cBhvr additive="base">
                                        <p:cTn id="62" dur="500"/>
                                        <p:tgtEl>
                                          <p:spTgt spid="176">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176">
                                            <p:txEl>
                                              <p:pRg st="11" end="11"/>
                                            </p:txEl>
                                          </p:spTgt>
                                        </p:tgtEl>
                                        <p:attrNameLst>
                                          <p:attrName>style.visibility</p:attrName>
                                        </p:attrNameLst>
                                      </p:cBhvr>
                                      <p:to>
                                        <p:strVal val="visible"/>
                                      </p:to>
                                    </p:set>
                                    <p:anim calcmode="lin" valueType="num">
                                      <p:cBhvr additive="base">
                                        <p:cTn id="67" dur="500"/>
                                        <p:tgtEl>
                                          <p:spTgt spid="176">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 presetClass="entr" presetSubtype="4" fill="hold" nodeType="clickEffect">
                                  <p:stCondLst>
                                    <p:cond delay="0"/>
                                  </p:stCondLst>
                                  <p:childTnLst>
                                    <p:set>
                                      <p:cBhvr>
                                        <p:cTn id="71" dur="1" fill="hold">
                                          <p:stCondLst>
                                            <p:cond delay="0"/>
                                          </p:stCondLst>
                                        </p:cTn>
                                        <p:tgtEl>
                                          <p:spTgt spid="176">
                                            <p:txEl>
                                              <p:pRg st="12" end="12"/>
                                            </p:txEl>
                                          </p:spTgt>
                                        </p:tgtEl>
                                        <p:attrNameLst>
                                          <p:attrName>style.visibility</p:attrName>
                                        </p:attrNameLst>
                                      </p:cBhvr>
                                      <p:to>
                                        <p:strVal val="visible"/>
                                      </p:to>
                                    </p:set>
                                    <p:anim calcmode="lin" valueType="num">
                                      <p:cBhvr additive="base">
                                        <p:cTn id="72" dur="500"/>
                                        <p:tgtEl>
                                          <p:spTgt spid="176">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nodeType="clickEffect">
                                  <p:stCondLst>
                                    <p:cond delay="0"/>
                                  </p:stCondLst>
                                  <p:childTnLst>
                                    <p:set>
                                      <p:cBhvr>
                                        <p:cTn id="76" dur="1" fill="hold">
                                          <p:stCondLst>
                                            <p:cond delay="0"/>
                                          </p:stCondLst>
                                        </p:cTn>
                                        <p:tgtEl>
                                          <p:spTgt spid="176">
                                            <p:txEl>
                                              <p:pRg st="13" end="13"/>
                                            </p:txEl>
                                          </p:spTgt>
                                        </p:tgtEl>
                                        <p:attrNameLst>
                                          <p:attrName>style.visibility</p:attrName>
                                        </p:attrNameLst>
                                      </p:cBhvr>
                                      <p:to>
                                        <p:strVal val="visible"/>
                                      </p:to>
                                    </p:set>
                                    <p:anim calcmode="lin" valueType="num">
                                      <p:cBhvr additive="base">
                                        <p:cTn id="77" dur="500"/>
                                        <p:tgtEl>
                                          <p:spTgt spid="176">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2" presetClass="entr" presetSubtype="4" fill="hold" nodeType="clickEffect">
                                  <p:stCondLst>
                                    <p:cond delay="0"/>
                                  </p:stCondLst>
                                  <p:childTnLst>
                                    <p:set>
                                      <p:cBhvr>
                                        <p:cTn id="81" dur="1" fill="hold">
                                          <p:stCondLst>
                                            <p:cond delay="0"/>
                                          </p:stCondLst>
                                        </p:cTn>
                                        <p:tgtEl>
                                          <p:spTgt spid="176">
                                            <p:txEl>
                                              <p:pRg st="14" end="14"/>
                                            </p:txEl>
                                          </p:spTgt>
                                        </p:tgtEl>
                                        <p:attrNameLst>
                                          <p:attrName>style.visibility</p:attrName>
                                        </p:attrNameLst>
                                      </p:cBhvr>
                                      <p:to>
                                        <p:strVal val="visible"/>
                                      </p:to>
                                    </p:set>
                                    <p:anim calcmode="lin" valueType="num">
                                      <p:cBhvr additive="base">
                                        <p:cTn id="82" dur="500"/>
                                        <p:tgtEl>
                                          <p:spTgt spid="176">
                                            <p:txEl>
                                              <p:pRg st="14" end="14"/>
                                            </p:txEl>
                                          </p:spTgt>
                                        </p:tgtEl>
                                        <p:attrNameLst>
                                          <p:attrName>ppt_y</p:attrName>
                                        </p:attrNameLst>
                                      </p:cBhvr>
                                      <p:tavLst>
                                        <p:tav tm="0">
                                          <p:val>
                                            <p:strVal val="#ppt_y+1"/>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2" presetClass="entr" presetSubtype="4" fill="hold" nodeType="clickEffect">
                                  <p:stCondLst>
                                    <p:cond delay="0"/>
                                  </p:stCondLst>
                                  <p:childTnLst>
                                    <p:set>
                                      <p:cBhvr>
                                        <p:cTn id="86" dur="1" fill="hold">
                                          <p:stCondLst>
                                            <p:cond delay="0"/>
                                          </p:stCondLst>
                                        </p:cTn>
                                        <p:tgtEl>
                                          <p:spTgt spid="176">
                                            <p:txEl>
                                              <p:pRg st="15" end="15"/>
                                            </p:txEl>
                                          </p:spTgt>
                                        </p:tgtEl>
                                        <p:attrNameLst>
                                          <p:attrName>style.visibility</p:attrName>
                                        </p:attrNameLst>
                                      </p:cBhvr>
                                      <p:to>
                                        <p:strVal val="visible"/>
                                      </p:to>
                                    </p:set>
                                    <p:anim calcmode="lin" valueType="num">
                                      <p:cBhvr additive="base">
                                        <p:cTn id="87" dur="500"/>
                                        <p:tgtEl>
                                          <p:spTgt spid="176">
                                            <p:txEl>
                                              <p:pRg st="15" end="15"/>
                                            </p:txEl>
                                          </p:spTgt>
                                        </p:tgtEl>
                                        <p:attrNameLst>
                                          <p:attrName>ppt_y</p:attrName>
                                        </p:attrNameLst>
                                      </p:cBhvr>
                                      <p:tavLst>
                                        <p:tav tm="0">
                                          <p:val>
                                            <p:strVal val="#ppt_y+1"/>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2" presetClass="entr" presetSubtype="4" fill="hold" nodeType="clickEffect">
                                  <p:stCondLst>
                                    <p:cond delay="0"/>
                                  </p:stCondLst>
                                  <p:childTnLst>
                                    <p:set>
                                      <p:cBhvr>
                                        <p:cTn id="91" dur="1" fill="hold">
                                          <p:stCondLst>
                                            <p:cond delay="0"/>
                                          </p:stCondLst>
                                        </p:cTn>
                                        <p:tgtEl>
                                          <p:spTgt spid="176">
                                            <p:txEl>
                                              <p:pRg st="16" end="16"/>
                                            </p:txEl>
                                          </p:spTgt>
                                        </p:tgtEl>
                                        <p:attrNameLst>
                                          <p:attrName>style.visibility</p:attrName>
                                        </p:attrNameLst>
                                      </p:cBhvr>
                                      <p:to>
                                        <p:strVal val="visible"/>
                                      </p:to>
                                    </p:set>
                                    <p:anim calcmode="lin" valueType="num">
                                      <p:cBhvr additive="base">
                                        <p:cTn id="92" dur="500"/>
                                        <p:tgtEl>
                                          <p:spTgt spid="176">
                                            <p:txEl>
                                              <p:pRg st="16" end="16"/>
                                            </p:txEl>
                                          </p:spTgt>
                                        </p:tgtEl>
                                        <p:attrNameLst>
                                          <p:attrName>ppt_y</p:attrName>
                                        </p:attrNameLst>
                                      </p:cBhvr>
                                      <p:tavLst>
                                        <p:tav tm="0">
                                          <p:val>
                                            <p:strVal val="#ppt_y+1"/>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176">
                                            <p:txEl>
                                              <p:pRg st="17" end="17"/>
                                            </p:txEl>
                                          </p:spTgt>
                                        </p:tgtEl>
                                        <p:attrNameLst>
                                          <p:attrName>style.visibility</p:attrName>
                                        </p:attrNameLst>
                                      </p:cBhvr>
                                      <p:to>
                                        <p:strVal val="visible"/>
                                      </p:to>
                                    </p:set>
                                    <p:anim calcmode="lin" valueType="num">
                                      <p:cBhvr additive="base">
                                        <p:cTn id="97" dur="500"/>
                                        <p:tgtEl>
                                          <p:spTgt spid="176">
                                            <p:txEl>
                                              <p:pRg st="17" end="17"/>
                                            </p:txEl>
                                          </p:spTgt>
                                        </p:tgtEl>
                                        <p:attrNameLst>
                                          <p:attrName>ppt_y</p:attrName>
                                        </p:attrNameLst>
                                      </p:cBhvr>
                                      <p:tavLst>
                                        <p:tav tm="0">
                                          <p:val>
                                            <p:strVal val="#ppt_y+1"/>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2" presetClass="entr" presetSubtype="4" fill="hold" nodeType="clickEffect">
                                  <p:stCondLst>
                                    <p:cond delay="0"/>
                                  </p:stCondLst>
                                  <p:childTnLst>
                                    <p:set>
                                      <p:cBhvr>
                                        <p:cTn id="101" dur="1" fill="hold">
                                          <p:stCondLst>
                                            <p:cond delay="0"/>
                                          </p:stCondLst>
                                        </p:cTn>
                                        <p:tgtEl>
                                          <p:spTgt spid="176">
                                            <p:txEl>
                                              <p:pRg st="18" end="18"/>
                                            </p:txEl>
                                          </p:spTgt>
                                        </p:tgtEl>
                                        <p:attrNameLst>
                                          <p:attrName>style.visibility</p:attrName>
                                        </p:attrNameLst>
                                      </p:cBhvr>
                                      <p:to>
                                        <p:strVal val="visible"/>
                                      </p:to>
                                    </p:set>
                                    <p:anim calcmode="lin" valueType="num">
                                      <p:cBhvr additive="base">
                                        <p:cTn id="102" dur="500"/>
                                        <p:tgtEl>
                                          <p:spTgt spid="176">
                                            <p:txEl>
                                              <p:pRg st="18" end="18"/>
                                            </p:txEl>
                                          </p:spTgt>
                                        </p:tgtEl>
                                        <p:attrNameLst>
                                          <p:attrName>ppt_y</p:attrName>
                                        </p:attrNameLst>
                                      </p:cBhvr>
                                      <p:tavLst>
                                        <p:tav tm="0">
                                          <p:val>
                                            <p:strVal val="#ppt_y+1"/>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2" presetClass="entr" presetSubtype="4" fill="hold" nodeType="clickEffect">
                                  <p:stCondLst>
                                    <p:cond delay="0"/>
                                  </p:stCondLst>
                                  <p:childTnLst>
                                    <p:set>
                                      <p:cBhvr>
                                        <p:cTn id="106" dur="1" fill="hold">
                                          <p:stCondLst>
                                            <p:cond delay="0"/>
                                          </p:stCondLst>
                                        </p:cTn>
                                        <p:tgtEl>
                                          <p:spTgt spid="176">
                                            <p:txEl>
                                              <p:pRg st="19" end="19"/>
                                            </p:txEl>
                                          </p:spTgt>
                                        </p:tgtEl>
                                        <p:attrNameLst>
                                          <p:attrName>style.visibility</p:attrName>
                                        </p:attrNameLst>
                                      </p:cBhvr>
                                      <p:to>
                                        <p:strVal val="visible"/>
                                      </p:to>
                                    </p:set>
                                    <p:anim calcmode="lin" valueType="num">
                                      <p:cBhvr additive="base">
                                        <p:cTn id="107" dur="500"/>
                                        <p:tgtEl>
                                          <p:spTgt spid="176">
                                            <p:txEl>
                                              <p:pRg st="19" end="1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15"/>
          <p:cNvSpPr txBox="1">
            <a:spLocks noGrp="1"/>
          </p:cNvSpPr>
          <p:nvPr>
            <p:ph type="title"/>
          </p:nvPr>
        </p:nvSpPr>
        <p:spPr>
          <a:xfrm>
            <a:off x="628650" y="273844"/>
            <a:ext cx="7886700" cy="994172"/>
          </a:xfrm>
          <a:prstGeom prst="rect">
            <a:avLst/>
          </a:prstGeom>
          <a:noFill/>
          <a:ln>
            <a:noFill/>
          </a:ln>
        </p:spPr>
        <p:txBody>
          <a:bodyPr spcFirstLastPara="1" wrap="square" lIns="68550" tIns="34275" rIns="68550" bIns="34275"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Binary Search</a:t>
            </a:r>
            <a:endParaRPr b="1"/>
          </a:p>
        </p:txBody>
      </p:sp>
      <p:sp>
        <p:nvSpPr>
          <p:cNvPr id="183" name="Google Shape;183;p15"/>
          <p:cNvSpPr txBox="1">
            <a:spLocks noGrp="1"/>
          </p:cNvSpPr>
          <p:nvPr>
            <p:ph type="body" idx="1"/>
          </p:nvPr>
        </p:nvSpPr>
        <p:spPr>
          <a:xfrm>
            <a:off x="685800" y="1047750"/>
            <a:ext cx="7829550" cy="3886200"/>
          </a:xfrm>
          <a:prstGeom prst="rect">
            <a:avLst/>
          </a:prstGeom>
          <a:noFill/>
          <a:ln>
            <a:noFill/>
          </a:ln>
        </p:spPr>
        <p:txBody>
          <a:bodyPr spcFirstLastPara="1" wrap="square" lIns="68550" tIns="34275" rIns="68550" bIns="34275" anchor="t" anchorCtr="0">
            <a:noAutofit/>
          </a:bodyPr>
          <a:lstStyle/>
          <a:p>
            <a:pPr marL="0" lvl="0" indent="0" algn="just" rtl="0">
              <a:lnSpc>
                <a:spcPct val="90000"/>
              </a:lnSpc>
              <a:spcBef>
                <a:spcPts val="0"/>
              </a:spcBef>
              <a:spcAft>
                <a:spcPts val="0"/>
              </a:spcAft>
              <a:buClr>
                <a:schemeClr val="dk1"/>
              </a:buClr>
              <a:buSzPts val="2800"/>
              <a:buNone/>
            </a:pPr>
            <a:endParaRPr sz="1400"/>
          </a:p>
          <a:p>
            <a:pPr marL="0" lvl="0" indent="0" algn="just" rtl="0">
              <a:lnSpc>
                <a:spcPct val="90000"/>
              </a:lnSpc>
              <a:spcBef>
                <a:spcPts val="0"/>
              </a:spcBef>
              <a:spcAft>
                <a:spcPts val="0"/>
              </a:spcAft>
              <a:buClr>
                <a:schemeClr val="dk1"/>
              </a:buClr>
              <a:buSzPts val="2800"/>
              <a:buNone/>
            </a:pPr>
            <a:r>
              <a:rPr lang="en-US" sz="1400"/>
              <a:t>    // If target is not found</a:t>
            </a:r>
            <a:endParaRPr/>
          </a:p>
          <a:p>
            <a:pPr marL="0" lvl="0" indent="0" algn="just" rtl="0">
              <a:lnSpc>
                <a:spcPct val="90000"/>
              </a:lnSpc>
              <a:spcBef>
                <a:spcPts val="0"/>
              </a:spcBef>
              <a:spcAft>
                <a:spcPts val="0"/>
              </a:spcAft>
              <a:buClr>
                <a:schemeClr val="dk1"/>
              </a:buClr>
              <a:buSzPts val="2800"/>
              <a:buNone/>
            </a:pPr>
            <a:r>
              <a:rPr lang="en-US" sz="1400"/>
              <a:t>    return -1;</a:t>
            </a:r>
            <a:endParaRPr/>
          </a:p>
          <a:p>
            <a:pPr marL="0" lvl="0" indent="0" algn="just" rtl="0">
              <a:lnSpc>
                <a:spcPct val="90000"/>
              </a:lnSpc>
              <a:spcBef>
                <a:spcPts val="0"/>
              </a:spcBef>
              <a:spcAft>
                <a:spcPts val="0"/>
              </a:spcAft>
              <a:buClr>
                <a:schemeClr val="dk1"/>
              </a:buClr>
              <a:buSzPts val="2800"/>
              <a:buNone/>
            </a:pPr>
            <a:r>
              <a:rPr lang="en-US" sz="1400"/>
              <a:t>}</a:t>
            </a:r>
            <a:endParaRPr/>
          </a:p>
          <a:p>
            <a:pPr marL="0" lvl="0" indent="0" algn="just" rtl="0">
              <a:lnSpc>
                <a:spcPct val="90000"/>
              </a:lnSpc>
              <a:spcBef>
                <a:spcPts val="0"/>
              </a:spcBef>
              <a:spcAft>
                <a:spcPts val="0"/>
              </a:spcAft>
              <a:buClr>
                <a:schemeClr val="dk1"/>
              </a:buClr>
              <a:buSzPts val="2800"/>
              <a:buNone/>
            </a:pPr>
            <a:endParaRPr sz="1400"/>
          </a:p>
          <a:p>
            <a:pPr marL="0" lvl="0" indent="0" algn="just" rtl="0">
              <a:lnSpc>
                <a:spcPct val="90000"/>
              </a:lnSpc>
              <a:spcBef>
                <a:spcPts val="0"/>
              </a:spcBef>
              <a:spcAft>
                <a:spcPts val="0"/>
              </a:spcAft>
              <a:buClr>
                <a:schemeClr val="dk1"/>
              </a:buClr>
              <a:buSzPts val="2800"/>
              <a:buNone/>
            </a:pPr>
            <a:r>
              <a:rPr lang="en-US" sz="1400"/>
              <a:t>int main() {</a:t>
            </a:r>
            <a:endParaRPr/>
          </a:p>
          <a:p>
            <a:pPr marL="0" lvl="0" indent="0" algn="just" rtl="0">
              <a:lnSpc>
                <a:spcPct val="90000"/>
              </a:lnSpc>
              <a:spcBef>
                <a:spcPts val="0"/>
              </a:spcBef>
              <a:spcAft>
                <a:spcPts val="0"/>
              </a:spcAft>
              <a:buClr>
                <a:schemeClr val="dk1"/>
              </a:buClr>
              <a:buSzPts val="2800"/>
              <a:buNone/>
            </a:pPr>
            <a:r>
              <a:rPr lang="en-US" sz="1400"/>
              <a:t>    int arr[] = {2, 4, 6, 8, 10, 12, 14};</a:t>
            </a:r>
            <a:endParaRPr/>
          </a:p>
          <a:p>
            <a:pPr marL="0" lvl="0" indent="0" algn="just" rtl="0">
              <a:lnSpc>
                <a:spcPct val="90000"/>
              </a:lnSpc>
              <a:spcBef>
                <a:spcPts val="0"/>
              </a:spcBef>
              <a:spcAft>
                <a:spcPts val="0"/>
              </a:spcAft>
              <a:buClr>
                <a:schemeClr val="dk1"/>
              </a:buClr>
              <a:buSzPts val="2800"/>
              <a:buNone/>
            </a:pPr>
            <a:r>
              <a:rPr lang="en-US" sz="1400"/>
              <a:t>    int size = sizeof(arr) / sizeof(arr[0]);</a:t>
            </a:r>
            <a:endParaRPr/>
          </a:p>
          <a:p>
            <a:pPr marL="0" lvl="0" indent="0" algn="just" rtl="0">
              <a:lnSpc>
                <a:spcPct val="90000"/>
              </a:lnSpc>
              <a:spcBef>
                <a:spcPts val="0"/>
              </a:spcBef>
              <a:spcAft>
                <a:spcPts val="0"/>
              </a:spcAft>
              <a:buClr>
                <a:schemeClr val="dk1"/>
              </a:buClr>
              <a:buSzPts val="2800"/>
              <a:buNone/>
            </a:pPr>
            <a:r>
              <a:rPr lang="en-US" sz="1400"/>
              <a:t>    int target = 10;</a:t>
            </a:r>
            <a:endParaRPr/>
          </a:p>
          <a:p>
            <a:pPr marL="0" lvl="0" indent="0" algn="just" rtl="0">
              <a:lnSpc>
                <a:spcPct val="90000"/>
              </a:lnSpc>
              <a:spcBef>
                <a:spcPts val="0"/>
              </a:spcBef>
              <a:spcAft>
                <a:spcPts val="0"/>
              </a:spcAft>
              <a:buClr>
                <a:schemeClr val="dk1"/>
              </a:buClr>
              <a:buSzPts val="2800"/>
              <a:buNone/>
            </a:pPr>
            <a:endParaRPr sz="1400"/>
          </a:p>
          <a:p>
            <a:pPr marL="0" lvl="0" indent="0" algn="just" rtl="0">
              <a:lnSpc>
                <a:spcPct val="90000"/>
              </a:lnSpc>
              <a:spcBef>
                <a:spcPts val="0"/>
              </a:spcBef>
              <a:spcAft>
                <a:spcPts val="0"/>
              </a:spcAft>
              <a:buClr>
                <a:schemeClr val="dk1"/>
              </a:buClr>
              <a:buSzPts val="2800"/>
              <a:buNone/>
            </a:pPr>
            <a:r>
              <a:rPr lang="en-US" sz="1400"/>
              <a:t>    int result = binarySearch(arr, 0, size - 1, target);</a:t>
            </a:r>
            <a:endParaRPr/>
          </a:p>
          <a:p>
            <a:pPr marL="0" lvl="0" indent="0" algn="just" rtl="0">
              <a:lnSpc>
                <a:spcPct val="90000"/>
              </a:lnSpc>
              <a:spcBef>
                <a:spcPts val="0"/>
              </a:spcBef>
              <a:spcAft>
                <a:spcPts val="0"/>
              </a:spcAft>
              <a:buClr>
                <a:schemeClr val="dk1"/>
              </a:buClr>
              <a:buSzPts val="2800"/>
              <a:buNone/>
            </a:pPr>
            <a:endParaRPr sz="1400"/>
          </a:p>
          <a:p>
            <a:pPr marL="0" lvl="0" indent="0" algn="just" rtl="0">
              <a:lnSpc>
                <a:spcPct val="90000"/>
              </a:lnSpc>
              <a:spcBef>
                <a:spcPts val="0"/>
              </a:spcBef>
              <a:spcAft>
                <a:spcPts val="0"/>
              </a:spcAft>
              <a:buClr>
                <a:schemeClr val="dk1"/>
              </a:buClr>
              <a:buSzPts val="2800"/>
              <a:buNone/>
            </a:pPr>
            <a:r>
              <a:rPr lang="en-US" sz="1400"/>
              <a:t>    if (result != -1) {</a:t>
            </a:r>
            <a:endParaRPr/>
          </a:p>
          <a:p>
            <a:pPr marL="0" lvl="0" indent="0" algn="just" rtl="0">
              <a:lnSpc>
                <a:spcPct val="90000"/>
              </a:lnSpc>
              <a:spcBef>
                <a:spcPts val="0"/>
              </a:spcBef>
              <a:spcAft>
                <a:spcPts val="0"/>
              </a:spcAft>
              <a:buClr>
                <a:schemeClr val="dk1"/>
              </a:buClr>
              <a:buSzPts val="2800"/>
              <a:buNone/>
            </a:pPr>
            <a:r>
              <a:rPr lang="en-US" sz="1400"/>
              <a:t>        printf("Element %d found at index %d\n", target, result);</a:t>
            </a:r>
            <a:endParaRPr/>
          </a:p>
          <a:p>
            <a:pPr marL="0" lvl="0" indent="0" algn="just" rtl="0">
              <a:lnSpc>
                <a:spcPct val="90000"/>
              </a:lnSpc>
              <a:spcBef>
                <a:spcPts val="0"/>
              </a:spcBef>
              <a:spcAft>
                <a:spcPts val="0"/>
              </a:spcAft>
              <a:buClr>
                <a:schemeClr val="dk1"/>
              </a:buClr>
              <a:buSzPts val="2800"/>
              <a:buNone/>
            </a:pPr>
            <a:r>
              <a:rPr lang="en-US" sz="1400"/>
              <a:t>    } else {</a:t>
            </a:r>
            <a:endParaRPr/>
          </a:p>
          <a:p>
            <a:pPr marL="0" lvl="0" indent="0" algn="just" rtl="0">
              <a:lnSpc>
                <a:spcPct val="90000"/>
              </a:lnSpc>
              <a:spcBef>
                <a:spcPts val="0"/>
              </a:spcBef>
              <a:spcAft>
                <a:spcPts val="0"/>
              </a:spcAft>
              <a:buClr>
                <a:schemeClr val="dk1"/>
              </a:buClr>
              <a:buSzPts val="2800"/>
              <a:buNone/>
            </a:pPr>
            <a:r>
              <a:rPr lang="en-US" sz="1400"/>
              <a:t>        printf("Element %d not found\n", target);</a:t>
            </a:r>
            <a:endParaRPr/>
          </a:p>
          <a:p>
            <a:pPr marL="0" lvl="0" indent="0" algn="just" rtl="0">
              <a:lnSpc>
                <a:spcPct val="90000"/>
              </a:lnSpc>
              <a:spcBef>
                <a:spcPts val="0"/>
              </a:spcBef>
              <a:spcAft>
                <a:spcPts val="0"/>
              </a:spcAft>
              <a:buClr>
                <a:schemeClr val="dk1"/>
              </a:buClr>
              <a:buSzPts val="2800"/>
              <a:buNone/>
            </a:pPr>
            <a:r>
              <a:rPr lang="en-US" sz="1400"/>
              <a:t>    }</a:t>
            </a:r>
            <a:endParaRPr/>
          </a:p>
          <a:p>
            <a:pPr marL="0" lvl="0" indent="0" algn="just" rtl="0">
              <a:lnSpc>
                <a:spcPct val="90000"/>
              </a:lnSpc>
              <a:spcBef>
                <a:spcPts val="0"/>
              </a:spcBef>
              <a:spcAft>
                <a:spcPts val="0"/>
              </a:spcAft>
              <a:buClr>
                <a:schemeClr val="dk1"/>
              </a:buClr>
              <a:buSzPts val="2800"/>
              <a:buNone/>
            </a:pPr>
            <a:endParaRPr sz="1400"/>
          </a:p>
          <a:p>
            <a:pPr marL="0" lvl="0" indent="0" algn="just" rtl="0">
              <a:lnSpc>
                <a:spcPct val="90000"/>
              </a:lnSpc>
              <a:spcBef>
                <a:spcPts val="0"/>
              </a:spcBef>
              <a:spcAft>
                <a:spcPts val="0"/>
              </a:spcAft>
              <a:buClr>
                <a:schemeClr val="dk1"/>
              </a:buClr>
              <a:buSzPts val="2800"/>
              <a:buNone/>
            </a:pPr>
            <a:r>
              <a:rPr lang="en-US" sz="1400"/>
              <a:t>    return 0;</a:t>
            </a:r>
            <a:endParaRPr/>
          </a:p>
          <a:p>
            <a:pPr marL="0" lvl="0" indent="0" algn="just" rtl="0">
              <a:lnSpc>
                <a:spcPct val="90000"/>
              </a:lnSpc>
              <a:spcBef>
                <a:spcPts val="0"/>
              </a:spcBef>
              <a:spcAft>
                <a:spcPts val="0"/>
              </a:spcAft>
              <a:buClr>
                <a:schemeClr val="dk1"/>
              </a:buClr>
              <a:buSzPts val="2800"/>
              <a:buNone/>
            </a:pPr>
            <a:r>
              <a:rPr lang="en-US" sz="1400"/>
              <a:t>}</a:t>
            </a:r>
            <a:endParaRPr/>
          </a:p>
        </p:txBody>
      </p:sp>
      <p:pic>
        <p:nvPicPr>
          <p:cNvPr id="184" name="Google Shape;184;p15"/>
          <p:cNvPicPr preferRelativeResize="0"/>
          <p:nvPr/>
        </p:nvPicPr>
        <p:blipFill rotWithShape="1">
          <a:blip r:embed="rId3">
            <a:alphaModFix/>
          </a:blip>
          <a:srcRect/>
          <a:stretch/>
        </p:blipFill>
        <p:spPr>
          <a:xfrm>
            <a:off x="7239000" y="7783"/>
            <a:ext cx="1653683" cy="61727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2"/>
                                        </p:tgtEl>
                                        <p:attrNameLst>
                                          <p:attrName>style.visibility</p:attrName>
                                        </p:attrNameLst>
                                      </p:cBhvr>
                                      <p:to>
                                        <p:strVal val="visible"/>
                                      </p:to>
                                    </p:set>
                                    <p:animEffect transition="in" filter="fade">
                                      <p:cBhvr>
                                        <p:cTn id="7" dur="1000"/>
                                        <p:tgtEl>
                                          <p:spTgt spid="1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6"/>
          <p:cNvSpPr txBox="1">
            <a:spLocks noGrp="1"/>
          </p:cNvSpPr>
          <p:nvPr>
            <p:ph type="title"/>
          </p:nvPr>
        </p:nvSpPr>
        <p:spPr>
          <a:xfrm>
            <a:off x="628650" y="273844"/>
            <a:ext cx="7886700" cy="994172"/>
          </a:xfrm>
          <a:prstGeom prst="rect">
            <a:avLst/>
          </a:prstGeom>
          <a:noFill/>
          <a:ln>
            <a:noFill/>
          </a:ln>
        </p:spPr>
        <p:txBody>
          <a:bodyPr spcFirstLastPara="1" wrap="square" lIns="68550" tIns="34275" rIns="68550" bIns="34275"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Binary Search</a:t>
            </a:r>
            <a:endParaRPr b="1"/>
          </a:p>
        </p:txBody>
      </p:sp>
      <p:pic>
        <p:nvPicPr>
          <p:cNvPr id="190" name="Google Shape;190;p16"/>
          <p:cNvPicPr preferRelativeResize="0"/>
          <p:nvPr/>
        </p:nvPicPr>
        <p:blipFill rotWithShape="1">
          <a:blip r:embed="rId3">
            <a:alphaModFix/>
          </a:blip>
          <a:srcRect/>
          <a:stretch/>
        </p:blipFill>
        <p:spPr>
          <a:xfrm>
            <a:off x="1002323" y="1019909"/>
            <a:ext cx="6776234" cy="3672384"/>
          </a:xfrm>
          <a:prstGeom prst="rect">
            <a:avLst/>
          </a:prstGeom>
          <a:noFill/>
          <a:ln>
            <a:noFill/>
          </a:ln>
        </p:spPr>
      </p:pic>
      <p:pic>
        <p:nvPicPr>
          <p:cNvPr id="191" name="Google Shape;191;p16"/>
          <p:cNvPicPr preferRelativeResize="0"/>
          <p:nvPr/>
        </p:nvPicPr>
        <p:blipFill rotWithShape="1">
          <a:blip r:embed="rId4">
            <a:alphaModFix/>
          </a:blip>
          <a:srcRect/>
          <a:stretch/>
        </p:blipFill>
        <p:spPr>
          <a:xfrm>
            <a:off x="7239000" y="7783"/>
            <a:ext cx="1653683" cy="61727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9"/>
                                        </p:tgtEl>
                                        <p:attrNameLst>
                                          <p:attrName>style.visibility</p:attrName>
                                        </p:attrNameLst>
                                      </p:cBhvr>
                                      <p:to>
                                        <p:strVal val="visible"/>
                                      </p:to>
                                    </p:set>
                                    <p:animEffect transition="in" filter="fade">
                                      <p:cBhvr>
                                        <p:cTn id="7" dur="1000"/>
                                        <p:tgtEl>
                                          <p:spTgt spid="1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17"/>
          <p:cNvSpPr txBox="1">
            <a:spLocks noGrp="1"/>
          </p:cNvSpPr>
          <p:nvPr>
            <p:ph type="title"/>
          </p:nvPr>
        </p:nvSpPr>
        <p:spPr>
          <a:xfrm>
            <a:off x="628650" y="273844"/>
            <a:ext cx="7886700" cy="994172"/>
          </a:xfrm>
          <a:prstGeom prst="rect">
            <a:avLst/>
          </a:prstGeom>
          <a:noFill/>
          <a:ln>
            <a:noFill/>
          </a:ln>
        </p:spPr>
        <p:txBody>
          <a:bodyPr spcFirstLastPara="1" wrap="square" lIns="68550" tIns="34275" rIns="68550" bIns="34275"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Binary Search</a:t>
            </a:r>
            <a:endParaRPr b="1"/>
          </a:p>
        </p:txBody>
      </p:sp>
      <p:sp>
        <p:nvSpPr>
          <p:cNvPr id="197" name="Google Shape;197;p17"/>
          <p:cNvSpPr txBox="1">
            <a:spLocks noGrp="1"/>
          </p:cNvSpPr>
          <p:nvPr>
            <p:ph type="body" idx="1"/>
          </p:nvPr>
        </p:nvSpPr>
        <p:spPr>
          <a:xfrm>
            <a:off x="628650" y="1268016"/>
            <a:ext cx="7886700" cy="3364707"/>
          </a:xfrm>
          <a:prstGeom prst="rect">
            <a:avLst/>
          </a:prstGeom>
          <a:noFill/>
          <a:ln>
            <a:noFill/>
          </a:ln>
        </p:spPr>
        <p:txBody>
          <a:bodyPr spcFirstLastPara="1" wrap="square" lIns="68550" tIns="34275" rIns="68550" bIns="34275" anchor="t" anchorCtr="0">
            <a:normAutofit fontScale="92500"/>
          </a:bodyPr>
          <a:lstStyle/>
          <a:p>
            <a:pPr marL="0" lvl="0" indent="0" algn="just" rtl="0">
              <a:lnSpc>
                <a:spcPct val="150000"/>
              </a:lnSpc>
              <a:spcBef>
                <a:spcPts val="0"/>
              </a:spcBef>
              <a:spcAft>
                <a:spcPts val="0"/>
              </a:spcAft>
              <a:buClr>
                <a:schemeClr val="dk1"/>
              </a:buClr>
              <a:buSzPct val="151351"/>
              <a:buNone/>
            </a:pPr>
            <a:r>
              <a:rPr lang="en-US" sz="2000"/>
              <a:t>Scenario 1: Finding a Word in a Dictionary</a:t>
            </a:r>
            <a:endParaRPr/>
          </a:p>
          <a:p>
            <a:pPr marL="342900" lvl="0" indent="-342900" algn="just" rtl="0">
              <a:lnSpc>
                <a:spcPct val="150000"/>
              </a:lnSpc>
              <a:spcBef>
                <a:spcPts val="0"/>
              </a:spcBef>
              <a:spcAft>
                <a:spcPts val="0"/>
              </a:spcAft>
              <a:buClr>
                <a:schemeClr val="dk1"/>
              </a:buClr>
              <a:buSzPct val="151351"/>
              <a:buChar char="•"/>
            </a:pPr>
            <a:r>
              <a:rPr lang="en-US" sz="2000"/>
              <a:t>You’re looking for the word "Tiger" in a dictionary.</a:t>
            </a:r>
            <a:endParaRPr/>
          </a:p>
          <a:p>
            <a:pPr marL="342900" lvl="0" indent="-342900" algn="just" rtl="0">
              <a:lnSpc>
                <a:spcPct val="150000"/>
              </a:lnSpc>
              <a:spcBef>
                <a:spcPts val="0"/>
              </a:spcBef>
              <a:spcAft>
                <a:spcPts val="0"/>
              </a:spcAft>
              <a:buClr>
                <a:schemeClr val="dk1"/>
              </a:buClr>
              <a:buSzPct val="151351"/>
              <a:buChar char="•"/>
            </a:pPr>
            <a:r>
              <a:rPr lang="en-US" sz="2000"/>
              <a:t>You open the book in the middle — you land on "Mango.“</a:t>
            </a:r>
            <a:endParaRPr/>
          </a:p>
          <a:p>
            <a:pPr marL="342900" lvl="0" indent="-342900" algn="just" rtl="0">
              <a:lnSpc>
                <a:spcPct val="150000"/>
              </a:lnSpc>
              <a:spcBef>
                <a:spcPts val="0"/>
              </a:spcBef>
              <a:spcAft>
                <a:spcPts val="0"/>
              </a:spcAft>
              <a:buClr>
                <a:schemeClr val="dk1"/>
              </a:buClr>
              <a:buSzPct val="151351"/>
              <a:buChar char="•"/>
            </a:pPr>
            <a:r>
              <a:rPr lang="en-US" sz="2000"/>
              <a:t>Since "Tiger" comes after "Mango," you ignore the first half and focus on the second half.</a:t>
            </a:r>
            <a:endParaRPr/>
          </a:p>
          <a:p>
            <a:pPr marL="342900" lvl="0" indent="-342900" algn="just" rtl="0">
              <a:lnSpc>
                <a:spcPct val="150000"/>
              </a:lnSpc>
              <a:spcBef>
                <a:spcPts val="0"/>
              </a:spcBef>
              <a:spcAft>
                <a:spcPts val="0"/>
              </a:spcAft>
              <a:buClr>
                <a:schemeClr val="dk1"/>
              </a:buClr>
              <a:buSzPct val="151351"/>
              <a:buChar char="•"/>
            </a:pPr>
            <a:r>
              <a:rPr lang="en-US" sz="2000"/>
              <a:t>You repeat the process, halving the remaining pages until you find "Tiger.“</a:t>
            </a:r>
            <a:endParaRPr/>
          </a:p>
          <a:p>
            <a:pPr marL="0" lvl="0" indent="0" algn="just" rtl="0">
              <a:lnSpc>
                <a:spcPct val="150000"/>
              </a:lnSpc>
              <a:spcBef>
                <a:spcPts val="0"/>
              </a:spcBef>
              <a:spcAft>
                <a:spcPts val="0"/>
              </a:spcAft>
              <a:buClr>
                <a:schemeClr val="dk1"/>
              </a:buClr>
              <a:buSzPct val="151351"/>
              <a:buNone/>
            </a:pPr>
            <a:r>
              <a:rPr lang="en-US" sz="2000"/>
              <a:t>This is Binary Search — repeatedly halving a sorted list!</a:t>
            </a:r>
            <a:endParaRPr sz="2000"/>
          </a:p>
        </p:txBody>
      </p:sp>
      <p:pic>
        <p:nvPicPr>
          <p:cNvPr id="198" name="Google Shape;198;p17"/>
          <p:cNvPicPr preferRelativeResize="0"/>
          <p:nvPr/>
        </p:nvPicPr>
        <p:blipFill rotWithShape="1">
          <a:blip r:embed="rId3">
            <a:alphaModFix/>
          </a:blip>
          <a:srcRect/>
          <a:stretch/>
        </p:blipFill>
        <p:spPr>
          <a:xfrm>
            <a:off x="7239000" y="7783"/>
            <a:ext cx="1653683" cy="61727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6"/>
                                        </p:tgtEl>
                                        <p:attrNameLst>
                                          <p:attrName>style.visibility</p:attrName>
                                        </p:attrNameLst>
                                      </p:cBhvr>
                                      <p:to>
                                        <p:strVal val="visible"/>
                                      </p:to>
                                    </p:set>
                                    <p:animEffect transition="in" filter="fade">
                                      <p:cBhvr>
                                        <p:cTn id="7" dur="1000"/>
                                        <p:tgtEl>
                                          <p:spTgt spid="19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97">
                                            <p:txEl>
                                              <p:pRg st="0" end="0"/>
                                            </p:txEl>
                                          </p:spTgt>
                                        </p:tgtEl>
                                        <p:attrNameLst>
                                          <p:attrName>style.visibility</p:attrName>
                                        </p:attrNameLst>
                                      </p:cBhvr>
                                      <p:to>
                                        <p:strVal val="visible"/>
                                      </p:to>
                                    </p:set>
                                    <p:anim calcmode="lin" valueType="num">
                                      <p:cBhvr additive="base">
                                        <p:cTn id="12" dur="500"/>
                                        <p:tgtEl>
                                          <p:spTgt spid="19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97">
                                            <p:txEl>
                                              <p:pRg st="1" end="1"/>
                                            </p:txEl>
                                          </p:spTgt>
                                        </p:tgtEl>
                                        <p:attrNameLst>
                                          <p:attrName>style.visibility</p:attrName>
                                        </p:attrNameLst>
                                      </p:cBhvr>
                                      <p:to>
                                        <p:strVal val="visible"/>
                                      </p:to>
                                    </p:set>
                                    <p:anim calcmode="lin" valueType="num">
                                      <p:cBhvr additive="base">
                                        <p:cTn id="17" dur="500"/>
                                        <p:tgtEl>
                                          <p:spTgt spid="19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97">
                                            <p:txEl>
                                              <p:pRg st="2" end="2"/>
                                            </p:txEl>
                                          </p:spTgt>
                                        </p:tgtEl>
                                        <p:attrNameLst>
                                          <p:attrName>style.visibility</p:attrName>
                                        </p:attrNameLst>
                                      </p:cBhvr>
                                      <p:to>
                                        <p:strVal val="visible"/>
                                      </p:to>
                                    </p:set>
                                    <p:anim calcmode="lin" valueType="num">
                                      <p:cBhvr additive="base">
                                        <p:cTn id="22" dur="500"/>
                                        <p:tgtEl>
                                          <p:spTgt spid="19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97">
                                            <p:txEl>
                                              <p:pRg st="3" end="3"/>
                                            </p:txEl>
                                          </p:spTgt>
                                        </p:tgtEl>
                                        <p:attrNameLst>
                                          <p:attrName>style.visibility</p:attrName>
                                        </p:attrNameLst>
                                      </p:cBhvr>
                                      <p:to>
                                        <p:strVal val="visible"/>
                                      </p:to>
                                    </p:set>
                                    <p:anim calcmode="lin" valueType="num">
                                      <p:cBhvr additive="base">
                                        <p:cTn id="27" dur="500"/>
                                        <p:tgtEl>
                                          <p:spTgt spid="19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97">
                                            <p:txEl>
                                              <p:pRg st="4" end="4"/>
                                            </p:txEl>
                                          </p:spTgt>
                                        </p:tgtEl>
                                        <p:attrNameLst>
                                          <p:attrName>style.visibility</p:attrName>
                                        </p:attrNameLst>
                                      </p:cBhvr>
                                      <p:to>
                                        <p:strVal val="visible"/>
                                      </p:to>
                                    </p:set>
                                    <p:anim calcmode="lin" valueType="num">
                                      <p:cBhvr additive="base">
                                        <p:cTn id="32" dur="500"/>
                                        <p:tgtEl>
                                          <p:spTgt spid="19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97">
                                            <p:txEl>
                                              <p:pRg st="5" end="5"/>
                                            </p:txEl>
                                          </p:spTgt>
                                        </p:tgtEl>
                                        <p:attrNameLst>
                                          <p:attrName>style.visibility</p:attrName>
                                        </p:attrNameLst>
                                      </p:cBhvr>
                                      <p:to>
                                        <p:strVal val="visible"/>
                                      </p:to>
                                    </p:set>
                                    <p:anim calcmode="lin" valueType="num">
                                      <p:cBhvr additive="base">
                                        <p:cTn id="37" dur="500"/>
                                        <p:tgtEl>
                                          <p:spTgt spid="19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18"/>
          <p:cNvSpPr txBox="1">
            <a:spLocks noGrp="1"/>
          </p:cNvSpPr>
          <p:nvPr>
            <p:ph type="title"/>
          </p:nvPr>
        </p:nvSpPr>
        <p:spPr>
          <a:xfrm>
            <a:off x="628650" y="273844"/>
            <a:ext cx="7886700" cy="994172"/>
          </a:xfrm>
          <a:prstGeom prst="rect">
            <a:avLst/>
          </a:prstGeom>
          <a:noFill/>
          <a:ln>
            <a:noFill/>
          </a:ln>
        </p:spPr>
        <p:txBody>
          <a:bodyPr spcFirstLastPara="1" wrap="square" lIns="68550" tIns="34275" rIns="68550" bIns="34275"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Binary Search</a:t>
            </a:r>
            <a:endParaRPr b="1"/>
          </a:p>
        </p:txBody>
      </p:sp>
      <p:sp>
        <p:nvSpPr>
          <p:cNvPr id="204" name="Google Shape;204;p18"/>
          <p:cNvSpPr txBox="1">
            <a:spLocks noGrp="1"/>
          </p:cNvSpPr>
          <p:nvPr>
            <p:ph type="body" idx="1"/>
          </p:nvPr>
        </p:nvSpPr>
        <p:spPr>
          <a:xfrm>
            <a:off x="628650" y="1268016"/>
            <a:ext cx="7886700" cy="3364707"/>
          </a:xfrm>
          <a:prstGeom prst="rect">
            <a:avLst/>
          </a:prstGeom>
          <a:noFill/>
          <a:ln>
            <a:noFill/>
          </a:ln>
        </p:spPr>
        <p:txBody>
          <a:bodyPr spcFirstLastPara="1" wrap="square" lIns="68550" tIns="34275" rIns="68550" bIns="34275" anchor="t" anchorCtr="0">
            <a:normAutofit/>
          </a:bodyPr>
          <a:lstStyle/>
          <a:p>
            <a:pPr marL="0" lvl="0" indent="0" algn="just" rtl="0">
              <a:lnSpc>
                <a:spcPct val="150000"/>
              </a:lnSpc>
              <a:spcBef>
                <a:spcPts val="0"/>
              </a:spcBef>
              <a:spcAft>
                <a:spcPts val="0"/>
              </a:spcAft>
              <a:buClr>
                <a:schemeClr val="dk1"/>
              </a:buClr>
              <a:buSzPts val="2800"/>
              <a:buNone/>
            </a:pPr>
            <a:r>
              <a:rPr lang="en-US" sz="2000"/>
              <a:t>Scenario 2: Finding a Specific Chapter in a Textbook</a:t>
            </a:r>
            <a:endParaRPr/>
          </a:p>
          <a:p>
            <a:pPr marL="342900" lvl="0" indent="-342900" algn="just" rtl="0">
              <a:lnSpc>
                <a:spcPct val="150000"/>
              </a:lnSpc>
              <a:spcBef>
                <a:spcPts val="0"/>
              </a:spcBef>
              <a:spcAft>
                <a:spcPts val="0"/>
              </a:spcAft>
              <a:buClr>
                <a:schemeClr val="dk1"/>
              </a:buClr>
              <a:buSzPts val="2800"/>
              <a:buChar char="•"/>
            </a:pPr>
            <a:r>
              <a:rPr lang="en-US" sz="2000"/>
              <a:t>You’re looking for Chapter 12 in a textbook with 30 chapters.</a:t>
            </a:r>
            <a:endParaRPr/>
          </a:p>
          <a:p>
            <a:pPr marL="342900" lvl="0" indent="-342900" algn="just" rtl="0">
              <a:lnSpc>
                <a:spcPct val="150000"/>
              </a:lnSpc>
              <a:spcBef>
                <a:spcPts val="0"/>
              </a:spcBef>
              <a:spcAft>
                <a:spcPts val="0"/>
              </a:spcAft>
              <a:buClr>
                <a:schemeClr val="dk1"/>
              </a:buClr>
              <a:buSzPts val="2800"/>
              <a:buChar char="•"/>
            </a:pPr>
            <a:r>
              <a:rPr lang="en-US" sz="2000"/>
              <a:t>You open to Chapter 15 — it’s too far.</a:t>
            </a:r>
            <a:endParaRPr/>
          </a:p>
          <a:p>
            <a:pPr marL="342900" lvl="0" indent="-342900" algn="just" rtl="0">
              <a:lnSpc>
                <a:spcPct val="150000"/>
              </a:lnSpc>
              <a:spcBef>
                <a:spcPts val="0"/>
              </a:spcBef>
              <a:spcAft>
                <a:spcPts val="0"/>
              </a:spcAft>
              <a:buClr>
                <a:schemeClr val="dk1"/>
              </a:buClr>
              <a:buSzPts val="2800"/>
              <a:buChar char="•"/>
            </a:pPr>
            <a:r>
              <a:rPr lang="en-US" sz="2000"/>
              <a:t>You jump back to Chapter 7 — still too early.</a:t>
            </a:r>
            <a:endParaRPr/>
          </a:p>
          <a:p>
            <a:pPr marL="342900" lvl="0" indent="-342900" algn="just" rtl="0">
              <a:lnSpc>
                <a:spcPct val="150000"/>
              </a:lnSpc>
              <a:spcBef>
                <a:spcPts val="0"/>
              </a:spcBef>
              <a:spcAft>
                <a:spcPts val="0"/>
              </a:spcAft>
              <a:buClr>
                <a:schemeClr val="dk1"/>
              </a:buClr>
              <a:buSzPts val="2800"/>
              <a:buChar char="•"/>
            </a:pPr>
            <a:r>
              <a:rPr lang="en-US" sz="2000"/>
              <a:t>You narrow down between 7 and 15 until you land on 12.</a:t>
            </a:r>
            <a:endParaRPr/>
          </a:p>
          <a:p>
            <a:pPr marL="0" lvl="0" indent="0" algn="just" rtl="0">
              <a:lnSpc>
                <a:spcPct val="150000"/>
              </a:lnSpc>
              <a:spcBef>
                <a:spcPts val="0"/>
              </a:spcBef>
              <a:spcAft>
                <a:spcPts val="0"/>
              </a:spcAft>
              <a:buClr>
                <a:schemeClr val="dk1"/>
              </a:buClr>
              <a:buSzPts val="2800"/>
              <a:buNone/>
            </a:pPr>
            <a:r>
              <a:rPr lang="en-US" sz="2000"/>
              <a:t>Binary Search — divide, compare, repeat!</a:t>
            </a:r>
            <a:endParaRPr sz="2000"/>
          </a:p>
        </p:txBody>
      </p:sp>
      <p:pic>
        <p:nvPicPr>
          <p:cNvPr id="205" name="Google Shape;205;p18"/>
          <p:cNvPicPr preferRelativeResize="0"/>
          <p:nvPr/>
        </p:nvPicPr>
        <p:blipFill rotWithShape="1">
          <a:blip r:embed="rId3">
            <a:alphaModFix/>
          </a:blip>
          <a:srcRect/>
          <a:stretch/>
        </p:blipFill>
        <p:spPr>
          <a:xfrm>
            <a:off x="7239000" y="7783"/>
            <a:ext cx="1653683" cy="61727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3"/>
                                        </p:tgtEl>
                                        <p:attrNameLst>
                                          <p:attrName>style.visibility</p:attrName>
                                        </p:attrNameLst>
                                      </p:cBhvr>
                                      <p:to>
                                        <p:strVal val="visible"/>
                                      </p:to>
                                    </p:set>
                                    <p:animEffect transition="in" filter="fade">
                                      <p:cBhvr>
                                        <p:cTn id="7" dur="1000"/>
                                        <p:tgtEl>
                                          <p:spTgt spid="20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04">
                                            <p:txEl>
                                              <p:pRg st="0" end="0"/>
                                            </p:txEl>
                                          </p:spTgt>
                                        </p:tgtEl>
                                        <p:attrNameLst>
                                          <p:attrName>style.visibility</p:attrName>
                                        </p:attrNameLst>
                                      </p:cBhvr>
                                      <p:to>
                                        <p:strVal val="visible"/>
                                      </p:to>
                                    </p:set>
                                    <p:anim calcmode="lin" valueType="num">
                                      <p:cBhvr additive="base">
                                        <p:cTn id="12" dur="500"/>
                                        <p:tgtEl>
                                          <p:spTgt spid="20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04">
                                            <p:txEl>
                                              <p:pRg st="1" end="1"/>
                                            </p:txEl>
                                          </p:spTgt>
                                        </p:tgtEl>
                                        <p:attrNameLst>
                                          <p:attrName>style.visibility</p:attrName>
                                        </p:attrNameLst>
                                      </p:cBhvr>
                                      <p:to>
                                        <p:strVal val="visible"/>
                                      </p:to>
                                    </p:set>
                                    <p:anim calcmode="lin" valueType="num">
                                      <p:cBhvr additive="base">
                                        <p:cTn id="17" dur="500"/>
                                        <p:tgtEl>
                                          <p:spTgt spid="20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04">
                                            <p:txEl>
                                              <p:pRg st="2" end="2"/>
                                            </p:txEl>
                                          </p:spTgt>
                                        </p:tgtEl>
                                        <p:attrNameLst>
                                          <p:attrName>style.visibility</p:attrName>
                                        </p:attrNameLst>
                                      </p:cBhvr>
                                      <p:to>
                                        <p:strVal val="visible"/>
                                      </p:to>
                                    </p:set>
                                    <p:anim calcmode="lin" valueType="num">
                                      <p:cBhvr additive="base">
                                        <p:cTn id="22" dur="500"/>
                                        <p:tgtEl>
                                          <p:spTgt spid="20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04">
                                            <p:txEl>
                                              <p:pRg st="3" end="3"/>
                                            </p:txEl>
                                          </p:spTgt>
                                        </p:tgtEl>
                                        <p:attrNameLst>
                                          <p:attrName>style.visibility</p:attrName>
                                        </p:attrNameLst>
                                      </p:cBhvr>
                                      <p:to>
                                        <p:strVal val="visible"/>
                                      </p:to>
                                    </p:set>
                                    <p:anim calcmode="lin" valueType="num">
                                      <p:cBhvr additive="base">
                                        <p:cTn id="27" dur="500"/>
                                        <p:tgtEl>
                                          <p:spTgt spid="20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204">
                                            <p:txEl>
                                              <p:pRg st="4" end="4"/>
                                            </p:txEl>
                                          </p:spTgt>
                                        </p:tgtEl>
                                        <p:attrNameLst>
                                          <p:attrName>style.visibility</p:attrName>
                                        </p:attrNameLst>
                                      </p:cBhvr>
                                      <p:to>
                                        <p:strVal val="visible"/>
                                      </p:to>
                                    </p:set>
                                    <p:anim calcmode="lin" valueType="num">
                                      <p:cBhvr additive="base">
                                        <p:cTn id="32" dur="500"/>
                                        <p:tgtEl>
                                          <p:spTgt spid="20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04">
                                            <p:txEl>
                                              <p:pRg st="5" end="5"/>
                                            </p:txEl>
                                          </p:spTgt>
                                        </p:tgtEl>
                                        <p:attrNameLst>
                                          <p:attrName>style.visibility</p:attrName>
                                        </p:attrNameLst>
                                      </p:cBhvr>
                                      <p:to>
                                        <p:strVal val="visible"/>
                                      </p:to>
                                    </p:set>
                                    <p:anim calcmode="lin" valueType="num">
                                      <p:cBhvr additive="base">
                                        <p:cTn id="37" dur="500"/>
                                        <p:tgtEl>
                                          <p:spTgt spid="20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19"/>
          <p:cNvSpPr txBox="1">
            <a:spLocks noGrp="1"/>
          </p:cNvSpPr>
          <p:nvPr>
            <p:ph type="title"/>
          </p:nvPr>
        </p:nvSpPr>
        <p:spPr>
          <a:xfrm>
            <a:off x="628650" y="273844"/>
            <a:ext cx="7886700" cy="994172"/>
          </a:xfrm>
          <a:prstGeom prst="rect">
            <a:avLst/>
          </a:prstGeom>
          <a:noFill/>
          <a:ln>
            <a:noFill/>
          </a:ln>
        </p:spPr>
        <p:txBody>
          <a:bodyPr spcFirstLastPara="1" wrap="square" lIns="68550" tIns="34275" rIns="68550" bIns="34275"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Bubble Sort</a:t>
            </a:r>
            <a:endParaRPr b="1"/>
          </a:p>
        </p:txBody>
      </p:sp>
      <p:sp>
        <p:nvSpPr>
          <p:cNvPr id="211" name="Google Shape;211;p19"/>
          <p:cNvSpPr txBox="1">
            <a:spLocks noGrp="1"/>
          </p:cNvSpPr>
          <p:nvPr>
            <p:ph type="body" idx="1"/>
          </p:nvPr>
        </p:nvSpPr>
        <p:spPr>
          <a:xfrm>
            <a:off x="711976" y="1369219"/>
            <a:ext cx="7803374" cy="2581547"/>
          </a:xfrm>
          <a:prstGeom prst="rect">
            <a:avLst/>
          </a:prstGeom>
          <a:noFill/>
          <a:ln>
            <a:noFill/>
          </a:ln>
        </p:spPr>
        <p:txBody>
          <a:bodyPr spcFirstLastPara="1" wrap="square" lIns="68550" tIns="34275" rIns="68550" bIns="34275" anchor="t" anchorCtr="0">
            <a:normAutofit fontScale="85000" lnSpcReduction="20000"/>
          </a:bodyPr>
          <a:lstStyle/>
          <a:p>
            <a:pPr marL="171450" lvl="0" indent="-171450" algn="just" rtl="0">
              <a:lnSpc>
                <a:spcPct val="90000"/>
              </a:lnSpc>
              <a:spcBef>
                <a:spcPts val="0"/>
              </a:spcBef>
              <a:spcAft>
                <a:spcPts val="0"/>
              </a:spcAft>
              <a:buClr>
                <a:schemeClr val="dk1"/>
              </a:buClr>
              <a:buSzPct val="137254"/>
              <a:buChar char="•"/>
            </a:pPr>
            <a:r>
              <a:rPr lang="en-US" sz="2400" b="1"/>
              <a:t> What is Bubble Sort?</a:t>
            </a:r>
            <a:endParaRPr/>
          </a:p>
          <a:p>
            <a:pPr marL="400050" lvl="1" indent="0" algn="just" rtl="0">
              <a:lnSpc>
                <a:spcPct val="200000"/>
              </a:lnSpc>
              <a:spcBef>
                <a:spcPts val="0"/>
              </a:spcBef>
              <a:spcAft>
                <a:spcPts val="0"/>
              </a:spcAft>
              <a:buClr>
                <a:schemeClr val="dk1"/>
              </a:buClr>
              <a:buSzPct val="137254"/>
              <a:buNone/>
            </a:pPr>
            <a:r>
              <a:rPr lang="en-US" sz="2400"/>
              <a:t>Bubble Sort is a simple sorting algorithm that repeatedly compares adjacent elements and swaps them if they’re in the wrong order. It "bubbles" the largest (or smallest) elements to the end of the array, step by step.</a:t>
            </a:r>
            <a:endParaRPr sz="2400"/>
          </a:p>
        </p:txBody>
      </p:sp>
      <p:pic>
        <p:nvPicPr>
          <p:cNvPr id="212" name="Google Shape;212;p19"/>
          <p:cNvPicPr preferRelativeResize="0"/>
          <p:nvPr/>
        </p:nvPicPr>
        <p:blipFill rotWithShape="1">
          <a:blip r:embed="rId3">
            <a:alphaModFix/>
          </a:blip>
          <a:srcRect/>
          <a:stretch/>
        </p:blipFill>
        <p:spPr>
          <a:xfrm>
            <a:off x="7239000" y="7783"/>
            <a:ext cx="1653683" cy="61727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0"/>
                                        </p:tgtEl>
                                        <p:attrNameLst>
                                          <p:attrName>style.visibility</p:attrName>
                                        </p:attrNameLst>
                                      </p:cBhvr>
                                      <p:to>
                                        <p:strVal val="visible"/>
                                      </p:to>
                                    </p:set>
                                    <p:animEffect transition="in" filter="fade">
                                      <p:cBhvr>
                                        <p:cTn id="7" dur="1000"/>
                                        <p:tgtEl>
                                          <p:spTgt spid="21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11">
                                            <p:txEl>
                                              <p:pRg st="0" end="0"/>
                                            </p:txEl>
                                          </p:spTgt>
                                        </p:tgtEl>
                                        <p:attrNameLst>
                                          <p:attrName>style.visibility</p:attrName>
                                        </p:attrNameLst>
                                      </p:cBhvr>
                                      <p:to>
                                        <p:strVal val="visible"/>
                                      </p:to>
                                    </p:set>
                                    <p:anim calcmode="lin" valueType="num">
                                      <p:cBhvr additive="base">
                                        <p:cTn id="12" dur="500"/>
                                        <p:tgtEl>
                                          <p:spTgt spid="21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11">
                                            <p:txEl>
                                              <p:pRg st="1" end="1"/>
                                            </p:txEl>
                                          </p:spTgt>
                                        </p:tgtEl>
                                        <p:attrNameLst>
                                          <p:attrName>style.visibility</p:attrName>
                                        </p:attrNameLst>
                                      </p:cBhvr>
                                      <p:to>
                                        <p:strVal val="visible"/>
                                      </p:to>
                                    </p:set>
                                    <p:anim calcmode="lin" valueType="num">
                                      <p:cBhvr additive="base">
                                        <p:cTn id="17" dur="500"/>
                                        <p:tgtEl>
                                          <p:spTgt spid="211">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20"/>
          <p:cNvSpPr txBox="1">
            <a:spLocks noGrp="1"/>
          </p:cNvSpPr>
          <p:nvPr>
            <p:ph type="title"/>
          </p:nvPr>
        </p:nvSpPr>
        <p:spPr>
          <a:xfrm>
            <a:off x="628650" y="273844"/>
            <a:ext cx="7886700" cy="994172"/>
          </a:xfrm>
          <a:prstGeom prst="rect">
            <a:avLst/>
          </a:prstGeom>
          <a:noFill/>
          <a:ln>
            <a:noFill/>
          </a:ln>
        </p:spPr>
        <p:txBody>
          <a:bodyPr spcFirstLastPara="1" wrap="square" lIns="68550" tIns="34275" rIns="68550" bIns="34275"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Bubble Sort</a:t>
            </a:r>
            <a:endParaRPr b="1"/>
          </a:p>
        </p:txBody>
      </p:sp>
      <p:sp>
        <p:nvSpPr>
          <p:cNvPr id="218" name="Google Shape;218;p20"/>
          <p:cNvSpPr txBox="1">
            <a:spLocks noGrp="1"/>
          </p:cNvSpPr>
          <p:nvPr>
            <p:ph type="body" idx="1"/>
          </p:nvPr>
        </p:nvSpPr>
        <p:spPr>
          <a:xfrm>
            <a:off x="628650" y="1369219"/>
            <a:ext cx="7886700" cy="3263504"/>
          </a:xfrm>
          <a:prstGeom prst="rect">
            <a:avLst/>
          </a:prstGeom>
          <a:noFill/>
          <a:ln>
            <a:noFill/>
          </a:ln>
        </p:spPr>
        <p:txBody>
          <a:bodyPr spcFirstLastPara="1" wrap="square" lIns="68550" tIns="34275" rIns="68550" bIns="34275" anchor="t" anchorCtr="0">
            <a:normAutofit/>
          </a:bodyPr>
          <a:lstStyle/>
          <a:p>
            <a:pPr marL="171450" lvl="0" indent="-171450" algn="just" rtl="0">
              <a:lnSpc>
                <a:spcPct val="90000"/>
              </a:lnSpc>
              <a:spcBef>
                <a:spcPts val="0"/>
              </a:spcBef>
              <a:spcAft>
                <a:spcPts val="0"/>
              </a:spcAft>
              <a:buClr>
                <a:schemeClr val="dk1"/>
              </a:buClr>
              <a:buSzPts val="2800"/>
              <a:buChar char="•"/>
            </a:pPr>
            <a:r>
              <a:rPr lang="en-US" sz="2400" b="1"/>
              <a:t>Bubble Sort Algorithm</a:t>
            </a:r>
            <a:endParaRPr/>
          </a:p>
          <a:p>
            <a:pPr marL="0" lvl="0" indent="0" algn="just" rtl="0">
              <a:lnSpc>
                <a:spcPct val="90000"/>
              </a:lnSpc>
              <a:spcBef>
                <a:spcPts val="0"/>
              </a:spcBef>
              <a:spcAft>
                <a:spcPts val="0"/>
              </a:spcAft>
              <a:buClr>
                <a:schemeClr val="dk1"/>
              </a:buClr>
              <a:buSzPts val="2800"/>
              <a:buNone/>
            </a:pPr>
            <a:endParaRPr sz="2400" b="1"/>
          </a:p>
          <a:p>
            <a:pPr marL="457200" lvl="0" indent="-457200" algn="just" rtl="0">
              <a:lnSpc>
                <a:spcPct val="100000"/>
              </a:lnSpc>
              <a:spcBef>
                <a:spcPts val="0"/>
              </a:spcBef>
              <a:spcAft>
                <a:spcPts val="0"/>
              </a:spcAft>
              <a:buClr>
                <a:schemeClr val="dk1"/>
              </a:buClr>
              <a:buSzPts val="1800"/>
              <a:buFont typeface="Calibri"/>
              <a:buAutoNum type="arabicPeriod"/>
            </a:pPr>
            <a:r>
              <a:rPr lang="en-US" sz="2000"/>
              <a:t>Start: Take an array of size n.</a:t>
            </a:r>
            <a:endParaRPr/>
          </a:p>
          <a:p>
            <a:pPr marL="457200" lvl="0" indent="-457200" algn="just" rtl="0">
              <a:lnSpc>
                <a:spcPct val="100000"/>
              </a:lnSpc>
              <a:spcBef>
                <a:spcPts val="0"/>
              </a:spcBef>
              <a:spcAft>
                <a:spcPts val="0"/>
              </a:spcAft>
              <a:buClr>
                <a:schemeClr val="dk1"/>
              </a:buClr>
              <a:buSzPts val="1800"/>
              <a:buFont typeface="Calibri"/>
              <a:buAutoNum type="arabicPeriod"/>
            </a:pPr>
            <a:r>
              <a:rPr lang="en-US" sz="2000"/>
              <a:t>Outer loop: Repeat the process for n-1 passes (because the last element gets sorted automatically).</a:t>
            </a:r>
            <a:endParaRPr/>
          </a:p>
          <a:p>
            <a:pPr marL="457200" lvl="0" indent="-457200" algn="just" rtl="0">
              <a:lnSpc>
                <a:spcPct val="100000"/>
              </a:lnSpc>
              <a:spcBef>
                <a:spcPts val="0"/>
              </a:spcBef>
              <a:spcAft>
                <a:spcPts val="0"/>
              </a:spcAft>
              <a:buClr>
                <a:schemeClr val="dk1"/>
              </a:buClr>
              <a:buSzPts val="1800"/>
              <a:buFont typeface="Calibri"/>
              <a:buAutoNum type="arabicPeriod"/>
            </a:pPr>
            <a:r>
              <a:rPr lang="en-US" sz="2000"/>
              <a:t>Inner loop: Compare adjacent elements:If arr[j] &gt; arr[j+1] → Swap the two elements.</a:t>
            </a:r>
            <a:endParaRPr/>
          </a:p>
          <a:p>
            <a:pPr marL="457200" lvl="0" indent="-457200" algn="just" rtl="0">
              <a:lnSpc>
                <a:spcPct val="100000"/>
              </a:lnSpc>
              <a:spcBef>
                <a:spcPts val="0"/>
              </a:spcBef>
              <a:spcAft>
                <a:spcPts val="0"/>
              </a:spcAft>
              <a:buClr>
                <a:schemeClr val="dk1"/>
              </a:buClr>
              <a:buSzPts val="1800"/>
              <a:buFont typeface="Calibri"/>
              <a:buAutoNum type="arabicPeriod"/>
            </a:pPr>
            <a:r>
              <a:rPr lang="en-US" sz="2000"/>
              <a:t>Optimization (optional):If no swaps happen in a complete pass, the array is already sorted — break early.</a:t>
            </a:r>
            <a:endParaRPr/>
          </a:p>
          <a:p>
            <a:pPr marL="457200" lvl="0" indent="-457200" algn="just" rtl="0">
              <a:lnSpc>
                <a:spcPct val="100000"/>
              </a:lnSpc>
              <a:spcBef>
                <a:spcPts val="0"/>
              </a:spcBef>
              <a:spcAft>
                <a:spcPts val="0"/>
              </a:spcAft>
              <a:buClr>
                <a:schemeClr val="dk1"/>
              </a:buClr>
              <a:buSzPts val="1800"/>
              <a:buFont typeface="Calibri"/>
              <a:buAutoNum type="arabicPeriod"/>
            </a:pPr>
            <a:r>
              <a:rPr lang="en-US" sz="2000"/>
              <a:t>End: The array is sorted!</a:t>
            </a:r>
            <a:endParaRPr sz="2000"/>
          </a:p>
        </p:txBody>
      </p:sp>
      <p:pic>
        <p:nvPicPr>
          <p:cNvPr id="219" name="Google Shape;219;p20"/>
          <p:cNvPicPr preferRelativeResize="0"/>
          <p:nvPr/>
        </p:nvPicPr>
        <p:blipFill rotWithShape="1">
          <a:blip r:embed="rId3">
            <a:alphaModFix/>
          </a:blip>
          <a:srcRect/>
          <a:stretch/>
        </p:blipFill>
        <p:spPr>
          <a:xfrm>
            <a:off x="7239000" y="7783"/>
            <a:ext cx="1653683" cy="61727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7"/>
                                        </p:tgtEl>
                                        <p:attrNameLst>
                                          <p:attrName>style.visibility</p:attrName>
                                        </p:attrNameLst>
                                      </p:cBhvr>
                                      <p:to>
                                        <p:strVal val="visible"/>
                                      </p:to>
                                    </p:set>
                                    <p:animEffect transition="in" filter="fade">
                                      <p:cBhvr>
                                        <p:cTn id="7" dur="1000"/>
                                        <p:tgtEl>
                                          <p:spTgt spid="21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18">
                                            <p:txEl>
                                              <p:pRg st="0" end="0"/>
                                            </p:txEl>
                                          </p:spTgt>
                                        </p:tgtEl>
                                        <p:attrNameLst>
                                          <p:attrName>style.visibility</p:attrName>
                                        </p:attrNameLst>
                                      </p:cBhvr>
                                      <p:to>
                                        <p:strVal val="visible"/>
                                      </p:to>
                                    </p:set>
                                    <p:anim calcmode="lin" valueType="num">
                                      <p:cBhvr additive="base">
                                        <p:cTn id="12" dur="500"/>
                                        <p:tgtEl>
                                          <p:spTgt spid="21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18">
                                            <p:txEl>
                                              <p:pRg st="1" end="1"/>
                                            </p:txEl>
                                          </p:spTgt>
                                        </p:tgtEl>
                                        <p:attrNameLst>
                                          <p:attrName>style.visibility</p:attrName>
                                        </p:attrNameLst>
                                      </p:cBhvr>
                                      <p:to>
                                        <p:strVal val="visible"/>
                                      </p:to>
                                    </p:set>
                                    <p:anim calcmode="lin" valueType="num">
                                      <p:cBhvr additive="base">
                                        <p:cTn id="17" dur="500"/>
                                        <p:tgtEl>
                                          <p:spTgt spid="21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18">
                                            <p:txEl>
                                              <p:pRg st="2" end="2"/>
                                            </p:txEl>
                                          </p:spTgt>
                                        </p:tgtEl>
                                        <p:attrNameLst>
                                          <p:attrName>style.visibility</p:attrName>
                                        </p:attrNameLst>
                                      </p:cBhvr>
                                      <p:to>
                                        <p:strVal val="visible"/>
                                      </p:to>
                                    </p:set>
                                    <p:anim calcmode="lin" valueType="num">
                                      <p:cBhvr additive="base">
                                        <p:cTn id="22" dur="500"/>
                                        <p:tgtEl>
                                          <p:spTgt spid="21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18">
                                            <p:txEl>
                                              <p:pRg st="3" end="3"/>
                                            </p:txEl>
                                          </p:spTgt>
                                        </p:tgtEl>
                                        <p:attrNameLst>
                                          <p:attrName>style.visibility</p:attrName>
                                        </p:attrNameLst>
                                      </p:cBhvr>
                                      <p:to>
                                        <p:strVal val="visible"/>
                                      </p:to>
                                    </p:set>
                                    <p:anim calcmode="lin" valueType="num">
                                      <p:cBhvr additive="base">
                                        <p:cTn id="27" dur="500"/>
                                        <p:tgtEl>
                                          <p:spTgt spid="21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218">
                                            <p:txEl>
                                              <p:pRg st="4" end="4"/>
                                            </p:txEl>
                                          </p:spTgt>
                                        </p:tgtEl>
                                        <p:attrNameLst>
                                          <p:attrName>style.visibility</p:attrName>
                                        </p:attrNameLst>
                                      </p:cBhvr>
                                      <p:to>
                                        <p:strVal val="visible"/>
                                      </p:to>
                                    </p:set>
                                    <p:anim calcmode="lin" valueType="num">
                                      <p:cBhvr additive="base">
                                        <p:cTn id="32" dur="500"/>
                                        <p:tgtEl>
                                          <p:spTgt spid="21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18">
                                            <p:txEl>
                                              <p:pRg st="5" end="5"/>
                                            </p:txEl>
                                          </p:spTgt>
                                        </p:tgtEl>
                                        <p:attrNameLst>
                                          <p:attrName>style.visibility</p:attrName>
                                        </p:attrNameLst>
                                      </p:cBhvr>
                                      <p:to>
                                        <p:strVal val="visible"/>
                                      </p:to>
                                    </p:set>
                                    <p:anim calcmode="lin" valueType="num">
                                      <p:cBhvr additive="base">
                                        <p:cTn id="37" dur="500"/>
                                        <p:tgtEl>
                                          <p:spTgt spid="21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218">
                                            <p:txEl>
                                              <p:pRg st="6" end="6"/>
                                            </p:txEl>
                                          </p:spTgt>
                                        </p:tgtEl>
                                        <p:attrNameLst>
                                          <p:attrName>style.visibility</p:attrName>
                                        </p:attrNameLst>
                                      </p:cBhvr>
                                      <p:to>
                                        <p:strVal val="visible"/>
                                      </p:to>
                                    </p:set>
                                    <p:anim calcmode="lin" valueType="num">
                                      <p:cBhvr additive="base">
                                        <p:cTn id="42" dur="500"/>
                                        <p:tgtEl>
                                          <p:spTgt spid="218">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21"/>
          <p:cNvSpPr txBox="1">
            <a:spLocks noGrp="1"/>
          </p:cNvSpPr>
          <p:nvPr>
            <p:ph type="title"/>
          </p:nvPr>
        </p:nvSpPr>
        <p:spPr>
          <a:xfrm>
            <a:off x="628650" y="273844"/>
            <a:ext cx="7886700" cy="994172"/>
          </a:xfrm>
          <a:prstGeom prst="rect">
            <a:avLst/>
          </a:prstGeom>
          <a:noFill/>
          <a:ln>
            <a:noFill/>
          </a:ln>
        </p:spPr>
        <p:txBody>
          <a:bodyPr spcFirstLastPara="1" wrap="square" lIns="68550" tIns="34275" rIns="68550" bIns="34275"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Bubble Sort</a:t>
            </a:r>
            <a:endParaRPr b="1"/>
          </a:p>
        </p:txBody>
      </p:sp>
      <p:sp>
        <p:nvSpPr>
          <p:cNvPr id="225" name="Google Shape;225;p21"/>
          <p:cNvSpPr txBox="1">
            <a:spLocks noGrp="1"/>
          </p:cNvSpPr>
          <p:nvPr>
            <p:ph type="body" idx="1"/>
          </p:nvPr>
        </p:nvSpPr>
        <p:spPr>
          <a:xfrm>
            <a:off x="628650" y="1369219"/>
            <a:ext cx="7886700" cy="3263504"/>
          </a:xfrm>
          <a:prstGeom prst="rect">
            <a:avLst/>
          </a:prstGeom>
          <a:noFill/>
          <a:ln>
            <a:noFill/>
          </a:ln>
        </p:spPr>
        <p:txBody>
          <a:bodyPr spcFirstLastPara="1" wrap="square" lIns="68550" tIns="34275" rIns="68550" bIns="34275" anchor="t" anchorCtr="0">
            <a:normAutofit/>
          </a:bodyPr>
          <a:lstStyle/>
          <a:p>
            <a:pPr marL="171450" lvl="0" indent="-171450" algn="just" rtl="0">
              <a:lnSpc>
                <a:spcPct val="90000"/>
              </a:lnSpc>
              <a:spcBef>
                <a:spcPts val="0"/>
              </a:spcBef>
              <a:spcAft>
                <a:spcPts val="0"/>
              </a:spcAft>
              <a:buClr>
                <a:schemeClr val="dk1"/>
              </a:buClr>
              <a:buSzPts val="2800"/>
              <a:buChar char="•"/>
            </a:pPr>
            <a:r>
              <a:rPr lang="en-US" sz="2000" b="1"/>
              <a:t>Problem</a:t>
            </a:r>
            <a:endParaRPr/>
          </a:p>
          <a:p>
            <a:pPr marL="0" lvl="0" indent="0" algn="just" rtl="0">
              <a:lnSpc>
                <a:spcPct val="90000"/>
              </a:lnSpc>
              <a:spcBef>
                <a:spcPts val="0"/>
              </a:spcBef>
              <a:spcAft>
                <a:spcPts val="0"/>
              </a:spcAft>
              <a:buClr>
                <a:schemeClr val="dk1"/>
              </a:buClr>
              <a:buSzPts val="2800"/>
              <a:buNone/>
            </a:pPr>
            <a:r>
              <a:rPr lang="en-US" sz="2000"/>
              <a:t>Array: {4, 2, 7, 1}</a:t>
            </a:r>
            <a:endParaRPr/>
          </a:p>
          <a:p>
            <a:pPr marL="342900" lvl="0" indent="-342900" algn="just" rtl="0">
              <a:lnSpc>
                <a:spcPct val="150000"/>
              </a:lnSpc>
              <a:spcBef>
                <a:spcPts val="0"/>
              </a:spcBef>
              <a:spcAft>
                <a:spcPts val="0"/>
              </a:spcAft>
              <a:buClr>
                <a:schemeClr val="dk1"/>
              </a:buClr>
              <a:buSzPts val="2800"/>
              <a:buChar char="•"/>
            </a:pPr>
            <a:r>
              <a:rPr lang="en-US" sz="1800"/>
              <a:t>Pass 1:</a:t>
            </a:r>
            <a:endParaRPr/>
          </a:p>
          <a:p>
            <a:pPr marL="685800" lvl="1" indent="-285750" algn="just" rtl="0">
              <a:lnSpc>
                <a:spcPct val="150000"/>
              </a:lnSpc>
              <a:spcBef>
                <a:spcPts val="0"/>
              </a:spcBef>
              <a:spcAft>
                <a:spcPts val="0"/>
              </a:spcAft>
              <a:buClr>
                <a:schemeClr val="dk1"/>
              </a:buClr>
              <a:buSzPts val="2800"/>
              <a:buFont typeface="Arial"/>
              <a:buChar char="•"/>
            </a:pPr>
            <a:r>
              <a:rPr lang="en-US" sz="1800"/>
              <a:t>Compare and swap adjacent elements:</a:t>
            </a:r>
            <a:endParaRPr/>
          </a:p>
          <a:p>
            <a:pPr marL="1143000" lvl="2" indent="-228600" algn="just" rtl="0">
              <a:lnSpc>
                <a:spcPct val="150000"/>
              </a:lnSpc>
              <a:spcBef>
                <a:spcPts val="0"/>
              </a:spcBef>
              <a:spcAft>
                <a:spcPts val="0"/>
              </a:spcAft>
              <a:buClr>
                <a:schemeClr val="dk1"/>
              </a:buClr>
              <a:buSzPts val="2800"/>
              <a:buChar char="•"/>
            </a:pPr>
            <a:r>
              <a:rPr lang="en-US" sz="1800"/>
              <a:t>Compare 4 and 2 → Swap → {2, 4, 7, 1}</a:t>
            </a:r>
            <a:endParaRPr/>
          </a:p>
          <a:p>
            <a:pPr marL="1143000" lvl="2" indent="-228600" algn="just" rtl="0">
              <a:lnSpc>
                <a:spcPct val="150000"/>
              </a:lnSpc>
              <a:spcBef>
                <a:spcPts val="0"/>
              </a:spcBef>
              <a:spcAft>
                <a:spcPts val="0"/>
              </a:spcAft>
              <a:buClr>
                <a:schemeClr val="dk1"/>
              </a:buClr>
              <a:buSzPts val="2800"/>
              <a:buChar char="•"/>
            </a:pPr>
            <a:r>
              <a:rPr lang="en-US" sz="1800"/>
              <a:t>Compare 4 and 7 → No swap</a:t>
            </a:r>
            <a:endParaRPr/>
          </a:p>
          <a:p>
            <a:pPr marL="1143000" lvl="2" indent="-228600" algn="just" rtl="0">
              <a:lnSpc>
                <a:spcPct val="150000"/>
              </a:lnSpc>
              <a:spcBef>
                <a:spcPts val="0"/>
              </a:spcBef>
              <a:spcAft>
                <a:spcPts val="0"/>
              </a:spcAft>
              <a:buClr>
                <a:schemeClr val="dk1"/>
              </a:buClr>
              <a:buSzPts val="2800"/>
              <a:buChar char="•"/>
            </a:pPr>
            <a:r>
              <a:rPr lang="en-US" sz="1800"/>
              <a:t>Compare 7 and 1 → Swap → {2, 4, 1, 7}</a:t>
            </a:r>
            <a:endParaRPr/>
          </a:p>
          <a:p>
            <a:pPr marL="457200" lvl="1" indent="0" algn="just" rtl="0">
              <a:lnSpc>
                <a:spcPct val="150000"/>
              </a:lnSpc>
              <a:spcBef>
                <a:spcPts val="0"/>
              </a:spcBef>
              <a:spcAft>
                <a:spcPts val="0"/>
              </a:spcAft>
              <a:buClr>
                <a:schemeClr val="dk1"/>
              </a:buClr>
              <a:buSzPts val="2800"/>
              <a:buNone/>
            </a:pPr>
            <a:r>
              <a:rPr lang="en-US" sz="1800"/>
              <a:t>Largest number (7) is now in the right place!</a:t>
            </a:r>
            <a:endParaRPr sz="1800"/>
          </a:p>
        </p:txBody>
      </p:sp>
      <p:pic>
        <p:nvPicPr>
          <p:cNvPr id="226" name="Google Shape;226;p21"/>
          <p:cNvPicPr preferRelativeResize="0"/>
          <p:nvPr/>
        </p:nvPicPr>
        <p:blipFill rotWithShape="1">
          <a:blip r:embed="rId3">
            <a:alphaModFix/>
          </a:blip>
          <a:srcRect/>
          <a:stretch/>
        </p:blipFill>
        <p:spPr>
          <a:xfrm>
            <a:off x="7239000" y="7783"/>
            <a:ext cx="1653683" cy="61727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4"/>
                                        </p:tgtEl>
                                        <p:attrNameLst>
                                          <p:attrName>style.visibility</p:attrName>
                                        </p:attrNameLst>
                                      </p:cBhvr>
                                      <p:to>
                                        <p:strVal val="visible"/>
                                      </p:to>
                                    </p:set>
                                    <p:animEffect transition="in" filter="fade">
                                      <p:cBhvr>
                                        <p:cTn id="7" dur="1000"/>
                                        <p:tgtEl>
                                          <p:spTgt spid="22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25">
                                            <p:txEl>
                                              <p:pRg st="0" end="0"/>
                                            </p:txEl>
                                          </p:spTgt>
                                        </p:tgtEl>
                                        <p:attrNameLst>
                                          <p:attrName>style.visibility</p:attrName>
                                        </p:attrNameLst>
                                      </p:cBhvr>
                                      <p:to>
                                        <p:strVal val="visible"/>
                                      </p:to>
                                    </p:set>
                                    <p:anim calcmode="lin" valueType="num">
                                      <p:cBhvr additive="base">
                                        <p:cTn id="12" dur="500"/>
                                        <p:tgtEl>
                                          <p:spTgt spid="22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25">
                                            <p:txEl>
                                              <p:pRg st="1" end="1"/>
                                            </p:txEl>
                                          </p:spTgt>
                                        </p:tgtEl>
                                        <p:attrNameLst>
                                          <p:attrName>style.visibility</p:attrName>
                                        </p:attrNameLst>
                                      </p:cBhvr>
                                      <p:to>
                                        <p:strVal val="visible"/>
                                      </p:to>
                                    </p:set>
                                    <p:anim calcmode="lin" valueType="num">
                                      <p:cBhvr additive="base">
                                        <p:cTn id="17" dur="500"/>
                                        <p:tgtEl>
                                          <p:spTgt spid="22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25">
                                            <p:txEl>
                                              <p:pRg st="2" end="2"/>
                                            </p:txEl>
                                          </p:spTgt>
                                        </p:tgtEl>
                                        <p:attrNameLst>
                                          <p:attrName>style.visibility</p:attrName>
                                        </p:attrNameLst>
                                      </p:cBhvr>
                                      <p:to>
                                        <p:strVal val="visible"/>
                                      </p:to>
                                    </p:set>
                                    <p:anim calcmode="lin" valueType="num">
                                      <p:cBhvr additive="base">
                                        <p:cTn id="22" dur="500"/>
                                        <p:tgtEl>
                                          <p:spTgt spid="22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25">
                                            <p:txEl>
                                              <p:pRg st="3" end="3"/>
                                            </p:txEl>
                                          </p:spTgt>
                                        </p:tgtEl>
                                        <p:attrNameLst>
                                          <p:attrName>style.visibility</p:attrName>
                                        </p:attrNameLst>
                                      </p:cBhvr>
                                      <p:to>
                                        <p:strVal val="visible"/>
                                      </p:to>
                                    </p:set>
                                    <p:anim calcmode="lin" valueType="num">
                                      <p:cBhvr additive="base">
                                        <p:cTn id="27" dur="500"/>
                                        <p:tgtEl>
                                          <p:spTgt spid="22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225">
                                            <p:txEl>
                                              <p:pRg st="4" end="4"/>
                                            </p:txEl>
                                          </p:spTgt>
                                        </p:tgtEl>
                                        <p:attrNameLst>
                                          <p:attrName>style.visibility</p:attrName>
                                        </p:attrNameLst>
                                      </p:cBhvr>
                                      <p:to>
                                        <p:strVal val="visible"/>
                                      </p:to>
                                    </p:set>
                                    <p:anim calcmode="lin" valueType="num">
                                      <p:cBhvr additive="base">
                                        <p:cTn id="32" dur="500"/>
                                        <p:tgtEl>
                                          <p:spTgt spid="22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25">
                                            <p:txEl>
                                              <p:pRg st="5" end="5"/>
                                            </p:txEl>
                                          </p:spTgt>
                                        </p:tgtEl>
                                        <p:attrNameLst>
                                          <p:attrName>style.visibility</p:attrName>
                                        </p:attrNameLst>
                                      </p:cBhvr>
                                      <p:to>
                                        <p:strVal val="visible"/>
                                      </p:to>
                                    </p:set>
                                    <p:anim calcmode="lin" valueType="num">
                                      <p:cBhvr additive="base">
                                        <p:cTn id="37" dur="500"/>
                                        <p:tgtEl>
                                          <p:spTgt spid="225">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225">
                                            <p:txEl>
                                              <p:pRg st="6" end="6"/>
                                            </p:txEl>
                                          </p:spTgt>
                                        </p:tgtEl>
                                        <p:attrNameLst>
                                          <p:attrName>style.visibility</p:attrName>
                                        </p:attrNameLst>
                                      </p:cBhvr>
                                      <p:to>
                                        <p:strVal val="visible"/>
                                      </p:to>
                                    </p:set>
                                    <p:anim calcmode="lin" valueType="num">
                                      <p:cBhvr additive="base">
                                        <p:cTn id="42" dur="500"/>
                                        <p:tgtEl>
                                          <p:spTgt spid="225">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225">
                                            <p:txEl>
                                              <p:pRg st="7" end="7"/>
                                            </p:txEl>
                                          </p:spTgt>
                                        </p:tgtEl>
                                        <p:attrNameLst>
                                          <p:attrName>style.visibility</p:attrName>
                                        </p:attrNameLst>
                                      </p:cBhvr>
                                      <p:to>
                                        <p:strVal val="visible"/>
                                      </p:to>
                                    </p:set>
                                    <p:anim calcmode="lin" valueType="num">
                                      <p:cBhvr additive="base">
                                        <p:cTn id="47" dur="500"/>
                                        <p:tgtEl>
                                          <p:spTgt spid="225">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22"/>
          <p:cNvSpPr txBox="1">
            <a:spLocks noGrp="1"/>
          </p:cNvSpPr>
          <p:nvPr>
            <p:ph type="title"/>
          </p:nvPr>
        </p:nvSpPr>
        <p:spPr>
          <a:xfrm>
            <a:off x="628650" y="273844"/>
            <a:ext cx="7886700" cy="994172"/>
          </a:xfrm>
          <a:prstGeom prst="rect">
            <a:avLst/>
          </a:prstGeom>
          <a:noFill/>
          <a:ln>
            <a:noFill/>
          </a:ln>
        </p:spPr>
        <p:txBody>
          <a:bodyPr spcFirstLastPara="1" wrap="square" lIns="68550" tIns="34275" rIns="68550" bIns="34275"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Bubble Sort</a:t>
            </a:r>
            <a:endParaRPr b="1"/>
          </a:p>
        </p:txBody>
      </p:sp>
      <p:sp>
        <p:nvSpPr>
          <p:cNvPr id="232" name="Google Shape;232;p22"/>
          <p:cNvSpPr txBox="1">
            <a:spLocks noGrp="1"/>
          </p:cNvSpPr>
          <p:nvPr>
            <p:ph type="body" idx="1"/>
          </p:nvPr>
        </p:nvSpPr>
        <p:spPr>
          <a:xfrm>
            <a:off x="628650" y="1369219"/>
            <a:ext cx="7886700" cy="3263504"/>
          </a:xfrm>
          <a:prstGeom prst="rect">
            <a:avLst/>
          </a:prstGeom>
          <a:noFill/>
          <a:ln>
            <a:noFill/>
          </a:ln>
        </p:spPr>
        <p:txBody>
          <a:bodyPr spcFirstLastPara="1" wrap="square" lIns="68550" tIns="34275" rIns="68550" bIns="34275" anchor="t" anchorCtr="0">
            <a:normAutofit lnSpcReduction="10000"/>
          </a:bodyPr>
          <a:lstStyle/>
          <a:p>
            <a:pPr marL="342900" lvl="0" indent="-342900" algn="just" rtl="0">
              <a:lnSpc>
                <a:spcPct val="150000"/>
              </a:lnSpc>
              <a:spcBef>
                <a:spcPts val="0"/>
              </a:spcBef>
              <a:spcAft>
                <a:spcPts val="0"/>
              </a:spcAft>
              <a:buClr>
                <a:schemeClr val="dk1"/>
              </a:buClr>
              <a:buSzPts val="2800"/>
              <a:buChar char="•"/>
            </a:pPr>
            <a:r>
              <a:rPr lang="en-US" sz="1800"/>
              <a:t>Pass 2:</a:t>
            </a:r>
            <a:endParaRPr/>
          </a:p>
          <a:p>
            <a:pPr marL="742950" lvl="1" indent="-285750" algn="just" rtl="0">
              <a:lnSpc>
                <a:spcPct val="150000"/>
              </a:lnSpc>
              <a:spcBef>
                <a:spcPts val="0"/>
              </a:spcBef>
              <a:spcAft>
                <a:spcPts val="0"/>
              </a:spcAft>
              <a:buClr>
                <a:schemeClr val="dk1"/>
              </a:buClr>
              <a:buSzPts val="2800"/>
              <a:buFont typeface="Arial"/>
              <a:buChar char="•"/>
            </a:pPr>
            <a:r>
              <a:rPr lang="en-US" sz="1800"/>
              <a:t>Compare 2 and 4 → No swap</a:t>
            </a:r>
            <a:endParaRPr/>
          </a:p>
          <a:p>
            <a:pPr marL="742950" lvl="1" indent="-285750" algn="just" rtl="0">
              <a:lnSpc>
                <a:spcPct val="150000"/>
              </a:lnSpc>
              <a:spcBef>
                <a:spcPts val="0"/>
              </a:spcBef>
              <a:spcAft>
                <a:spcPts val="0"/>
              </a:spcAft>
              <a:buClr>
                <a:schemeClr val="dk1"/>
              </a:buClr>
              <a:buSzPts val="2800"/>
              <a:buFont typeface="Arial"/>
              <a:buChar char="•"/>
            </a:pPr>
            <a:r>
              <a:rPr lang="en-US" sz="1800"/>
              <a:t>Compare 4 and 1 → Swap → {2, 1, 4, 7}</a:t>
            </a:r>
            <a:endParaRPr/>
          </a:p>
          <a:p>
            <a:pPr marL="457200" lvl="1" indent="0" algn="just" rtl="0">
              <a:lnSpc>
                <a:spcPct val="150000"/>
              </a:lnSpc>
              <a:spcBef>
                <a:spcPts val="0"/>
              </a:spcBef>
              <a:spcAft>
                <a:spcPts val="0"/>
              </a:spcAft>
              <a:buClr>
                <a:schemeClr val="dk1"/>
              </a:buClr>
              <a:buSzPts val="2800"/>
              <a:buNone/>
            </a:pPr>
            <a:r>
              <a:rPr lang="en-US" sz="1800"/>
              <a:t>Largest number (7) is now in the right place!</a:t>
            </a:r>
            <a:endParaRPr/>
          </a:p>
          <a:p>
            <a:pPr marL="342900" lvl="0" indent="-342900" algn="just" rtl="0">
              <a:lnSpc>
                <a:spcPct val="150000"/>
              </a:lnSpc>
              <a:spcBef>
                <a:spcPts val="0"/>
              </a:spcBef>
              <a:spcAft>
                <a:spcPts val="0"/>
              </a:spcAft>
              <a:buClr>
                <a:schemeClr val="dk1"/>
              </a:buClr>
              <a:buSzPts val="2800"/>
              <a:buChar char="•"/>
            </a:pPr>
            <a:r>
              <a:rPr lang="en-US" sz="1800"/>
              <a:t>Pass 3:</a:t>
            </a:r>
            <a:endParaRPr/>
          </a:p>
          <a:p>
            <a:pPr marL="742950" lvl="1" indent="-285750" algn="just" rtl="0">
              <a:lnSpc>
                <a:spcPct val="150000"/>
              </a:lnSpc>
              <a:spcBef>
                <a:spcPts val="0"/>
              </a:spcBef>
              <a:spcAft>
                <a:spcPts val="0"/>
              </a:spcAft>
              <a:buClr>
                <a:schemeClr val="dk1"/>
              </a:buClr>
              <a:buSzPts val="2800"/>
              <a:buFont typeface="Arial"/>
              <a:buChar char="•"/>
            </a:pPr>
            <a:r>
              <a:rPr lang="en-US" sz="1800"/>
              <a:t>Compare 2 and 1 → Swap → {1, 2, 4, 7} Sorted!</a:t>
            </a:r>
            <a:endParaRPr/>
          </a:p>
          <a:p>
            <a:pPr marL="342900" lvl="0" indent="-342900" algn="just" rtl="0">
              <a:lnSpc>
                <a:spcPct val="150000"/>
              </a:lnSpc>
              <a:spcBef>
                <a:spcPts val="0"/>
              </a:spcBef>
              <a:spcAft>
                <a:spcPts val="0"/>
              </a:spcAft>
              <a:buClr>
                <a:schemeClr val="dk1"/>
              </a:buClr>
              <a:buSzPts val="2800"/>
              <a:buChar char="•"/>
            </a:pPr>
            <a:r>
              <a:rPr lang="en-US" sz="1800"/>
              <a:t>Final Answer</a:t>
            </a:r>
            <a:endParaRPr/>
          </a:p>
          <a:p>
            <a:pPr marL="742950" lvl="1" indent="-285750" algn="just" rtl="0">
              <a:lnSpc>
                <a:spcPct val="150000"/>
              </a:lnSpc>
              <a:spcBef>
                <a:spcPts val="0"/>
              </a:spcBef>
              <a:spcAft>
                <a:spcPts val="0"/>
              </a:spcAft>
              <a:buClr>
                <a:schemeClr val="dk1"/>
              </a:buClr>
              <a:buSzPts val="2800"/>
              <a:buFont typeface="Arial"/>
              <a:buChar char="•"/>
            </a:pPr>
            <a:r>
              <a:rPr lang="en-US" sz="1800"/>
              <a:t>Sorted Array: {1, 2, 4, 7}</a:t>
            </a:r>
            <a:endParaRPr/>
          </a:p>
          <a:p>
            <a:pPr marL="57150" lvl="0" indent="0" algn="just" rtl="0">
              <a:lnSpc>
                <a:spcPct val="150000"/>
              </a:lnSpc>
              <a:spcBef>
                <a:spcPts val="0"/>
              </a:spcBef>
              <a:spcAft>
                <a:spcPts val="0"/>
              </a:spcAft>
              <a:buClr>
                <a:schemeClr val="dk1"/>
              </a:buClr>
              <a:buSzPts val="2800"/>
              <a:buNone/>
            </a:pPr>
            <a:endParaRPr sz="2600"/>
          </a:p>
        </p:txBody>
      </p:sp>
      <p:pic>
        <p:nvPicPr>
          <p:cNvPr id="233" name="Google Shape;233;p22"/>
          <p:cNvPicPr preferRelativeResize="0"/>
          <p:nvPr/>
        </p:nvPicPr>
        <p:blipFill rotWithShape="1">
          <a:blip r:embed="rId3">
            <a:alphaModFix/>
          </a:blip>
          <a:srcRect/>
          <a:stretch/>
        </p:blipFill>
        <p:spPr>
          <a:xfrm>
            <a:off x="7239000" y="7783"/>
            <a:ext cx="1653683" cy="61727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1"/>
                                        </p:tgtEl>
                                        <p:attrNameLst>
                                          <p:attrName>style.visibility</p:attrName>
                                        </p:attrNameLst>
                                      </p:cBhvr>
                                      <p:to>
                                        <p:strVal val="visible"/>
                                      </p:to>
                                    </p:set>
                                    <p:animEffect transition="in" filter="fade">
                                      <p:cBhvr>
                                        <p:cTn id="7" dur="1000"/>
                                        <p:tgtEl>
                                          <p:spTgt spid="2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23"/>
          <p:cNvSpPr txBox="1">
            <a:spLocks noGrp="1"/>
          </p:cNvSpPr>
          <p:nvPr>
            <p:ph type="title"/>
          </p:nvPr>
        </p:nvSpPr>
        <p:spPr>
          <a:xfrm>
            <a:off x="533400" y="-247650"/>
            <a:ext cx="7981950" cy="1515666"/>
          </a:xfrm>
          <a:prstGeom prst="rect">
            <a:avLst/>
          </a:prstGeom>
          <a:noFill/>
          <a:ln>
            <a:noFill/>
          </a:ln>
        </p:spPr>
        <p:txBody>
          <a:bodyPr spcFirstLastPara="1" wrap="square" lIns="68550" tIns="34275" rIns="68550" bIns="34275"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Bubble Sort</a:t>
            </a:r>
            <a:endParaRPr b="1"/>
          </a:p>
        </p:txBody>
      </p:sp>
      <p:sp>
        <p:nvSpPr>
          <p:cNvPr id="239" name="Google Shape;239;p23"/>
          <p:cNvSpPr txBox="1">
            <a:spLocks noGrp="1"/>
          </p:cNvSpPr>
          <p:nvPr>
            <p:ph type="body" idx="1"/>
          </p:nvPr>
        </p:nvSpPr>
        <p:spPr>
          <a:xfrm>
            <a:off x="628650" y="742950"/>
            <a:ext cx="7886700" cy="4191000"/>
          </a:xfrm>
          <a:prstGeom prst="rect">
            <a:avLst/>
          </a:prstGeom>
          <a:noFill/>
          <a:ln>
            <a:noFill/>
          </a:ln>
        </p:spPr>
        <p:txBody>
          <a:bodyPr spcFirstLastPara="1" wrap="square" lIns="68550" tIns="34275" rIns="68550" bIns="34275" anchor="t" anchorCtr="0">
            <a:noAutofit/>
          </a:bodyPr>
          <a:lstStyle/>
          <a:p>
            <a:pPr marL="0" lvl="0" indent="0" algn="just" rtl="0">
              <a:lnSpc>
                <a:spcPct val="90000"/>
              </a:lnSpc>
              <a:spcBef>
                <a:spcPts val="0"/>
              </a:spcBef>
              <a:spcAft>
                <a:spcPts val="0"/>
              </a:spcAft>
              <a:buClr>
                <a:schemeClr val="dk1"/>
              </a:buClr>
              <a:buSzPts val="2800"/>
              <a:buNone/>
            </a:pPr>
            <a:r>
              <a:rPr lang="en-US" sz="1400"/>
              <a:t>#include &lt;stdio.h&gt;</a:t>
            </a:r>
            <a:endParaRPr/>
          </a:p>
          <a:p>
            <a:pPr marL="0" lvl="0" indent="0" algn="just" rtl="0">
              <a:lnSpc>
                <a:spcPct val="90000"/>
              </a:lnSpc>
              <a:spcBef>
                <a:spcPts val="0"/>
              </a:spcBef>
              <a:spcAft>
                <a:spcPts val="0"/>
              </a:spcAft>
              <a:buClr>
                <a:schemeClr val="dk1"/>
              </a:buClr>
              <a:buSzPts val="2800"/>
              <a:buNone/>
            </a:pPr>
            <a:r>
              <a:rPr lang="en-US" sz="1400"/>
              <a:t>int main() {</a:t>
            </a:r>
            <a:endParaRPr/>
          </a:p>
          <a:p>
            <a:pPr marL="0" lvl="0" indent="0" algn="just" rtl="0">
              <a:lnSpc>
                <a:spcPct val="90000"/>
              </a:lnSpc>
              <a:spcBef>
                <a:spcPts val="0"/>
              </a:spcBef>
              <a:spcAft>
                <a:spcPts val="0"/>
              </a:spcAft>
              <a:buClr>
                <a:schemeClr val="dk1"/>
              </a:buClr>
              <a:buSzPts val="2800"/>
              <a:buNone/>
            </a:pPr>
            <a:r>
              <a:rPr lang="en-US" sz="1400"/>
              <a:t>    int arr[] = {4, 2, 7, 1};</a:t>
            </a:r>
            <a:endParaRPr/>
          </a:p>
          <a:p>
            <a:pPr marL="0" lvl="0" indent="0" algn="just" rtl="0">
              <a:lnSpc>
                <a:spcPct val="90000"/>
              </a:lnSpc>
              <a:spcBef>
                <a:spcPts val="0"/>
              </a:spcBef>
              <a:spcAft>
                <a:spcPts val="0"/>
              </a:spcAft>
              <a:buClr>
                <a:schemeClr val="dk1"/>
              </a:buClr>
              <a:buSzPts val="2800"/>
              <a:buNone/>
            </a:pPr>
            <a:r>
              <a:rPr lang="en-US" sz="1400"/>
              <a:t>    int n = 4;  // Number of elements</a:t>
            </a:r>
            <a:endParaRPr/>
          </a:p>
          <a:p>
            <a:pPr marL="0" lvl="0" indent="0" algn="just" rtl="0">
              <a:lnSpc>
                <a:spcPct val="90000"/>
              </a:lnSpc>
              <a:spcBef>
                <a:spcPts val="0"/>
              </a:spcBef>
              <a:spcAft>
                <a:spcPts val="0"/>
              </a:spcAft>
              <a:buClr>
                <a:schemeClr val="dk1"/>
              </a:buClr>
              <a:buSzPts val="2800"/>
              <a:buNone/>
            </a:pPr>
            <a:r>
              <a:rPr lang="en-US" sz="1400"/>
              <a:t>    int temp;</a:t>
            </a:r>
            <a:endParaRPr/>
          </a:p>
          <a:p>
            <a:pPr marL="0" lvl="0" indent="0" algn="just" rtl="0">
              <a:lnSpc>
                <a:spcPct val="90000"/>
              </a:lnSpc>
              <a:spcBef>
                <a:spcPts val="0"/>
              </a:spcBef>
              <a:spcAft>
                <a:spcPts val="0"/>
              </a:spcAft>
              <a:buClr>
                <a:schemeClr val="dk1"/>
              </a:buClr>
              <a:buSzPts val="2800"/>
              <a:buNone/>
            </a:pPr>
            <a:r>
              <a:rPr lang="en-US" sz="1400"/>
              <a:t>    // Bubble sort logic</a:t>
            </a:r>
            <a:endParaRPr/>
          </a:p>
          <a:p>
            <a:pPr marL="0" lvl="0" indent="0" algn="just" rtl="0">
              <a:lnSpc>
                <a:spcPct val="90000"/>
              </a:lnSpc>
              <a:spcBef>
                <a:spcPts val="0"/>
              </a:spcBef>
              <a:spcAft>
                <a:spcPts val="0"/>
              </a:spcAft>
              <a:buClr>
                <a:schemeClr val="dk1"/>
              </a:buClr>
              <a:buSzPts val="2800"/>
              <a:buNone/>
            </a:pPr>
            <a:r>
              <a:rPr lang="en-US" sz="1400"/>
              <a:t>    for (int i = 0; i &lt; n - 1; i++) {</a:t>
            </a:r>
            <a:endParaRPr/>
          </a:p>
          <a:p>
            <a:pPr marL="0" lvl="0" indent="0" algn="just" rtl="0">
              <a:lnSpc>
                <a:spcPct val="90000"/>
              </a:lnSpc>
              <a:spcBef>
                <a:spcPts val="0"/>
              </a:spcBef>
              <a:spcAft>
                <a:spcPts val="0"/>
              </a:spcAft>
              <a:buClr>
                <a:schemeClr val="dk1"/>
              </a:buClr>
              <a:buSzPts val="2800"/>
              <a:buNone/>
            </a:pPr>
            <a:r>
              <a:rPr lang="en-US" sz="1400"/>
              <a:t>        for (int j = 0; j &lt; n - i - 1; j++) {</a:t>
            </a:r>
            <a:endParaRPr/>
          </a:p>
          <a:p>
            <a:pPr marL="0" lvl="0" indent="0" algn="just" rtl="0">
              <a:lnSpc>
                <a:spcPct val="90000"/>
              </a:lnSpc>
              <a:spcBef>
                <a:spcPts val="0"/>
              </a:spcBef>
              <a:spcAft>
                <a:spcPts val="0"/>
              </a:spcAft>
              <a:buClr>
                <a:schemeClr val="dk1"/>
              </a:buClr>
              <a:buSzPts val="2800"/>
              <a:buNone/>
            </a:pPr>
            <a:r>
              <a:rPr lang="en-US" sz="1400"/>
              <a:t>            if (arr[j] &gt; arr[j + 1]) {</a:t>
            </a:r>
            <a:endParaRPr/>
          </a:p>
          <a:p>
            <a:pPr marL="0" lvl="0" indent="0" algn="just" rtl="0">
              <a:lnSpc>
                <a:spcPct val="90000"/>
              </a:lnSpc>
              <a:spcBef>
                <a:spcPts val="0"/>
              </a:spcBef>
              <a:spcAft>
                <a:spcPts val="0"/>
              </a:spcAft>
              <a:buClr>
                <a:schemeClr val="dk1"/>
              </a:buClr>
              <a:buSzPts val="2800"/>
              <a:buNone/>
            </a:pPr>
            <a:r>
              <a:rPr lang="en-US" sz="1400"/>
              <a:t>                // Swap elements</a:t>
            </a:r>
            <a:endParaRPr/>
          </a:p>
          <a:p>
            <a:pPr marL="0" lvl="0" indent="0" algn="just" rtl="0">
              <a:lnSpc>
                <a:spcPct val="90000"/>
              </a:lnSpc>
              <a:spcBef>
                <a:spcPts val="0"/>
              </a:spcBef>
              <a:spcAft>
                <a:spcPts val="0"/>
              </a:spcAft>
              <a:buClr>
                <a:schemeClr val="dk1"/>
              </a:buClr>
              <a:buSzPts val="2800"/>
              <a:buNone/>
            </a:pPr>
            <a:r>
              <a:rPr lang="en-US" sz="1400"/>
              <a:t>                temp = arr[j];</a:t>
            </a:r>
            <a:endParaRPr/>
          </a:p>
          <a:p>
            <a:pPr marL="0" lvl="0" indent="0" algn="just" rtl="0">
              <a:lnSpc>
                <a:spcPct val="90000"/>
              </a:lnSpc>
              <a:spcBef>
                <a:spcPts val="0"/>
              </a:spcBef>
              <a:spcAft>
                <a:spcPts val="0"/>
              </a:spcAft>
              <a:buClr>
                <a:schemeClr val="dk1"/>
              </a:buClr>
              <a:buSzPts val="2800"/>
              <a:buNone/>
            </a:pPr>
            <a:r>
              <a:rPr lang="en-US" sz="1400"/>
              <a:t>                arr[j] = arr[j + 1];</a:t>
            </a:r>
            <a:endParaRPr/>
          </a:p>
          <a:p>
            <a:pPr marL="0" lvl="0" indent="0" algn="just" rtl="0">
              <a:lnSpc>
                <a:spcPct val="90000"/>
              </a:lnSpc>
              <a:spcBef>
                <a:spcPts val="0"/>
              </a:spcBef>
              <a:spcAft>
                <a:spcPts val="0"/>
              </a:spcAft>
              <a:buClr>
                <a:schemeClr val="dk1"/>
              </a:buClr>
              <a:buSzPts val="2800"/>
              <a:buNone/>
            </a:pPr>
            <a:r>
              <a:rPr lang="en-US" sz="1400"/>
              <a:t>                arr[j + 1] = temp;</a:t>
            </a:r>
            <a:endParaRPr/>
          </a:p>
          <a:p>
            <a:pPr marL="0" lvl="0" indent="0" algn="just" rtl="0">
              <a:lnSpc>
                <a:spcPct val="90000"/>
              </a:lnSpc>
              <a:spcBef>
                <a:spcPts val="0"/>
              </a:spcBef>
              <a:spcAft>
                <a:spcPts val="0"/>
              </a:spcAft>
              <a:buClr>
                <a:schemeClr val="dk1"/>
              </a:buClr>
              <a:buSzPts val="2800"/>
              <a:buNone/>
            </a:pPr>
            <a:r>
              <a:rPr lang="en-US" sz="1400"/>
              <a:t>            }</a:t>
            </a:r>
            <a:endParaRPr/>
          </a:p>
          <a:p>
            <a:pPr marL="0" lvl="0" indent="0" algn="just" rtl="0">
              <a:lnSpc>
                <a:spcPct val="90000"/>
              </a:lnSpc>
              <a:spcBef>
                <a:spcPts val="0"/>
              </a:spcBef>
              <a:spcAft>
                <a:spcPts val="0"/>
              </a:spcAft>
              <a:buClr>
                <a:schemeClr val="dk1"/>
              </a:buClr>
              <a:buSzPts val="2800"/>
              <a:buNone/>
            </a:pPr>
            <a:r>
              <a:rPr lang="en-US" sz="1400"/>
              <a:t>        }</a:t>
            </a:r>
            <a:endParaRPr/>
          </a:p>
          <a:p>
            <a:pPr marL="0" lvl="0" indent="0" algn="just" rtl="0">
              <a:lnSpc>
                <a:spcPct val="90000"/>
              </a:lnSpc>
              <a:spcBef>
                <a:spcPts val="0"/>
              </a:spcBef>
              <a:spcAft>
                <a:spcPts val="0"/>
              </a:spcAft>
              <a:buClr>
                <a:schemeClr val="dk1"/>
              </a:buClr>
              <a:buSzPts val="2800"/>
              <a:buNone/>
            </a:pPr>
            <a:r>
              <a:rPr lang="en-US" sz="1400"/>
              <a:t>    }</a:t>
            </a:r>
            <a:endParaRPr/>
          </a:p>
          <a:p>
            <a:pPr marL="0" lvl="0" indent="0" algn="just" rtl="0">
              <a:lnSpc>
                <a:spcPct val="90000"/>
              </a:lnSpc>
              <a:spcBef>
                <a:spcPts val="0"/>
              </a:spcBef>
              <a:spcAft>
                <a:spcPts val="0"/>
              </a:spcAft>
              <a:buClr>
                <a:schemeClr val="dk1"/>
              </a:buClr>
              <a:buSzPts val="2800"/>
              <a:buNone/>
            </a:pPr>
            <a:r>
              <a:rPr lang="en-US" sz="1400"/>
              <a:t>    // Print the sorted array</a:t>
            </a:r>
            <a:endParaRPr/>
          </a:p>
          <a:p>
            <a:pPr marL="0" lvl="0" indent="0" algn="just" rtl="0">
              <a:lnSpc>
                <a:spcPct val="90000"/>
              </a:lnSpc>
              <a:spcBef>
                <a:spcPts val="0"/>
              </a:spcBef>
              <a:spcAft>
                <a:spcPts val="0"/>
              </a:spcAft>
              <a:buClr>
                <a:schemeClr val="dk1"/>
              </a:buClr>
              <a:buSzPts val="2800"/>
              <a:buNone/>
            </a:pPr>
            <a:r>
              <a:rPr lang="en-US" sz="1400"/>
              <a:t>    printf("Sorted Array: ");</a:t>
            </a:r>
            <a:endParaRPr/>
          </a:p>
          <a:p>
            <a:pPr marL="0" lvl="0" indent="0" algn="just" rtl="0">
              <a:lnSpc>
                <a:spcPct val="90000"/>
              </a:lnSpc>
              <a:spcBef>
                <a:spcPts val="0"/>
              </a:spcBef>
              <a:spcAft>
                <a:spcPts val="0"/>
              </a:spcAft>
              <a:buClr>
                <a:schemeClr val="dk1"/>
              </a:buClr>
              <a:buSzPts val="2800"/>
              <a:buNone/>
            </a:pPr>
            <a:r>
              <a:rPr lang="en-US" sz="1400"/>
              <a:t>    for (int i = 0; i &lt; n; i++) {</a:t>
            </a:r>
            <a:endParaRPr/>
          </a:p>
          <a:p>
            <a:pPr marL="0" lvl="0" indent="0" algn="just" rtl="0">
              <a:lnSpc>
                <a:spcPct val="90000"/>
              </a:lnSpc>
              <a:spcBef>
                <a:spcPts val="0"/>
              </a:spcBef>
              <a:spcAft>
                <a:spcPts val="0"/>
              </a:spcAft>
              <a:buClr>
                <a:schemeClr val="dk1"/>
              </a:buClr>
              <a:buSzPts val="2800"/>
              <a:buNone/>
            </a:pPr>
            <a:r>
              <a:rPr lang="en-US" sz="1400"/>
              <a:t>        printf("%d ", arr[i]);</a:t>
            </a:r>
            <a:endParaRPr/>
          </a:p>
          <a:p>
            <a:pPr marL="0" lvl="0" indent="0" algn="just" rtl="0">
              <a:lnSpc>
                <a:spcPct val="90000"/>
              </a:lnSpc>
              <a:spcBef>
                <a:spcPts val="0"/>
              </a:spcBef>
              <a:spcAft>
                <a:spcPts val="0"/>
              </a:spcAft>
              <a:buClr>
                <a:schemeClr val="dk1"/>
              </a:buClr>
              <a:buSzPts val="2800"/>
              <a:buNone/>
            </a:pPr>
            <a:r>
              <a:rPr lang="en-US" sz="1400"/>
              <a:t>    }</a:t>
            </a:r>
            <a:endParaRPr/>
          </a:p>
          <a:p>
            <a:pPr marL="0" lvl="0" indent="0" algn="just" rtl="0">
              <a:lnSpc>
                <a:spcPct val="90000"/>
              </a:lnSpc>
              <a:spcBef>
                <a:spcPts val="0"/>
              </a:spcBef>
              <a:spcAft>
                <a:spcPts val="0"/>
              </a:spcAft>
              <a:buClr>
                <a:schemeClr val="dk1"/>
              </a:buClr>
              <a:buSzPts val="2800"/>
              <a:buNone/>
            </a:pPr>
            <a:r>
              <a:rPr lang="en-US" sz="1400"/>
              <a:t>    return 0;</a:t>
            </a:r>
            <a:endParaRPr/>
          </a:p>
          <a:p>
            <a:pPr marL="0" lvl="0" indent="0" algn="just" rtl="0">
              <a:lnSpc>
                <a:spcPct val="90000"/>
              </a:lnSpc>
              <a:spcBef>
                <a:spcPts val="0"/>
              </a:spcBef>
              <a:spcAft>
                <a:spcPts val="0"/>
              </a:spcAft>
              <a:buClr>
                <a:schemeClr val="dk1"/>
              </a:buClr>
              <a:buSzPts val="2800"/>
              <a:buNone/>
            </a:pPr>
            <a:r>
              <a:rPr lang="en-US" sz="1400"/>
              <a:t>}</a:t>
            </a:r>
            <a:endParaRPr/>
          </a:p>
        </p:txBody>
      </p:sp>
      <p:pic>
        <p:nvPicPr>
          <p:cNvPr id="240" name="Google Shape;240;p23"/>
          <p:cNvPicPr preferRelativeResize="0"/>
          <p:nvPr/>
        </p:nvPicPr>
        <p:blipFill rotWithShape="1">
          <a:blip r:embed="rId3">
            <a:alphaModFix/>
          </a:blip>
          <a:srcRect/>
          <a:stretch/>
        </p:blipFill>
        <p:spPr>
          <a:xfrm>
            <a:off x="7239000" y="7783"/>
            <a:ext cx="1653683" cy="61727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8"/>
                                        </p:tgtEl>
                                        <p:attrNameLst>
                                          <p:attrName>style.visibility</p:attrName>
                                        </p:attrNameLst>
                                      </p:cBhvr>
                                      <p:to>
                                        <p:strVal val="visible"/>
                                      </p:to>
                                    </p:set>
                                    <p:animEffect transition="in" filter="fade">
                                      <p:cBhvr>
                                        <p:cTn id="7" dur="1000"/>
                                        <p:tgtEl>
                                          <p:spTgt spid="23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39">
                                            <p:txEl>
                                              <p:pRg st="0" end="0"/>
                                            </p:txEl>
                                          </p:spTgt>
                                        </p:tgtEl>
                                        <p:attrNameLst>
                                          <p:attrName>style.visibility</p:attrName>
                                        </p:attrNameLst>
                                      </p:cBhvr>
                                      <p:to>
                                        <p:strVal val="visible"/>
                                      </p:to>
                                    </p:set>
                                    <p:anim calcmode="lin" valueType="num">
                                      <p:cBhvr additive="base">
                                        <p:cTn id="12" dur="500"/>
                                        <p:tgtEl>
                                          <p:spTgt spid="23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39">
                                            <p:txEl>
                                              <p:pRg st="1" end="1"/>
                                            </p:txEl>
                                          </p:spTgt>
                                        </p:tgtEl>
                                        <p:attrNameLst>
                                          <p:attrName>style.visibility</p:attrName>
                                        </p:attrNameLst>
                                      </p:cBhvr>
                                      <p:to>
                                        <p:strVal val="visible"/>
                                      </p:to>
                                    </p:set>
                                    <p:anim calcmode="lin" valueType="num">
                                      <p:cBhvr additive="base">
                                        <p:cTn id="17" dur="500"/>
                                        <p:tgtEl>
                                          <p:spTgt spid="23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39">
                                            <p:txEl>
                                              <p:pRg st="2" end="2"/>
                                            </p:txEl>
                                          </p:spTgt>
                                        </p:tgtEl>
                                        <p:attrNameLst>
                                          <p:attrName>style.visibility</p:attrName>
                                        </p:attrNameLst>
                                      </p:cBhvr>
                                      <p:to>
                                        <p:strVal val="visible"/>
                                      </p:to>
                                    </p:set>
                                    <p:anim calcmode="lin" valueType="num">
                                      <p:cBhvr additive="base">
                                        <p:cTn id="22" dur="500"/>
                                        <p:tgtEl>
                                          <p:spTgt spid="23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39">
                                            <p:txEl>
                                              <p:pRg st="3" end="3"/>
                                            </p:txEl>
                                          </p:spTgt>
                                        </p:tgtEl>
                                        <p:attrNameLst>
                                          <p:attrName>style.visibility</p:attrName>
                                        </p:attrNameLst>
                                      </p:cBhvr>
                                      <p:to>
                                        <p:strVal val="visible"/>
                                      </p:to>
                                    </p:set>
                                    <p:anim calcmode="lin" valueType="num">
                                      <p:cBhvr additive="base">
                                        <p:cTn id="27" dur="500"/>
                                        <p:tgtEl>
                                          <p:spTgt spid="23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239">
                                            <p:txEl>
                                              <p:pRg st="4" end="4"/>
                                            </p:txEl>
                                          </p:spTgt>
                                        </p:tgtEl>
                                        <p:attrNameLst>
                                          <p:attrName>style.visibility</p:attrName>
                                        </p:attrNameLst>
                                      </p:cBhvr>
                                      <p:to>
                                        <p:strVal val="visible"/>
                                      </p:to>
                                    </p:set>
                                    <p:anim calcmode="lin" valueType="num">
                                      <p:cBhvr additive="base">
                                        <p:cTn id="32" dur="500"/>
                                        <p:tgtEl>
                                          <p:spTgt spid="23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39">
                                            <p:txEl>
                                              <p:pRg st="5" end="5"/>
                                            </p:txEl>
                                          </p:spTgt>
                                        </p:tgtEl>
                                        <p:attrNameLst>
                                          <p:attrName>style.visibility</p:attrName>
                                        </p:attrNameLst>
                                      </p:cBhvr>
                                      <p:to>
                                        <p:strVal val="visible"/>
                                      </p:to>
                                    </p:set>
                                    <p:anim calcmode="lin" valueType="num">
                                      <p:cBhvr additive="base">
                                        <p:cTn id="37" dur="500"/>
                                        <p:tgtEl>
                                          <p:spTgt spid="239">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239">
                                            <p:txEl>
                                              <p:pRg st="6" end="6"/>
                                            </p:txEl>
                                          </p:spTgt>
                                        </p:tgtEl>
                                        <p:attrNameLst>
                                          <p:attrName>style.visibility</p:attrName>
                                        </p:attrNameLst>
                                      </p:cBhvr>
                                      <p:to>
                                        <p:strVal val="visible"/>
                                      </p:to>
                                    </p:set>
                                    <p:anim calcmode="lin" valueType="num">
                                      <p:cBhvr additive="base">
                                        <p:cTn id="42" dur="500"/>
                                        <p:tgtEl>
                                          <p:spTgt spid="239">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239">
                                            <p:txEl>
                                              <p:pRg st="7" end="7"/>
                                            </p:txEl>
                                          </p:spTgt>
                                        </p:tgtEl>
                                        <p:attrNameLst>
                                          <p:attrName>style.visibility</p:attrName>
                                        </p:attrNameLst>
                                      </p:cBhvr>
                                      <p:to>
                                        <p:strVal val="visible"/>
                                      </p:to>
                                    </p:set>
                                    <p:anim calcmode="lin" valueType="num">
                                      <p:cBhvr additive="base">
                                        <p:cTn id="47" dur="500"/>
                                        <p:tgtEl>
                                          <p:spTgt spid="239">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239">
                                            <p:txEl>
                                              <p:pRg st="8" end="8"/>
                                            </p:txEl>
                                          </p:spTgt>
                                        </p:tgtEl>
                                        <p:attrNameLst>
                                          <p:attrName>style.visibility</p:attrName>
                                        </p:attrNameLst>
                                      </p:cBhvr>
                                      <p:to>
                                        <p:strVal val="visible"/>
                                      </p:to>
                                    </p:set>
                                    <p:anim calcmode="lin" valueType="num">
                                      <p:cBhvr additive="base">
                                        <p:cTn id="52" dur="500"/>
                                        <p:tgtEl>
                                          <p:spTgt spid="239">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239">
                                            <p:txEl>
                                              <p:pRg st="9" end="9"/>
                                            </p:txEl>
                                          </p:spTgt>
                                        </p:tgtEl>
                                        <p:attrNameLst>
                                          <p:attrName>style.visibility</p:attrName>
                                        </p:attrNameLst>
                                      </p:cBhvr>
                                      <p:to>
                                        <p:strVal val="visible"/>
                                      </p:to>
                                    </p:set>
                                    <p:anim calcmode="lin" valueType="num">
                                      <p:cBhvr additive="base">
                                        <p:cTn id="57" dur="500"/>
                                        <p:tgtEl>
                                          <p:spTgt spid="239">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nodeType="clickEffect">
                                  <p:stCondLst>
                                    <p:cond delay="0"/>
                                  </p:stCondLst>
                                  <p:childTnLst>
                                    <p:set>
                                      <p:cBhvr>
                                        <p:cTn id="61" dur="1" fill="hold">
                                          <p:stCondLst>
                                            <p:cond delay="0"/>
                                          </p:stCondLst>
                                        </p:cTn>
                                        <p:tgtEl>
                                          <p:spTgt spid="239">
                                            <p:txEl>
                                              <p:pRg st="10" end="10"/>
                                            </p:txEl>
                                          </p:spTgt>
                                        </p:tgtEl>
                                        <p:attrNameLst>
                                          <p:attrName>style.visibility</p:attrName>
                                        </p:attrNameLst>
                                      </p:cBhvr>
                                      <p:to>
                                        <p:strVal val="visible"/>
                                      </p:to>
                                    </p:set>
                                    <p:anim calcmode="lin" valueType="num">
                                      <p:cBhvr additive="base">
                                        <p:cTn id="62" dur="500"/>
                                        <p:tgtEl>
                                          <p:spTgt spid="239">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239">
                                            <p:txEl>
                                              <p:pRg st="11" end="11"/>
                                            </p:txEl>
                                          </p:spTgt>
                                        </p:tgtEl>
                                        <p:attrNameLst>
                                          <p:attrName>style.visibility</p:attrName>
                                        </p:attrNameLst>
                                      </p:cBhvr>
                                      <p:to>
                                        <p:strVal val="visible"/>
                                      </p:to>
                                    </p:set>
                                    <p:anim calcmode="lin" valueType="num">
                                      <p:cBhvr additive="base">
                                        <p:cTn id="67" dur="500"/>
                                        <p:tgtEl>
                                          <p:spTgt spid="239">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 presetClass="entr" presetSubtype="4" fill="hold" nodeType="clickEffect">
                                  <p:stCondLst>
                                    <p:cond delay="0"/>
                                  </p:stCondLst>
                                  <p:childTnLst>
                                    <p:set>
                                      <p:cBhvr>
                                        <p:cTn id="71" dur="1" fill="hold">
                                          <p:stCondLst>
                                            <p:cond delay="0"/>
                                          </p:stCondLst>
                                        </p:cTn>
                                        <p:tgtEl>
                                          <p:spTgt spid="239">
                                            <p:txEl>
                                              <p:pRg st="12" end="12"/>
                                            </p:txEl>
                                          </p:spTgt>
                                        </p:tgtEl>
                                        <p:attrNameLst>
                                          <p:attrName>style.visibility</p:attrName>
                                        </p:attrNameLst>
                                      </p:cBhvr>
                                      <p:to>
                                        <p:strVal val="visible"/>
                                      </p:to>
                                    </p:set>
                                    <p:anim calcmode="lin" valueType="num">
                                      <p:cBhvr additive="base">
                                        <p:cTn id="72" dur="500"/>
                                        <p:tgtEl>
                                          <p:spTgt spid="239">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nodeType="clickEffect">
                                  <p:stCondLst>
                                    <p:cond delay="0"/>
                                  </p:stCondLst>
                                  <p:childTnLst>
                                    <p:set>
                                      <p:cBhvr>
                                        <p:cTn id="76" dur="1" fill="hold">
                                          <p:stCondLst>
                                            <p:cond delay="0"/>
                                          </p:stCondLst>
                                        </p:cTn>
                                        <p:tgtEl>
                                          <p:spTgt spid="239">
                                            <p:txEl>
                                              <p:pRg st="13" end="13"/>
                                            </p:txEl>
                                          </p:spTgt>
                                        </p:tgtEl>
                                        <p:attrNameLst>
                                          <p:attrName>style.visibility</p:attrName>
                                        </p:attrNameLst>
                                      </p:cBhvr>
                                      <p:to>
                                        <p:strVal val="visible"/>
                                      </p:to>
                                    </p:set>
                                    <p:anim calcmode="lin" valueType="num">
                                      <p:cBhvr additive="base">
                                        <p:cTn id="77" dur="500"/>
                                        <p:tgtEl>
                                          <p:spTgt spid="239">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2" presetClass="entr" presetSubtype="4" fill="hold" nodeType="clickEffect">
                                  <p:stCondLst>
                                    <p:cond delay="0"/>
                                  </p:stCondLst>
                                  <p:childTnLst>
                                    <p:set>
                                      <p:cBhvr>
                                        <p:cTn id="81" dur="1" fill="hold">
                                          <p:stCondLst>
                                            <p:cond delay="0"/>
                                          </p:stCondLst>
                                        </p:cTn>
                                        <p:tgtEl>
                                          <p:spTgt spid="239">
                                            <p:txEl>
                                              <p:pRg st="14" end="14"/>
                                            </p:txEl>
                                          </p:spTgt>
                                        </p:tgtEl>
                                        <p:attrNameLst>
                                          <p:attrName>style.visibility</p:attrName>
                                        </p:attrNameLst>
                                      </p:cBhvr>
                                      <p:to>
                                        <p:strVal val="visible"/>
                                      </p:to>
                                    </p:set>
                                    <p:anim calcmode="lin" valueType="num">
                                      <p:cBhvr additive="base">
                                        <p:cTn id="82" dur="500"/>
                                        <p:tgtEl>
                                          <p:spTgt spid="239">
                                            <p:txEl>
                                              <p:pRg st="14" end="14"/>
                                            </p:txEl>
                                          </p:spTgt>
                                        </p:tgtEl>
                                        <p:attrNameLst>
                                          <p:attrName>ppt_y</p:attrName>
                                        </p:attrNameLst>
                                      </p:cBhvr>
                                      <p:tavLst>
                                        <p:tav tm="0">
                                          <p:val>
                                            <p:strVal val="#ppt_y+1"/>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2" presetClass="entr" presetSubtype="4" fill="hold" nodeType="clickEffect">
                                  <p:stCondLst>
                                    <p:cond delay="0"/>
                                  </p:stCondLst>
                                  <p:childTnLst>
                                    <p:set>
                                      <p:cBhvr>
                                        <p:cTn id="86" dur="1" fill="hold">
                                          <p:stCondLst>
                                            <p:cond delay="0"/>
                                          </p:stCondLst>
                                        </p:cTn>
                                        <p:tgtEl>
                                          <p:spTgt spid="239">
                                            <p:txEl>
                                              <p:pRg st="15" end="15"/>
                                            </p:txEl>
                                          </p:spTgt>
                                        </p:tgtEl>
                                        <p:attrNameLst>
                                          <p:attrName>style.visibility</p:attrName>
                                        </p:attrNameLst>
                                      </p:cBhvr>
                                      <p:to>
                                        <p:strVal val="visible"/>
                                      </p:to>
                                    </p:set>
                                    <p:anim calcmode="lin" valueType="num">
                                      <p:cBhvr additive="base">
                                        <p:cTn id="87" dur="500"/>
                                        <p:tgtEl>
                                          <p:spTgt spid="239">
                                            <p:txEl>
                                              <p:pRg st="15" end="15"/>
                                            </p:txEl>
                                          </p:spTgt>
                                        </p:tgtEl>
                                        <p:attrNameLst>
                                          <p:attrName>ppt_y</p:attrName>
                                        </p:attrNameLst>
                                      </p:cBhvr>
                                      <p:tavLst>
                                        <p:tav tm="0">
                                          <p:val>
                                            <p:strVal val="#ppt_y+1"/>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2" presetClass="entr" presetSubtype="4" fill="hold" nodeType="clickEffect">
                                  <p:stCondLst>
                                    <p:cond delay="0"/>
                                  </p:stCondLst>
                                  <p:childTnLst>
                                    <p:set>
                                      <p:cBhvr>
                                        <p:cTn id="91" dur="1" fill="hold">
                                          <p:stCondLst>
                                            <p:cond delay="0"/>
                                          </p:stCondLst>
                                        </p:cTn>
                                        <p:tgtEl>
                                          <p:spTgt spid="239">
                                            <p:txEl>
                                              <p:pRg st="16" end="16"/>
                                            </p:txEl>
                                          </p:spTgt>
                                        </p:tgtEl>
                                        <p:attrNameLst>
                                          <p:attrName>style.visibility</p:attrName>
                                        </p:attrNameLst>
                                      </p:cBhvr>
                                      <p:to>
                                        <p:strVal val="visible"/>
                                      </p:to>
                                    </p:set>
                                    <p:anim calcmode="lin" valueType="num">
                                      <p:cBhvr additive="base">
                                        <p:cTn id="92" dur="500"/>
                                        <p:tgtEl>
                                          <p:spTgt spid="239">
                                            <p:txEl>
                                              <p:pRg st="16" end="16"/>
                                            </p:txEl>
                                          </p:spTgt>
                                        </p:tgtEl>
                                        <p:attrNameLst>
                                          <p:attrName>ppt_y</p:attrName>
                                        </p:attrNameLst>
                                      </p:cBhvr>
                                      <p:tavLst>
                                        <p:tav tm="0">
                                          <p:val>
                                            <p:strVal val="#ppt_y+1"/>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239">
                                            <p:txEl>
                                              <p:pRg st="17" end="17"/>
                                            </p:txEl>
                                          </p:spTgt>
                                        </p:tgtEl>
                                        <p:attrNameLst>
                                          <p:attrName>style.visibility</p:attrName>
                                        </p:attrNameLst>
                                      </p:cBhvr>
                                      <p:to>
                                        <p:strVal val="visible"/>
                                      </p:to>
                                    </p:set>
                                    <p:anim calcmode="lin" valueType="num">
                                      <p:cBhvr additive="base">
                                        <p:cTn id="97" dur="500"/>
                                        <p:tgtEl>
                                          <p:spTgt spid="239">
                                            <p:txEl>
                                              <p:pRg st="17" end="17"/>
                                            </p:txEl>
                                          </p:spTgt>
                                        </p:tgtEl>
                                        <p:attrNameLst>
                                          <p:attrName>ppt_y</p:attrName>
                                        </p:attrNameLst>
                                      </p:cBhvr>
                                      <p:tavLst>
                                        <p:tav tm="0">
                                          <p:val>
                                            <p:strVal val="#ppt_y+1"/>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2" presetClass="entr" presetSubtype="4" fill="hold" nodeType="clickEffect">
                                  <p:stCondLst>
                                    <p:cond delay="0"/>
                                  </p:stCondLst>
                                  <p:childTnLst>
                                    <p:set>
                                      <p:cBhvr>
                                        <p:cTn id="101" dur="1" fill="hold">
                                          <p:stCondLst>
                                            <p:cond delay="0"/>
                                          </p:stCondLst>
                                        </p:cTn>
                                        <p:tgtEl>
                                          <p:spTgt spid="239">
                                            <p:txEl>
                                              <p:pRg st="18" end="18"/>
                                            </p:txEl>
                                          </p:spTgt>
                                        </p:tgtEl>
                                        <p:attrNameLst>
                                          <p:attrName>style.visibility</p:attrName>
                                        </p:attrNameLst>
                                      </p:cBhvr>
                                      <p:to>
                                        <p:strVal val="visible"/>
                                      </p:to>
                                    </p:set>
                                    <p:anim calcmode="lin" valueType="num">
                                      <p:cBhvr additive="base">
                                        <p:cTn id="102" dur="500"/>
                                        <p:tgtEl>
                                          <p:spTgt spid="239">
                                            <p:txEl>
                                              <p:pRg st="18" end="18"/>
                                            </p:txEl>
                                          </p:spTgt>
                                        </p:tgtEl>
                                        <p:attrNameLst>
                                          <p:attrName>ppt_y</p:attrName>
                                        </p:attrNameLst>
                                      </p:cBhvr>
                                      <p:tavLst>
                                        <p:tav tm="0">
                                          <p:val>
                                            <p:strVal val="#ppt_y+1"/>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2" presetClass="entr" presetSubtype="4" fill="hold" nodeType="clickEffect">
                                  <p:stCondLst>
                                    <p:cond delay="0"/>
                                  </p:stCondLst>
                                  <p:childTnLst>
                                    <p:set>
                                      <p:cBhvr>
                                        <p:cTn id="106" dur="1" fill="hold">
                                          <p:stCondLst>
                                            <p:cond delay="0"/>
                                          </p:stCondLst>
                                        </p:cTn>
                                        <p:tgtEl>
                                          <p:spTgt spid="239">
                                            <p:txEl>
                                              <p:pRg st="19" end="19"/>
                                            </p:txEl>
                                          </p:spTgt>
                                        </p:tgtEl>
                                        <p:attrNameLst>
                                          <p:attrName>style.visibility</p:attrName>
                                        </p:attrNameLst>
                                      </p:cBhvr>
                                      <p:to>
                                        <p:strVal val="visible"/>
                                      </p:to>
                                    </p:set>
                                    <p:anim calcmode="lin" valueType="num">
                                      <p:cBhvr additive="base">
                                        <p:cTn id="107" dur="500"/>
                                        <p:tgtEl>
                                          <p:spTgt spid="239">
                                            <p:txEl>
                                              <p:pRg st="19" end="19"/>
                                            </p:txEl>
                                          </p:spTgt>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2" presetClass="entr" presetSubtype="4" fill="hold" nodeType="clickEffect">
                                  <p:stCondLst>
                                    <p:cond delay="0"/>
                                  </p:stCondLst>
                                  <p:childTnLst>
                                    <p:set>
                                      <p:cBhvr>
                                        <p:cTn id="111" dur="1" fill="hold">
                                          <p:stCondLst>
                                            <p:cond delay="0"/>
                                          </p:stCondLst>
                                        </p:cTn>
                                        <p:tgtEl>
                                          <p:spTgt spid="239">
                                            <p:txEl>
                                              <p:pRg st="20" end="20"/>
                                            </p:txEl>
                                          </p:spTgt>
                                        </p:tgtEl>
                                        <p:attrNameLst>
                                          <p:attrName>style.visibility</p:attrName>
                                        </p:attrNameLst>
                                      </p:cBhvr>
                                      <p:to>
                                        <p:strVal val="visible"/>
                                      </p:to>
                                    </p:set>
                                    <p:anim calcmode="lin" valueType="num">
                                      <p:cBhvr additive="base">
                                        <p:cTn id="112" dur="500"/>
                                        <p:tgtEl>
                                          <p:spTgt spid="239">
                                            <p:txEl>
                                              <p:pRg st="20" end="20"/>
                                            </p:txEl>
                                          </p:spTgt>
                                        </p:tgtEl>
                                        <p:attrNameLst>
                                          <p:attrName>ppt_y</p:attrName>
                                        </p:attrNameLst>
                                      </p:cBhvr>
                                      <p:tavLst>
                                        <p:tav tm="0">
                                          <p:val>
                                            <p:strVal val="#ppt_y+1"/>
                                          </p:val>
                                        </p:tav>
                                        <p:tav tm="100000">
                                          <p:val>
                                            <p:strVal val="#ppt_y"/>
                                          </p:val>
                                        </p:tav>
                                      </p:tavLst>
                                    </p:anim>
                                  </p:childTnLst>
                                </p:cTn>
                              </p:par>
                            </p:childTnLst>
                          </p:cTn>
                        </p:par>
                      </p:childTnLst>
                    </p:cTn>
                  </p:par>
                  <p:par>
                    <p:cTn id="113" fill="hold">
                      <p:stCondLst>
                        <p:cond delay="indefinite"/>
                      </p:stCondLst>
                      <p:childTnLst>
                        <p:par>
                          <p:cTn id="114" fill="hold">
                            <p:stCondLst>
                              <p:cond delay="0"/>
                            </p:stCondLst>
                            <p:childTnLst>
                              <p:par>
                                <p:cTn id="115" presetID="2" presetClass="entr" presetSubtype="4" fill="hold" nodeType="clickEffect">
                                  <p:stCondLst>
                                    <p:cond delay="0"/>
                                  </p:stCondLst>
                                  <p:childTnLst>
                                    <p:set>
                                      <p:cBhvr>
                                        <p:cTn id="116" dur="1" fill="hold">
                                          <p:stCondLst>
                                            <p:cond delay="0"/>
                                          </p:stCondLst>
                                        </p:cTn>
                                        <p:tgtEl>
                                          <p:spTgt spid="239">
                                            <p:txEl>
                                              <p:pRg st="21" end="21"/>
                                            </p:txEl>
                                          </p:spTgt>
                                        </p:tgtEl>
                                        <p:attrNameLst>
                                          <p:attrName>style.visibility</p:attrName>
                                        </p:attrNameLst>
                                      </p:cBhvr>
                                      <p:to>
                                        <p:strVal val="visible"/>
                                      </p:to>
                                    </p:set>
                                    <p:anim calcmode="lin" valueType="num">
                                      <p:cBhvr additive="base">
                                        <p:cTn id="117" dur="500"/>
                                        <p:tgtEl>
                                          <p:spTgt spid="239">
                                            <p:txEl>
                                              <p:pRg st="21" end="21"/>
                                            </p:txEl>
                                          </p:spTgt>
                                        </p:tgtEl>
                                        <p:attrNameLst>
                                          <p:attrName>ppt_y</p:attrName>
                                        </p:attrNameLst>
                                      </p:cBhvr>
                                      <p:tavLst>
                                        <p:tav tm="0">
                                          <p:val>
                                            <p:strVal val="#ppt_y+1"/>
                                          </p:val>
                                        </p:tav>
                                        <p:tav tm="100000">
                                          <p:val>
                                            <p:strVal val="#ppt_y"/>
                                          </p:val>
                                        </p:tav>
                                      </p:tavLst>
                                    </p:anim>
                                  </p:childTnLst>
                                </p:cTn>
                              </p:par>
                            </p:childTnLst>
                          </p:cTn>
                        </p:par>
                      </p:childTnLst>
                    </p:cTn>
                  </p:par>
                  <p:par>
                    <p:cTn id="118" fill="hold">
                      <p:stCondLst>
                        <p:cond delay="indefinite"/>
                      </p:stCondLst>
                      <p:childTnLst>
                        <p:par>
                          <p:cTn id="119" fill="hold">
                            <p:stCondLst>
                              <p:cond delay="0"/>
                            </p:stCondLst>
                            <p:childTnLst>
                              <p:par>
                                <p:cTn id="120" presetID="2" presetClass="entr" presetSubtype="4" fill="hold" nodeType="clickEffect">
                                  <p:stCondLst>
                                    <p:cond delay="0"/>
                                  </p:stCondLst>
                                  <p:childTnLst>
                                    <p:set>
                                      <p:cBhvr>
                                        <p:cTn id="121" dur="1" fill="hold">
                                          <p:stCondLst>
                                            <p:cond delay="0"/>
                                          </p:stCondLst>
                                        </p:cTn>
                                        <p:tgtEl>
                                          <p:spTgt spid="239">
                                            <p:txEl>
                                              <p:pRg st="22" end="22"/>
                                            </p:txEl>
                                          </p:spTgt>
                                        </p:tgtEl>
                                        <p:attrNameLst>
                                          <p:attrName>style.visibility</p:attrName>
                                        </p:attrNameLst>
                                      </p:cBhvr>
                                      <p:to>
                                        <p:strVal val="visible"/>
                                      </p:to>
                                    </p:set>
                                    <p:anim calcmode="lin" valueType="num">
                                      <p:cBhvr additive="base">
                                        <p:cTn id="122" dur="500"/>
                                        <p:tgtEl>
                                          <p:spTgt spid="239">
                                            <p:txEl>
                                              <p:pRg st="22" end="2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24"/>
          <p:cNvSpPr txBox="1">
            <a:spLocks noGrp="1"/>
          </p:cNvSpPr>
          <p:nvPr>
            <p:ph type="title"/>
          </p:nvPr>
        </p:nvSpPr>
        <p:spPr>
          <a:xfrm>
            <a:off x="533400" y="-247650"/>
            <a:ext cx="7981950" cy="1515666"/>
          </a:xfrm>
          <a:prstGeom prst="rect">
            <a:avLst/>
          </a:prstGeom>
          <a:noFill/>
          <a:ln>
            <a:noFill/>
          </a:ln>
        </p:spPr>
        <p:txBody>
          <a:bodyPr spcFirstLastPara="1" wrap="square" lIns="68550" tIns="34275" rIns="68550" bIns="34275"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Bubble Sort</a:t>
            </a:r>
            <a:endParaRPr b="1"/>
          </a:p>
        </p:txBody>
      </p:sp>
      <p:pic>
        <p:nvPicPr>
          <p:cNvPr id="246" name="Google Shape;246;p24"/>
          <p:cNvPicPr preferRelativeResize="0"/>
          <p:nvPr/>
        </p:nvPicPr>
        <p:blipFill rotWithShape="1">
          <a:blip r:embed="rId3">
            <a:alphaModFix/>
          </a:blip>
          <a:srcRect/>
          <a:stretch/>
        </p:blipFill>
        <p:spPr>
          <a:xfrm>
            <a:off x="628650" y="895350"/>
            <a:ext cx="7518320" cy="3810000"/>
          </a:xfrm>
          <a:prstGeom prst="rect">
            <a:avLst/>
          </a:prstGeom>
          <a:noFill/>
          <a:ln>
            <a:noFill/>
          </a:ln>
        </p:spPr>
      </p:pic>
      <p:pic>
        <p:nvPicPr>
          <p:cNvPr id="247" name="Google Shape;247;p24"/>
          <p:cNvPicPr preferRelativeResize="0"/>
          <p:nvPr/>
        </p:nvPicPr>
        <p:blipFill rotWithShape="1">
          <a:blip r:embed="rId4">
            <a:alphaModFix/>
          </a:blip>
          <a:srcRect/>
          <a:stretch/>
        </p:blipFill>
        <p:spPr>
          <a:xfrm>
            <a:off x="7239000" y="7783"/>
            <a:ext cx="1653683" cy="61727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5"/>
                                        </p:tgtEl>
                                        <p:attrNameLst>
                                          <p:attrName>style.visibility</p:attrName>
                                        </p:attrNameLst>
                                      </p:cBhvr>
                                      <p:to>
                                        <p:strVal val="visible"/>
                                      </p:to>
                                    </p:set>
                                    <p:animEffect transition="in" filter="fade">
                                      <p:cBhvr>
                                        <p:cTn id="7" dur="1000"/>
                                        <p:tgtEl>
                                          <p:spTgt spid="2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25"/>
          <p:cNvSpPr txBox="1">
            <a:spLocks noGrp="1"/>
          </p:cNvSpPr>
          <p:nvPr>
            <p:ph type="title"/>
          </p:nvPr>
        </p:nvSpPr>
        <p:spPr>
          <a:xfrm>
            <a:off x="628650" y="273844"/>
            <a:ext cx="7886700" cy="994172"/>
          </a:xfrm>
          <a:prstGeom prst="rect">
            <a:avLst/>
          </a:prstGeom>
          <a:noFill/>
          <a:ln>
            <a:noFill/>
          </a:ln>
        </p:spPr>
        <p:txBody>
          <a:bodyPr spcFirstLastPara="1" wrap="square" lIns="68550" tIns="34275" rIns="68550" bIns="34275"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Bubble Sort</a:t>
            </a:r>
            <a:endParaRPr b="1"/>
          </a:p>
        </p:txBody>
      </p:sp>
      <p:sp>
        <p:nvSpPr>
          <p:cNvPr id="253" name="Google Shape;253;p25"/>
          <p:cNvSpPr txBox="1">
            <a:spLocks noGrp="1"/>
          </p:cNvSpPr>
          <p:nvPr>
            <p:ph type="body" idx="1"/>
          </p:nvPr>
        </p:nvSpPr>
        <p:spPr>
          <a:xfrm>
            <a:off x="628650" y="1268016"/>
            <a:ext cx="7886700" cy="3364707"/>
          </a:xfrm>
          <a:prstGeom prst="rect">
            <a:avLst/>
          </a:prstGeom>
          <a:noFill/>
          <a:ln>
            <a:noFill/>
          </a:ln>
        </p:spPr>
        <p:txBody>
          <a:bodyPr spcFirstLastPara="1" wrap="square" lIns="68550" tIns="34275" rIns="68550" bIns="34275" anchor="t" anchorCtr="0">
            <a:normAutofit fontScale="92500" lnSpcReduction="10000"/>
          </a:bodyPr>
          <a:lstStyle/>
          <a:p>
            <a:pPr marL="0" lvl="0" indent="0" algn="just" rtl="0">
              <a:lnSpc>
                <a:spcPct val="150000"/>
              </a:lnSpc>
              <a:spcBef>
                <a:spcPts val="0"/>
              </a:spcBef>
              <a:spcAft>
                <a:spcPts val="0"/>
              </a:spcAft>
              <a:buClr>
                <a:schemeClr val="dk1"/>
              </a:buClr>
              <a:buSzPct val="151351"/>
              <a:buNone/>
            </a:pPr>
            <a:r>
              <a:rPr lang="en-US" sz="2000"/>
              <a:t>Scenario 1: Sorting Students by Height</a:t>
            </a:r>
            <a:endParaRPr/>
          </a:p>
          <a:p>
            <a:pPr marL="342900" lvl="0" indent="-342900" algn="just" rtl="0">
              <a:lnSpc>
                <a:spcPct val="150000"/>
              </a:lnSpc>
              <a:spcBef>
                <a:spcPts val="0"/>
              </a:spcBef>
              <a:spcAft>
                <a:spcPts val="0"/>
              </a:spcAft>
              <a:buClr>
                <a:schemeClr val="dk1"/>
              </a:buClr>
              <a:buSzPct val="151351"/>
              <a:buChar char="•"/>
            </a:pPr>
            <a:r>
              <a:rPr lang="en-US" sz="2000"/>
              <a:t>Imagine a group of students standing in a random order.</a:t>
            </a:r>
            <a:endParaRPr/>
          </a:p>
          <a:p>
            <a:pPr marL="342900" lvl="0" indent="-342900" algn="just" rtl="0">
              <a:lnSpc>
                <a:spcPct val="150000"/>
              </a:lnSpc>
              <a:spcBef>
                <a:spcPts val="0"/>
              </a:spcBef>
              <a:spcAft>
                <a:spcPts val="0"/>
              </a:spcAft>
              <a:buClr>
                <a:schemeClr val="dk1"/>
              </a:buClr>
              <a:buSzPct val="151351"/>
              <a:buChar char="•"/>
            </a:pPr>
            <a:r>
              <a:rPr lang="en-US" sz="2000"/>
              <a:t>You compare two students at a time — if the taller one is on the left, you swap them.</a:t>
            </a:r>
            <a:endParaRPr/>
          </a:p>
          <a:p>
            <a:pPr marL="342900" lvl="0" indent="-342900" algn="just" rtl="0">
              <a:lnSpc>
                <a:spcPct val="150000"/>
              </a:lnSpc>
              <a:spcBef>
                <a:spcPts val="0"/>
              </a:spcBef>
              <a:spcAft>
                <a:spcPts val="0"/>
              </a:spcAft>
              <a:buClr>
                <a:schemeClr val="dk1"/>
              </a:buClr>
              <a:buSzPct val="151351"/>
              <a:buChar char="•"/>
            </a:pPr>
            <a:r>
              <a:rPr lang="en-US" sz="2000"/>
              <a:t>You repeat this for the whole line, then start again from the beginning until no more swaps are needed.</a:t>
            </a:r>
            <a:endParaRPr/>
          </a:p>
          <a:p>
            <a:pPr marL="0" lvl="0" indent="0" algn="just" rtl="0">
              <a:lnSpc>
                <a:spcPct val="150000"/>
              </a:lnSpc>
              <a:spcBef>
                <a:spcPts val="0"/>
              </a:spcBef>
              <a:spcAft>
                <a:spcPts val="0"/>
              </a:spcAft>
              <a:buClr>
                <a:schemeClr val="dk1"/>
              </a:buClr>
              <a:buSzPct val="151351"/>
              <a:buNone/>
            </a:pPr>
            <a:r>
              <a:rPr lang="en-US" sz="2000"/>
              <a:t>This is Bubble Sort — "bubbling" the tallest (or smallest) to the correct position!</a:t>
            </a:r>
            <a:endParaRPr sz="2000"/>
          </a:p>
        </p:txBody>
      </p:sp>
      <p:pic>
        <p:nvPicPr>
          <p:cNvPr id="254" name="Google Shape;254;p25"/>
          <p:cNvPicPr preferRelativeResize="0"/>
          <p:nvPr/>
        </p:nvPicPr>
        <p:blipFill rotWithShape="1">
          <a:blip r:embed="rId3">
            <a:alphaModFix/>
          </a:blip>
          <a:srcRect/>
          <a:stretch/>
        </p:blipFill>
        <p:spPr>
          <a:xfrm>
            <a:off x="7239000" y="7783"/>
            <a:ext cx="1653683" cy="61727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2"/>
                                        </p:tgtEl>
                                        <p:attrNameLst>
                                          <p:attrName>style.visibility</p:attrName>
                                        </p:attrNameLst>
                                      </p:cBhvr>
                                      <p:to>
                                        <p:strVal val="visible"/>
                                      </p:to>
                                    </p:set>
                                    <p:animEffect transition="in" filter="fade">
                                      <p:cBhvr>
                                        <p:cTn id="7" dur="1000"/>
                                        <p:tgtEl>
                                          <p:spTgt spid="25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53">
                                            <p:txEl>
                                              <p:pRg st="0" end="0"/>
                                            </p:txEl>
                                          </p:spTgt>
                                        </p:tgtEl>
                                        <p:attrNameLst>
                                          <p:attrName>style.visibility</p:attrName>
                                        </p:attrNameLst>
                                      </p:cBhvr>
                                      <p:to>
                                        <p:strVal val="visible"/>
                                      </p:to>
                                    </p:set>
                                    <p:anim calcmode="lin" valueType="num">
                                      <p:cBhvr additive="base">
                                        <p:cTn id="12" dur="500"/>
                                        <p:tgtEl>
                                          <p:spTgt spid="25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53">
                                            <p:txEl>
                                              <p:pRg st="1" end="1"/>
                                            </p:txEl>
                                          </p:spTgt>
                                        </p:tgtEl>
                                        <p:attrNameLst>
                                          <p:attrName>style.visibility</p:attrName>
                                        </p:attrNameLst>
                                      </p:cBhvr>
                                      <p:to>
                                        <p:strVal val="visible"/>
                                      </p:to>
                                    </p:set>
                                    <p:anim calcmode="lin" valueType="num">
                                      <p:cBhvr additive="base">
                                        <p:cTn id="17" dur="500"/>
                                        <p:tgtEl>
                                          <p:spTgt spid="25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53">
                                            <p:txEl>
                                              <p:pRg st="2" end="2"/>
                                            </p:txEl>
                                          </p:spTgt>
                                        </p:tgtEl>
                                        <p:attrNameLst>
                                          <p:attrName>style.visibility</p:attrName>
                                        </p:attrNameLst>
                                      </p:cBhvr>
                                      <p:to>
                                        <p:strVal val="visible"/>
                                      </p:to>
                                    </p:set>
                                    <p:anim calcmode="lin" valueType="num">
                                      <p:cBhvr additive="base">
                                        <p:cTn id="22" dur="500"/>
                                        <p:tgtEl>
                                          <p:spTgt spid="25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53">
                                            <p:txEl>
                                              <p:pRg st="3" end="3"/>
                                            </p:txEl>
                                          </p:spTgt>
                                        </p:tgtEl>
                                        <p:attrNameLst>
                                          <p:attrName>style.visibility</p:attrName>
                                        </p:attrNameLst>
                                      </p:cBhvr>
                                      <p:to>
                                        <p:strVal val="visible"/>
                                      </p:to>
                                    </p:set>
                                    <p:anim calcmode="lin" valueType="num">
                                      <p:cBhvr additive="base">
                                        <p:cTn id="27" dur="500"/>
                                        <p:tgtEl>
                                          <p:spTgt spid="25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253">
                                            <p:txEl>
                                              <p:pRg st="4" end="4"/>
                                            </p:txEl>
                                          </p:spTgt>
                                        </p:tgtEl>
                                        <p:attrNameLst>
                                          <p:attrName>style.visibility</p:attrName>
                                        </p:attrNameLst>
                                      </p:cBhvr>
                                      <p:to>
                                        <p:strVal val="visible"/>
                                      </p:to>
                                    </p:set>
                                    <p:anim calcmode="lin" valueType="num">
                                      <p:cBhvr additive="base">
                                        <p:cTn id="32" dur="500"/>
                                        <p:tgtEl>
                                          <p:spTgt spid="25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26"/>
          <p:cNvSpPr txBox="1">
            <a:spLocks noGrp="1"/>
          </p:cNvSpPr>
          <p:nvPr>
            <p:ph type="title"/>
          </p:nvPr>
        </p:nvSpPr>
        <p:spPr>
          <a:xfrm>
            <a:off x="628650" y="273844"/>
            <a:ext cx="7886700" cy="994172"/>
          </a:xfrm>
          <a:prstGeom prst="rect">
            <a:avLst/>
          </a:prstGeom>
          <a:noFill/>
          <a:ln>
            <a:noFill/>
          </a:ln>
        </p:spPr>
        <p:txBody>
          <a:bodyPr spcFirstLastPara="1" wrap="square" lIns="68550" tIns="34275" rIns="68550" bIns="34275"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Bubble Sort</a:t>
            </a:r>
            <a:endParaRPr b="1"/>
          </a:p>
        </p:txBody>
      </p:sp>
      <p:sp>
        <p:nvSpPr>
          <p:cNvPr id="260" name="Google Shape;260;p26"/>
          <p:cNvSpPr txBox="1">
            <a:spLocks noGrp="1"/>
          </p:cNvSpPr>
          <p:nvPr>
            <p:ph type="body" idx="1"/>
          </p:nvPr>
        </p:nvSpPr>
        <p:spPr>
          <a:xfrm>
            <a:off x="628650" y="1268016"/>
            <a:ext cx="7886700" cy="3364707"/>
          </a:xfrm>
          <a:prstGeom prst="rect">
            <a:avLst/>
          </a:prstGeom>
          <a:noFill/>
          <a:ln>
            <a:noFill/>
          </a:ln>
        </p:spPr>
        <p:txBody>
          <a:bodyPr spcFirstLastPara="1" wrap="square" lIns="68550" tIns="34275" rIns="68550" bIns="34275" anchor="t" anchorCtr="0">
            <a:normAutofit/>
          </a:bodyPr>
          <a:lstStyle/>
          <a:p>
            <a:pPr marL="0" lvl="0" indent="0" algn="just" rtl="0">
              <a:lnSpc>
                <a:spcPct val="150000"/>
              </a:lnSpc>
              <a:spcBef>
                <a:spcPts val="0"/>
              </a:spcBef>
              <a:spcAft>
                <a:spcPts val="0"/>
              </a:spcAft>
              <a:buClr>
                <a:schemeClr val="dk1"/>
              </a:buClr>
              <a:buSzPts val="2800"/>
              <a:buNone/>
            </a:pPr>
            <a:r>
              <a:rPr lang="en-US" sz="2000"/>
              <a:t>Scenario 2: Ranking Scores in a Game</a:t>
            </a:r>
            <a:endParaRPr/>
          </a:p>
          <a:p>
            <a:pPr marL="342900" lvl="0" indent="-342900" algn="just" rtl="0">
              <a:lnSpc>
                <a:spcPct val="150000"/>
              </a:lnSpc>
              <a:spcBef>
                <a:spcPts val="0"/>
              </a:spcBef>
              <a:spcAft>
                <a:spcPts val="0"/>
              </a:spcAft>
              <a:buClr>
                <a:schemeClr val="dk1"/>
              </a:buClr>
              <a:buSzPts val="2800"/>
              <a:buChar char="•"/>
            </a:pPr>
            <a:r>
              <a:rPr lang="en-US" sz="2000"/>
              <a:t>You and your friends played a video game, and you want to sort the scores from lowest to highest.</a:t>
            </a:r>
            <a:endParaRPr/>
          </a:p>
          <a:p>
            <a:pPr marL="342900" lvl="0" indent="-342900" algn="just" rtl="0">
              <a:lnSpc>
                <a:spcPct val="150000"/>
              </a:lnSpc>
              <a:spcBef>
                <a:spcPts val="0"/>
              </a:spcBef>
              <a:spcAft>
                <a:spcPts val="0"/>
              </a:spcAft>
              <a:buClr>
                <a:schemeClr val="dk1"/>
              </a:buClr>
              <a:buSzPts val="2800"/>
              <a:buChar char="•"/>
            </a:pPr>
            <a:r>
              <a:rPr lang="en-US" sz="2000"/>
              <a:t>You compare two scores — if the higher one is before the lower one, swap them.</a:t>
            </a:r>
            <a:endParaRPr/>
          </a:p>
          <a:p>
            <a:pPr marL="342900" lvl="0" indent="-342900" algn="just" rtl="0">
              <a:lnSpc>
                <a:spcPct val="150000"/>
              </a:lnSpc>
              <a:spcBef>
                <a:spcPts val="0"/>
              </a:spcBef>
              <a:spcAft>
                <a:spcPts val="0"/>
              </a:spcAft>
              <a:buClr>
                <a:schemeClr val="dk1"/>
              </a:buClr>
              <a:buSzPts val="2800"/>
              <a:buChar char="•"/>
            </a:pPr>
            <a:r>
              <a:rPr lang="en-US" sz="2000"/>
              <a:t>Keep doing this until all scores are sorted.</a:t>
            </a:r>
            <a:endParaRPr/>
          </a:p>
          <a:p>
            <a:pPr marL="0" lvl="0" indent="0" algn="just" rtl="0">
              <a:lnSpc>
                <a:spcPct val="150000"/>
              </a:lnSpc>
              <a:spcBef>
                <a:spcPts val="0"/>
              </a:spcBef>
              <a:spcAft>
                <a:spcPts val="0"/>
              </a:spcAft>
              <a:buClr>
                <a:schemeClr val="dk1"/>
              </a:buClr>
              <a:buSzPts val="2800"/>
              <a:buNone/>
            </a:pPr>
            <a:r>
              <a:rPr lang="en-US" sz="2000"/>
              <a:t>Bubble Sort — scores "bubble" into the right order!</a:t>
            </a:r>
            <a:endParaRPr sz="2000"/>
          </a:p>
        </p:txBody>
      </p:sp>
      <p:pic>
        <p:nvPicPr>
          <p:cNvPr id="261" name="Google Shape;261;p26"/>
          <p:cNvPicPr preferRelativeResize="0"/>
          <p:nvPr/>
        </p:nvPicPr>
        <p:blipFill rotWithShape="1">
          <a:blip r:embed="rId3">
            <a:alphaModFix/>
          </a:blip>
          <a:srcRect/>
          <a:stretch/>
        </p:blipFill>
        <p:spPr>
          <a:xfrm>
            <a:off x="7239000" y="7783"/>
            <a:ext cx="1653683" cy="61727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9"/>
                                        </p:tgtEl>
                                        <p:attrNameLst>
                                          <p:attrName>style.visibility</p:attrName>
                                        </p:attrNameLst>
                                      </p:cBhvr>
                                      <p:to>
                                        <p:strVal val="visible"/>
                                      </p:to>
                                    </p:set>
                                    <p:animEffect transition="in" filter="fade">
                                      <p:cBhvr>
                                        <p:cTn id="7" dur="1000"/>
                                        <p:tgtEl>
                                          <p:spTgt spid="25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60">
                                            <p:txEl>
                                              <p:pRg st="0" end="0"/>
                                            </p:txEl>
                                          </p:spTgt>
                                        </p:tgtEl>
                                        <p:attrNameLst>
                                          <p:attrName>style.visibility</p:attrName>
                                        </p:attrNameLst>
                                      </p:cBhvr>
                                      <p:to>
                                        <p:strVal val="visible"/>
                                      </p:to>
                                    </p:set>
                                    <p:anim calcmode="lin" valueType="num">
                                      <p:cBhvr additive="base">
                                        <p:cTn id="12" dur="500"/>
                                        <p:tgtEl>
                                          <p:spTgt spid="26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60">
                                            <p:txEl>
                                              <p:pRg st="1" end="1"/>
                                            </p:txEl>
                                          </p:spTgt>
                                        </p:tgtEl>
                                        <p:attrNameLst>
                                          <p:attrName>style.visibility</p:attrName>
                                        </p:attrNameLst>
                                      </p:cBhvr>
                                      <p:to>
                                        <p:strVal val="visible"/>
                                      </p:to>
                                    </p:set>
                                    <p:anim calcmode="lin" valueType="num">
                                      <p:cBhvr additive="base">
                                        <p:cTn id="17" dur="500"/>
                                        <p:tgtEl>
                                          <p:spTgt spid="26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60">
                                            <p:txEl>
                                              <p:pRg st="2" end="2"/>
                                            </p:txEl>
                                          </p:spTgt>
                                        </p:tgtEl>
                                        <p:attrNameLst>
                                          <p:attrName>style.visibility</p:attrName>
                                        </p:attrNameLst>
                                      </p:cBhvr>
                                      <p:to>
                                        <p:strVal val="visible"/>
                                      </p:to>
                                    </p:set>
                                    <p:anim calcmode="lin" valueType="num">
                                      <p:cBhvr additive="base">
                                        <p:cTn id="22" dur="500"/>
                                        <p:tgtEl>
                                          <p:spTgt spid="26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60">
                                            <p:txEl>
                                              <p:pRg st="3" end="3"/>
                                            </p:txEl>
                                          </p:spTgt>
                                        </p:tgtEl>
                                        <p:attrNameLst>
                                          <p:attrName>style.visibility</p:attrName>
                                        </p:attrNameLst>
                                      </p:cBhvr>
                                      <p:to>
                                        <p:strVal val="visible"/>
                                      </p:to>
                                    </p:set>
                                    <p:anim calcmode="lin" valueType="num">
                                      <p:cBhvr additive="base">
                                        <p:cTn id="27" dur="500"/>
                                        <p:tgtEl>
                                          <p:spTgt spid="26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260">
                                            <p:txEl>
                                              <p:pRg st="4" end="4"/>
                                            </p:txEl>
                                          </p:spTgt>
                                        </p:tgtEl>
                                        <p:attrNameLst>
                                          <p:attrName>style.visibility</p:attrName>
                                        </p:attrNameLst>
                                      </p:cBhvr>
                                      <p:to>
                                        <p:strVal val="visible"/>
                                      </p:to>
                                    </p:set>
                                    <p:anim calcmode="lin" valueType="num">
                                      <p:cBhvr additive="base">
                                        <p:cTn id="32" dur="500"/>
                                        <p:tgtEl>
                                          <p:spTgt spid="260">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27"/>
          <p:cNvSpPr txBox="1">
            <a:spLocks noGrp="1"/>
          </p:cNvSpPr>
          <p:nvPr>
            <p:ph type="title"/>
          </p:nvPr>
        </p:nvSpPr>
        <p:spPr>
          <a:xfrm>
            <a:off x="628650" y="273844"/>
            <a:ext cx="7886700" cy="994172"/>
          </a:xfrm>
          <a:prstGeom prst="rect">
            <a:avLst/>
          </a:prstGeom>
          <a:noFill/>
          <a:ln>
            <a:noFill/>
          </a:ln>
        </p:spPr>
        <p:txBody>
          <a:bodyPr spcFirstLastPara="1" wrap="square" lIns="68550" tIns="34275" rIns="68550" bIns="34275"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Selection Sort</a:t>
            </a:r>
            <a:endParaRPr b="1"/>
          </a:p>
        </p:txBody>
      </p:sp>
      <p:sp>
        <p:nvSpPr>
          <p:cNvPr id="267" name="Google Shape;267;p27"/>
          <p:cNvSpPr txBox="1">
            <a:spLocks noGrp="1"/>
          </p:cNvSpPr>
          <p:nvPr>
            <p:ph type="body" idx="1"/>
          </p:nvPr>
        </p:nvSpPr>
        <p:spPr>
          <a:xfrm>
            <a:off x="628650" y="1369219"/>
            <a:ext cx="7886700" cy="3263504"/>
          </a:xfrm>
          <a:prstGeom prst="rect">
            <a:avLst/>
          </a:prstGeom>
          <a:noFill/>
          <a:ln>
            <a:noFill/>
          </a:ln>
        </p:spPr>
        <p:txBody>
          <a:bodyPr spcFirstLastPara="1" wrap="square" lIns="68550" tIns="34275" rIns="68550" bIns="34275" anchor="t" anchorCtr="0">
            <a:normAutofit lnSpcReduction="10000"/>
          </a:bodyPr>
          <a:lstStyle/>
          <a:p>
            <a:pPr marL="171450" lvl="0" indent="-171450" algn="just" rtl="0">
              <a:lnSpc>
                <a:spcPct val="90000"/>
              </a:lnSpc>
              <a:spcBef>
                <a:spcPts val="0"/>
              </a:spcBef>
              <a:spcAft>
                <a:spcPts val="0"/>
              </a:spcAft>
              <a:buClr>
                <a:schemeClr val="dk1"/>
              </a:buClr>
              <a:buSzPts val="2800"/>
              <a:buChar char="•"/>
            </a:pPr>
            <a:r>
              <a:rPr lang="en-US" sz="2400" b="1"/>
              <a:t> What is Selection Sort?</a:t>
            </a:r>
            <a:endParaRPr/>
          </a:p>
          <a:p>
            <a:pPr marL="400050" lvl="1" indent="0" algn="just" rtl="0">
              <a:lnSpc>
                <a:spcPct val="200000"/>
              </a:lnSpc>
              <a:spcBef>
                <a:spcPts val="0"/>
              </a:spcBef>
              <a:spcAft>
                <a:spcPts val="0"/>
              </a:spcAft>
              <a:buClr>
                <a:schemeClr val="dk1"/>
              </a:buClr>
              <a:buSzPts val="2800"/>
              <a:buNone/>
            </a:pPr>
            <a:r>
              <a:rPr lang="en-US" sz="2400"/>
              <a:t>Selection Sort is a sorting algorithm that works by repeatedly finding the smallest (or largest) element from the unsorted part of the array and moving it to its correct position.</a:t>
            </a:r>
            <a:endParaRPr sz="2400"/>
          </a:p>
        </p:txBody>
      </p:sp>
      <p:pic>
        <p:nvPicPr>
          <p:cNvPr id="268" name="Google Shape;268;p27"/>
          <p:cNvPicPr preferRelativeResize="0"/>
          <p:nvPr/>
        </p:nvPicPr>
        <p:blipFill rotWithShape="1">
          <a:blip r:embed="rId3">
            <a:alphaModFix/>
          </a:blip>
          <a:srcRect/>
          <a:stretch/>
        </p:blipFill>
        <p:spPr>
          <a:xfrm>
            <a:off x="7239000" y="7783"/>
            <a:ext cx="1653683" cy="61727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6"/>
                                        </p:tgtEl>
                                        <p:attrNameLst>
                                          <p:attrName>style.visibility</p:attrName>
                                        </p:attrNameLst>
                                      </p:cBhvr>
                                      <p:to>
                                        <p:strVal val="visible"/>
                                      </p:to>
                                    </p:set>
                                    <p:animEffect transition="in" filter="fade">
                                      <p:cBhvr>
                                        <p:cTn id="7" dur="1000"/>
                                        <p:tgtEl>
                                          <p:spTgt spid="26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67">
                                            <p:txEl>
                                              <p:pRg st="0" end="0"/>
                                            </p:txEl>
                                          </p:spTgt>
                                        </p:tgtEl>
                                        <p:attrNameLst>
                                          <p:attrName>style.visibility</p:attrName>
                                        </p:attrNameLst>
                                      </p:cBhvr>
                                      <p:to>
                                        <p:strVal val="visible"/>
                                      </p:to>
                                    </p:set>
                                    <p:anim calcmode="lin" valueType="num">
                                      <p:cBhvr additive="base">
                                        <p:cTn id="12" dur="500"/>
                                        <p:tgtEl>
                                          <p:spTgt spid="26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67">
                                            <p:txEl>
                                              <p:pRg st="1" end="1"/>
                                            </p:txEl>
                                          </p:spTgt>
                                        </p:tgtEl>
                                        <p:attrNameLst>
                                          <p:attrName>style.visibility</p:attrName>
                                        </p:attrNameLst>
                                      </p:cBhvr>
                                      <p:to>
                                        <p:strVal val="visible"/>
                                      </p:to>
                                    </p:set>
                                    <p:anim calcmode="lin" valueType="num">
                                      <p:cBhvr additive="base">
                                        <p:cTn id="17" dur="500"/>
                                        <p:tgtEl>
                                          <p:spTgt spid="267">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28"/>
          <p:cNvSpPr txBox="1">
            <a:spLocks noGrp="1"/>
          </p:cNvSpPr>
          <p:nvPr>
            <p:ph type="title"/>
          </p:nvPr>
        </p:nvSpPr>
        <p:spPr>
          <a:xfrm>
            <a:off x="628650" y="273844"/>
            <a:ext cx="7886700" cy="994172"/>
          </a:xfrm>
          <a:prstGeom prst="rect">
            <a:avLst/>
          </a:prstGeom>
          <a:noFill/>
          <a:ln>
            <a:noFill/>
          </a:ln>
        </p:spPr>
        <p:txBody>
          <a:bodyPr spcFirstLastPara="1" wrap="square" lIns="68550" tIns="34275" rIns="68550" bIns="34275"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Selection Sort</a:t>
            </a:r>
            <a:endParaRPr b="1"/>
          </a:p>
        </p:txBody>
      </p:sp>
      <p:sp>
        <p:nvSpPr>
          <p:cNvPr id="274" name="Google Shape;274;p28"/>
          <p:cNvSpPr txBox="1">
            <a:spLocks noGrp="1"/>
          </p:cNvSpPr>
          <p:nvPr>
            <p:ph type="body" idx="1"/>
          </p:nvPr>
        </p:nvSpPr>
        <p:spPr>
          <a:xfrm>
            <a:off x="628650" y="1123950"/>
            <a:ext cx="7886700" cy="3508773"/>
          </a:xfrm>
          <a:prstGeom prst="rect">
            <a:avLst/>
          </a:prstGeom>
          <a:noFill/>
          <a:ln>
            <a:noFill/>
          </a:ln>
        </p:spPr>
        <p:txBody>
          <a:bodyPr spcFirstLastPara="1" wrap="square" lIns="68550" tIns="34275" rIns="68550" bIns="34275" anchor="t" anchorCtr="0">
            <a:normAutofit fontScale="85000" lnSpcReduction="10000"/>
          </a:bodyPr>
          <a:lstStyle/>
          <a:p>
            <a:pPr marL="171450" lvl="0" indent="-171450" algn="just" rtl="0">
              <a:lnSpc>
                <a:spcPct val="90000"/>
              </a:lnSpc>
              <a:spcBef>
                <a:spcPts val="0"/>
              </a:spcBef>
              <a:spcAft>
                <a:spcPts val="0"/>
              </a:spcAft>
              <a:buClr>
                <a:schemeClr val="dk1"/>
              </a:buClr>
              <a:buSzPct val="137254"/>
              <a:buChar char="•"/>
            </a:pPr>
            <a:r>
              <a:rPr lang="en-US" sz="2400" b="1"/>
              <a:t>Selection Sort Algorithm</a:t>
            </a:r>
            <a:endParaRPr/>
          </a:p>
          <a:p>
            <a:pPr marL="457200" lvl="0" indent="-457200" algn="just" rtl="0">
              <a:lnSpc>
                <a:spcPct val="120000"/>
              </a:lnSpc>
              <a:spcBef>
                <a:spcPts val="0"/>
              </a:spcBef>
              <a:spcAft>
                <a:spcPts val="0"/>
              </a:spcAft>
              <a:buClr>
                <a:schemeClr val="dk1"/>
              </a:buClr>
              <a:buSzPct val="90000"/>
              <a:buFont typeface="Calibri"/>
              <a:buAutoNum type="arabicPeriod"/>
            </a:pPr>
            <a:r>
              <a:rPr lang="en-US" sz="2000"/>
              <a:t>Start: Take an array of size n.</a:t>
            </a:r>
            <a:endParaRPr/>
          </a:p>
          <a:p>
            <a:pPr marL="457200" lvl="0" indent="-457200" algn="just" rtl="0">
              <a:lnSpc>
                <a:spcPct val="120000"/>
              </a:lnSpc>
              <a:spcBef>
                <a:spcPts val="0"/>
              </a:spcBef>
              <a:spcAft>
                <a:spcPts val="0"/>
              </a:spcAft>
              <a:buClr>
                <a:schemeClr val="dk1"/>
              </a:buClr>
              <a:buSzPct val="90000"/>
              <a:buFont typeface="Calibri"/>
              <a:buAutoNum type="arabicPeriod"/>
            </a:pPr>
            <a:r>
              <a:rPr lang="en-US" sz="2000"/>
              <a:t>Outer loop: Repeat the process for n-1 passes (because the last element gets sorted automatically).</a:t>
            </a:r>
            <a:endParaRPr/>
          </a:p>
          <a:p>
            <a:pPr marL="457200" lvl="0" indent="-457200" algn="just" rtl="0">
              <a:lnSpc>
                <a:spcPct val="120000"/>
              </a:lnSpc>
              <a:spcBef>
                <a:spcPts val="0"/>
              </a:spcBef>
              <a:spcAft>
                <a:spcPts val="0"/>
              </a:spcAft>
              <a:buClr>
                <a:schemeClr val="dk1"/>
              </a:buClr>
              <a:buSzPct val="90000"/>
              <a:buFont typeface="Calibri"/>
              <a:buAutoNum type="arabicPeriod"/>
            </a:pPr>
            <a:r>
              <a:rPr lang="en-US" sz="2000"/>
              <a:t>Inner loop: Find the smallest element from the unsorted part of the array and swap it with the first unsorted element.</a:t>
            </a:r>
            <a:endParaRPr/>
          </a:p>
          <a:p>
            <a:pPr marL="457200" lvl="0" indent="-457200" algn="just" rtl="0">
              <a:lnSpc>
                <a:spcPct val="120000"/>
              </a:lnSpc>
              <a:spcBef>
                <a:spcPts val="0"/>
              </a:spcBef>
              <a:spcAft>
                <a:spcPts val="0"/>
              </a:spcAft>
              <a:buClr>
                <a:schemeClr val="dk1"/>
              </a:buClr>
              <a:buSzPct val="90000"/>
              <a:buFont typeface="Calibri"/>
              <a:buAutoNum type="arabicPeriod"/>
            </a:pPr>
            <a:r>
              <a:rPr lang="en-US" sz="2000"/>
              <a:t>Step 1: Find the smallest element and swap it with the first position.</a:t>
            </a:r>
            <a:endParaRPr/>
          </a:p>
          <a:p>
            <a:pPr marL="457200" lvl="0" indent="-457200" algn="just" rtl="0">
              <a:lnSpc>
                <a:spcPct val="120000"/>
              </a:lnSpc>
              <a:spcBef>
                <a:spcPts val="0"/>
              </a:spcBef>
              <a:spcAft>
                <a:spcPts val="0"/>
              </a:spcAft>
              <a:buClr>
                <a:schemeClr val="dk1"/>
              </a:buClr>
              <a:buSzPct val="90000"/>
              <a:buFont typeface="Calibri"/>
              <a:buAutoNum type="arabicPeriod"/>
            </a:pPr>
            <a:r>
              <a:rPr lang="en-US" sz="2000"/>
              <a:t>Step 2: Move to the next position and repeat the process for the remaining unsorted elements.</a:t>
            </a:r>
            <a:endParaRPr/>
          </a:p>
          <a:p>
            <a:pPr marL="457200" lvl="0" indent="-457200" algn="just" rtl="0">
              <a:lnSpc>
                <a:spcPct val="120000"/>
              </a:lnSpc>
              <a:spcBef>
                <a:spcPts val="0"/>
              </a:spcBef>
              <a:spcAft>
                <a:spcPts val="0"/>
              </a:spcAft>
              <a:buClr>
                <a:schemeClr val="dk1"/>
              </a:buClr>
              <a:buSzPct val="90000"/>
              <a:buFont typeface="Calibri"/>
              <a:buAutoNum type="arabicPeriod"/>
            </a:pPr>
            <a:r>
              <a:rPr lang="en-US" sz="2000"/>
              <a:t>Step 3: Keep selecting the smallest element from the remaining unsorted part and placing it in the correct position until only one element remains unsorted.</a:t>
            </a:r>
            <a:endParaRPr/>
          </a:p>
          <a:p>
            <a:pPr marL="457200" lvl="0" indent="-457200" algn="just" rtl="0">
              <a:lnSpc>
                <a:spcPct val="120000"/>
              </a:lnSpc>
              <a:spcBef>
                <a:spcPts val="0"/>
              </a:spcBef>
              <a:spcAft>
                <a:spcPts val="0"/>
              </a:spcAft>
              <a:buClr>
                <a:schemeClr val="dk1"/>
              </a:buClr>
              <a:buSzPct val="90000"/>
              <a:buFont typeface="Calibri"/>
              <a:buAutoNum type="arabicPeriod"/>
            </a:pPr>
            <a:r>
              <a:rPr lang="en-US" sz="2000"/>
              <a:t>End: The array is now completely sorted! </a:t>
            </a:r>
            <a:endParaRPr sz="2000"/>
          </a:p>
        </p:txBody>
      </p:sp>
      <p:pic>
        <p:nvPicPr>
          <p:cNvPr id="275" name="Google Shape;275;p28"/>
          <p:cNvPicPr preferRelativeResize="0"/>
          <p:nvPr/>
        </p:nvPicPr>
        <p:blipFill rotWithShape="1">
          <a:blip r:embed="rId3">
            <a:alphaModFix/>
          </a:blip>
          <a:srcRect/>
          <a:stretch/>
        </p:blipFill>
        <p:spPr>
          <a:xfrm>
            <a:off x="7239000" y="7783"/>
            <a:ext cx="1653683" cy="61727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3"/>
                                        </p:tgtEl>
                                        <p:attrNameLst>
                                          <p:attrName>style.visibility</p:attrName>
                                        </p:attrNameLst>
                                      </p:cBhvr>
                                      <p:to>
                                        <p:strVal val="visible"/>
                                      </p:to>
                                    </p:set>
                                    <p:animEffect transition="in" filter="fade">
                                      <p:cBhvr>
                                        <p:cTn id="7" dur="1000"/>
                                        <p:tgtEl>
                                          <p:spTgt spid="27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74">
                                            <p:txEl>
                                              <p:pRg st="0" end="0"/>
                                            </p:txEl>
                                          </p:spTgt>
                                        </p:tgtEl>
                                        <p:attrNameLst>
                                          <p:attrName>style.visibility</p:attrName>
                                        </p:attrNameLst>
                                      </p:cBhvr>
                                      <p:to>
                                        <p:strVal val="visible"/>
                                      </p:to>
                                    </p:set>
                                    <p:anim calcmode="lin" valueType="num">
                                      <p:cBhvr additive="base">
                                        <p:cTn id="12" dur="500"/>
                                        <p:tgtEl>
                                          <p:spTgt spid="27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74">
                                            <p:txEl>
                                              <p:pRg st="1" end="1"/>
                                            </p:txEl>
                                          </p:spTgt>
                                        </p:tgtEl>
                                        <p:attrNameLst>
                                          <p:attrName>style.visibility</p:attrName>
                                        </p:attrNameLst>
                                      </p:cBhvr>
                                      <p:to>
                                        <p:strVal val="visible"/>
                                      </p:to>
                                    </p:set>
                                    <p:anim calcmode="lin" valueType="num">
                                      <p:cBhvr additive="base">
                                        <p:cTn id="17" dur="500"/>
                                        <p:tgtEl>
                                          <p:spTgt spid="27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74">
                                            <p:txEl>
                                              <p:pRg st="2" end="2"/>
                                            </p:txEl>
                                          </p:spTgt>
                                        </p:tgtEl>
                                        <p:attrNameLst>
                                          <p:attrName>style.visibility</p:attrName>
                                        </p:attrNameLst>
                                      </p:cBhvr>
                                      <p:to>
                                        <p:strVal val="visible"/>
                                      </p:to>
                                    </p:set>
                                    <p:anim calcmode="lin" valueType="num">
                                      <p:cBhvr additive="base">
                                        <p:cTn id="22" dur="500"/>
                                        <p:tgtEl>
                                          <p:spTgt spid="27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74">
                                            <p:txEl>
                                              <p:pRg st="3" end="3"/>
                                            </p:txEl>
                                          </p:spTgt>
                                        </p:tgtEl>
                                        <p:attrNameLst>
                                          <p:attrName>style.visibility</p:attrName>
                                        </p:attrNameLst>
                                      </p:cBhvr>
                                      <p:to>
                                        <p:strVal val="visible"/>
                                      </p:to>
                                    </p:set>
                                    <p:anim calcmode="lin" valueType="num">
                                      <p:cBhvr additive="base">
                                        <p:cTn id="27" dur="500"/>
                                        <p:tgtEl>
                                          <p:spTgt spid="27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274">
                                            <p:txEl>
                                              <p:pRg st="4" end="4"/>
                                            </p:txEl>
                                          </p:spTgt>
                                        </p:tgtEl>
                                        <p:attrNameLst>
                                          <p:attrName>style.visibility</p:attrName>
                                        </p:attrNameLst>
                                      </p:cBhvr>
                                      <p:to>
                                        <p:strVal val="visible"/>
                                      </p:to>
                                    </p:set>
                                    <p:anim calcmode="lin" valueType="num">
                                      <p:cBhvr additive="base">
                                        <p:cTn id="32" dur="500"/>
                                        <p:tgtEl>
                                          <p:spTgt spid="27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74">
                                            <p:txEl>
                                              <p:pRg st="5" end="5"/>
                                            </p:txEl>
                                          </p:spTgt>
                                        </p:tgtEl>
                                        <p:attrNameLst>
                                          <p:attrName>style.visibility</p:attrName>
                                        </p:attrNameLst>
                                      </p:cBhvr>
                                      <p:to>
                                        <p:strVal val="visible"/>
                                      </p:to>
                                    </p:set>
                                    <p:anim calcmode="lin" valueType="num">
                                      <p:cBhvr additive="base">
                                        <p:cTn id="37" dur="500"/>
                                        <p:tgtEl>
                                          <p:spTgt spid="27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274">
                                            <p:txEl>
                                              <p:pRg st="6" end="6"/>
                                            </p:txEl>
                                          </p:spTgt>
                                        </p:tgtEl>
                                        <p:attrNameLst>
                                          <p:attrName>style.visibility</p:attrName>
                                        </p:attrNameLst>
                                      </p:cBhvr>
                                      <p:to>
                                        <p:strVal val="visible"/>
                                      </p:to>
                                    </p:set>
                                    <p:anim calcmode="lin" valueType="num">
                                      <p:cBhvr additive="base">
                                        <p:cTn id="42" dur="500"/>
                                        <p:tgtEl>
                                          <p:spTgt spid="27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274">
                                            <p:txEl>
                                              <p:pRg st="7" end="7"/>
                                            </p:txEl>
                                          </p:spTgt>
                                        </p:tgtEl>
                                        <p:attrNameLst>
                                          <p:attrName>style.visibility</p:attrName>
                                        </p:attrNameLst>
                                      </p:cBhvr>
                                      <p:to>
                                        <p:strVal val="visible"/>
                                      </p:to>
                                    </p:set>
                                    <p:anim calcmode="lin" valueType="num">
                                      <p:cBhvr additive="base">
                                        <p:cTn id="47" dur="500"/>
                                        <p:tgtEl>
                                          <p:spTgt spid="274">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29"/>
          <p:cNvSpPr txBox="1">
            <a:spLocks noGrp="1"/>
          </p:cNvSpPr>
          <p:nvPr>
            <p:ph type="title"/>
          </p:nvPr>
        </p:nvSpPr>
        <p:spPr>
          <a:xfrm>
            <a:off x="628650" y="273844"/>
            <a:ext cx="7886700" cy="994172"/>
          </a:xfrm>
          <a:prstGeom prst="rect">
            <a:avLst/>
          </a:prstGeom>
          <a:noFill/>
          <a:ln>
            <a:noFill/>
          </a:ln>
        </p:spPr>
        <p:txBody>
          <a:bodyPr spcFirstLastPara="1" wrap="square" lIns="68550" tIns="34275" rIns="68550" bIns="34275"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Selection Sort</a:t>
            </a:r>
            <a:endParaRPr b="1"/>
          </a:p>
        </p:txBody>
      </p:sp>
      <p:sp>
        <p:nvSpPr>
          <p:cNvPr id="281" name="Google Shape;281;p29"/>
          <p:cNvSpPr txBox="1">
            <a:spLocks noGrp="1"/>
          </p:cNvSpPr>
          <p:nvPr>
            <p:ph type="body" idx="1"/>
          </p:nvPr>
        </p:nvSpPr>
        <p:spPr>
          <a:xfrm>
            <a:off x="628650" y="1369219"/>
            <a:ext cx="7886700" cy="3263504"/>
          </a:xfrm>
          <a:prstGeom prst="rect">
            <a:avLst/>
          </a:prstGeom>
          <a:noFill/>
          <a:ln>
            <a:noFill/>
          </a:ln>
        </p:spPr>
        <p:txBody>
          <a:bodyPr spcFirstLastPara="1" wrap="square" lIns="68550" tIns="34275" rIns="68550" bIns="34275" anchor="t" anchorCtr="0">
            <a:normAutofit fontScale="92500" lnSpcReduction="20000"/>
          </a:bodyPr>
          <a:lstStyle/>
          <a:p>
            <a:pPr marL="171450" lvl="0" indent="-171450" algn="just" rtl="0">
              <a:lnSpc>
                <a:spcPct val="90000"/>
              </a:lnSpc>
              <a:spcBef>
                <a:spcPts val="0"/>
              </a:spcBef>
              <a:spcAft>
                <a:spcPts val="0"/>
              </a:spcAft>
              <a:buClr>
                <a:schemeClr val="dk1"/>
              </a:buClr>
              <a:buSzPct val="151351"/>
              <a:buChar char="•"/>
            </a:pPr>
            <a:r>
              <a:rPr lang="en-US" sz="2000" b="1"/>
              <a:t>Problem</a:t>
            </a:r>
            <a:endParaRPr/>
          </a:p>
          <a:p>
            <a:pPr marL="0" lvl="0" indent="0" algn="just" rtl="0">
              <a:lnSpc>
                <a:spcPct val="90000"/>
              </a:lnSpc>
              <a:spcBef>
                <a:spcPts val="0"/>
              </a:spcBef>
              <a:spcAft>
                <a:spcPts val="0"/>
              </a:spcAft>
              <a:buClr>
                <a:schemeClr val="dk1"/>
              </a:buClr>
              <a:buSzPct val="151351"/>
              <a:buNone/>
            </a:pPr>
            <a:r>
              <a:rPr lang="en-US" sz="2000"/>
              <a:t>Array: {29, 10, 14, 37, 13}</a:t>
            </a:r>
            <a:endParaRPr/>
          </a:p>
          <a:p>
            <a:pPr marL="342900" lvl="0" indent="-342900" algn="just" rtl="0">
              <a:lnSpc>
                <a:spcPct val="150000"/>
              </a:lnSpc>
              <a:spcBef>
                <a:spcPts val="0"/>
              </a:spcBef>
              <a:spcAft>
                <a:spcPts val="0"/>
              </a:spcAft>
              <a:buClr>
                <a:schemeClr val="dk1"/>
              </a:buClr>
              <a:buSzPct val="168168"/>
              <a:buChar char="•"/>
            </a:pPr>
            <a:r>
              <a:rPr lang="en-US" sz="1800"/>
              <a:t>Pass 1:</a:t>
            </a:r>
            <a:endParaRPr/>
          </a:p>
          <a:p>
            <a:pPr marL="685800" lvl="1" indent="-285750" algn="just" rtl="0">
              <a:lnSpc>
                <a:spcPct val="150000"/>
              </a:lnSpc>
              <a:spcBef>
                <a:spcPts val="0"/>
              </a:spcBef>
              <a:spcAft>
                <a:spcPts val="0"/>
              </a:spcAft>
              <a:buClr>
                <a:schemeClr val="dk1"/>
              </a:buClr>
              <a:buSzPct val="168168"/>
              <a:buFont typeface="Arial"/>
              <a:buChar char="•"/>
            </a:pPr>
            <a:r>
              <a:rPr lang="en-US" sz="1800"/>
              <a:t>Find the smallest number (10).</a:t>
            </a:r>
            <a:endParaRPr/>
          </a:p>
          <a:p>
            <a:pPr marL="685800" lvl="1" indent="-285750" algn="just" rtl="0">
              <a:lnSpc>
                <a:spcPct val="150000"/>
              </a:lnSpc>
              <a:spcBef>
                <a:spcPts val="0"/>
              </a:spcBef>
              <a:spcAft>
                <a:spcPts val="0"/>
              </a:spcAft>
              <a:buClr>
                <a:schemeClr val="dk1"/>
              </a:buClr>
              <a:buSzPct val="168168"/>
              <a:buFont typeface="Arial"/>
              <a:buChar char="•"/>
            </a:pPr>
            <a:r>
              <a:rPr lang="en-US" sz="1800"/>
              <a:t>Swap it with 29.</a:t>
            </a:r>
            <a:endParaRPr/>
          </a:p>
          <a:p>
            <a:pPr marL="400050" lvl="1" indent="0" algn="just" rtl="0">
              <a:lnSpc>
                <a:spcPct val="150000"/>
              </a:lnSpc>
              <a:spcBef>
                <a:spcPts val="0"/>
              </a:spcBef>
              <a:spcAft>
                <a:spcPts val="0"/>
              </a:spcAft>
              <a:buClr>
                <a:schemeClr val="dk1"/>
              </a:buClr>
              <a:buSzPct val="168168"/>
              <a:buNone/>
            </a:pPr>
            <a:r>
              <a:rPr lang="en-US" sz="1800"/>
              <a:t>New array: {10, 29, 14, 37, 13}</a:t>
            </a:r>
            <a:endParaRPr/>
          </a:p>
          <a:p>
            <a:pPr marL="342900" lvl="0" indent="-342900" algn="just" rtl="0">
              <a:lnSpc>
                <a:spcPct val="150000"/>
              </a:lnSpc>
              <a:spcBef>
                <a:spcPts val="0"/>
              </a:spcBef>
              <a:spcAft>
                <a:spcPts val="0"/>
              </a:spcAft>
              <a:buClr>
                <a:schemeClr val="dk1"/>
              </a:buClr>
              <a:buSzPct val="168168"/>
              <a:buChar char="•"/>
            </a:pPr>
            <a:r>
              <a:rPr lang="en-US" sz="1800"/>
              <a:t>Pass 2:</a:t>
            </a:r>
            <a:endParaRPr/>
          </a:p>
          <a:p>
            <a:pPr marL="685800" lvl="1" indent="-285750" algn="just" rtl="0">
              <a:lnSpc>
                <a:spcPct val="150000"/>
              </a:lnSpc>
              <a:spcBef>
                <a:spcPts val="0"/>
              </a:spcBef>
              <a:spcAft>
                <a:spcPts val="0"/>
              </a:spcAft>
              <a:buClr>
                <a:schemeClr val="dk1"/>
              </a:buClr>
              <a:buSzPct val="168168"/>
              <a:buFont typeface="Arial"/>
              <a:buChar char="•"/>
            </a:pPr>
            <a:r>
              <a:rPr lang="en-US" sz="1800"/>
              <a:t>Find the smallest number in the remaining part (13).</a:t>
            </a:r>
            <a:endParaRPr/>
          </a:p>
          <a:p>
            <a:pPr marL="685800" lvl="1" indent="-285750" algn="just" rtl="0">
              <a:lnSpc>
                <a:spcPct val="150000"/>
              </a:lnSpc>
              <a:spcBef>
                <a:spcPts val="0"/>
              </a:spcBef>
              <a:spcAft>
                <a:spcPts val="0"/>
              </a:spcAft>
              <a:buClr>
                <a:schemeClr val="dk1"/>
              </a:buClr>
              <a:buSzPct val="168168"/>
              <a:buFont typeface="Arial"/>
              <a:buChar char="•"/>
            </a:pPr>
            <a:r>
              <a:rPr lang="en-US" sz="1800"/>
              <a:t>Swap it with 29.</a:t>
            </a:r>
            <a:endParaRPr/>
          </a:p>
          <a:p>
            <a:pPr marL="400050" lvl="1" indent="0" algn="just" rtl="0">
              <a:lnSpc>
                <a:spcPct val="150000"/>
              </a:lnSpc>
              <a:spcBef>
                <a:spcPts val="0"/>
              </a:spcBef>
              <a:spcAft>
                <a:spcPts val="0"/>
              </a:spcAft>
              <a:buClr>
                <a:schemeClr val="dk1"/>
              </a:buClr>
              <a:buSzPct val="168168"/>
              <a:buNone/>
            </a:pPr>
            <a:r>
              <a:rPr lang="en-US" sz="1800"/>
              <a:t>New array: {10, 13, 14, 37, 29}</a:t>
            </a:r>
            <a:endParaRPr sz="1800"/>
          </a:p>
        </p:txBody>
      </p:sp>
      <p:pic>
        <p:nvPicPr>
          <p:cNvPr id="282" name="Google Shape;282;p29"/>
          <p:cNvPicPr preferRelativeResize="0"/>
          <p:nvPr/>
        </p:nvPicPr>
        <p:blipFill rotWithShape="1">
          <a:blip r:embed="rId3">
            <a:alphaModFix/>
          </a:blip>
          <a:srcRect/>
          <a:stretch/>
        </p:blipFill>
        <p:spPr>
          <a:xfrm>
            <a:off x="7239000" y="7783"/>
            <a:ext cx="1653683" cy="61727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0"/>
                                        </p:tgtEl>
                                        <p:attrNameLst>
                                          <p:attrName>style.visibility</p:attrName>
                                        </p:attrNameLst>
                                      </p:cBhvr>
                                      <p:to>
                                        <p:strVal val="visible"/>
                                      </p:to>
                                    </p:set>
                                    <p:animEffect transition="in" filter="fade">
                                      <p:cBhvr>
                                        <p:cTn id="7" dur="1000"/>
                                        <p:tgtEl>
                                          <p:spTgt spid="28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81">
                                            <p:txEl>
                                              <p:pRg st="0" end="0"/>
                                            </p:txEl>
                                          </p:spTgt>
                                        </p:tgtEl>
                                        <p:attrNameLst>
                                          <p:attrName>style.visibility</p:attrName>
                                        </p:attrNameLst>
                                      </p:cBhvr>
                                      <p:to>
                                        <p:strVal val="visible"/>
                                      </p:to>
                                    </p:set>
                                    <p:anim calcmode="lin" valueType="num">
                                      <p:cBhvr additive="base">
                                        <p:cTn id="12" dur="500"/>
                                        <p:tgtEl>
                                          <p:spTgt spid="28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81">
                                            <p:txEl>
                                              <p:pRg st="1" end="1"/>
                                            </p:txEl>
                                          </p:spTgt>
                                        </p:tgtEl>
                                        <p:attrNameLst>
                                          <p:attrName>style.visibility</p:attrName>
                                        </p:attrNameLst>
                                      </p:cBhvr>
                                      <p:to>
                                        <p:strVal val="visible"/>
                                      </p:to>
                                    </p:set>
                                    <p:anim calcmode="lin" valueType="num">
                                      <p:cBhvr additive="base">
                                        <p:cTn id="17" dur="500"/>
                                        <p:tgtEl>
                                          <p:spTgt spid="28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81">
                                            <p:txEl>
                                              <p:pRg st="2" end="2"/>
                                            </p:txEl>
                                          </p:spTgt>
                                        </p:tgtEl>
                                        <p:attrNameLst>
                                          <p:attrName>style.visibility</p:attrName>
                                        </p:attrNameLst>
                                      </p:cBhvr>
                                      <p:to>
                                        <p:strVal val="visible"/>
                                      </p:to>
                                    </p:set>
                                    <p:anim calcmode="lin" valueType="num">
                                      <p:cBhvr additive="base">
                                        <p:cTn id="22" dur="500"/>
                                        <p:tgtEl>
                                          <p:spTgt spid="28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81">
                                            <p:txEl>
                                              <p:pRg st="3" end="3"/>
                                            </p:txEl>
                                          </p:spTgt>
                                        </p:tgtEl>
                                        <p:attrNameLst>
                                          <p:attrName>style.visibility</p:attrName>
                                        </p:attrNameLst>
                                      </p:cBhvr>
                                      <p:to>
                                        <p:strVal val="visible"/>
                                      </p:to>
                                    </p:set>
                                    <p:anim calcmode="lin" valueType="num">
                                      <p:cBhvr additive="base">
                                        <p:cTn id="27" dur="500"/>
                                        <p:tgtEl>
                                          <p:spTgt spid="281">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281">
                                            <p:txEl>
                                              <p:pRg st="4" end="4"/>
                                            </p:txEl>
                                          </p:spTgt>
                                        </p:tgtEl>
                                        <p:attrNameLst>
                                          <p:attrName>style.visibility</p:attrName>
                                        </p:attrNameLst>
                                      </p:cBhvr>
                                      <p:to>
                                        <p:strVal val="visible"/>
                                      </p:to>
                                    </p:set>
                                    <p:anim calcmode="lin" valueType="num">
                                      <p:cBhvr additive="base">
                                        <p:cTn id="32" dur="500"/>
                                        <p:tgtEl>
                                          <p:spTgt spid="281">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81">
                                            <p:txEl>
                                              <p:pRg st="5" end="5"/>
                                            </p:txEl>
                                          </p:spTgt>
                                        </p:tgtEl>
                                        <p:attrNameLst>
                                          <p:attrName>style.visibility</p:attrName>
                                        </p:attrNameLst>
                                      </p:cBhvr>
                                      <p:to>
                                        <p:strVal val="visible"/>
                                      </p:to>
                                    </p:set>
                                    <p:anim calcmode="lin" valueType="num">
                                      <p:cBhvr additive="base">
                                        <p:cTn id="37" dur="500"/>
                                        <p:tgtEl>
                                          <p:spTgt spid="281">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281">
                                            <p:txEl>
                                              <p:pRg st="6" end="6"/>
                                            </p:txEl>
                                          </p:spTgt>
                                        </p:tgtEl>
                                        <p:attrNameLst>
                                          <p:attrName>style.visibility</p:attrName>
                                        </p:attrNameLst>
                                      </p:cBhvr>
                                      <p:to>
                                        <p:strVal val="visible"/>
                                      </p:to>
                                    </p:set>
                                    <p:anim calcmode="lin" valueType="num">
                                      <p:cBhvr additive="base">
                                        <p:cTn id="42" dur="500"/>
                                        <p:tgtEl>
                                          <p:spTgt spid="281">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281">
                                            <p:txEl>
                                              <p:pRg st="7" end="7"/>
                                            </p:txEl>
                                          </p:spTgt>
                                        </p:tgtEl>
                                        <p:attrNameLst>
                                          <p:attrName>style.visibility</p:attrName>
                                        </p:attrNameLst>
                                      </p:cBhvr>
                                      <p:to>
                                        <p:strVal val="visible"/>
                                      </p:to>
                                    </p:set>
                                    <p:anim calcmode="lin" valueType="num">
                                      <p:cBhvr additive="base">
                                        <p:cTn id="47" dur="500"/>
                                        <p:tgtEl>
                                          <p:spTgt spid="281">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281">
                                            <p:txEl>
                                              <p:pRg st="8" end="8"/>
                                            </p:txEl>
                                          </p:spTgt>
                                        </p:tgtEl>
                                        <p:attrNameLst>
                                          <p:attrName>style.visibility</p:attrName>
                                        </p:attrNameLst>
                                      </p:cBhvr>
                                      <p:to>
                                        <p:strVal val="visible"/>
                                      </p:to>
                                    </p:set>
                                    <p:anim calcmode="lin" valueType="num">
                                      <p:cBhvr additive="base">
                                        <p:cTn id="52" dur="500"/>
                                        <p:tgtEl>
                                          <p:spTgt spid="281">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281">
                                            <p:txEl>
                                              <p:pRg st="9" end="9"/>
                                            </p:txEl>
                                          </p:spTgt>
                                        </p:tgtEl>
                                        <p:attrNameLst>
                                          <p:attrName>style.visibility</p:attrName>
                                        </p:attrNameLst>
                                      </p:cBhvr>
                                      <p:to>
                                        <p:strVal val="visible"/>
                                      </p:to>
                                    </p:set>
                                    <p:anim calcmode="lin" valueType="num">
                                      <p:cBhvr additive="base">
                                        <p:cTn id="57" dur="500"/>
                                        <p:tgtEl>
                                          <p:spTgt spid="281">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30"/>
          <p:cNvSpPr txBox="1">
            <a:spLocks noGrp="1"/>
          </p:cNvSpPr>
          <p:nvPr>
            <p:ph type="title"/>
          </p:nvPr>
        </p:nvSpPr>
        <p:spPr>
          <a:xfrm>
            <a:off x="628650" y="273844"/>
            <a:ext cx="7886700" cy="994172"/>
          </a:xfrm>
          <a:prstGeom prst="rect">
            <a:avLst/>
          </a:prstGeom>
          <a:noFill/>
          <a:ln>
            <a:noFill/>
          </a:ln>
        </p:spPr>
        <p:txBody>
          <a:bodyPr spcFirstLastPara="1" wrap="square" lIns="68550" tIns="34275" rIns="68550" bIns="34275"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Selection Sort</a:t>
            </a:r>
            <a:endParaRPr b="1"/>
          </a:p>
        </p:txBody>
      </p:sp>
      <p:sp>
        <p:nvSpPr>
          <p:cNvPr id="288" name="Google Shape;288;p30"/>
          <p:cNvSpPr txBox="1">
            <a:spLocks noGrp="1"/>
          </p:cNvSpPr>
          <p:nvPr>
            <p:ph type="body" idx="1"/>
          </p:nvPr>
        </p:nvSpPr>
        <p:spPr>
          <a:xfrm>
            <a:off x="628650" y="1369219"/>
            <a:ext cx="7886700" cy="3263504"/>
          </a:xfrm>
          <a:prstGeom prst="rect">
            <a:avLst/>
          </a:prstGeom>
          <a:noFill/>
          <a:ln>
            <a:noFill/>
          </a:ln>
        </p:spPr>
        <p:txBody>
          <a:bodyPr spcFirstLastPara="1" wrap="square" lIns="68550" tIns="34275" rIns="68550" bIns="34275" anchor="t" anchorCtr="0">
            <a:normAutofit fontScale="92500" lnSpcReduction="20000"/>
          </a:bodyPr>
          <a:lstStyle/>
          <a:p>
            <a:pPr marL="342900" lvl="0" indent="-342900" algn="just" rtl="0">
              <a:lnSpc>
                <a:spcPct val="150000"/>
              </a:lnSpc>
              <a:spcBef>
                <a:spcPts val="0"/>
              </a:spcBef>
              <a:spcAft>
                <a:spcPts val="0"/>
              </a:spcAft>
              <a:buClr>
                <a:schemeClr val="dk1"/>
              </a:buClr>
              <a:buSzPct val="168168"/>
              <a:buChar char="•"/>
            </a:pPr>
            <a:r>
              <a:rPr lang="en-US" sz="1800"/>
              <a:t>Pass 3:</a:t>
            </a:r>
            <a:endParaRPr/>
          </a:p>
          <a:p>
            <a:pPr marL="742950" lvl="1" indent="-285750" algn="just" rtl="0">
              <a:lnSpc>
                <a:spcPct val="150000"/>
              </a:lnSpc>
              <a:spcBef>
                <a:spcPts val="0"/>
              </a:spcBef>
              <a:spcAft>
                <a:spcPts val="0"/>
              </a:spcAft>
              <a:buClr>
                <a:schemeClr val="dk1"/>
              </a:buClr>
              <a:buSzPct val="168168"/>
              <a:buFont typeface="Arial"/>
              <a:buChar char="•"/>
            </a:pPr>
            <a:r>
              <a:rPr lang="en-US" sz="1800"/>
              <a:t>Find the smallest number (14) — it’s already in place!</a:t>
            </a:r>
            <a:endParaRPr/>
          </a:p>
          <a:p>
            <a:pPr marL="457200" lvl="1" indent="0" algn="just" rtl="0">
              <a:lnSpc>
                <a:spcPct val="150000"/>
              </a:lnSpc>
              <a:spcBef>
                <a:spcPts val="0"/>
              </a:spcBef>
              <a:spcAft>
                <a:spcPts val="0"/>
              </a:spcAft>
              <a:buClr>
                <a:schemeClr val="dk1"/>
              </a:buClr>
              <a:buSzPct val="168168"/>
              <a:buNone/>
            </a:pPr>
            <a:r>
              <a:rPr lang="en-US" sz="1800"/>
              <a:t>No swap needed.</a:t>
            </a:r>
            <a:endParaRPr/>
          </a:p>
          <a:p>
            <a:pPr marL="342900" lvl="0" indent="-342900" algn="just" rtl="0">
              <a:lnSpc>
                <a:spcPct val="150000"/>
              </a:lnSpc>
              <a:spcBef>
                <a:spcPts val="0"/>
              </a:spcBef>
              <a:spcAft>
                <a:spcPts val="0"/>
              </a:spcAft>
              <a:buClr>
                <a:schemeClr val="dk1"/>
              </a:buClr>
              <a:buSzPct val="168168"/>
              <a:buChar char="•"/>
            </a:pPr>
            <a:r>
              <a:rPr lang="en-US" sz="1800"/>
              <a:t>Pass 4:</a:t>
            </a:r>
            <a:endParaRPr/>
          </a:p>
          <a:p>
            <a:pPr marL="685800" lvl="1" indent="-285750" algn="just" rtl="0">
              <a:lnSpc>
                <a:spcPct val="150000"/>
              </a:lnSpc>
              <a:spcBef>
                <a:spcPts val="0"/>
              </a:spcBef>
              <a:spcAft>
                <a:spcPts val="0"/>
              </a:spcAft>
              <a:buClr>
                <a:schemeClr val="dk1"/>
              </a:buClr>
              <a:buSzPct val="168168"/>
              <a:buFont typeface="Arial"/>
              <a:buChar char="•"/>
            </a:pPr>
            <a:r>
              <a:rPr lang="en-US" sz="1800"/>
              <a:t>Find the smallest number (29).</a:t>
            </a:r>
            <a:endParaRPr/>
          </a:p>
          <a:p>
            <a:pPr marL="685800" lvl="1" indent="-285750" algn="just" rtl="0">
              <a:lnSpc>
                <a:spcPct val="150000"/>
              </a:lnSpc>
              <a:spcBef>
                <a:spcPts val="0"/>
              </a:spcBef>
              <a:spcAft>
                <a:spcPts val="0"/>
              </a:spcAft>
              <a:buClr>
                <a:schemeClr val="dk1"/>
              </a:buClr>
              <a:buSzPct val="168168"/>
              <a:buFont typeface="Arial"/>
              <a:buChar char="•"/>
            </a:pPr>
            <a:r>
              <a:rPr lang="en-US" sz="1800"/>
              <a:t>Swap with 37.</a:t>
            </a:r>
            <a:endParaRPr/>
          </a:p>
          <a:p>
            <a:pPr marL="400050" lvl="1" indent="0" algn="just" rtl="0">
              <a:lnSpc>
                <a:spcPct val="150000"/>
              </a:lnSpc>
              <a:spcBef>
                <a:spcPts val="0"/>
              </a:spcBef>
              <a:spcAft>
                <a:spcPts val="0"/>
              </a:spcAft>
              <a:buClr>
                <a:schemeClr val="dk1"/>
              </a:buClr>
              <a:buSzPct val="168168"/>
              <a:buNone/>
            </a:pPr>
            <a:r>
              <a:rPr lang="en-US" sz="1800"/>
              <a:t>New array: {10, 13, 14, 29, 37}</a:t>
            </a:r>
            <a:endParaRPr/>
          </a:p>
          <a:p>
            <a:pPr marL="342900" lvl="0" indent="-342900" algn="just" rtl="0">
              <a:lnSpc>
                <a:spcPct val="150000"/>
              </a:lnSpc>
              <a:spcBef>
                <a:spcPts val="0"/>
              </a:spcBef>
              <a:spcAft>
                <a:spcPts val="0"/>
              </a:spcAft>
              <a:buClr>
                <a:schemeClr val="dk1"/>
              </a:buClr>
              <a:buSzPct val="168168"/>
              <a:buChar char="•"/>
            </a:pPr>
            <a:r>
              <a:rPr lang="en-US" sz="1800"/>
              <a:t>Final Answer</a:t>
            </a:r>
            <a:endParaRPr/>
          </a:p>
          <a:p>
            <a:pPr marL="742950" lvl="1" indent="-285750" algn="just" rtl="0">
              <a:lnSpc>
                <a:spcPct val="150000"/>
              </a:lnSpc>
              <a:spcBef>
                <a:spcPts val="0"/>
              </a:spcBef>
              <a:spcAft>
                <a:spcPts val="0"/>
              </a:spcAft>
              <a:buClr>
                <a:schemeClr val="dk1"/>
              </a:buClr>
              <a:buSzPct val="168168"/>
              <a:buFont typeface="Arial"/>
              <a:buChar char="•"/>
            </a:pPr>
            <a:r>
              <a:rPr lang="en-US" sz="1800"/>
              <a:t>Sorted Array: {10, 13, 14, 29, 37}</a:t>
            </a:r>
            <a:endParaRPr/>
          </a:p>
          <a:p>
            <a:pPr marL="400050" lvl="1" indent="0" algn="just" rtl="0">
              <a:lnSpc>
                <a:spcPct val="150000"/>
              </a:lnSpc>
              <a:spcBef>
                <a:spcPts val="0"/>
              </a:spcBef>
              <a:spcAft>
                <a:spcPts val="0"/>
              </a:spcAft>
              <a:buClr>
                <a:schemeClr val="dk1"/>
              </a:buClr>
              <a:buSzPct val="116424"/>
              <a:buNone/>
            </a:pPr>
            <a:endParaRPr sz="2600"/>
          </a:p>
        </p:txBody>
      </p:sp>
      <p:pic>
        <p:nvPicPr>
          <p:cNvPr id="289" name="Google Shape;289;p30"/>
          <p:cNvPicPr preferRelativeResize="0"/>
          <p:nvPr/>
        </p:nvPicPr>
        <p:blipFill rotWithShape="1">
          <a:blip r:embed="rId3">
            <a:alphaModFix/>
          </a:blip>
          <a:srcRect/>
          <a:stretch/>
        </p:blipFill>
        <p:spPr>
          <a:xfrm>
            <a:off x="7239000" y="7783"/>
            <a:ext cx="1653683" cy="61727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7"/>
                                        </p:tgtEl>
                                        <p:attrNameLst>
                                          <p:attrName>style.visibility</p:attrName>
                                        </p:attrNameLst>
                                      </p:cBhvr>
                                      <p:to>
                                        <p:strVal val="visible"/>
                                      </p:to>
                                    </p:set>
                                    <p:animEffect transition="in" filter="fade">
                                      <p:cBhvr>
                                        <p:cTn id="7" dur="1000"/>
                                        <p:tgtEl>
                                          <p:spTgt spid="2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31"/>
          <p:cNvSpPr txBox="1">
            <a:spLocks noGrp="1"/>
          </p:cNvSpPr>
          <p:nvPr>
            <p:ph type="title"/>
          </p:nvPr>
        </p:nvSpPr>
        <p:spPr>
          <a:xfrm>
            <a:off x="533400" y="-247650"/>
            <a:ext cx="7981950" cy="1515666"/>
          </a:xfrm>
          <a:prstGeom prst="rect">
            <a:avLst/>
          </a:prstGeom>
          <a:noFill/>
          <a:ln>
            <a:noFill/>
          </a:ln>
        </p:spPr>
        <p:txBody>
          <a:bodyPr spcFirstLastPara="1" wrap="square" lIns="68550" tIns="34275" rIns="68550" bIns="34275"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Selection Sort</a:t>
            </a:r>
            <a:endParaRPr b="1"/>
          </a:p>
        </p:txBody>
      </p:sp>
      <p:sp>
        <p:nvSpPr>
          <p:cNvPr id="295" name="Google Shape;295;p31"/>
          <p:cNvSpPr txBox="1">
            <a:spLocks noGrp="1"/>
          </p:cNvSpPr>
          <p:nvPr>
            <p:ph type="body" idx="1"/>
          </p:nvPr>
        </p:nvSpPr>
        <p:spPr>
          <a:xfrm>
            <a:off x="628650" y="742950"/>
            <a:ext cx="7886700" cy="4191000"/>
          </a:xfrm>
          <a:prstGeom prst="rect">
            <a:avLst/>
          </a:prstGeom>
          <a:noFill/>
          <a:ln>
            <a:noFill/>
          </a:ln>
        </p:spPr>
        <p:txBody>
          <a:bodyPr spcFirstLastPara="1" wrap="square" lIns="68550" tIns="34275" rIns="68550" bIns="34275" anchor="t" anchorCtr="0">
            <a:noAutofit/>
          </a:bodyPr>
          <a:lstStyle/>
          <a:p>
            <a:pPr marL="0" lvl="0" indent="0" algn="just" rtl="0">
              <a:lnSpc>
                <a:spcPct val="90000"/>
              </a:lnSpc>
              <a:spcBef>
                <a:spcPts val="0"/>
              </a:spcBef>
              <a:spcAft>
                <a:spcPts val="0"/>
              </a:spcAft>
              <a:buClr>
                <a:schemeClr val="dk1"/>
              </a:buClr>
              <a:buSzPts val="2800"/>
              <a:buNone/>
            </a:pPr>
            <a:r>
              <a:rPr lang="en-US" sz="1400"/>
              <a:t>#include &lt;stdio.h&gt;</a:t>
            </a:r>
            <a:endParaRPr/>
          </a:p>
          <a:p>
            <a:pPr marL="0" lvl="0" indent="0" algn="just" rtl="0">
              <a:lnSpc>
                <a:spcPct val="90000"/>
              </a:lnSpc>
              <a:spcBef>
                <a:spcPts val="0"/>
              </a:spcBef>
              <a:spcAft>
                <a:spcPts val="0"/>
              </a:spcAft>
              <a:buClr>
                <a:schemeClr val="dk1"/>
              </a:buClr>
              <a:buSzPts val="2800"/>
              <a:buNone/>
            </a:pPr>
            <a:r>
              <a:rPr lang="en-US" sz="1400"/>
              <a:t>int main() {</a:t>
            </a:r>
            <a:endParaRPr/>
          </a:p>
          <a:p>
            <a:pPr marL="0" lvl="0" indent="0" algn="just" rtl="0">
              <a:lnSpc>
                <a:spcPct val="90000"/>
              </a:lnSpc>
              <a:spcBef>
                <a:spcPts val="0"/>
              </a:spcBef>
              <a:spcAft>
                <a:spcPts val="0"/>
              </a:spcAft>
              <a:buClr>
                <a:schemeClr val="dk1"/>
              </a:buClr>
              <a:buSzPts val="2800"/>
              <a:buNone/>
            </a:pPr>
            <a:r>
              <a:rPr lang="en-US" sz="1400"/>
              <a:t>    int arr[] = {29, 10, 14, 37, 13};</a:t>
            </a:r>
            <a:endParaRPr/>
          </a:p>
          <a:p>
            <a:pPr marL="0" lvl="0" indent="0" algn="just" rtl="0">
              <a:lnSpc>
                <a:spcPct val="90000"/>
              </a:lnSpc>
              <a:spcBef>
                <a:spcPts val="0"/>
              </a:spcBef>
              <a:spcAft>
                <a:spcPts val="0"/>
              </a:spcAft>
              <a:buClr>
                <a:schemeClr val="dk1"/>
              </a:buClr>
              <a:buSzPts val="2800"/>
              <a:buNone/>
            </a:pPr>
            <a:r>
              <a:rPr lang="en-US" sz="1400"/>
              <a:t>    int n = 5;  // Number of elements</a:t>
            </a:r>
            <a:endParaRPr/>
          </a:p>
          <a:p>
            <a:pPr marL="0" lvl="0" indent="0" algn="just" rtl="0">
              <a:lnSpc>
                <a:spcPct val="90000"/>
              </a:lnSpc>
              <a:spcBef>
                <a:spcPts val="0"/>
              </a:spcBef>
              <a:spcAft>
                <a:spcPts val="0"/>
              </a:spcAft>
              <a:buClr>
                <a:schemeClr val="dk1"/>
              </a:buClr>
              <a:buSzPts val="2800"/>
              <a:buNone/>
            </a:pPr>
            <a:r>
              <a:rPr lang="en-US" sz="1400"/>
              <a:t>    int i, j, minIndex, temp;</a:t>
            </a:r>
            <a:endParaRPr/>
          </a:p>
          <a:p>
            <a:pPr marL="0" lvl="0" indent="0" algn="just" rtl="0">
              <a:lnSpc>
                <a:spcPct val="90000"/>
              </a:lnSpc>
              <a:spcBef>
                <a:spcPts val="0"/>
              </a:spcBef>
              <a:spcAft>
                <a:spcPts val="0"/>
              </a:spcAft>
              <a:buClr>
                <a:schemeClr val="dk1"/>
              </a:buClr>
              <a:buSzPts val="2800"/>
              <a:buNone/>
            </a:pPr>
            <a:r>
              <a:rPr lang="en-US" sz="1400"/>
              <a:t>    // Selection Sort logic</a:t>
            </a:r>
            <a:endParaRPr/>
          </a:p>
          <a:p>
            <a:pPr marL="0" lvl="0" indent="0" algn="just" rtl="0">
              <a:lnSpc>
                <a:spcPct val="90000"/>
              </a:lnSpc>
              <a:spcBef>
                <a:spcPts val="0"/>
              </a:spcBef>
              <a:spcAft>
                <a:spcPts val="0"/>
              </a:spcAft>
              <a:buClr>
                <a:schemeClr val="dk1"/>
              </a:buClr>
              <a:buSzPts val="2800"/>
              <a:buNone/>
            </a:pPr>
            <a:r>
              <a:rPr lang="en-US" sz="1400"/>
              <a:t>    for (i = 0; i &lt; n - 1; i++) {</a:t>
            </a:r>
            <a:endParaRPr/>
          </a:p>
          <a:p>
            <a:pPr marL="0" lvl="0" indent="0" algn="just" rtl="0">
              <a:lnSpc>
                <a:spcPct val="90000"/>
              </a:lnSpc>
              <a:spcBef>
                <a:spcPts val="0"/>
              </a:spcBef>
              <a:spcAft>
                <a:spcPts val="0"/>
              </a:spcAft>
              <a:buClr>
                <a:schemeClr val="dk1"/>
              </a:buClr>
              <a:buSzPts val="2800"/>
              <a:buNone/>
            </a:pPr>
            <a:r>
              <a:rPr lang="en-US" sz="1400"/>
              <a:t>        minIndex = i;  // Assume current element is the smallest</a:t>
            </a:r>
            <a:endParaRPr/>
          </a:p>
          <a:p>
            <a:pPr marL="0" lvl="0" indent="0" algn="just" rtl="0">
              <a:lnSpc>
                <a:spcPct val="90000"/>
              </a:lnSpc>
              <a:spcBef>
                <a:spcPts val="0"/>
              </a:spcBef>
              <a:spcAft>
                <a:spcPts val="0"/>
              </a:spcAft>
              <a:buClr>
                <a:schemeClr val="dk1"/>
              </a:buClr>
              <a:buSzPts val="2800"/>
              <a:buNone/>
            </a:pPr>
            <a:r>
              <a:rPr lang="en-US" sz="1400"/>
              <a:t>        // Find the index of the smallest element in the remaining array</a:t>
            </a:r>
            <a:endParaRPr/>
          </a:p>
          <a:p>
            <a:pPr marL="0" lvl="0" indent="0" algn="just" rtl="0">
              <a:lnSpc>
                <a:spcPct val="90000"/>
              </a:lnSpc>
              <a:spcBef>
                <a:spcPts val="0"/>
              </a:spcBef>
              <a:spcAft>
                <a:spcPts val="0"/>
              </a:spcAft>
              <a:buClr>
                <a:schemeClr val="dk1"/>
              </a:buClr>
              <a:buSzPts val="2800"/>
              <a:buNone/>
            </a:pPr>
            <a:r>
              <a:rPr lang="en-US" sz="1400"/>
              <a:t>        for (j = i + 1; j &lt; n; j++) {</a:t>
            </a:r>
            <a:endParaRPr/>
          </a:p>
          <a:p>
            <a:pPr marL="0" lvl="0" indent="0" algn="just" rtl="0">
              <a:lnSpc>
                <a:spcPct val="90000"/>
              </a:lnSpc>
              <a:spcBef>
                <a:spcPts val="0"/>
              </a:spcBef>
              <a:spcAft>
                <a:spcPts val="0"/>
              </a:spcAft>
              <a:buClr>
                <a:schemeClr val="dk1"/>
              </a:buClr>
              <a:buSzPts val="2800"/>
              <a:buNone/>
            </a:pPr>
            <a:r>
              <a:rPr lang="en-US" sz="1400"/>
              <a:t>            if (arr[j] &lt; arr[minIndex]) {</a:t>
            </a:r>
            <a:endParaRPr/>
          </a:p>
          <a:p>
            <a:pPr marL="0" lvl="0" indent="0" algn="just" rtl="0">
              <a:lnSpc>
                <a:spcPct val="90000"/>
              </a:lnSpc>
              <a:spcBef>
                <a:spcPts val="0"/>
              </a:spcBef>
              <a:spcAft>
                <a:spcPts val="0"/>
              </a:spcAft>
              <a:buClr>
                <a:schemeClr val="dk1"/>
              </a:buClr>
              <a:buSzPts val="2800"/>
              <a:buNone/>
            </a:pPr>
            <a:r>
              <a:rPr lang="en-US" sz="1400"/>
              <a:t>                minIndex = j;</a:t>
            </a:r>
            <a:endParaRPr/>
          </a:p>
          <a:p>
            <a:pPr marL="0" lvl="0" indent="0" algn="just" rtl="0">
              <a:lnSpc>
                <a:spcPct val="90000"/>
              </a:lnSpc>
              <a:spcBef>
                <a:spcPts val="0"/>
              </a:spcBef>
              <a:spcAft>
                <a:spcPts val="0"/>
              </a:spcAft>
              <a:buClr>
                <a:schemeClr val="dk1"/>
              </a:buClr>
              <a:buSzPts val="2800"/>
              <a:buNone/>
            </a:pPr>
            <a:r>
              <a:rPr lang="en-US" sz="1400"/>
              <a:t>            }</a:t>
            </a:r>
            <a:endParaRPr/>
          </a:p>
          <a:p>
            <a:pPr marL="0" lvl="0" indent="0" algn="just" rtl="0">
              <a:lnSpc>
                <a:spcPct val="90000"/>
              </a:lnSpc>
              <a:spcBef>
                <a:spcPts val="0"/>
              </a:spcBef>
              <a:spcAft>
                <a:spcPts val="0"/>
              </a:spcAft>
              <a:buClr>
                <a:schemeClr val="dk1"/>
              </a:buClr>
              <a:buSzPts val="2800"/>
              <a:buNone/>
            </a:pPr>
            <a:r>
              <a:rPr lang="en-US" sz="1400"/>
              <a:t>        }</a:t>
            </a:r>
            <a:endParaRPr/>
          </a:p>
          <a:p>
            <a:pPr marL="0" lvl="0" indent="0" algn="just" rtl="0">
              <a:lnSpc>
                <a:spcPct val="90000"/>
              </a:lnSpc>
              <a:spcBef>
                <a:spcPts val="0"/>
              </a:spcBef>
              <a:spcAft>
                <a:spcPts val="0"/>
              </a:spcAft>
              <a:buClr>
                <a:schemeClr val="dk1"/>
              </a:buClr>
              <a:buSzPts val="2800"/>
              <a:buNone/>
            </a:pPr>
            <a:r>
              <a:rPr lang="en-US" sz="1400"/>
              <a:t>        // Swap the smallest element with the current element</a:t>
            </a:r>
            <a:endParaRPr/>
          </a:p>
          <a:p>
            <a:pPr marL="0" lvl="0" indent="0" algn="just" rtl="0">
              <a:lnSpc>
                <a:spcPct val="90000"/>
              </a:lnSpc>
              <a:spcBef>
                <a:spcPts val="0"/>
              </a:spcBef>
              <a:spcAft>
                <a:spcPts val="0"/>
              </a:spcAft>
              <a:buClr>
                <a:schemeClr val="dk1"/>
              </a:buClr>
              <a:buSzPts val="2800"/>
              <a:buNone/>
            </a:pPr>
            <a:r>
              <a:rPr lang="en-US" sz="1400"/>
              <a:t>        temp = arr[i];</a:t>
            </a:r>
            <a:endParaRPr/>
          </a:p>
          <a:p>
            <a:pPr marL="0" lvl="0" indent="0" algn="just" rtl="0">
              <a:lnSpc>
                <a:spcPct val="90000"/>
              </a:lnSpc>
              <a:spcBef>
                <a:spcPts val="0"/>
              </a:spcBef>
              <a:spcAft>
                <a:spcPts val="0"/>
              </a:spcAft>
              <a:buClr>
                <a:schemeClr val="dk1"/>
              </a:buClr>
              <a:buSzPts val="2800"/>
              <a:buNone/>
            </a:pPr>
            <a:r>
              <a:rPr lang="en-US" sz="1400"/>
              <a:t>        arr[i] = arr[minIndex];</a:t>
            </a:r>
            <a:endParaRPr/>
          </a:p>
          <a:p>
            <a:pPr marL="0" lvl="0" indent="0" algn="just" rtl="0">
              <a:lnSpc>
                <a:spcPct val="90000"/>
              </a:lnSpc>
              <a:spcBef>
                <a:spcPts val="0"/>
              </a:spcBef>
              <a:spcAft>
                <a:spcPts val="0"/>
              </a:spcAft>
              <a:buClr>
                <a:schemeClr val="dk1"/>
              </a:buClr>
              <a:buSzPts val="2800"/>
              <a:buNone/>
            </a:pPr>
            <a:r>
              <a:rPr lang="en-US" sz="1400"/>
              <a:t>        arr[minIndex] = temp;</a:t>
            </a:r>
            <a:endParaRPr/>
          </a:p>
          <a:p>
            <a:pPr marL="0" lvl="0" indent="0" algn="just" rtl="0">
              <a:lnSpc>
                <a:spcPct val="90000"/>
              </a:lnSpc>
              <a:spcBef>
                <a:spcPts val="0"/>
              </a:spcBef>
              <a:spcAft>
                <a:spcPts val="0"/>
              </a:spcAft>
              <a:buClr>
                <a:schemeClr val="dk1"/>
              </a:buClr>
              <a:buSzPts val="2800"/>
              <a:buNone/>
            </a:pPr>
            <a:r>
              <a:rPr lang="en-US" sz="1400"/>
              <a:t>    }</a:t>
            </a:r>
            <a:endParaRPr/>
          </a:p>
          <a:p>
            <a:pPr marL="0" lvl="0" indent="0" algn="just" rtl="0">
              <a:lnSpc>
                <a:spcPct val="90000"/>
              </a:lnSpc>
              <a:spcBef>
                <a:spcPts val="0"/>
              </a:spcBef>
              <a:spcAft>
                <a:spcPts val="0"/>
              </a:spcAft>
              <a:buClr>
                <a:schemeClr val="dk1"/>
              </a:buClr>
              <a:buSzPts val="2800"/>
              <a:buNone/>
            </a:pPr>
            <a:endParaRPr sz="1400"/>
          </a:p>
        </p:txBody>
      </p:sp>
      <p:pic>
        <p:nvPicPr>
          <p:cNvPr id="296" name="Google Shape;296;p31"/>
          <p:cNvPicPr preferRelativeResize="0"/>
          <p:nvPr/>
        </p:nvPicPr>
        <p:blipFill rotWithShape="1">
          <a:blip r:embed="rId3">
            <a:alphaModFix/>
          </a:blip>
          <a:srcRect/>
          <a:stretch/>
        </p:blipFill>
        <p:spPr>
          <a:xfrm>
            <a:off x="7239000" y="7783"/>
            <a:ext cx="1653683" cy="61727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4"/>
                                        </p:tgtEl>
                                        <p:attrNameLst>
                                          <p:attrName>style.visibility</p:attrName>
                                        </p:attrNameLst>
                                      </p:cBhvr>
                                      <p:to>
                                        <p:strVal val="visible"/>
                                      </p:to>
                                    </p:set>
                                    <p:animEffect transition="in" filter="fade">
                                      <p:cBhvr>
                                        <p:cTn id="7" dur="1000"/>
                                        <p:tgtEl>
                                          <p:spTgt spid="29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95">
                                            <p:txEl>
                                              <p:pRg st="0" end="0"/>
                                            </p:txEl>
                                          </p:spTgt>
                                        </p:tgtEl>
                                        <p:attrNameLst>
                                          <p:attrName>style.visibility</p:attrName>
                                        </p:attrNameLst>
                                      </p:cBhvr>
                                      <p:to>
                                        <p:strVal val="visible"/>
                                      </p:to>
                                    </p:set>
                                    <p:anim calcmode="lin" valueType="num">
                                      <p:cBhvr additive="base">
                                        <p:cTn id="12" dur="500"/>
                                        <p:tgtEl>
                                          <p:spTgt spid="29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95">
                                            <p:txEl>
                                              <p:pRg st="1" end="1"/>
                                            </p:txEl>
                                          </p:spTgt>
                                        </p:tgtEl>
                                        <p:attrNameLst>
                                          <p:attrName>style.visibility</p:attrName>
                                        </p:attrNameLst>
                                      </p:cBhvr>
                                      <p:to>
                                        <p:strVal val="visible"/>
                                      </p:to>
                                    </p:set>
                                    <p:anim calcmode="lin" valueType="num">
                                      <p:cBhvr additive="base">
                                        <p:cTn id="17" dur="500"/>
                                        <p:tgtEl>
                                          <p:spTgt spid="29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95">
                                            <p:txEl>
                                              <p:pRg st="2" end="2"/>
                                            </p:txEl>
                                          </p:spTgt>
                                        </p:tgtEl>
                                        <p:attrNameLst>
                                          <p:attrName>style.visibility</p:attrName>
                                        </p:attrNameLst>
                                      </p:cBhvr>
                                      <p:to>
                                        <p:strVal val="visible"/>
                                      </p:to>
                                    </p:set>
                                    <p:anim calcmode="lin" valueType="num">
                                      <p:cBhvr additive="base">
                                        <p:cTn id="22" dur="500"/>
                                        <p:tgtEl>
                                          <p:spTgt spid="29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95">
                                            <p:txEl>
                                              <p:pRg st="3" end="3"/>
                                            </p:txEl>
                                          </p:spTgt>
                                        </p:tgtEl>
                                        <p:attrNameLst>
                                          <p:attrName>style.visibility</p:attrName>
                                        </p:attrNameLst>
                                      </p:cBhvr>
                                      <p:to>
                                        <p:strVal val="visible"/>
                                      </p:to>
                                    </p:set>
                                    <p:anim calcmode="lin" valueType="num">
                                      <p:cBhvr additive="base">
                                        <p:cTn id="27" dur="500"/>
                                        <p:tgtEl>
                                          <p:spTgt spid="29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295">
                                            <p:txEl>
                                              <p:pRg st="4" end="4"/>
                                            </p:txEl>
                                          </p:spTgt>
                                        </p:tgtEl>
                                        <p:attrNameLst>
                                          <p:attrName>style.visibility</p:attrName>
                                        </p:attrNameLst>
                                      </p:cBhvr>
                                      <p:to>
                                        <p:strVal val="visible"/>
                                      </p:to>
                                    </p:set>
                                    <p:anim calcmode="lin" valueType="num">
                                      <p:cBhvr additive="base">
                                        <p:cTn id="32" dur="500"/>
                                        <p:tgtEl>
                                          <p:spTgt spid="29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95">
                                            <p:txEl>
                                              <p:pRg st="5" end="5"/>
                                            </p:txEl>
                                          </p:spTgt>
                                        </p:tgtEl>
                                        <p:attrNameLst>
                                          <p:attrName>style.visibility</p:attrName>
                                        </p:attrNameLst>
                                      </p:cBhvr>
                                      <p:to>
                                        <p:strVal val="visible"/>
                                      </p:to>
                                    </p:set>
                                    <p:anim calcmode="lin" valueType="num">
                                      <p:cBhvr additive="base">
                                        <p:cTn id="37" dur="500"/>
                                        <p:tgtEl>
                                          <p:spTgt spid="295">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295">
                                            <p:txEl>
                                              <p:pRg st="6" end="6"/>
                                            </p:txEl>
                                          </p:spTgt>
                                        </p:tgtEl>
                                        <p:attrNameLst>
                                          <p:attrName>style.visibility</p:attrName>
                                        </p:attrNameLst>
                                      </p:cBhvr>
                                      <p:to>
                                        <p:strVal val="visible"/>
                                      </p:to>
                                    </p:set>
                                    <p:anim calcmode="lin" valueType="num">
                                      <p:cBhvr additive="base">
                                        <p:cTn id="42" dur="500"/>
                                        <p:tgtEl>
                                          <p:spTgt spid="295">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295">
                                            <p:txEl>
                                              <p:pRg st="7" end="7"/>
                                            </p:txEl>
                                          </p:spTgt>
                                        </p:tgtEl>
                                        <p:attrNameLst>
                                          <p:attrName>style.visibility</p:attrName>
                                        </p:attrNameLst>
                                      </p:cBhvr>
                                      <p:to>
                                        <p:strVal val="visible"/>
                                      </p:to>
                                    </p:set>
                                    <p:anim calcmode="lin" valueType="num">
                                      <p:cBhvr additive="base">
                                        <p:cTn id="47" dur="500"/>
                                        <p:tgtEl>
                                          <p:spTgt spid="295">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295">
                                            <p:txEl>
                                              <p:pRg st="8" end="8"/>
                                            </p:txEl>
                                          </p:spTgt>
                                        </p:tgtEl>
                                        <p:attrNameLst>
                                          <p:attrName>style.visibility</p:attrName>
                                        </p:attrNameLst>
                                      </p:cBhvr>
                                      <p:to>
                                        <p:strVal val="visible"/>
                                      </p:to>
                                    </p:set>
                                    <p:anim calcmode="lin" valueType="num">
                                      <p:cBhvr additive="base">
                                        <p:cTn id="52" dur="500"/>
                                        <p:tgtEl>
                                          <p:spTgt spid="295">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295">
                                            <p:txEl>
                                              <p:pRg st="9" end="9"/>
                                            </p:txEl>
                                          </p:spTgt>
                                        </p:tgtEl>
                                        <p:attrNameLst>
                                          <p:attrName>style.visibility</p:attrName>
                                        </p:attrNameLst>
                                      </p:cBhvr>
                                      <p:to>
                                        <p:strVal val="visible"/>
                                      </p:to>
                                    </p:set>
                                    <p:anim calcmode="lin" valueType="num">
                                      <p:cBhvr additive="base">
                                        <p:cTn id="57" dur="500"/>
                                        <p:tgtEl>
                                          <p:spTgt spid="295">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nodeType="clickEffect">
                                  <p:stCondLst>
                                    <p:cond delay="0"/>
                                  </p:stCondLst>
                                  <p:childTnLst>
                                    <p:set>
                                      <p:cBhvr>
                                        <p:cTn id="61" dur="1" fill="hold">
                                          <p:stCondLst>
                                            <p:cond delay="0"/>
                                          </p:stCondLst>
                                        </p:cTn>
                                        <p:tgtEl>
                                          <p:spTgt spid="295">
                                            <p:txEl>
                                              <p:pRg st="10" end="10"/>
                                            </p:txEl>
                                          </p:spTgt>
                                        </p:tgtEl>
                                        <p:attrNameLst>
                                          <p:attrName>style.visibility</p:attrName>
                                        </p:attrNameLst>
                                      </p:cBhvr>
                                      <p:to>
                                        <p:strVal val="visible"/>
                                      </p:to>
                                    </p:set>
                                    <p:anim calcmode="lin" valueType="num">
                                      <p:cBhvr additive="base">
                                        <p:cTn id="62" dur="500"/>
                                        <p:tgtEl>
                                          <p:spTgt spid="295">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295">
                                            <p:txEl>
                                              <p:pRg st="11" end="11"/>
                                            </p:txEl>
                                          </p:spTgt>
                                        </p:tgtEl>
                                        <p:attrNameLst>
                                          <p:attrName>style.visibility</p:attrName>
                                        </p:attrNameLst>
                                      </p:cBhvr>
                                      <p:to>
                                        <p:strVal val="visible"/>
                                      </p:to>
                                    </p:set>
                                    <p:anim calcmode="lin" valueType="num">
                                      <p:cBhvr additive="base">
                                        <p:cTn id="67" dur="500"/>
                                        <p:tgtEl>
                                          <p:spTgt spid="295">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 presetClass="entr" presetSubtype="4" fill="hold" nodeType="clickEffect">
                                  <p:stCondLst>
                                    <p:cond delay="0"/>
                                  </p:stCondLst>
                                  <p:childTnLst>
                                    <p:set>
                                      <p:cBhvr>
                                        <p:cTn id="71" dur="1" fill="hold">
                                          <p:stCondLst>
                                            <p:cond delay="0"/>
                                          </p:stCondLst>
                                        </p:cTn>
                                        <p:tgtEl>
                                          <p:spTgt spid="295">
                                            <p:txEl>
                                              <p:pRg st="12" end="12"/>
                                            </p:txEl>
                                          </p:spTgt>
                                        </p:tgtEl>
                                        <p:attrNameLst>
                                          <p:attrName>style.visibility</p:attrName>
                                        </p:attrNameLst>
                                      </p:cBhvr>
                                      <p:to>
                                        <p:strVal val="visible"/>
                                      </p:to>
                                    </p:set>
                                    <p:anim calcmode="lin" valueType="num">
                                      <p:cBhvr additive="base">
                                        <p:cTn id="72" dur="500"/>
                                        <p:tgtEl>
                                          <p:spTgt spid="295">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nodeType="clickEffect">
                                  <p:stCondLst>
                                    <p:cond delay="0"/>
                                  </p:stCondLst>
                                  <p:childTnLst>
                                    <p:set>
                                      <p:cBhvr>
                                        <p:cTn id="76" dur="1" fill="hold">
                                          <p:stCondLst>
                                            <p:cond delay="0"/>
                                          </p:stCondLst>
                                        </p:cTn>
                                        <p:tgtEl>
                                          <p:spTgt spid="295">
                                            <p:txEl>
                                              <p:pRg st="13" end="13"/>
                                            </p:txEl>
                                          </p:spTgt>
                                        </p:tgtEl>
                                        <p:attrNameLst>
                                          <p:attrName>style.visibility</p:attrName>
                                        </p:attrNameLst>
                                      </p:cBhvr>
                                      <p:to>
                                        <p:strVal val="visible"/>
                                      </p:to>
                                    </p:set>
                                    <p:anim calcmode="lin" valueType="num">
                                      <p:cBhvr additive="base">
                                        <p:cTn id="77" dur="500"/>
                                        <p:tgtEl>
                                          <p:spTgt spid="295">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2" presetClass="entr" presetSubtype="4" fill="hold" nodeType="clickEffect">
                                  <p:stCondLst>
                                    <p:cond delay="0"/>
                                  </p:stCondLst>
                                  <p:childTnLst>
                                    <p:set>
                                      <p:cBhvr>
                                        <p:cTn id="81" dur="1" fill="hold">
                                          <p:stCondLst>
                                            <p:cond delay="0"/>
                                          </p:stCondLst>
                                        </p:cTn>
                                        <p:tgtEl>
                                          <p:spTgt spid="295">
                                            <p:txEl>
                                              <p:pRg st="14" end="14"/>
                                            </p:txEl>
                                          </p:spTgt>
                                        </p:tgtEl>
                                        <p:attrNameLst>
                                          <p:attrName>style.visibility</p:attrName>
                                        </p:attrNameLst>
                                      </p:cBhvr>
                                      <p:to>
                                        <p:strVal val="visible"/>
                                      </p:to>
                                    </p:set>
                                    <p:anim calcmode="lin" valueType="num">
                                      <p:cBhvr additive="base">
                                        <p:cTn id="82" dur="500"/>
                                        <p:tgtEl>
                                          <p:spTgt spid="295">
                                            <p:txEl>
                                              <p:pRg st="14" end="14"/>
                                            </p:txEl>
                                          </p:spTgt>
                                        </p:tgtEl>
                                        <p:attrNameLst>
                                          <p:attrName>ppt_y</p:attrName>
                                        </p:attrNameLst>
                                      </p:cBhvr>
                                      <p:tavLst>
                                        <p:tav tm="0">
                                          <p:val>
                                            <p:strVal val="#ppt_y+1"/>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2" presetClass="entr" presetSubtype="4" fill="hold" nodeType="clickEffect">
                                  <p:stCondLst>
                                    <p:cond delay="0"/>
                                  </p:stCondLst>
                                  <p:childTnLst>
                                    <p:set>
                                      <p:cBhvr>
                                        <p:cTn id="86" dur="1" fill="hold">
                                          <p:stCondLst>
                                            <p:cond delay="0"/>
                                          </p:stCondLst>
                                        </p:cTn>
                                        <p:tgtEl>
                                          <p:spTgt spid="295">
                                            <p:txEl>
                                              <p:pRg st="15" end="15"/>
                                            </p:txEl>
                                          </p:spTgt>
                                        </p:tgtEl>
                                        <p:attrNameLst>
                                          <p:attrName>style.visibility</p:attrName>
                                        </p:attrNameLst>
                                      </p:cBhvr>
                                      <p:to>
                                        <p:strVal val="visible"/>
                                      </p:to>
                                    </p:set>
                                    <p:anim calcmode="lin" valueType="num">
                                      <p:cBhvr additive="base">
                                        <p:cTn id="87" dur="500"/>
                                        <p:tgtEl>
                                          <p:spTgt spid="295">
                                            <p:txEl>
                                              <p:pRg st="15" end="15"/>
                                            </p:txEl>
                                          </p:spTgt>
                                        </p:tgtEl>
                                        <p:attrNameLst>
                                          <p:attrName>ppt_y</p:attrName>
                                        </p:attrNameLst>
                                      </p:cBhvr>
                                      <p:tavLst>
                                        <p:tav tm="0">
                                          <p:val>
                                            <p:strVal val="#ppt_y+1"/>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2" presetClass="entr" presetSubtype="4" fill="hold" nodeType="clickEffect">
                                  <p:stCondLst>
                                    <p:cond delay="0"/>
                                  </p:stCondLst>
                                  <p:childTnLst>
                                    <p:set>
                                      <p:cBhvr>
                                        <p:cTn id="91" dur="1" fill="hold">
                                          <p:stCondLst>
                                            <p:cond delay="0"/>
                                          </p:stCondLst>
                                        </p:cTn>
                                        <p:tgtEl>
                                          <p:spTgt spid="295">
                                            <p:txEl>
                                              <p:pRg st="16" end="16"/>
                                            </p:txEl>
                                          </p:spTgt>
                                        </p:tgtEl>
                                        <p:attrNameLst>
                                          <p:attrName>style.visibility</p:attrName>
                                        </p:attrNameLst>
                                      </p:cBhvr>
                                      <p:to>
                                        <p:strVal val="visible"/>
                                      </p:to>
                                    </p:set>
                                    <p:anim calcmode="lin" valueType="num">
                                      <p:cBhvr additive="base">
                                        <p:cTn id="92" dur="500"/>
                                        <p:tgtEl>
                                          <p:spTgt spid="295">
                                            <p:txEl>
                                              <p:pRg st="16" end="16"/>
                                            </p:txEl>
                                          </p:spTgt>
                                        </p:tgtEl>
                                        <p:attrNameLst>
                                          <p:attrName>ppt_y</p:attrName>
                                        </p:attrNameLst>
                                      </p:cBhvr>
                                      <p:tavLst>
                                        <p:tav tm="0">
                                          <p:val>
                                            <p:strVal val="#ppt_y+1"/>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295">
                                            <p:txEl>
                                              <p:pRg st="17" end="17"/>
                                            </p:txEl>
                                          </p:spTgt>
                                        </p:tgtEl>
                                        <p:attrNameLst>
                                          <p:attrName>style.visibility</p:attrName>
                                        </p:attrNameLst>
                                      </p:cBhvr>
                                      <p:to>
                                        <p:strVal val="visible"/>
                                      </p:to>
                                    </p:set>
                                    <p:anim calcmode="lin" valueType="num">
                                      <p:cBhvr additive="base">
                                        <p:cTn id="97" dur="500"/>
                                        <p:tgtEl>
                                          <p:spTgt spid="295">
                                            <p:txEl>
                                              <p:pRg st="17" end="17"/>
                                            </p:txEl>
                                          </p:spTgt>
                                        </p:tgtEl>
                                        <p:attrNameLst>
                                          <p:attrName>ppt_y</p:attrName>
                                        </p:attrNameLst>
                                      </p:cBhvr>
                                      <p:tavLst>
                                        <p:tav tm="0">
                                          <p:val>
                                            <p:strVal val="#ppt_y+1"/>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2" presetClass="entr" presetSubtype="4" fill="hold" nodeType="clickEffect">
                                  <p:stCondLst>
                                    <p:cond delay="0"/>
                                  </p:stCondLst>
                                  <p:childTnLst>
                                    <p:set>
                                      <p:cBhvr>
                                        <p:cTn id="101" dur="1" fill="hold">
                                          <p:stCondLst>
                                            <p:cond delay="0"/>
                                          </p:stCondLst>
                                        </p:cTn>
                                        <p:tgtEl>
                                          <p:spTgt spid="295">
                                            <p:txEl>
                                              <p:pRg st="18" end="18"/>
                                            </p:txEl>
                                          </p:spTgt>
                                        </p:tgtEl>
                                        <p:attrNameLst>
                                          <p:attrName>style.visibility</p:attrName>
                                        </p:attrNameLst>
                                      </p:cBhvr>
                                      <p:to>
                                        <p:strVal val="visible"/>
                                      </p:to>
                                    </p:set>
                                    <p:anim calcmode="lin" valueType="num">
                                      <p:cBhvr additive="base">
                                        <p:cTn id="102" dur="500"/>
                                        <p:tgtEl>
                                          <p:spTgt spid="295">
                                            <p:txEl>
                                              <p:pRg st="18" end="18"/>
                                            </p:txEl>
                                          </p:spTgt>
                                        </p:tgtEl>
                                        <p:attrNameLst>
                                          <p:attrName>ppt_y</p:attrName>
                                        </p:attrNameLst>
                                      </p:cBhvr>
                                      <p:tavLst>
                                        <p:tav tm="0">
                                          <p:val>
                                            <p:strVal val="#ppt_y+1"/>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2" presetClass="entr" presetSubtype="4" fill="hold" nodeType="clickEffect">
                                  <p:stCondLst>
                                    <p:cond delay="0"/>
                                  </p:stCondLst>
                                  <p:childTnLst>
                                    <p:set>
                                      <p:cBhvr>
                                        <p:cTn id="106" dur="1" fill="hold">
                                          <p:stCondLst>
                                            <p:cond delay="0"/>
                                          </p:stCondLst>
                                        </p:cTn>
                                        <p:tgtEl>
                                          <p:spTgt spid="295">
                                            <p:txEl>
                                              <p:pRg st="19" end="19"/>
                                            </p:txEl>
                                          </p:spTgt>
                                        </p:tgtEl>
                                        <p:attrNameLst>
                                          <p:attrName>style.visibility</p:attrName>
                                        </p:attrNameLst>
                                      </p:cBhvr>
                                      <p:to>
                                        <p:strVal val="visible"/>
                                      </p:to>
                                    </p:set>
                                    <p:anim calcmode="lin" valueType="num">
                                      <p:cBhvr additive="base">
                                        <p:cTn id="107" dur="500"/>
                                        <p:tgtEl>
                                          <p:spTgt spid="295">
                                            <p:txEl>
                                              <p:pRg st="19" end="1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32"/>
          <p:cNvSpPr txBox="1">
            <a:spLocks noGrp="1"/>
          </p:cNvSpPr>
          <p:nvPr>
            <p:ph type="title"/>
          </p:nvPr>
        </p:nvSpPr>
        <p:spPr>
          <a:xfrm>
            <a:off x="533400" y="-247650"/>
            <a:ext cx="7981950" cy="1515666"/>
          </a:xfrm>
          <a:prstGeom prst="rect">
            <a:avLst/>
          </a:prstGeom>
          <a:noFill/>
          <a:ln>
            <a:noFill/>
          </a:ln>
        </p:spPr>
        <p:txBody>
          <a:bodyPr spcFirstLastPara="1" wrap="square" lIns="68550" tIns="34275" rIns="68550" bIns="34275"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Selection Sort</a:t>
            </a:r>
            <a:endParaRPr b="1"/>
          </a:p>
        </p:txBody>
      </p:sp>
      <p:sp>
        <p:nvSpPr>
          <p:cNvPr id="302" name="Google Shape;302;p32"/>
          <p:cNvSpPr txBox="1">
            <a:spLocks noGrp="1"/>
          </p:cNvSpPr>
          <p:nvPr>
            <p:ph type="body" idx="1"/>
          </p:nvPr>
        </p:nvSpPr>
        <p:spPr>
          <a:xfrm>
            <a:off x="628650" y="742950"/>
            <a:ext cx="7886700" cy="4191000"/>
          </a:xfrm>
          <a:prstGeom prst="rect">
            <a:avLst/>
          </a:prstGeom>
          <a:noFill/>
          <a:ln>
            <a:noFill/>
          </a:ln>
        </p:spPr>
        <p:txBody>
          <a:bodyPr spcFirstLastPara="1" wrap="square" lIns="68550" tIns="34275" rIns="68550" bIns="34275" anchor="t" anchorCtr="0">
            <a:noAutofit/>
          </a:bodyPr>
          <a:lstStyle/>
          <a:p>
            <a:pPr marL="0" lvl="0" indent="0" algn="just" rtl="0">
              <a:lnSpc>
                <a:spcPct val="90000"/>
              </a:lnSpc>
              <a:spcBef>
                <a:spcPts val="0"/>
              </a:spcBef>
              <a:spcAft>
                <a:spcPts val="0"/>
              </a:spcAft>
              <a:buClr>
                <a:schemeClr val="dk1"/>
              </a:buClr>
              <a:buSzPts val="2800"/>
              <a:buNone/>
            </a:pPr>
            <a:r>
              <a:rPr lang="en-US" sz="1400"/>
              <a:t>// Print the sorted array</a:t>
            </a:r>
            <a:endParaRPr/>
          </a:p>
          <a:p>
            <a:pPr marL="0" lvl="0" indent="0" algn="just" rtl="0">
              <a:lnSpc>
                <a:spcPct val="90000"/>
              </a:lnSpc>
              <a:spcBef>
                <a:spcPts val="0"/>
              </a:spcBef>
              <a:spcAft>
                <a:spcPts val="0"/>
              </a:spcAft>
              <a:buClr>
                <a:schemeClr val="dk1"/>
              </a:buClr>
              <a:buSzPts val="2800"/>
              <a:buNone/>
            </a:pPr>
            <a:r>
              <a:rPr lang="en-US" sz="1400"/>
              <a:t>    printf("Sorted Array: ");</a:t>
            </a:r>
            <a:endParaRPr/>
          </a:p>
          <a:p>
            <a:pPr marL="0" lvl="0" indent="0" algn="just" rtl="0">
              <a:lnSpc>
                <a:spcPct val="90000"/>
              </a:lnSpc>
              <a:spcBef>
                <a:spcPts val="0"/>
              </a:spcBef>
              <a:spcAft>
                <a:spcPts val="0"/>
              </a:spcAft>
              <a:buClr>
                <a:schemeClr val="dk1"/>
              </a:buClr>
              <a:buSzPts val="2800"/>
              <a:buNone/>
            </a:pPr>
            <a:r>
              <a:rPr lang="en-US" sz="1400"/>
              <a:t>    for (i = 0; i &lt; n; i++) {</a:t>
            </a:r>
            <a:endParaRPr/>
          </a:p>
          <a:p>
            <a:pPr marL="0" lvl="0" indent="0" algn="just" rtl="0">
              <a:lnSpc>
                <a:spcPct val="90000"/>
              </a:lnSpc>
              <a:spcBef>
                <a:spcPts val="0"/>
              </a:spcBef>
              <a:spcAft>
                <a:spcPts val="0"/>
              </a:spcAft>
              <a:buClr>
                <a:schemeClr val="dk1"/>
              </a:buClr>
              <a:buSzPts val="2800"/>
              <a:buNone/>
            </a:pPr>
            <a:r>
              <a:rPr lang="en-US" sz="1400"/>
              <a:t>        printf("%d ", arr[i]);</a:t>
            </a:r>
            <a:endParaRPr/>
          </a:p>
          <a:p>
            <a:pPr marL="0" lvl="0" indent="0" algn="just" rtl="0">
              <a:lnSpc>
                <a:spcPct val="90000"/>
              </a:lnSpc>
              <a:spcBef>
                <a:spcPts val="0"/>
              </a:spcBef>
              <a:spcAft>
                <a:spcPts val="0"/>
              </a:spcAft>
              <a:buClr>
                <a:schemeClr val="dk1"/>
              </a:buClr>
              <a:buSzPts val="2800"/>
              <a:buNone/>
            </a:pPr>
            <a:r>
              <a:rPr lang="en-US" sz="1400"/>
              <a:t>    }</a:t>
            </a:r>
            <a:endParaRPr/>
          </a:p>
          <a:p>
            <a:pPr marL="0" lvl="0" indent="0" algn="just" rtl="0">
              <a:lnSpc>
                <a:spcPct val="90000"/>
              </a:lnSpc>
              <a:spcBef>
                <a:spcPts val="0"/>
              </a:spcBef>
              <a:spcAft>
                <a:spcPts val="0"/>
              </a:spcAft>
              <a:buClr>
                <a:schemeClr val="dk1"/>
              </a:buClr>
              <a:buSzPts val="2800"/>
              <a:buNone/>
            </a:pPr>
            <a:r>
              <a:rPr lang="en-US" sz="1400"/>
              <a:t>    return 0;</a:t>
            </a:r>
            <a:endParaRPr/>
          </a:p>
          <a:p>
            <a:pPr marL="0" lvl="0" indent="0" algn="just" rtl="0">
              <a:lnSpc>
                <a:spcPct val="90000"/>
              </a:lnSpc>
              <a:spcBef>
                <a:spcPts val="0"/>
              </a:spcBef>
              <a:spcAft>
                <a:spcPts val="0"/>
              </a:spcAft>
              <a:buClr>
                <a:schemeClr val="dk1"/>
              </a:buClr>
              <a:buSzPts val="2800"/>
              <a:buNone/>
            </a:pPr>
            <a:r>
              <a:rPr lang="en-US" sz="1400"/>
              <a:t>}</a:t>
            </a:r>
            <a:endParaRPr/>
          </a:p>
        </p:txBody>
      </p:sp>
      <p:pic>
        <p:nvPicPr>
          <p:cNvPr id="303" name="Google Shape;303;p32"/>
          <p:cNvPicPr preferRelativeResize="0"/>
          <p:nvPr/>
        </p:nvPicPr>
        <p:blipFill rotWithShape="1">
          <a:blip r:embed="rId3">
            <a:alphaModFix/>
          </a:blip>
          <a:srcRect/>
          <a:stretch/>
        </p:blipFill>
        <p:spPr>
          <a:xfrm>
            <a:off x="7239000" y="7783"/>
            <a:ext cx="1653683" cy="61727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1"/>
                                        </p:tgtEl>
                                        <p:attrNameLst>
                                          <p:attrName>style.visibility</p:attrName>
                                        </p:attrNameLst>
                                      </p:cBhvr>
                                      <p:to>
                                        <p:strVal val="visible"/>
                                      </p:to>
                                    </p:set>
                                    <p:animEffect transition="in" filter="fade">
                                      <p:cBhvr>
                                        <p:cTn id="7" dur="1000"/>
                                        <p:tgtEl>
                                          <p:spTgt spid="30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02">
                                            <p:txEl>
                                              <p:pRg st="0" end="0"/>
                                            </p:txEl>
                                          </p:spTgt>
                                        </p:tgtEl>
                                        <p:attrNameLst>
                                          <p:attrName>style.visibility</p:attrName>
                                        </p:attrNameLst>
                                      </p:cBhvr>
                                      <p:to>
                                        <p:strVal val="visible"/>
                                      </p:to>
                                    </p:set>
                                    <p:anim calcmode="lin" valueType="num">
                                      <p:cBhvr additive="base">
                                        <p:cTn id="12" dur="500"/>
                                        <p:tgtEl>
                                          <p:spTgt spid="30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02">
                                            <p:txEl>
                                              <p:pRg st="1" end="1"/>
                                            </p:txEl>
                                          </p:spTgt>
                                        </p:tgtEl>
                                        <p:attrNameLst>
                                          <p:attrName>style.visibility</p:attrName>
                                        </p:attrNameLst>
                                      </p:cBhvr>
                                      <p:to>
                                        <p:strVal val="visible"/>
                                      </p:to>
                                    </p:set>
                                    <p:anim calcmode="lin" valueType="num">
                                      <p:cBhvr additive="base">
                                        <p:cTn id="17" dur="500"/>
                                        <p:tgtEl>
                                          <p:spTgt spid="30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302">
                                            <p:txEl>
                                              <p:pRg st="2" end="2"/>
                                            </p:txEl>
                                          </p:spTgt>
                                        </p:tgtEl>
                                        <p:attrNameLst>
                                          <p:attrName>style.visibility</p:attrName>
                                        </p:attrNameLst>
                                      </p:cBhvr>
                                      <p:to>
                                        <p:strVal val="visible"/>
                                      </p:to>
                                    </p:set>
                                    <p:anim calcmode="lin" valueType="num">
                                      <p:cBhvr additive="base">
                                        <p:cTn id="22" dur="500"/>
                                        <p:tgtEl>
                                          <p:spTgt spid="30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02">
                                            <p:txEl>
                                              <p:pRg st="3" end="3"/>
                                            </p:txEl>
                                          </p:spTgt>
                                        </p:tgtEl>
                                        <p:attrNameLst>
                                          <p:attrName>style.visibility</p:attrName>
                                        </p:attrNameLst>
                                      </p:cBhvr>
                                      <p:to>
                                        <p:strVal val="visible"/>
                                      </p:to>
                                    </p:set>
                                    <p:anim calcmode="lin" valueType="num">
                                      <p:cBhvr additive="base">
                                        <p:cTn id="27" dur="500"/>
                                        <p:tgtEl>
                                          <p:spTgt spid="30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302">
                                            <p:txEl>
                                              <p:pRg st="4" end="4"/>
                                            </p:txEl>
                                          </p:spTgt>
                                        </p:tgtEl>
                                        <p:attrNameLst>
                                          <p:attrName>style.visibility</p:attrName>
                                        </p:attrNameLst>
                                      </p:cBhvr>
                                      <p:to>
                                        <p:strVal val="visible"/>
                                      </p:to>
                                    </p:set>
                                    <p:anim calcmode="lin" valueType="num">
                                      <p:cBhvr additive="base">
                                        <p:cTn id="32" dur="500"/>
                                        <p:tgtEl>
                                          <p:spTgt spid="30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02">
                                            <p:txEl>
                                              <p:pRg st="5" end="5"/>
                                            </p:txEl>
                                          </p:spTgt>
                                        </p:tgtEl>
                                        <p:attrNameLst>
                                          <p:attrName>style.visibility</p:attrName>
                                        </p:attrNameLst>
                                      </p:cBhvr>
                                      <p:to>
                                        <p:strVal val="visible"/>
                                      </p:to>
                                    </p:set>
                                    <p:anim calcmode="lin" valueType="num">
                                      <p:cBhvr additive="base">
                                        <p:cTn id="37" dur="500"/>
                                        <p:tgtEl>
                                          <p:spTgt spid="30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302">
                                            <p:txEl>
                                              <p:pRg st="6" end="6"/>
                                            </p:txEl>
                                          </p:spTgt>
                                        </p:tgtEl>
                                        <p:attrNameLst>
                                          <p:attrName>style.visibility</p:attrName>
                                        </p:attrNameLst>
                                      </p:cBhvr>
                                      <p:to>
                                        <p:strVal val="visible"/>
                                      </p:to>
                                    </p:set>
                                    <p:anim calcmode="lin" valueType="num">
                                      <p:cBhvr additive="base">
                                        <p:cTn id="42" dur="500"/>
                                        <p:tgtEl>
                                          <p:spTgt spid="30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33"/>
          <p:cNvSpPr txBox="1">
            <a:spLocks noGrp="1"/>
          </p:cNvSpPr>
          <p:nvPr>
            <p:ph type="title"/>
          </p:nvPr>
        </p:nvSpPr>
        <p:spPr>
          <a:xfrm>
            <a:off x="533400" y="-247650"/>
            <a:ext cx="7981950" cy="1515666"/>
          </a:xfrm>
          <a:prstGeom prst="rect">
            <a:avLst/>
          </a:prstGeom>
          <a:noFill/>
          <a:ln>
            <a:noFill/>
          </a:ln>
        </p:spPr>
        <p:txBody>
          <a:bodyPr spcFirstLastPara="1" wrap="square" lIns="68550" tIns="34275" rIns="68550" bIns="34275"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Selection Sort</a:t>
            </a:r>
            <a:endParaRPr b="1"/>
          </a:p>
        </p:txBody>
      </p:sp>
      <p:pic>
        <p:nvPicPr>
          <p:cNvPr id="309" name="Google Shape;309;p33"/>
          <p:cNvPicPr preferRelativeResize="0"/>
          <p:nvPr/>
        </p:nvPicPr>
        <p:blipFill rotWithShape="1">
          <a:blip r:embed="rId3">
            <a:alphaModFix/>
          </a:blip>
          <a:srcRect/>
          <a:stretch/>
        </p:blipFill>
        <p:spPr>
          <a:xfrm>
            <a:off x="628650" y="819150"/>
            <a:ext cx="7448549" cy="4000364"/>
          </a:xfrm>
          <a:prstGeom prst="rect">
            <a:avLst/>
          </a:prstGeom>
          <a:noFill/>
          <a:ln>
            <a:noFill/>
          </a:ln>
        </p:spPr>
      </p:pic>
      <p:pic>
        <p:nvPicPr>
          <p:cNvPr id="310" name="Google Shape;310;p33"/>
          <p:cNvPicPr preferRelativeResize="0"/>
          <p:nvPr/>
        </p:nvPicPr>
        <p:blipFill rotWithShape="1">
          <a:blip r:embed="rId4">
            <a:alphaModFix/>
          </a:blip>
          <a:srcRect/>
          <a:stretch/>
        </p:blipFill>
        <p:spPr>
          <a:xfrm>
            <a:off x="7239000" y="7783"/>
            <a:ext cx="1653683" cy="61727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8"/>
                                        </p:tgtEl>
                                        <p:attrNameLst>
                                          <p:attrName>style.visibility</p:attrName>
                                        </p:attrNameLst>
                                      </p:cBhvr>
                                      <p:to>
                                        <p:strVal val="visible"/>
                                      </p:to>
                                    </p:set>
                                    <p:animEffect transition="in" filter="fade">
                                      <p:cBhvr>
                                        <p:cTn id="7" dur="1000"/>
                                        <p:tgtEl>
                                          <p:spTgt spid="3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34"/>
          <p:cNvSpPr txBox="1">
            <a:spLocks noGrp="1"/>
          </p:cNvSpPr>
          <p:nvPr>
            <p:ph type="title"/>
          </p:nvPr>
        </p:nvSpPr>
        <p:spPr>
          <a:xfrm>
            <a:off x="628650" y="273844"/>
            <a:ext cx="7886700" cy="994172"/>
          </a:xfrm>
          <a:prstGeom prst="rect">
            <a:avLst/>
          </a:prstGeom>
          <a:noFill/>
          <a:ln>
            <a:noFill/>
          </a:ln>
        </p:spPr>
        <p:txBody>
          <a:bodyPr spcFirstLastPara="1" wrap="square" lIns="68550" tIns="34275" rIns="68550" bIns="34275"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Selection Sort</a:t>
            </a:r>
            <a:endParaRPr b="1"/>
          </a:p>
        </p:txBody>
      </p:sp>
      <p:sp>
        <p:nvSpPr>
          <p:cNvPr id="316" name="Google Shape;316;p34"/>
          <p:cNvSpPr txBox="1">
            <a:spLocks noGrp="1"/>
          </p:cNvSpPr>
          <p:nvPr>
            <p:ph type="body" idx="1"/>
          </p:nvPr>
        </p:nvSpPr>
        <p:spPr>
          <a:xfrm>
            <a:off x="628650" y="1268016"/>
            <a:ext cx="7886700" cy="3364707"/>
          </a:xfrm>
          <a:prstGeom prst="rect">
            <a:avLst/>
          </a:prstGeom>
          <a:noFill/>
          <a:ln>
            <a:noFill/>
          </a:ln>
        </p:spPr>
        <p:txBody>
          <a:bodyPr spcFirstLastPara="1" wrap="square" lIns="68550" tIns="34275" rIns="68550" bIns="34275" anchor="t" anchorCtr="0">
            <a:normAutofit fontScale="85000" lnSpcReduction="10000"/>
          </a:bodyPr>
          <a:lstStyle/>
          <a:p>
            <a:pPr marL="0" lvl="0" indent="0" algn="just" rtl="0">
              <a:lnSpc>
                <a:spcPct val="150000"/>
              </a:lnSpc>
              <a:spcBef>
                <a:spcPts val="0"/>
              </a:spcBef>
              <a:spcAft>
                <a:spcPts val="0"/>
              </a:spcAft>
              <a:buClr>
                <a:schemeClr val="dk1"/>
              </a:buClr>
              <a:buSzPct val="164705"/>
              <a:buNone/>
            </a:pPr>
            <a:r>
              <a:rPr lang="en-US" sz="2000"/>
              <a:t> Scenario 1: Picking Teams for a Game</a:t>
            </a:r>
            <a:endParaRPr/>
          </a:p>
          <a:p>
            <a:pPr marL="342900" lvl="0" indent="-342900" algn="just" rtl="0">
              <a:lnSpc>
                <a:spcPct val="150000"/>
              </a:lnSpc>
              <a:spcBef>
                <a:spcPts val="0"/>
              </a:spcBef>
              <a:spcAft>
                <a:spcPts val="0"/>
              </a:spcAft>
              <a:buClr>
                <a:schemeClr val="dk1"/>
              </a:buClr>
              <a:buSzPct val="164705"/>
              <a:buChar char="•"/>
            </a:pPr>
            <a:r>
              <a:rPr lang="en-US" sz="2000"/>
              <a:t>You’re picking players for a team, but you want to start with the fastest player.</a:t>
            </a:r>
            <a:endParaRPr/>
          </a:p>
          <a:p>
            <a:pPr marL="342900" lvl="0" indent="-342900" algn="just" rtl="0">
              <a:lnSpc>
                <a:spcPct val="150000"/>
              </a:lnSpc>
              <a:spcBef>
                <a:spcPts val="0"/>
              </a:spcBef>
              <a:spcAft>
                <a:spcPts val="0"/>
              </a:spcAft>
              <a:buClr>
                <a:schemeClr val="dk1"/>
              </a:buClr>
              <a:buSzPct val="164705"/>
              <a:buChar char="•"/>
            </a:pPr>
            <a:r>
              <a:rPr lang="en-US" sz="2000"/>
              <a:t>You scan the whole group to find the fastest one and move them to the first position.</a:t>
            </a:r>
            <a:endParaRPr/>
          </a:p>
          <a:p>
            <a:pPr marL="342900" lvl="0" indent="-342900" algn="just" rtl="0">
              <a:lnSpc>
                <a:spcPct val="150000"/>
              </a:lnSpc>
              <a:spcBef>
                <a:spcPts val="0"/>
              </a:spcBef>
              <a:spcAft>
                <a:spcPts val="0"/>
              </a:spcAft>
              <a:buClr>
                <a:schemeClr val="dk1"/>
              </a:buClr>
              <a:buSzPct val="164705"/>
              <a:buChar char="•"/>
            </a:pPr>
            <a:r>
              <a:rPr lang="en-US" sz="2000"/>
              <a:t>Then, you repeat the process with the remaining players, picking the next fastest each time.</a:t>
            </a:r>
            <a:endParaRPr/>
          </a:p>
          <a:p>
            <a:pPr marL="0" lvl="0" indent="0" algn="just" rtl="0">
              <a:lnSpc>
                <a:spcPct val="150000"/>
              </a:lnSpc>
              <a:spcBef>
                <a:spcPts val="0"/>
              </a:spcBef>
              <a:spcAft>
                <a:spcPts val="0"/>
              </a:spcAft>
              <a:buClr>
                <a:schemeClr val="dk1"/>
              </a:buClr>
              <a:buSzPct val="164705"/>
              <a:buNone/>
            </a:pPr>
            <a:r>
              <a:rPr lang="en-US" sz="2000"/>
              <a:t>This is Selection Sort — repeatedly selecting the smallest (or largest) item and moving it to the correct spot!</a:t>
            </a:r>
            <a:endParaRPr sz="2000"/>
          </a:p>
        </p:txBody>
      </p:sp>
      <p:pic>
        <p:nvPicPr>
          <p:cNvPr id="317" name="Google Shape;317;p34"/>
          <p:cNvPicPr preferRelativeResize="0"/>
          <p:nvPr/>
        </p:nvPicPr>
        <p:blipFill rotWithShape="1">
          <a:blip r:embed="rId3">
            <a:alphaModFix/>
          </a:blip>
          <a:srcRect/>
          <a:stretch/>
        </p:blipFill>
        <p:spPr>
          <a:xfrm>
            <a:off x="7239000" y="7783"/>
            <a:ext cx="1653683" cy="61727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gtEl>
                                        <p:attrNameLst>
                                          <p:attrName>style.visibility</p:attrName>
                                        </p:attrNameLst>
                                      </p:cBhvr>
                                      <p:to>
                                        <p:strVal val="visible"/>
                                      </p:to>
                                    </p:set>
                                    <p:animEffect transition="in" filter="fade">
                                      <p:cBhvr>
                                        <p:cTn id="7" dur="1000"/>
                                        <p:tgtEl>
                                          <p:spTgt spid="31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16">
                                            <p:txEl>
                                              <p:pRg st="0" end="0"/>
                                            </p:txEl>
                                          </p:spTgt>
                                        </p:tgtEl>
                                        <p:attrNameLst>
                                          <p:attrName>style.visibility</p:attrName>
                                        </p:attrNameLst>
                                      </p:cBhvr>
                                      <p:to>
                                        <p:strVal val="visible"/>
                                      </p:to>
                                    </p:set>
                                    <p:anim calcmode="lin" valueType="num">
                                      <p:cBhvr additive="base">
                                        <p:cTn id="12" dur="500"/>
                                        <p:tgtEl>
                                          <p:spTgt spid="31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16">
                                            <p:txEl>
                                              <p:pRg st="1" end="1"/>
                                            </p:txEl>
                                          </p:spTgt>
                                        </p:tgtEl>
                                        <p:attrNameLst>
                                          <p:attrName>style.visibility</p:attrName>
                                        </p:attrNameLst>
                                      </p:cBhvr>
                                      <p:to>
                                        <p:strVal val="visible"/>
                                      </p:to>
                                    </p:set>
                                    <p:anim calcmode="lin" valueType="num">
                                      <p:cBhvr additive="base">
                                        <p:cTn id="17" dur="500"/>
                                        <p:tgtEl>
                                          <p:spTgt spid="31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316">
                                            <p:txEl>
                                              <p:pRg st="2" end="2"/>
                                            </p:txEl>
                                          </p:spTgt>
                                        </p:tgtEl>
                                        <p:attrNameLst>
                                          <p:attrName>style.visibility</p:attrName>
                                        </p:attrNameLst>
                                      </p:cBhvr>
                                      <p:to>
                                        <p:strVal val="visible"/>
                                      </p:to>
                                    </p:set>
                                    <p:anim calcmode="lin" valueType="num">
                                      <p:cBhvr additive="base">
                                        <p:cTn id="22" dur="500"/>
                                        <p:tgtEl>
                                          <p:spTgt spid="31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16">
                                            <p:txEl>
                                              <p:pRg st="3" end="3"/>
                                            </p:txEl>
                                          </p:spTgt>
                                        </p:tgtEl>
                                        <p:attrNameLst>
                                          <p:attrName>style.visibility</p:attrName>
                                        </p:attrNameLst>
                                      </p:cBhvr>
                                      <p:to>
                                        <p:strVal val="visible"/>
                                      </p:to>
                                    </p:set>
                                    <p:anim calcmode="lin" valueType="num">
                                      <p:cBhvr additive="base">
                                        <p:cTn id="27" dur="500"/>
                                        <p:tgtEl>
                                          <p:spTgt spid="31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316">
                                            <p:txEl>
                                              <p:pRg st="4" end="4"/>
                                            </p:txEl>
                                          </p:spTgt>
                                        </p:tgtEl>
                                        <p:attrNameLst>
                                          <p:attrName>style.visibility</p:attrName>
                                        </p:attrNameLst>
                                      </p:cBhvr>
                                      <p:to>
                                        <p:strVal val="visible"/>
                                      </p:to>
                                    </p:set>
                                    <p:anim calcmode="lin" valueType="num">
                                      <p:cBhvr additive="base">
                                        <p:cTn id="32" dur="500"/>
                                        <p:tgtEl>
                                          <p:spTgt spid="316">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35"/>
          <p:cNvSpPr txBox="1">
            <a:spLocks noGrp="1"/>
          </p:cNvSpPr>
          <p:nvPr>
            <p:ph type="title"/>
          </p:nvPr>
        </p:nvSpPr>
        <p:spPr>
          <a:xfrm>
            <a:off x="628650" y="273844"/>
            <a:ext cx="7886700" cy="994172"/>
          </a:xfrm>
          <a:prstGeom prst="rect">
            <a:avLst/>
          </a:prstGeom>
          <a:noFill/>
          <a:ln>
            <a:noFill/>
          </a:ln>
        </p:spPr>
        <p:txBody>
          <a:bodyPr spcFirstLastPara="1" wrap="square" lIns="68550" tIns="34275" rIns="68550" bIns="34275"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Selection Sort</a:t>
            </a:r>
            <a:endParaRPr b="1"/>
          </a:p>
        </p:txBody>
      </p:sp>
      <p:sp>
        <p:nvSpPr>
          <p:cNvPr id="323" name="Google Shape;323;p35"/>
          <p:cNvSpPr txBox="1">
            <a:spLocks noGrp="1"/>
          </p:cNvSpPr>
          <p:nvPr>
            <p:ph type="body" idx="1"/>
          </p:nvPr>
        </p:nvSpPr>
        <p:spPr>
          <a:xfrm>
            <a:off x="628650" y="1268016"/>
            <a:ext cx="7886700" cy="3364707"/>
          </a:xfrm>
          <a:prstGeom prst="rect">
            <a:avLst/>
          </a:prstGeom>
          <a:noFill/>
          <a:ln>
            <a:noFill/>
          </a:ln>
        </p:spPr>
        <p:txBody>
          <a:bodyPr spcFirstLastPara="1" wrap="square" lIns="68550" tIns="34275" rIns="68550" bIns="34275" anchor="t" anchorCtr="0">
            <a:normAutofit/>
          </a:bodyPr>
          <a:lstStyle/>
          <a:p>
            <a:pPr marL="0" lvl="0" indent="0" algn="just" rtl="0">
              <a:lnSpc>
                <a:spcPct val="150000"/>
              </a:lnSpc>
              <a:spcBef>
                <a:spcPts val="0"/>
              </a:spcBef>
              <a:spcAft>
                <a:spcPts val="0"/>
              </a:spcAft>
              <a:buClr>
                <a:schemeClr val="dk1"/>
              </a:buClr>
              <a:buSzPts val="2800"/>
              <a:buNone/>
            </a:pPr>
            <a:r>
              <a:rPr lang="en-US" sz="2000"/>
              <a:t> Scenario 2: Ranking Students by Marks</a:t>
            </a:r>
            <a:endParaRPr/>
          </a:p>
          <a:p>
            <a:pPr marL="342900" lvl="0" indent="-342900" algn="just" rtl="0">
              <a:lnSpc>
                <a:spcPct val="150000"/>
              </a:lnSpc>
              <a:spcBef>
                <a:spcPts val="0"/>
              </a:spcBef>
              <a:spcAft>
                <a:spcPts val="0"/>
              </a:spcAft>
              <a:buClr>
                <a:schemeClr val="dk1"/>
              </a:buClr>
              <a:buSzPts val="2800"/>
              <a:buChar char="•"/>
            </a:pPr>
            <a:r>
              <a:rPr lang="en-US" sz="2000"/>
              <a:t>A teacher wants to rank students from highest to lowest marks.</a:t>
            </a:r>
            <a:endParaRPr/>
          </a:p>
          <a:p>
            <a:pPr marL="342900" lvl="0" indent="-342900" algn="just" rtl="0">
              <a:lnSpc>
                <a:spcPct val="150000"/>
              </a:lnSpc>
              <a:spcBef>
                <a:spcPts val="0"/>
              </a:spcBef>
              <a:spcAft>
                <a:spcPts val="0"/>
              </a:spcAft>
              <a:buClr>
                <a:schemeClr val="dk1"/>
              </a:buClr>
              <a:buSzPts val="2800"/>
              <a:buChar char="•"/>
            </a:pPr>
            <a:r>
              <a:rPr lang="en-US" sz="2000"/>
              <a:t>They find the student with the highest score and put them first.</a:t>
            </a:r>
            <a:endParaRPr/>
          </a:p>
          <a:p>
            <a:pPr marL="342900" lvl="0" indent="-342900" algn="just" rtl="0">
              <a:lnSpc>
                <a:spcPct val="150000"/>
              </a:lnSpc>
              <a:spcBef>
                <a:spcPts val="0"/>
              </a:spcBef>
              <a:spcAft>
                <a:spcPts val="0"/>
              </a:spcAft>
              <a:buClr>
                <a:schemeClr val="dk1"/>
              </a:buClr>
              <a:buSzPts val="2800"/>
              <a:buChar char="•"/>
            </a:pPr>
            <a:r>
              <a:rPr lang="en-US" sz="2000"/>
              <a:t>Then they repeat with the remaining students until everyone is ranked.</a:t>
            </a:r>
            <a:endParaRPr/>
          </a:p>
          <a:p>
            <a:pPr marL="0" lvl="0" indent="0" algn="just" rtl="0">
              <a:lnSpc>
                <a:spcPct val="150000"/>
              </a:lnSpc>
              <a:spcBef>
                <a:spcPts val="0"/>
              </a:spcBef>
              <a:spcAft>
                <a:spcPts val="0"/>
              </a:spcAft>
              <a:buClr>
                <a:schemeClr val="dk1"/>
              </a:buClr>
              <a:buSzPts val="2800"/>
              <a:buNone/>
            </a:pPr>
            <a:r>
              <a:rPr lang="en-US" sz="2000"/>
              <a:t>Selection Sort — repeatedly picking the highest (or smallest) value!</a:t>
            </a:r>
            <a:endParaRPr sz="2000"/>
          </a:p>
        </p:txBody>
      </p:sp>
      <p:pic>
        <p:nvPicPr>
          <p:cNvPr id="324" name="Google Shape;324;p35"/>
          <p:cNvPicPr preferRelativeResize="0"/>
          <p:nvPr/>
        </p:nvPicPr>
        <p:blipFill rotWithShape="1">
          <a:blip r:embed="rId3">
            <a:alphaModFix/>
          </a:blip>
          <a:srcRect/>
          <a:stretch/>
        </p:blipFill>
        <p:spPr>
          <a:xfrm>
            <a:off x="7239000" y="7783"/>
            <a:ext cx="1653683" cy="61727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2"/>
                                        </p:tgtEl>
                                        <p:attrNameLst>
                                          <p:attrName>style.visibility</p:attrName>
                                        </p:attrNameLst>
                                      </p:cBhvr>
                                      <p:to>
                                        <p:strVal val="visible"/>
                                      </p:to>
                                    </p:set>
                                    <p:animEffect transition="in" filter="fade">
                                      <p:cBhvr>
                                        <p:cTn id="7" dur="1000"/>
                                        <p:tgtEl>
                                          <p:spTgt spid="32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23">
                                            <p:txEl>
                                              <p:pRg st="0" end="0"/>
                                            </p:txEl>
                                          </p:spTgt>
                                        </p:tgtEl>
                                        <p:attrNameLst>
                                          <p:attrName>style.visibility</p:attrName>
                                        </p:attrNameLst>
                                      </p:cBhvr>
                                      <p:to>
                                        <p:strVal val="visible"/>
                                      </p:to>
                                    </p:set>
                                    <p:anim calcmode="lin" valueType="num">
                                      <p:cBhvr additive="base">
                                        <p:cTn id="12" dur="500"/>
                                        <p:tgtEl>
                                          <p:spTgt spid="32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23">
                                            <p:txEl>
                                              <p:pRg st="1" end="1"/>
                                            </p:txEl>
                                          </p:spTgt>
                                        </p:tgtEl>
                                        <p:attrNameLst>
                                          <p:attrName>style.visibility</p:attrName>
                                        </p:attrNameLst>
                                      </p:cBhvr>
                                      <p:to>
                                        <p:strVal val="visible"/>
                                      </p:to>
                                    </p:set>
                                    <p:anim calcmode="lin" valueType="num">
                                      <p:cBhvr additive="base">
                                        <p:cTn id="17" dur="500"/>
                                        <p:tgtEl>
                                          <p:spTgt spid="32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323">
                                            <p:txEl>
                                              <p:pRg st="2" end="2"/>
                                            </p:txEl>
                                          </p:spTgt>
                                        </p:tgtEl>
                                        <p:attrNameLst>
                                          <p:attrName>style.visibility</p:attrName>
                                        </p:attrNameLst>
                                      </p:cBhvr>
                                      <p:to>
                                        <p:strVal val="visible"/>
                                      </p:to>
                                    </p:set>
                                    <p:anim calcmode="lin" valueType="num">
                                      <p:cBhvr additive="base">
                                        <p:cTn id="22" dur="500"/>
                                        <p:tgtEl>
                                          <p:spTgt spid="32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23">
                                            <p:txEl>
                                              <p:pRg st="3" end="3"/>
                                            </p:txEl>
                                          </p:spTgt>
                                        </p:tgtEl>
                                        <p:attrNameLst>
                                          <p:attrName>style.visibility</p:attrName>
                                        </p:attrNameLst>
                                      </p:cBhvr>
                                      <p:to>
                                        <p:strVal val="visible"/>
                                      </p:to>
                                    </p:set>
                                    <p:anim calcmode="lin" valueType="num">
                                      <p:cBhvr additive="base">
                                        <p:cTn id="27" dur="500"/>
                                        <p:tgtEl>
                                          <p:spTgt spid="32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323">
                                            <p:txEl>
                                              <p:pRg st="4" end="4"/>
                                            </p:txEl>
                                          </p:spTgt>
                                        </p:tgtEl>
                                        <p:attrNameLst>
                                          <p:attrName>style.visibility</p:attrName>
                                        </p:attrNameLst>
                                      </p:cBhvr>
                                      <p:to>
                                        <p:strVal val="visible"/>
                                      </p:to>
                                    </p:set>
                                    <p:anim calcmode="lin" valueType="num">
                                      <p:cBhvr additive="base">
                                        <p:cTn id="32" dur="500"/>
                                        <p:tgtEl>
                                          <p:spTgt spid="32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graphicFrame>
        <p:nvGraphicFramePr>
          <p:cNvPr id="329" name="Google Shape;329;p64"/>
          <p:cNvGraphicFramePr/>
          <p:nvPr/>
        </p:nvGraphicFramePr>
        <p:xfrm>
          <a:off x="649154" y="907419"/>
          <a:ext cx="3000000" cy="3000000"/>
        </p:xfrm>
        <a:graphic>
          <a:graphicData uri="http://schemas.openxmlformats.org/drawingml/2006/table">
            <a:tbl>
              <a:tblPr firstRow="1" firstCol="1" bandRow="1">
                <a:noFill/>
                <a:tableStyleId>{F1FDF5B3-072C-431E-B7EF-4AB523532A8C}</a:tableStyleId>
              </a:tblPr>
              <a:tblGrid>
                <a:gridCol w="1631400">
                  <a:extLst>
                    <a:ext uri="{9D8B030D-6E8A-4147-A177-3AD203B41FA5}">
                      <a16:colId xmlns:a16="http://schemas.microsoft.com/office/drawing/2014/main" val="20000"/>
                    </a:ext>
                  </a:extLst>
                </a:gridCol>
                <a:gridCol w="3858225">
                  <a:extLst>
                    <a:ext uri="{9D8B030D-6E8A-4147-A177-3AD203B41FA5}">
                      <a16:colId xmlns:a16="http://schemas.microsoft.com/office/drawing/2014/main" val="20001"/>
                    </a:ext>
                  </a:extLst>
                </a:gridCol>
                <a:gridCol w="2467775">
                  <a:extLst>
                    <a:ext uri="{9D8B030D-6E8A-4147-A177-3AD203B41FA5}">
                      <a16:colId xmlns:a16="http://schemas.microsoft.com/office/drawing/2014/main" val="20002"/>
                    </a:ext>
                  </a:extLst>
                </a:gridCol>
              </a:tblGrid>
              <a:tr h="320050">
                <a:tc>
                  <a:txBody>
                    <a:bodyPr/>
                    <a:lstStyle/>
                    <a:p>
                      <a:pPr marL="0" marR="0" lvl="0" indent="0" algn="l" rtl="0">
                        <a:lnSpc>
                          <a:spcPct val="107000"/>
                        </a:lnSpc>
                        <a:spcBef>
                          <a:spcPts val="0"/>
                        </a:spcBef>
                        <a:spcAft>
                          <a:spcPts val="0"/>
                        </a:spcAft>
                        <a:buClr>
                          <a:srgbClr val="000000"/>
                        </a:buClr>
                        <a:buSzPts val="1000"/>
                        <a:buFont typeface="Arial"/>
                        <a:buNone/>
                      </a:pPr>
                      <a:r>
                        <a:rPr lang="en-US" sz="1000" u="none" strike="noStrike" cap="none"/>
                        <a:t>Feature</a:t>
                      </a:r>
                      <a:endParaRPr sz="1000" u="none" strike="noStrike" cap="none">
                        <a:latin typeface="Calibri"/>
                        <a:ea typeface="Calibri"/>
                        <a:cs typeface="Calibri"/>
                        <a:sym typeface="Calibri"/>
                      </a:endParaRPr>
                    </a:p>
                  </a:txBody>
                  <a:tcPr marL="9025" marR="9025" marT="9025" marB="9025" anchor="ctr">
                    <a:noFill/>
                  </a:tcPr>
                </a:tc>
                <a:tc>
                  <a:txBody>
                    <a:bodyPr/>
                    <a:lstStyle/>
                    <a:p>
                      <a:pPr marL="0" marR="0" lvl="0" indent="0" algn="l" rtl="0">
                        <a:lnSpc>
                          <a:spcPct val="107000"/>
                        </a:lnSpc>
                        <a:spcBef>
                          <a:spcPts val="0"/>
                        </a:spcBef>
                        <a:spcAft>
                          <a:spcPts val="0"/>
                        </a:spcAft>
                        <a:buClr>
                          <a:srgbClr val="000000"/>
                        </a:buClr>
                        <a:buSzPts val="1000"/>
                        <a:buFont typeface="Arial"/>
                        <a:buNone/>
                      </a:pPr>
                      <a:r>
                        <a:rPr lang="en-US" sz="1000" u="none" strike="noStrike" cap="none"/>
                        <a:t>Bubble Sort</a:t>
                      </a:r>
                      <a:endParaRPr sz="1000" u="none" strike="noStrike" cap="none">
                        <a:latin typeface="Calibri"/>
                        <a:ea typeface="Calibri"/>
                        <a:cs typeface="Calibri"/>
                        <a:sym typeface="Calibri"/>
                      </a:endParaRPr>
                    </a:p>
                  </a:txBody>
                  <a:tcPr marL="9025" marR="9025" marT="9025" marB="9025" anchor="ctr">
                    <a:noFill/>
                  </a:tcPr>
                </a:tc>
                <a:tc>
                  <a:txBody>
                    <a:bodyPr/>
                    <a:lstStyle/>
                    <a:p>
                      <a:pPr marL="0" marR="0" lvl="0" indent="0" algn="l" rtl="0">
                        <a:lnSpc>
                          <a:spcPct val="107000"/>
                        </a:lnSpc>
                        <a:spcBef>
                          <a:spcPts val="0"/>
                        </a:spcBef>
                        <a:spcAft>
                          <a:spcPts val="0"/>
                        </a:spcAft>
                        <a:buClr>
                          <a:srgbClr val="000000"/>
                        </a:buClr>
                        <a:buSzPts val="1000"/>
                        <a:buFont typeface="Arial"/>
                        <a:buNone/>
                      </a:pPr>
                      <a:r>
                        <a:rPr lang="en-US" sz="1000" u="none" strike="noStrike" cap="none"/>
                        <a:t>Selection Sort</a:t>
                      </a:r>
                      <a:endParaRPr sz="1000" u="none" strike="noStrike" cap="none">
                        <a:latin typeface="Calibri"/>
                        <a:ea typeface="Calibri"/>
                        <a:cs typeface="Calibri"/>
                        <a:sym typeface="Calibri"/>
                      </a:endParaRPr>
                    </a:p>
                  </a:txBody>
                  <a:tcPr marL="9025" marR="9025" marT="9025" marB="9025" anchor="ctr">
                    <a:noFill/>
                  </a:tcPr>
                </a:tc>
                <a:extLst>
                  <a:ext uri="{0D108BD9-81ED-4DB2-BD59-A6C34878D82A}">
                    <a16:rowId xmlns:a16="http://schemas.microsoft.com/office/drawing/2014/main" val="10000"/>
                  </a:ext>
                </a:extLst>
              </a:tr>
              <a:tr h="532950">
                <a:tc>
                  <a:txBody>
                    <a:bodyPr/>
                    <a:lstStyle/>
                    <a:p>
                      <a:pPr marL="0" marR="0" lvl="0" indent="0" algn="l" rtl="0">
                        <a:lnSpc>
                          <a:spcPct val="107000"/>
                        </a:lnSpc>
                        <a:spcBef>
                          <a:spcPts val="0"/>
                        </a:spcBef>
                        <a:spcAft>
                          <a:spcPts val="0"/>
                        </a:spcAft>
                        <a:buClr>
                          <a:srgbClr val="000000"/>
                        </a:buClr>
                        <a:buSzPts val="1000"/>
                        <a:buFont typeface="Arial"/>
                        <a:buNone/>
                      </a:pPr>
                      <a:r>
                        <a:rPr lang="en-US" sz="1000" u="none" strike="noStrike" cap="none"/>
                        <a:t>How it works</a:t>
                      </a:r>
                      <a:endParaRPr sz="1000" u="none" strike="noStrike" cap="none">
                        <a:latin typeface="Calibri"/>
                        <a:ea typeface="Calibri"/>
                        <a:cs typeface="Calibri"/>
                        <a:sym typeface="Calibri"/>
                      </a:endParaRPr>
                    </a:p>
                  </a:txBody>
                  <a:tcPr marL="9025" marR="9025" marT="9025" marB="9025" anchor="ctr">
                    <a:noFill/>
                  </a:tcPr>
                </a:tc>
                <a:tc>
                  <a:txBody>
                    <a:bodyPr/>
                    <a:lstStyle/>
                    <a:p>
                      <a:pPr marL="0" marR="0" lvl="0" indent="0" algn="l" rtl="0">
                        <a:lnSpc>
                          <a:spcPct val="107000"/>
                        </a:lnSpc>
                        <a:spcBef>
                          <a:spcPts val="0"/>
                        </a:spcBef>
                        <a:spcAft>
                          <a:spcPts val="0"/>
                        </a:spcAft>
                        <a:buClr>
                          <a:srgbClr val="000000"/>
                        </a:buClr>
                        <a:buSzPts val="1000"/>
                        <a:buFont typeface="Arial"/>
                        <a:buNone/>
                      </a:pPr>
                      <a:r>
                        <a:rPr lang="en-US" sz="1000" u="none" strike="noStrike" cap="none"/>
                        <a:t>Repeatedly compares adjacent elements</a:t>
                      </a:r>
                      <a:endParaRPr sz="1000" u="none" strike="noStrike" cap="none">
                        <a:latin typeface="Calibri"/>
                        <a:ea typeface="Calibri"/>
                        <a:cs typeface="Calibri"/>
                        <a:sym typeface="Calibri"/>
                      </a:endParaRPr>
                    </a:p>
                  </a:txBody>
                  <a:tcPr marL="9025" marR="9025" marT="9025" marB="9025" anchor="ctr">
                    <a:noFill/>
                  </a:tcPr>
                </a:tc>
                <a:tc>
                  <a:txBody>
                    <a:bodyPr/>
                    <a:lstStyle/>
                    <a:p>
                      <a:pPr marL="0" marR="0" lvl="0" indent="0" algn="l" rtl="0">
                        <a:lnSpc>
                          <a:spcPct val="107000"/>
                        </a:lnSpc>
                        <a:spcBef>
                          <a:spcPts val="0"/>
                        </a:spcBef>
                        <a:spcAft>
                          <a:spcPts val="0"/>
                        </a:spcAft>
                        <a:buClr>
                          <a:srgbClr val="000000"/>
                        </a:buClr>
                        <a:buSzPts val="1000"/>
                        <a:buFont typeface="Arial"/>
                        <a:buNone/>
                      </a:pPr>
                      <a:r>
                        <a:rPr lang="en-US" sz="1000" u="none" strike="noStrike" cap="none"/>
                        <a:t>Finds the minimum element in unsorted part</a:t>
                      </a:r>
                      <a:endParaRPr sz="1000" u="none" strike="noStrike" cap="none">
                        <a:latin typeface="Calibri"/>
                        <a:ea typeface="Calibri"/>
                        <a:cs typeface="Calibri"/>
                        <a:sym typeface="Calibri"/>
                      </a:endParaRPr>
                    </a:p>
                  </a:txBody>
                  <a:tcPr marL="9025" marR="9025" marT="9025" marB="9025" anchor="ctr">
                    <a:noFill/>
                  </a:tcPr>
                </a:tc>
                <a:extLst>
                  <a:ext uri="{0D108BD9-81ED-4DB2-BD59-A6C34878D82A}">
                    <a16:rowId xmlns:a16="http://schemas.microsoft.com/office/drawing/2014/main" val="10001"/>
                  </a:ext>
                </a:extLst>
              </a:tr>
              <a:tr h="520175">
                <a:tc>
                  <a:txBody>
                    <a:bodyPr/>
                    <a:lstStyle/>
                    <a:p>
                      <a:pPr marL="0" marR="0" lvl="0" indent="0" algn="l" rtl="0">
                        <a:lnSpc>
                          <a:spcPct val="107000"/>
                        </a:lnSpc>
                        <a:spcBef>
                          <a:spcPts val="0"/>
                        </a:spcBef>
                        <a:spcAft>
                          <a:spcPts val="0"/>
                        </a:spcAft>
                        <a:buClr>
                          <a:srgbClr val="000000"/>
                        </a:buClr>
                        <a:buSzPts val="1000"/>
                        <a:buFont typeface="Arial"/>
                        <a:buNone/>
                      </a:pPr>
                      <a:r>
                        <a:rPr lang="en-US" sz="1000" u="none" strike="noStrike" cap="none"/>
                        <a:t>Swapping</a:t>
                      </a:r>
                      <a:endParaRPr sz="1000" u="none" strike="noStrike" cap="none">
                        <a:latin typeface="Calibri"/>
                        <a:ea typeface="Calibri"/>
                        <a:cs typeface="Calibri"/>
                        <a:sym typeface="Calibri"/>
                      </a:endParaRPr>
                    </a:p>
                  </a:txBody>
                  <a:tcPr marL="9025" marR="9025" marT="9025" marB="9025" anchor="ctr">
                    <a:noFill/>
                  </a:tcPr>
                </a:tc>
                <a:tc>
                  <a:txBody>
                    <a:bodyPr/>
                    <a:lstStyle/>
                    <a:p>
                      <a:pPr marL="0" marR="0" lvl="0" indent="0" algn="l" rtl="0">
                        <a:lnSpc>
                          <a:spcPct val="107000"/>
                        </a:lnSpc>
                        <a:spcBef>
                          <a:spcPts val="0"/>
                        </a:spcBef>
                        <a:spcAft>
                          <a:spcPts val="0"/>
                        </a:spcAft>
                        <a:buClr>
                          <a:srgbClr val="000000"/>
                        </a:buClr>
                        <a:buSzPts val="1000"/>
                        <a:buFont typeface="Arial"/>
                        <a:buNone/>
                      </a:pPr>
                      <a:r>
                        <a:rPr lang="en-US" sz="1000" u="none" strike="noStrike" cap="none"/>
                        <a:t>Swaps happen many times per pass</a:t>
                      </a:r>
                      <a:endParaRPr sz="1000" u="none" strike="noStrike" cap="none">
                        <a:latin typeface="Calibri"/>
                        <a:ea typeface="Calibri"/>
                        <a:cs typeface="Calibri"/>
                        <a:sym typeface="Calibri"/>
                      </a:endParaRPr>
                    </a:p>
                  </a:txBody>
                  <a:tcPr marL="9025" marR="9025" marT="9025" marB="9025" anchor="ctr">
                    <a:noFill/>
                  </a:tcPr>
                </a:tc>
                <a:tc>
                  <a:txBody>
                    <a:bodyPr/>
                    <a:lstStyle/>
                    <a:p>
                      <a:pPr marL="0" marR="0" lvl="0" indent="0" algn="l" rtl="0">
                        <a:lnSpc>
                          <a:spcPct val="107000"/>
                        </a:lnSpc>
                        <a:spcBef>
                          <a:spcPts val="0"/>
                        </a:spcBef>
                        <a:spcAft>
                          <a:spcPts val="0"/>
                        </a:spcAft>
                        <a:buClr>
                          <a:srgbClr val="000000"/>
                        </a:buClr>
                        <a:buSzPts val="1000"/>
                        <a:buFont typeface="Arial"/>
                        <a:buNone/>
                      </a:pPr>
                      <a:r>
                        <a:rPr lang="en-US" sz="1000" u="none" strike="noStrike" cap="none"/>
                        <a:t>Only one swap per pass (after finding min)</a:t>
                      </a:r>
                      <a:endParaRPr sz="1000" u="none" strike="noStrike" cap="none">
                        <a:latin typeface="Calibri"/>
                        <a:ea typeface="Calibri"/>
                        <a:cs typeface="Calibri"/>
                        <a:sym typeface="Calibri"/>
                      </a:endParaRPr>
                    </a:p>
                  </a:txBody>
                  <a:tcPr marL="9025" marR="9025" marT="9025" marB="9025" anchor="ctr">
                    <a:noFill/>
                  </a:tcPr>
                </a:tc>
                <a:extLst>
                  <a:ext uri="{0D108BD9-81ED-4DB2-BD59-A6C34878D82A}">
                    <a16:rowId xmlns:a16="http://schemas.microsoft.com/office/drawing/2014/main" val="10002"/>
                  </a:ext>
                </a:extLst>
              </a:tr>
              <a:tr h="520175">
                <a:tc>
                  <a:txBody>
                    <a:bodyPr/>
                    <a:lstStyle/>
                    <a:p>
                      <a:pPr marL="0" marR="0" lvl="0" indent="0" algn="l" rtl="0">
                        <a:lnSpc>
                          <a:spcPct val="107000"/>
                        </a:lnSpc>
                        <a:spcBef>
                          <a:spcPts val="0"/>
                        </a:spcBef>
                        <a:spcAft>
                          <a:spcPts val="0"/>
                        </a:spcAft>
                        <a:buClr>
                          <a:srgbClr val="000000"/>
                        </a:buClr>
                        <a:buSzPts val="1000"/>
                        <a:buFont typeface="Arial"/>
                        <a:buNone/>
                      </a:pPr>
                      <a:r>
                        <a:rPr lang="en-US" sz="1000" u="none" strike="noStrike" cap="none"/>
                        <a:t>Key behavior</a:t>
                      </a:r>
                      <a:endParaRPr sz="1000" u="none" strike="noStrike" cap="none">
                        <a:latin typeface="Calibri"/>
                        <a:ea typeface="Calibri"/>
                        <a:cs typeface="Calibri"/>
                        <a:sym typeface="Calibri"/>
                      </a:endParaRPr>
                    </a:p>
                  </a:txBody>
                  <a:tcPr marL="9025" marR="9025" marT="9025" marB="9025" anchor="ctr">
                    <a:noFill/>
                  </a:tcPr>
                </a:tc>
                <a:tc>
                  <a:txBody>
                    <a:bodyPr/>
                    <a:lstStyle/>
                    <a:p>
                      <a:pPr marL="0" marR="0" lvl="0" indent="0" algn="l" rtl="0">
                        <a:lnSpc>
                          <a:spcPct val="107000"/>
                        </a:lnSpc>
                        <a:spcBef>
                          <a:spcPts val="0"/>
                        </a:spcBef>
                        <a:spcAft>
                          <a:spcPts val="0"/>
                        </a:spcAft>
                        <a:buClr>
                          <a:srgbClr val="000000"/>
                        </a:buClr>
                        <a:buSzPts val="1000"/>
                        <a:buFont typeface="Arial"/>
                        <a:buNone/>
                      </a:pPr>
                      <a:r>
                        <a:rPr lang="en-US" sz="1000" u="none" strike="noStrike" cap="none"/>
                        <a:t>Largest element bubbles to end after each pass</a:t>
                      </a:r>
                      <a:endParaRPr sz="1000" u="none" strike="noStrike" cap="none">
                        <a:latin typeface="Calibri"/>
                        <a:ea typeface="Calibri"/>
                        <a:cs typeface="Calibri"/>
                        <a:sym typeface="Calibri"/>
                      </a:endParaRPr>
                    </a:p>
                  </a:txBody>
                  <a:tcPr marL="9025" marR="9025" marT="9025" marB="9025" anchor="ctr">
                    <a:noFill/>
                  </a:tcPr>
                </a:tc>
                <a:tc>
                  <a:txBody>
                    <a:bodyPr/>
                    <a:lstStyle/>
                    <a:p>
                      <a:pPr marL="0" marR="0" lvl="0" indent="0" algn="l" rtl="0">
                        <a:lnSpc>
                          <a:spcPct val="107000"/>
                        </a:lnSpc>
                        <a:spcBef>
                          <a:spcPts val="0"/>
                        </a:spcBef>
                        <a:spcAft>
                          <a:spcPts val="0"/>
                        </a:spcAft>
                        <a:buClr>
                          <a:srgbClr val="000000"/>
                        </a:buClr>
                        <a:buSzPts val="1000"/>
                        <a:buFont typeface="Arial"/>
                        <a:buNone/>
                      </a:pPr>
                      <a:r>
                        <a:rPr lang="en-US" sz="1000" u="none" strike="noStrike" cap="none"/>
                        <a:t>Smallest element placed at beginning after each pass</a:t>
                      </a:r>
                      <a:endParaRPr sz="1000" u="none" strike="noStrike" cap="none">
                        <a:latin typeface="Calibri"/>
                        <a:ea typeface="Calibri"/>
                        <a:cs typeface="Calibri"/>
                        <a:sym typeface="Calibri"/>
                      </a:endParaRPr>
                    </a:p>
                  </a:txBody>
                  <a:tcPr marL="9025" marR="9025" marT="9025" marB="9025" anchor="ctr">
                    <a:noFill/>
                  </a:tcPr>
                </a:tc>
                <a:extLst>
                  <a:ext uri="{0D108BD9-81ED-4DB2-BD59-A6C34878D82A}">
                    <a16:rowId xmlns:a16="http://schemas.microsoft.com/office/drawing/2014/main" val="10003"/>
                  </a:ext>
                </a:extLst>
              </a:tr>
              <a:tr h="532950">
                <a:tc>
                  <a:txBody>
                    <a:bodyPr/>
                    <a:lstStyle/>
                    <a:p>
                      <a:pPr marL="0" marR="0" lvl="0" indent="0" algn="l" rtl="0">
                        <a:lnSpc>
                          <a:spcPct val="107000"/>
                        </a:lnSpc>
                        <a:spcBef>
                          <a:spcPts val="0"/>
                        </a:spcBef>
                        <a:spcAft>
                          <a:spcPts val="0"/>
                        </a:spcAft>
                        <a:buClr>
                          <a:srgbClr val="000000"/>
                        </a:buClr>
                        <a:buSzPts val="1000"/>
                        <a:buFont typeface="Arial"/>
                        <a:buNone/>
                      </a:pPr>
                      <a:r>
                        <a:rPr lang="en-US" sz="1000" u="none" strike="noStrike" cap="none"/>
                        <a:t>Optimization</a:t>
                      </a:r>
                      <a:endParaRPr sz="1000" u="none" strike="noStrike" cap="none">
                        <a:latin typeface="Calibri"/>
                        <a:ea typeface="Calibri"/>
                        <a:cs typeface="Calibri"/>
                        <a:sym typeface="Calibri"/>
                      </a:endParaRPr>
                    </a:p>
                  </a:txBody>
                  <a:tcPr marL="9025" marR="9025" marT="9025" marB="9025" anchor="ctr">
                    <a:noFill/>
                  </a:tcPr>
                </a:tc>
                <a:tc>
                  <a:txBody>
                    <a:bodyPr/>
                    <a:lstStyle/>
                    <a:p>
                      <a:pPr marL="0" marR="0" lvl="0" indent="0" algn="l" rtl="0">
                        <a:lnSpc>
                          <a:spcPct val="107000"/>
                        </a:lnSpc>
                        <a:spcBef>
                          <a:spcPts val="0"/>
                        </a:spcBef>
                        <a:spcAft>
                          <a:spcPts val="0"/>
                        </a:spcAft>
                        <a:buClr>
                          <a:srgbClr val="000000"/>
                        </a:buClr>
                        <a:buSzPts val="1000"/>
                        <a:buFont typeface="Arial"/>
                        <a:buNone/>
                      </a:pPr>
                      <a:r>
                        <a:rPr lang="en-US" sz="1000" u="none" strike="noStrike" cap="none"/>
                        <a:t>Can stop early if no swaps → Best case O(n)</a:t>
                      </a:r>
                      <a:endParaRPr sz="1000" u="none" strike="noStrike" cap="none">
                        <a:latin typeface="Calibri"/>
                        <a:ea typeface="Calibri"/>
                        <a:cs typeface="Calibri"/>
                        <a:sym typeface="Calibri"/>
                      </a:endParaRPr>
                    </a:p>
                  </a:txBody>
                  <a:tcPr marL="9025" marR="9025" marT="9025" marB="9025" anchor="ctr">
                    <a:noFill/>
                  </a:tcPr>
                </a:tc>
                <a:tc>
                  <a:txBody>
                    <a:bodyPr/>
                    <a:lstStyle/>
                    <a:p>
                      <a:pPr marL="0" marR="0" lvl="0" indent="0" algn="l" rtl="0">
                        <a:lnSpc>
                          <a:spcPct val="107000"/>
                        </a:lnSpc>
                        <a:spcBef>
                          <a:spcPts val="0"/>
                        </a:spcBef>
                        <a:spcAft>
                          <a:spcPts val="0"/>
                        </a:spcAft>
                        <a:buClr>
                          <a:srgbClr val="000000"/>
                        </a:buClr>
                        <a:buSzPts val="1000"/>
                        <a:buFont typeface="Arial"/>
                        <a:buNone/>
                      </a:pPr>
                      <a:r>
                        <a:rPr lang="en-US" sz="1000" u="none" strike="noStrike" cap="none"/>
                        <a:t>Always scans full unsorted → No best-case optimization</a:t>
                      </a:r>
                      <a:endParaRPr sz="1000" u="none" strike="noStrike" cap="none">
                        <a:latin typeface="Calibri"/>
                        <a:ea typeface="Calibri"/>
                        <a:cs typeface="Calibri"/>
                        <a:sym typeface="Calibri"/>
                      </a:endParaRPr>
                    </a:p>
                  </a:txBody>
                  <a:tcPr marL="9025" marR="9025" marT="9025" marB="9025" anchor="ctr">
                    <a:noFill/>
                  </a:tcPr>
                </a:tc>
                <a:extLst>
                  <a:ext uri="{0D108BD9-81ED-4DB2-BD59-A6C34878D82A}">
                    <a16:rowId xmlns:a16="http://schemas.microsoft.com/office/drawing/2014/main" val="10004"/>
                  </a:ext>
                </a:extLst>
              </a:tr>
              <a:tr h="520175">
                <a:tc>
                  <a:txBody>
                    <a:bodyPr/>
                    <a:lstStyle/>
                    <a:p>
                      <a:pPr marL="0" marR="0" lvl="0" indent="0" algn="l" rtl="0">
                        <a:lnSpc>
                          <a:spcPct val="107000"/>
                        </a:lnSpc>
                        <a:spcBef>
                          <a:spcPts val="0"/>
                        </a:spcBef>
                        <a:spcAft>
                          <a:spcPts val="0"/>
                        </a:spcAft>
                        <a:buClr>
                          <a:srgbClr val="000000"/>
                        </a:buClr>
                        <a:buSzPts val="1000"/>
                        <a:buFont typeface="Arial"/>
                        <a:buNone/>
                      </a:pPr>
                      <a:r>
                        <a:rPr lang="en-US" sz="1000" u="none" strike="noStrike" cap="none"/>
                        <a:t>Efficiency</a:t>
                      </a:r>
                      <a:endParaRPr sz="1000" u="none" strike="noStrike" cap="none">
                        <a:latin typeface="Calibri"/>
                        <a:ea typeface="Calibri"/>
                        <a:cs typeface="Calibri"/>
                        <a:sym typeface="Calibri"/>
                      </a:endParaRPr>
                    </a:p>
                  </a:txBody>
                  <a:tcPr marL="9025" marR="9025" marT="9025" marB="9025" anchor="ctr">
                    <a:noFill/>
                  </a:tcPr>
                </a:tc>
                <a:tc>
                  <a:txBody>
                    <a:bodyPr/>
                    <a:lstStyle/>
                    <a:p>
                      <a:pPr marL="0" marR="0" lvl="0" indent="0" algn="l" rtl="0">
                        <a:lnSpc>
                          <a:spcPct val="107000"/>
                        </a:lnSpc>
                        <a:spcBef>
                          <a:spcPts val="0"/>
                        </a:spcBef>
                        <a:spcAft>
                          <a:spcPts val="0"/>
                        </a:spcAft>
                        <a:buClr>
                          <a:srgbClr val="000000"/>
                        </a:buClr>
                        <a:buSzPts val="1000"/>
                        <a:buFont typeface="Arial"/>
                        <a:buNone/>
                      </a:pPr>
                      <a:r>
                        <a:rPr lang="en-US" sz="1000" u="none" strike="noStrike" cap="none"/>
                        <a:t>Inefficient for large arrays (many swaps)</a:t>
                      </a:r>
                      <a:endParaRPr sz="1000" u="none" strike="noStrike" cap="none">
                        <a:latin typeface="Calibri"/>
                        <a:ea typeface="Calibri"/>
                        <a:cs typeface="Calibri"/>
                        <a:sym typeface="Calibri"/>
                      </a:endParaRPr>
                    </a:p>
                  </a:txBody>
                  <a:tcPr marL="9025" marR="9025" marT="9025" marB="9025" anchor="ctr">
                    <a:noFill/>
                  </a:tcPr>
                </a:tc>
                <a:tc>
                  <a:txBody>
                    <a:bodyPr/>
                    <a:lstStyle/>
                    <a:p>
                      <a:pPr marL="0" marR="0" lvl="0" indent="0" algn="l" rtl="0">
                        <a:lnSpc>
                          <a:spcPct val="107000"/>
                        </a:lnSpc>
                        <a:spcBef>
                          <a:spcPts val="0"/>
                        </a:spcBef>
                        <a:spcAft>
                          <a:spcPts val="0"/>
                        </a:spcAft>
                        <a:buClr>
                          <a:srgbClr val="000000"/>
                        </a:buClr>
                        <a:buSzPts val="1000"/>
                        <a:buFont typeface="Arial"/>
                        <a:buNone/>
                      </a:pPr>
                      <a:r>
                        <a:rPr lang="en-US" sz="1000" u="none" strike="noStrike" cap="none"/>
                        <a:t>Fewer swaps, but still O(n²) comparisons</a:t>
                      </a:r>
                      <a:endParaRPr sz="1000" u="none" strike="noStrike" cap="none">
                        <a:latin typeface="Calibri"/>
                        <a:ea typeface="Calibri"/>
                        <a:cs typeface="Calibri"/>
                        <a:sym typeface="Calibri"/>
                      </a:endParaRPr>
                    </a:p>
                  </a:txBody>
                  <a:tcPr marL="9025" marR="9025" marT="9025" marB="9025" anchor="ctr">
                    <a:noFill/>
                  </a:tcPr>
                </a:tc>
                <a:extLst>
                  <a:ext uri="{0D108BD9-81ED-4DB2-BD59-A6C34878D82A}">
                    <a16:rowId xmlns:a16="http://schemas.microsoft.com/office/drawing/2014/main" val="10005"/>
                  </a:ext>
                </a:extLst>
              </a:tr>
              <a:tr h="520175">
                <a:tc>
                  <a:txBody>
                    <a:bodyPr/>
                    <a:lstStyle/>
                    <a:p>
                      <a:pPr marL="0" marR="0" lvl="0" indent="0" algn="l" rtl="0">
                        <a:lnSpc>
                          <a:spcPct val="107000"/>
                        </a:lnSpc>
                        <a:spcBef>
                          <a:spcPts val="0"/>
                        </a:spcBef>
                        <a:spcAft>
                          <a:spcPts val="0"/>
                        </a:spcAft>
                        <a:buClr>
                          <a:srgbClr val="000000"/>
                        </a:buClr>
                        <a:buSzPts val="1000"/>
                        <a:buFont typeface="Arial"/>
                        <a:buNone/>
                      </a:pPr>
                      <a:r>
                        <a:rPr lang="en-US" sz="1000" u="none" strike="noStrike" cap="none"/>
                        <a:t>Use case</a:t>
                      </a:r>
                      <a:endParaRPr sz="1000" u="none" strike="noStrike" cap="none">
                        <a:latin typeface="Calibri"/>
                        <a:ea typeface="Calibri"/>
                        <a:cs typeface="Calibri"/>
                        <a:sym typeface="Calibri"/>
                      </a:endParaRPr>
                    </a:p>
                  </a:txBody>
                  <a:tcPr marL="9025" marR="9025" marT="9025" marB="9025" anchor="ctr">
                    <a:noFill/>
                  </a:tcPr>
                </a:tc>
                <a:tc>
                  <a:txBody>
                    <a:bodyPr/>
                    <a:lstStyle/>
                    <a:p>
                      <a:pPr marL="0" marR="0" lvl="0" indent="0" algn="l" rtl="0">
                        <a:lnSpc>
                          <a:spcPct val="107000"/>
                        </a:lnSpc>
                        <a:spcBef>
                          <a:spcPts val="0"/>
                        </a:spcBef>
                        <a:spcAft>
                          <a:spcPts val="0"/>
                        </a:spcAft>
                        <a:buClr>
                          <a:srgbClr val="000000"/>
                        </a:buClr>
                        <a:buSzPts val="1000"/>
                        <a:buFont typeface="Arial"/>
                        <a:buNone/>
                      </a:pPr>
                      <a:r>
                        <a:rPr lang="en-US" sz="1000" u="none" strike="noStrike" cap="none"/>
                        <a:t>Works well if array is almost sorted</a:t>
                      </a:r>
                      <a:endParaRPr sz="1000" u="none" strike="noStrike" cap="none">
                        <a:latin typeface="Calibri"/>
                        <a:ea typeface="Calibri"/>
                        <a:cs typeface="Calibri"/>
                        <a:sym typeface="Calibri"/>
                      </a:endParaRPr>
                    </a:p>
                  </a:txBody>
                  <a:tcPr marL="9025" marR="9025" marT="9025" marB="9025" anchor="ctr">
                    <a:noFill/>
                  </a:tcPr>
                </a:tc>
                <a:tc>
                  <a:txBody>
                    <a:bodyPr/>
                    <a:lstStyle/>
                    <a:p>
                      <a:pPr marL="0" marR="0" lvl="0" indent="0" algn="l" rtl="0">
                        <a:lnSpc>
                          <a:spcPct val="107000"/>
                        </a:lnSpc>
                        <a:spcBef>
                          <a:spcPts val="0"/>
                        </a:spcBef>
                        <a:spcAft>
                          <a:spcPts val="0"/>
                        </a:spcAft>
                        <a:buClr>
                          <a:srgbClr val="000000"/>
                        </a:buClr>
                        <a:buSzPts val="1000"/>
                        <a:buFont typeface="Arial"/>
                        <a:buNone/>
                      </a:pPr>
                      <a:r>
                        <a:rPr lang="en-US" sz="1000" u="none" strike="noStrike" cap="none"/>
                        <a:t>Works consistently, no early stop</a:t>
                      </a:r>
                      <a:endParaRPr sz="1000" u="none" strike="noStrike" cap="none">
                        <a:latin typeface="Calibri"/>
                        <a:ea typeface="Calibri"/>
                        <a:cs typeface="Calibri"/>
                        <a:sym typeface="Calibri"/>
                      </a:endParaRPr>
                    </a:p>
                  </a:txBody>
                  <a:tcPr marL="9025" marR="9025" marT="9025" marB="9025" anchor="ctr">
                    <a:noFill/>
                  </a:tcPr>
                </a:tc>
                <a:extLst>
                  <a:ext uri="{0D108BD9-81ED-4DB2-BD59-A6C34878D82A}">
                    <a16:rowId xmlns:a16="http://schemas.microsoft.com/office/drawing/2014/main" val="10006"/>
                  </a:ext>
                </a:extLst>
              </a:tr>
              <a:tr h="532950">
                <a:tc>
                  <a:txBody>
                    <a:bodyPr/>
                    <a:lstStyle/>
                    <a:p>
                      <a:pPr marL="0" marR="0" lvl="0" indent="0" algn="l" rtl="0">
                        <a:lnSpc>
                          <a:spcPct val="107000"/>
                        </a:lnSpc>
                        <a:spcBef>
                          <a:spcPts val="0"/>
                        </a:spcBef>
                        <a:spcAft>
                          <a:spcPts val="0"/>
                        </a:spcAft>
                        <a:buClr>
                          <a:srgbClr val="000000"/>
                        </a:buClr>
                        <a:buSzPts val="1000"/>
                        <a:buFont typeface="Arial"/>
                        <a:buNone/>
                      </a:pPr>
                      <a:r>
                        <a:rPr lang="en-US" sz="1000" u="none" strike="noStrike" cap="none"/>
                        <a:t>Example</a:t>
                      </a:r>
                      <a:endParaRPr sz="1000" u="none" strike="noStrike" cap="none">
                        <a:latin typeface="Calibri"/>
                        <a:ea typeface="Calibri"/>
                        <a:cs typeface="Calibri"/>
                        <a:sym typeface="Calibri"/>
                      </a:endParaRPr>
                    </a:p>
                  </a:txBody>
                  <a:tcPr marL="9025" marR="9025" marT="9025" marB="9025" anchor="ctr">
                    <a:noFill/>
                  </a:tcPr>
                </a:tc>
                <a:tc>
                  <a:txBody>
                    <a:bodyPr/>
                    <a:lstStyle/>
                    <a:p>
                      <a:pPr marL="0" marR="0" lvl="0" indent="0" algn="l" rtl="0">
                        <a:lnSpc>
                          <a:spcPct val="107000"/>
                        </a:lnSpc>
                        <a:spcBef>
                          <a:spcPts val="0"/>
                        </a:spcBef>
                        <a:spcAft>
                          <a:spcPts val="0"/>
                        </a:spcAft>
                        <a:buClr>
                          <a:srgbClr val="000000"/>
                        </a:buClr>
                        <a:buSzPts val="1000"/>
                        <a:buFont typeface="Arial"/>
                        <a:buNone/>
                      </a:pPr>
                      <a:r>
                        <a:rPr lang="en-US" sz="1000" u="none" strike="noStrike" cap="none"/>
                        <a:t>Sorting → keeps swapping neighbors</a:t>
                      </a:r>
                      <a:endParaRPr sz="1000" u="none" strike="noStrike" cap="none">
                        <a:latin typeface="Calibri"/>
                        <a:ea typeface="Calibri"/>
                        <a:cs typeface="Calibri"/>
                        <a:sym typeface="Calibri"/>
                      </a:endParaRPr>
                    </a:p>
                  </a:txBody>
                  <a:tcPr marL="9025" marR="9025" marT="9025" marB="9025" anchor="ctr">
                    <a:noFill/>
                  </a:tcPr>
                </a:tc>
                <a:tc>
                  <a:txBody>
                    <a:bodyPr/>
                    <a:lstStyle/>
                    <a:p>
                      <a:pPr marL="0" marR="0" lvl="0" indent="0" algn="l" rtl="0">
                        <a:lnSpc>
                          <a:spcPct val="107000"/>
                        </a:lnSpc>
                        <a:spcBef>
                          <a:spcPts val="0"/>
                        </a:spcBef>
                        <a:spcAft>
                          <a:spcPts val="0"/>
                        </a:spcAft>
                        <a:buClr>
                          <a:srgbClr val="000000"/>
                        </a:buClr>
                        <a:buSzPts val="1000"/>
                        <a:buFont typeface="Arial"/>
                        <a:buNone/>
                      </a:pPr>
                      <a:r>
                        <a:rPr lang="en-US" sz="1000" u="none" strike="noStrike" cap="none"/>
                        <a:t>Sorting → picks 3, swaps with 5</a:t>
                      </a:r>
                      <a:endParaRPr sz="1000" u="none" strike="noStrike" cap="none">
                        <a:latin typeface="Calibri"/>
                        <a:ea typeface="Calibri"/>
                        <a:cs typeface="Calibri"/>
                        <a:sym typeface="Calibri"/>
                      </a:endParaRPr>
                    </a:p>
                  </a:txBody>
                  <a:tcPr marL="9025" marR="9025" marT="9025" marB="9025" anchor="ctr">
                    <a:noFill/>
                  </a:tcPr>
                </a:tc>
                <a:extLst>
                  <a:ext uri="{0D108BD9-81ED-4DB2-BD59-A6C34878D82A}">
                    <a16:rowId xmlns:a16="http://schemas.microsoft.com/office/drawing/2014/main" val="10007"/>
                  </a:ext>
                </a:extLst>
              </a:tr>
            </a:tbl>
          </a:graphicData>
        </a:graphic>
      </p:graphicFrame>
      <p:sp>
        <p:nvSpPr>
          <p:cNvPr id="330" name="Google Shape;330;p64"/>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45454"/>
              <a:buNone/>
            </a:pPr>
            <a:r>
              <a:rPr lang="en-US" b="1"/>
              <a:t>Bubble Sort 🫧 vs Selection Sort 🎯</a:t>
            </a:r>
            <a:endParaRPr/>
          </a:p>
        </p:txBody>
      </p:sp>
      <p:sp>
        <p:nvSpPr>
          <p:cNvPr id="331" name="Google Shape;331;p64"/>
          <p:cNvSpPr txBox="1">
            <a:spLocks noGrp="1"/>
          </p:cNvSpPr>
          <p:nvPr>
            <p:ph type="body" idx="1"/>
          </p:nvPr>
        </p:nvSpPr>
        <p:spPr>
          <a:xfrm>
            <a:off x="457200" y="1200150"/>
            <a:ext cx="8229600" cy="3811599"/>
          </a:xfrm>
          <a:prstGeom prst="rect">
            <a:avLst/>
          </a:prstGeom>
          <a:noFill/>
          <a:ln>
            <a:noFill/>
          </a:ln>
        </p:spPr>
        <p:txBody>
          <a:bodyPr spcFirstLastPara="1" wrap="square" lIns="91425" tIns="45700" rIns="91425" bIns="45700" anchor="t" anchorCtr="0">
            <a:normAutofit/>
          </a:bodyPr>
          <a:lstStyle/>
          <a:p>
            <a:pPr marL="457200" lvl="0" indent="-342900" algn="l" rtl="0">
              <a:lnSpc>
                <a:spcPct val="100000"/>
              </a:lnSpc>
              <a:spcBef>
                <a:spcPts val="360"/>
              </a:spcBef>
              <a:spcAft>
                <a:spcPts val="0"/>
              </a:spcAft>
              <a:buClr>
                <a:schemeClr val="dk1"/>
              </a:buClr>
              <a:buSzPts val="1800"/>
              <a:buChar char="•"/>
            </a:pPr>
            <a:r>
              <a:rPr lang="en-US"/>
              <a:t>.</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graphicFrame>
        <p:nvGraphicFramePr>
          <p:cNvPr id="336" name="Google Shape;336;p65"/>
          <p:cNvGraphicFramePr/>
          <p:nvPr/>
        </p:nvGraphicFramePr>
        <p:xfrm>
          <a:off x="457200" y="1137765"/>
          <a:ext cx="3000000" cy="3000000"/>
        </p:xfrm>
        <a:graphic>
          <a:graphicData uri="http://schemas.openxmlformats.org/drawingml/2006/table">
            <a:tbl>
              <a:tblPr>
                <a:noFill/>
                <a:tableStyleId>{C95FAF0B-75DE-49B8-8A69-EB26AC6AE8BD}</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552275">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t>Algorithm</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t>Swap Strategy</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t>Swap Count (for </a:t>
                      </a:r>
                      <a:r>
                        <a:rPr lang="en-US" sz="1400" b="1" u="none" strike="noStrike" cap="none">
                          <a:latin typeface="Courier New"/>
                          <a:ea typeface="Courier New"/>
                          <a:cs typeface="Courier New"/>
                          <a:sym typeface="Courier New"/>
                        </a:rPr>
                        <a:t>[8,6,5,3]</a:t>
                      </a:r>
                      <a:r>
                        <a:rPr lang="en-US" sz="1400" b="1" u="none" strike="noStrike" cap="none"/>
                        <a:t>)</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0"/>
                  </a:ext>
                </a:extLst>
              </a:tr>
              <a:tr h="938850">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t>Bubble Sort</a:t>
                      </a:r>
                      <a:r>
                        <a:rPr lang="en-US" sz="1400" u="none" strike="noStrike" cap="none"/>
                        <a:t> 🫧</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Swaps any adjacent pair that's out of order.</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t>High (6 swaps)</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1"/>
                  </a:ext>
                </a:extLst>
              </a:tr>
              <a:tr h="938850">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t>Selection Sort</a:t>
                      </a:r>
                      <a:r>
                        <a:rPr lang="en-US" sz="1400" u="none" strike="noStrike" cap="none"/>
                        <a:t> 🔎</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Finds the minimum, then performs one swap per pass.</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t>Low (2 swaps)</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36"/>
          <p:cNvSpPr txBox="1">
            <a:spLocks noGrp="1"/>
          </p:cNvSpPr>
          <p:nvPr>
            <p:ph type="title"/>
          </p:nvPr>
        </p:nvSpPr>
        <p:spPr>
          <a:xfrm>
            <a:off x="914400" y="2114550"/>
            <a:ext cx="7886700" cy="994172"/>
          </a:xfrm>
          <a:prstGeom prst="rect">
            <a:avLst/>
          </a:prstGeom>
          <a:noFill/>
          <a:ln>
            <a:noFill/>
          </a:ln>
        </p:spPr>
        <p:txBody>
          <a:bodyPr spcFirstLastPara="1" wrap="square" lIns="68550" tIns="34275" rIns="68550" bIns="34275" anchor="ctr" anchorCtr="0">
            <a:normAutofit fontScale="90000"/>
          </a:bodyPr>
          <a:lstStyle/>
          <a:p>
            <a:pPr marL="0" lvl="0" indent="0" algn="ctr" rtl="0">
              <a:lnSpc>
                <a:spcPct val="90000"/>
              </a:lnSpc>
              <a:spcBef>
                <a:spcPts val="0"/>
              </a:spcBef>
              <a:spcAft>
                <a:spcPts val="0"/>
              </a:spcAft>
              <a:buClr>
                <a:schemeClr val="dk1"/>
              </a:buClr>
              <a:buSzPct val="111111"/>
              <a:buFont typeface="Calibri"/>
              <a:buNone/>
            </a:pPr>
            <a:r>
              <a:rPr lang="en-US" b="1"/>
              <a:t>Applications of Two Dimensional Array</a:t>
            </a:r>
            <a:endParaRPr b="1"/>
          </a:p>
        </p:txBody>
      </p:sp>
      <p:pic>
        <p:nvPicPr>
          <p:cNvPr id="342" name="Google Shape;342;p36"/>
          <p:cNvPicPr preferRelativeResize="0"/>
          <p:nvPr/>
        </p:nvPicPr>
        <p:blipFill rotWithShape="1">
          <a:blip r:embed="rId3">
            <a:alphaModFix/>
          </a:blip>
          <a:srcRect/>
          <a:stretch/>
        </p:blipFill>
        <p:spPr>
          <a:xfrm>
            <a:off x="7239000" y="7783"/>
            <a:ext cx="1653683" cy="61727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1"/>
                                        </p:tgtEl>
                                        <p:attrNameLst>
                                          <p:attrName>style.visibility</p:attrName>
                                        </p:attrNameLst>
                                      </p:cBhvr>
                                      <p:to>
                                        <p:strVal val="visible"/>
                                      </p:to>
                                    </p:set>
                                    <p:animEffect transition="in" filter="fade">
                                      <p:cBhvr>
                                        <p:cTn id="7" dur="1000"/>
                                        <p:tgtEl>
                                          <p:spTgt spid="3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37"/>
          <p:cNvSpPr txBox="1">
            <a:spLocks noGrp="1"/>
          </p:cNvSpPr>
          <p:nvPr>
            <p:ph type="title"/>
          </p:nvPr>
        </p:nvSpPr>
        <p:spPr>
          <a:xfrm>
            <a:off x="628650" y="273844"/>
            <a:ext cx="7886700" cy="994172"/>
          </a:xfrm>
          <a:prstGeom prst="rect">
            <a:avLst/>
          </a:prstGeom>
          <a:noFill/>
          <a:ln>
            <a:noFill/>
          </a:ln>
        </p:spPr>
        <p:txBody>
          <a:bodyPr spcFirstLastPara="1" wrap="square" lIns="68550" tIns="34275" rIns="68550" bIns="34275"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2D array</a:t>
            </a:r>
            <a:endParaRPr b="1"/>
          </a:p>
        </p:txBody>
      </p:sp>
      <p:sp>
        <p:nvSpPr>
          <p:cNvPr id="348" name="Google Shape;348;p37"/>
          <p:cNvSpPr txBox="1">
            <a:spLocks noGrp="1"/>
          </p:cNvSpPr>
          <p:nvPr>
            <p:ph type="body" idx="1"/>
          </p:nvPr>
        </p:nvSpPr>
        <p:spPr>
          <a:xfrm>
            <a:off x="628650" y="1268016"/>
            <a:ext cx="7886700" cy="3364707"/>
          </a:xfrm>
          <a:prstGeom prst="rect">
            <a:avLst/>
          </a:prstGeom>
          <a:noFill/>
          <a:ln>
            <a:noFill/>
          </a:ln>
        </p:spPr>
        <p:txBody>
          <a:bodyPr spcFirstLastPara="1" wrap="square" lIns="68550" tIns="34275" rIns="68550" bIns="34275" anchor="t" anchorCtr="0">
            <a:normAutofit/>
          </a:bodyPr>
          <a:lstStyle/>
          <a:p>
            <a:pPr marL="0" lvl="0" indent="0" algn="just" rtl="0">
              <a:lnSpc>
                <a:spcPct val="150000"/>
              </a:lnSpc>
              <a:spcBef>
                <a:spcPts val="0"/>
              </a:spcBef>
              <a:spcAft>
                <a:spcPts val="0"/>
              </a:spcAft>
              <a:buClr>
                <a:schemeClr val="dk1"/>
              </a:buClr>
              <a:buSzPts val="2800"/>
              <a:buNone/>
            </a:pPr>
            <a:r>
              <a:rPr lang="en-US" sz="2000"/>
              <a:t> Scenario 1: Cinema Seating Arrangement 🎬</a:t>
            </a:r>
            <a:endParaRPr/>
          </a:p>
          <a:p>
            <a:pPr marL="342900" lvl="0" indent="-342900" algn="just" rtl="0">
              <a:lnSpc>
                <a:spcPct val="150000"/>
              </a:lnSpc>
              <a:spcBef>
                <a:spcPts val="0"/>
              </a:spcBef>
              <a:spcAft>
                <a:spcPts val="0"/>
              </a:spcAft>
              <a:buClr>
                <a:schemeClr val="dk1"/>
              </a:buClr>
              <a:buSzPts val="2800"/>
              <a:buChar char="•"/>
            </a:pPr>
            <a:r>
              <a:rPr lang="en-US" sz="2000"/>
              <a:t>A movie theater has rows and columns of seats.</a:t>
            </a:r>
            <a:endParaRPr/>
          </a:p>
          <a:p>
            <a:pPr marL="342900" lvl="0" indent="-342900" algn="just" rtl="0">
              <a:lnSpc>
                <a:spcPct val="150000"/>
              </a:lnSpc>
              <a:spcBef>
                <a:spcPts val="0"/>
              </a:spcBef>
              <a:spcAft>
                <a:spcPts val="0"/>
              </a:spcAft>
              <a:buClr>
                <a:schemeClr val="dk1"/>
              </a:buClr>
              <a:buSzPts val="2800"/>
              <a:buChar char="•"/>
            </a:pPr>
            <a:r>
              <a:rPr lang="en-US" sz="2000"/>
              <a:t>Each seat can be booked (1) or available (0).</a:t>
            </a:r>
            <a:endParaRPr/>
          </a:p>
          <a:p>
            <a:pPr marL="0" lvl="0" indent="0" algn="just" rtl="0">
              <a:lnSpc>
                <a:spcPct val="150000"/>
              </a:lnSpc>
              <a:spcBef>
                <a:spcPts val="0"/>
              </a:spcBef>
              <a:spcAft>
                <a:spcPts val="0"/>
              </a:spcAft>
              <a:buClr>
                <a:schemeClr val="dk1"/>
              </a:buClr>
              <a:buSzPts val="2800"/>
              <a:buNone/>
            </a:pPr>
            <a:endParaRPr sz="2000"/>
          </a:p>
          <a:p>
            <a:pPr marL="0" lvl="0" indent="0" algn="just" rtl="0">
              <a:lnSpc>
                <a:spcPct val="150000"/>
              </a:lnSpc>
              <a:spcBef>
                <a:spcPts val="0"/>
              </a:spcBef>
              <a:spcAft>
                <a:spcPts val="0"/>
              </a:spcAft>
              <a:buClr>
                <a:schemeClr val="dk1"/>
              </a:buClr>
              <a:buSzPts val="2800"/>
              <a:buNone/>
            </a:pPr>
            <a:r>
              <a:rPr lang="en-US" sz="2000"/>
              <a:t>Row 1, Seat 2 is available, while Row 1, Seat 1 is booked!</a:t>
            </a:r>
            <a:endParaRPr sz="2000"/>
          </a:p>
        </p:txBody>
      </p:sp>
      <p:pic>
        <p:nvPicPr>
          <p:cNvPr id="349" name="Google Shape;349;p37"/>
          <p:cNvPicPr preferRelativeResize="0"/>
          <p:nvPr/>
        </p:nvPicPr>
        <p:blipFill rotWithShape="1">
          <a:blip r:embed="rId3">
            <a:alphaModFix/>
          </a:blip>
          <a:srcRect/>
          <a:stretch/>
        </p:blipFill>
        <p:spPr>
          <a:xfrm>
            <a:off x="7239000" y="7783"/>
            <a:ext cx="1653683" cy="617273"/>
          </a:xfrm>
          <a:prstGeom prst="rect">
            <a:avLst/>
          </a:prstGeom>
          <a:noFill/>
          <a:ln>
            <a:noFill/>
          </a:ln>
        </p:spPr>
      </p:pic>
      <p:sp>
        <p:nvSpPr>
          <p:cNvPr id="350" name="Google Shape;350;p37"/>
          <p:cNvSpPr/>
          <p:nvPr/>
        </p:nvSpPr>
        <p:spPr>
          <a:xfrm>
            <a:off x="1219200" y="2765628"/>
            <a:ext cx="4800600" cy="381000"/>
          </a:xfrm>
          <a:prstGeom prst="rect">
            <a:avLst/>
          </a:prstGeom>
          <a:solidFill>
            <a:schemeClr val="lt1"/>
          </a:solid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400050" marR="0" lvl="1" indent="0" algn="l" rtl="0">
              <a:lnSpc>
                <a:spcPct val="150000"/>
              </a:lnSpc>
              <a:spcBef>
                <a:spcPts val="0"/>
              </a:spcBef>
              <a:spcAft>
                <a:spcPts val="0"/>
              </a:spcAft>
              <a:buClr>
                <a:schemeClr val="dk1"/>
              </a:buClr>
              <a:buSzPts val="2800"/>
              <a:buFont typeface="Calibri"/>
              <a:buNone/>
            </a:pPr>
            <a:r>
              <a:rPr lang="en-US" sz="1800" b="0" i="0" u="none" strike="noStrike" cap="none">
                <a:solidFill>
                  <a:schemeClr val="dk1"/>
                </a:solidFill>
                <a:latin typeface="Calibri"/>
                <a:ea typeface="Calibri"/>
                <a:cs typeface="Calibri"/>
                <a:sym typeface="Calibri"/>
              </a:rPr>
              <a:t>cinema[5][10] = { {1, 0, 1, 1}, {0, 0, 1, 0}, ... };</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7"/>
                                        </p:tgtEl>
                                        <p:attrNameLst>
                                          <p:attrName>style.visibility</p:attrName>
                                        </p:attrNameLst>
                                      </p:cBhvr>
                                      <p:to>
                                        <p:strVal val="visible"/>
                                      </p:to>
                                    </p:set>
                                    <p:animEffect transition="in" filter="fade">
                                      <p:cBhvr>
                                        <p:cTn id="7" dur="1000"/>
                                        <p:tgtEl>
                                          <p:spTgt spid="34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48">
                                            <p:txEl>
                                              <p:pRg st="0" end="0"/>
                                            </p:txEl>
                                          </p:spTgt>
                                        </p:tgtEl>
                                        <p:attrNameLst>
                                          <p:attrName>style.visibility</p:attrName>
                                        </p:attrNameLst>
                                      </p:cBhvr>
                                      <p:to>
                                        <p:strVal val="visible"/>
                                      </p:to>
                                    </p:set>
                                    <p:anim calcmode="lin" valueType="num">
                                      <p:cBhvr additive="base">
                                        <p:cTn id="12" dur="500"/>
                                        <p:tgtEl>
                                          <p:spTgt spid="34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48">
                                            <p:txEl>
                                              <p:pRg st="1" end="1"/>
                                            </p:txEl>
                                          </p:spTgt>
                                        </p:tgtEl>
                                        <p:attrNameLst>
                                          <p:attrName>style.visibility</p:attrName>
                                        </p:attrNameLst>
                                      </p:cBhvr>
                                      <p:to>
                                        <p:strVal val="visible"/>
                                      </p:to>
                                    </p:set>
                                    <p:anim calcmode="lin" valueType="num">
                                      <p:cBhvr additive="base">
                                        <p:cTn id="17" dur="500"/>
                                        <p:tgtEl>
                                          <p:spTgt spid="34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348">
                                            <p:txEl>
                                              <p:pRg st="2" end="2"/>
                                            </p:txEl>
                                          </p:spTgt>
                                        </p:tgtEl>
                                        <p:attrNameLst>
                                          <p:attrName>style.visibility</p:attrName>
                                        </p:attrNameLst>
                                      </p:cBhvr>
                                      <p:to>
                                        <p:strVal val="visible"/>
                                      </p:to>
                                    </p:set>
                                    <p:anim calcmode="lin" valueType="num">
                                      <p:cBhvr additive="base">
                                        <p:cTn id="22" dur="500"/>
                                        <p:tgtEl>
                                          <p:spTgt spid="34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48">
                                            <p:txEl>
                                              <p:pRg st="3" end="3"/>
                                            </p:txEl>
                                          </p:spTgt>
                                        </p:tgtEl>
                                        <p:attrNameLst>
                                          <p:attrName>style.visibility</p:attrName>
                                        </p:attrNameLst>
                                      </p:cBhvr>
                                      <p:to>
                                        <p:strVal val="visible"/>
                                      </p:to>
                                    </p:set>
                                    <p:anim calcmode="lin" valueType="num">
                                      <p:cBhvr additive="base">
                                        <p:cTn id="27" dur="500"/>
                                        <p:tgtEl>
                                          <p:spTgt spid="34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348">
                                            <p:txEl>
                                              <p:pRg st="4" end="4"/>
                                            </p:txEl>
                                          </p:spTgt>
                                        </p:tgtEl>
                                        <p:attrNameLst>
                                          <p:attrName>style.visibility</p:attrName>
                                        </p:attrNameLst>
                                      </p:cBhvr>
                                      <p:to>
                                        <p:strVal val="visible"/>
                                      </p:to>
                                    </p:set>
                                    <p:anim calcmode="lin" valueType="num">
                                      <p:cBhvr additive="base">
                                        <p:cTn id="32" dur="500"/>
                                        <p:tgtEl>
                                          <p:spTgt spid="348">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38"/>
          <p:cNvSpPr txBox="1">
            <a:spLocks noGrp="1"/>
          </p:cNvSpPr>
          <p:nvPr>
            <p:ph type="title"/>
          </p:nvPr>
        </p:nvSpPr>
        <p:spPr>
          <a:xfrm>
            <a:off x="628650" y="273844"/>
            <a:ext cx="7886700" cy="994172"/>
          </a:xfrm>
          <a:prstGeom prst="rect">
            <a:avLst/>
          </a:prstGeom>
          <a:noFill/>
          <a:ln>
            <a:noFill/>
          </a:ln>
        </p:spPr>
        <p:txBody>
          <a:bodyPr spcFirstLastPara="1" wrap="square" lIns="68550" tIns="34275" rIns="68550" bIns="34275"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2D array</a:t>
            </a:r>
            <a:endParaRPr b="1"/>
          </a:p>
        </p:txBody>
      </p:sp>
      <p:sp>
        <p:nvSpPr>
          <p:cNvPr id="356" name="Google Shape;356;p38"/>
          <p:cNvSpPr txBox="1">
            <a:spLocks noGrp="1"/>
          </p:cNvSpPr>
          <p:nvPr>
            <p:ph type="body" idx="1"/>
          </p:nvPr>
        </p:nvSpPr>
        <p:spPr>
          <a:xfrm>
            <a:off x="628650" y="1268016"/>
            <a:ext cx="7886700" cy="3364707"/>
          </a:xfrm>
          <a:prstGeom prst="rect">
            <a:avLst/>
          </a:prstGeom>
          <a:noFill/>
          <a:ln>
            <a:noFill/>
          </a:ln>
        </p:spPr>
        <p:txBody>
          <a:bodyPr spcFirstLastPara="1" wrap="square" lIns="68550" tIns="34275" rIns="68550" bIns="34275" anchor="t" anchorCtr="0">
            <a:normAutofit/>
          </a:bodyPr>
          <a:lstStyle/>
          <a:p>
            <a:pPr marL="0" lvl="0" indent="0" algn="just" rtl="0">
              <a:lnSpc>
                <a:spcPct val="150000"/>
              </a:lnSpc>
              <a:spcBef>
                <a:spcPts val="0"/>
              </a:spcBef>
              <a:spcAft>
                <a:spcPts val="0"/>
              </a:spcAft>
              <a:buClr>
                <a:schemeClr val="dk1"/>
              </a:buClr>
              <a:buSzPts val="2800"/>
              <a:buNone/>
            </a:pPr>
            <a:r>
              <a:rPr lang="en-US" sz="2000"/>
              <a:t> Scenario 2: Board Game (Sudoku) 🎲</a:t>
            </a:r>
            <a:endParaRPr/>
          </a:p>
          <a:p>
            <a:pPr marL="342900" lvl="0" indent="-342900" algn="just" rtl="0">
              <a:lnSpc>
                <a:spcPct val="150000"/>
              </a:lnSpc>
              <a:spcBef>
                <a:spcPts val="0"/>
              </a:spcBef>
              <a:spcAft>
                <a:spcPts val="0"/>
              </a:spcAft>
              <a:buClr>
                <a:schemeClr val="dk1"/>
              </a:buClr>
              <a:buSzPts val="2800"/>
              <a:buChar char="•"/>
            </a:pPr>
            <a:r>
              <a:rPr lang="en-US" sz="2000"/>
              <a:t>Sudoku has a 9x9 grid where each cell holds a number from 1 to 9.</a:t>
            </a:r>
            <a:endParaRPr/>
          </a:p>
          <a:p>
            <a:pPr marL="0" lvl="0" indent="0" algn="just" rtl="0">
              <a:lnSpc>
                <a:spcPct val="150000"/>
              </a:lnSpc>
              <a:spcBef>
                <a:spcPts val="0"/>
              </a:spcBef>
              <a:spcAft>
                <a:spcPts val="0"/>
              </a:spcAft>
              <a:buClr>
                <a:schemeClr val="dk1"/>
              </a:buClr>
              <a:buSzPts val="2800"/>
              <a:buNone/>
            </a:pPr>
            <a:endParaRPr sz="2000"/>
          </a:p>
          <a:p>
            <a:pPr marL="0" lvl="0" indent="0" algn="just" rtl="0">
              <a:lnSpc>
                <a:spcPct val="150000"/>
              </a:lnSpc>
              <a:spcBef>
                <a:spcPts val="0"/>
              </a:spcBef>
              <a:spcAft>
                <a:spcPts val="0"/>
              </a:spcAft>
              <a:buClr>
                <a:schemeClr val="dk1"/>
              </a:buClr>
              <a:buSzPts val="2800"/>
              <a:buNone/>
            </a:pPr>
            <a:r>
              <a:rPr lang="en-US" sz="2000"/>
              <a:t>Cells with 0 are empty and need to be filled.</a:t>
            </a:r>
            <a:endParaRPr sz="2000"/>
          </a:p>
        </p:txBody>
      </p:sp>
      <p:pic>
        <p:nvPicPr>
          <p:cNvPr id="357" name="Google Shape;357;p38"/>
          <p:cNvPicPr preferRelativeResize="0"/>
          <p:nvPr/>
        </p:nvPicPr>
        <p:blipFill rotWithShape="1">
          <a:blip r:embed="rId3">
            <a:alphaModFix/>
          </a:blip>
          <a:srcRect/>
          <a:stretch/>
        </p:blipFill>
        <p:spPr>
          <a:xfrm>
            <a:off x="7239000" y="7783"/>
            <a:ext cx="1653683" cy="617273"/>
          </a:xfrm>
          <a:prstGeom prst="rect">
            <a:avLst/>
          </a:prstGeom>
          <a:noFill/>
          <a:ln>
            <a:noFill/>
          </a:ln>
        </p:spPr>
      </p:pic>
      <p:sp>
        <p:nvSpPr>
          <p:cNvPr id="358" name="Google Shape;358;p38"/>
          <p:cNvSpPr/>
          <p:nvPr/>
        </p:nvSpPr>
        <p:spPr>
          <a:xfrm>
            <a:off x="1371600" y="2365135"/>
            <a:ext cx="4800600" cy="381000"/>
          </a:xfrm>
          <a:prstGeom prst="rect">
            <a:avLst/>
          </a:prstGeom>
          <a:solidFill>
            <a:schemeClr val="lt1"/>
          </a:solid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400050" marR="0" lvl="1" indent="0" algn="l" rtl="0">
              <a:lnSpc>
                <a:spcPct val="150000"/>
              </a:lnSpc>
              <a:spcBef>
                <a:spcPts val="0"/>
              </a:spcBef>
              <a:spcAft>
                <a:spcPts val="0"/>
              </a:spcAft>
              <a:buClr>
                <a:schemeClr val="dk1"/>
              </a:buClr>
              <a:buSzPts val="2800"/>
              <a:buFont typeface="Calibri"/>
              <a:buNone/>
            </a:pPr>
            <a:r>
              <a:rPr lang="en-US" sz="1800" b="0" i="0" u="none" strike="noStrike" cap="none">
                <a:solidFill>
                  <a:schemeClr val="dk1"/>
                </a:solidFill>
                <a:latin typeface="Calibri"/>
                <a:ea typeface="Calibri"/>
                <a:cs typeface="Calibri"/>
                <a:sym typeface="Calibri"/>
              </a:rPr>
              <a:t>sudoku[9][9] = { {5, 3, 0, 0, 7, 0, 0, 0, 0}, ... };</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5"/>
                                        </p:tgtEl>
                                        <p:attrNameLst>
                                          <p:attrName>style.visibility</p:attrName>
                                        </p:attrNameLst>
                                      </p:cBhvr>
                                      <p:to>
                                        <p:strVal val="visible"/>
                                      </p:to>
                                    </p:set>
                                    <p:animEffect transition="in" filter="fade">
                                      <p:cBhvr>
                                        <p:cTn id="7" dur="1000"/>
                                        <p:tgtEl>
                                          <p:spTgt spid="35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56">
                                            <p:txEl>
                                              <p:pRg st="0" end="0"/>
                                            </p:txEl>
                                          </p:spTgt>
                                        </p:tgtEl>
                                        <p:attrNameLst>
                                          <p:attrName>style.visibility</p:attrName>
                                        </p:attrNameLst>
                                      </p:cBhvr>
                                      <p:to>
                                        <p:strVal val="visible"/>
                                      </p:to>
                                    </p:set>
                                    <p:anim calcmode="lin" valueType="num">
                                      <p:cBhvr additive="base">
                                        <p:cTn id="12" dur="500"/>
                                        <p:tgtEl>
                                          <p:spTgt spid="35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56">
                                            <p:txEl>
                                              <p:pRg st="1" end="1"/>
                                            </p:txEl>
                                          </p:spTgt>
                                        </p:tgtEl>
                                        <p:attrNameLst>
                                          <p:attrName>style.visibility</p:attrName>
                                        </p:attrNameLst>
                                      </p:cBhvr>
                                      <p:to>
                                        <p:strVal val="visible"/>
                                      </p:to>
                                    </p:set>
                                    <p:anim calcmode="lin" valueType="num">
                                      <p:cBhvr additive="base">
                                        <p:cTn id="17" dur="500"/>
                                        <p:tgtEl>
                                          <p:spTgt spid="35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356">
                                            <p:txEl>
                                              <p:pRg st="2" end="2"/>
                                            </p:txEl>
                                          </p:spTgt>
                                        </p:tgtEl>
                                        <p:attrNameLst>
                                          <p:attrName>style.visibility</p:attrName>
                                        </p:attrNameLst>
                                      </p:cBhvr>
                                      <p:to>
                                        <p:strVal val="visible"/>
                                      </p:to>
                                    </p:set>
                                    <p:anim calcmode="lin" valueType="num">
                                      <p:cBhvr additive="base">
                                        <p:cTn id="22" dur="500"/>
                                        <p:tgtEl>
                                          <p:spTgt spid="35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56">
                                            <p:txEl>
                                              <p:pRg st="3" end="3"/>
                                            </p:txEl>
                                          </p:spTgt>
                                        </p:tgtEl>
                                        <p:attrNameLst>
                                          <p:attrName>style.visibility</p:attrName>
                                        </p:attrNameLst>
                                      </p:cBhvr>
                                      <p:to>
                                        <p:strVal val="visible"/>
                                      </p:to>
                                    </p:set>
                                    <p:anim calcmode="lin" valueType="num">
                                      <p:cBhvr additive="base">
                                        <p:cTn id="27" dur="500"/>
                                        <p:tgtEl>
                                          <p:spTgt spid="356">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a:spLocks noGrp="1"/>
          </p:cNvSpPr>
          <p:nvPr>
            <p:ph type="title"/>
          </p:nvPr>
        </p:nvSpPr>
        <p:spPr>
          <a:xfrm>
            <a:off x="628650" y="273844"/>
            <a:ext cx="7886700" cy="994172"/>
          </a:xfrm>
          <a:prstGeom prst="rect">
            <a:avLst/>
          </a:prstGeom>
          <a:noFill/>
          <a:ln>
            <a:noFill/>
          </a:ln>
        </p:spPr>
        <p:txBody>
          <a:bodyPr spcFirstLastPara="1" wrap="square" lIns="68550" tIns="34275" rIns="68550" bIns="34275"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2D array</a:t>
            </a:r>
            <a:endParaRPr b="1"/>
          </a:p>
        </p:txBody>
      </p:sp>
      <p:sp>
        <p:nvSpPr>
          <p:cNvPr id="364" name="Google Shape;364;p39"/>
          <p:cNvSpPr txBox="1">
            <a:spLocks noGrp="1"/>
          </p:cNvSpPr>
          <p:nvPr>
            <p:ph type="body" idx="1"/>
          </p:nvPr>
        </p:nvSpPr>
        <p:spPr>
          <a:xfrm>
            <a:off x="628650" y="1268016"/>
            <a:ext cx="7886700" cy="3364707"/>
          </a:xfrm>
          <a:prstGeom prst="rect">
            <a:avLst/>
          </a:prstGeom>
          <a:noFill/>
          <a:ln>
            <a:noFill/>
          </a:ln>
        </p:spPr>
        <p:txBody>
          <a:bodyPr spcFirstLastPara="1" wrap="square" lIns="68550" tIns="34275" rIns="68550" bIns="34275" anchor="t" anchorCtr="0">
            <a:noAutofit/>
          </a:bodyPr>
          <a:lstStyle/>
          <a:p>
            <a:pPr marL="0" lvl="0" indent="0" algn="just" rtl="0">
              <a:lnSpc>
                <a:spcPct val="150000"/>
              </a:lnSpc>
              <a:spcBef>
                <a:spcPts val="0"/>
              </a:spcBef>
              <a:spcAft>
                <a:spcPts val="0"/>
              </a:spcAft>
              <a:buClr>
                <a:schemeClr val="dk1"/>
              </a:buClr>
              <a:buSzPts val="2800"/>
              <a:buNone/>
            </a:pPr>
            <a:r>
              <a:rPr lang="en-US" sz="2000"/>
              <a:t> Scenario 3: Food Menu Tracker 🍔</a:t>
            </a:r>
            <a:endParaRPr/>
          </a:p>
          <a:p>
            <a:pPr marL="342900" lvl="0" indent="-342900" algn="just" rtl="0">
              <a:lnSpc>
                <a:spcPct val="150000"/>
              </a:lnSpc>
              <a:spcBef>
                <a:spcPts val="0"/>
              </a:spcBef>
              <a:spcAft>
                <a:spcPts val="0"/>
              </a:spcAft>
              <a:buClr>
                <a:schemeClr val="dk1"/>
              </a:buClr>
              <a:buSzPts val="2800"/>
              <a:buChar char="•"/>
            </a:pPr>
            <a:r>
              <a:rPr lang="en-US" sz="2000"/>
              <a:t>A restaurant tracks 3 items with their price and stock availability.</a:t>
            </a:r>
            <a:endParaRPr/>
          </a:p>
          <a:p>
            <a:pPr marL="0" lvl="0" indent="0" algn="just" rtl="0">
              <a:lnSpc>
                <a:spcPct val="150000"/>
              </a:lnSpc>
              <a:spcBef>
                <a:spcPts val="0"/>
              </a:spcBef>
              <a:spcAft>
                <a:spcPts val="0"/>
              </a:spcAft>
              <a:buClr>
                <a:schemeClr val="dk1"/>
              </a:buClr>
              <a:buSzPts val="2800"/>
              <a:buNone/>
            </a:pPr>
            <a:endParaRPr sz="2000"/>
          </a:p>
          <a:p>
            <a:pPr marL="342900" lvl="0" indent="-165100" algn="just" rtl="0">
              <a:lnSpc>
                <a:spcPct val="150000"/>
              </a:lnSpc>
              <a:spcBef>
                <a:spcPts val="0"/>
              </a:spcBef>
              <a:spcAft>
                <a:spcPts val="0"/>
              </a:spcAft>
              <a:buClr>
                <a:schemeClr val="dk1"/>
              </a:buClr>
              <a:buSzPts val="2800"/>
              <a:buNone/>
            </a:pPr>
            <a:endParaRPr sz="2000"/>
          </a:p>
          <a:p>
            <a:pPr marL="342900" lvl="0" indent="-342900" algn="just" rtl="0">
              <a:lnSpc>
                <a:spcPct val="150000"/>
              </a:lnSpc>
              <a:spcBef>
                <a:spcPts val="0"/>
              </a:spcBef>
              <a:spcAft>
                <a:spcPts val="0"/>
              </a:spcAft>
              <a:buClr>
                <a:schemeClr val="dk1"/>
              </a:buClr>
              <a:buSzPts val="2800"/>
              <a:buChar char="•"/>
            </a:pPr>
            <a:r>
              <a:rPr lang="en-US" sz="2000"/>
              <a:t>Row 1 = Pizza details</a:t>
            </a:r>
            <a:endParaRPr/>
          </a:p>
          <a:p>
            <a:pPr marL="342900" lvl="0" indent="-342900" algn="just" rtl="0">
              <a:lnSpc>
                <a:spcPct val="150000"/>
              </a:lnSpc>
              <a:spcBef>
                <a:spcPts val="0"/>
              </a:spcBef>
              <a:spcAft>
                <a:spcPts val="0"/>
              </a:spcAft>
              <a:buClr>
                <a:schemeClr val="dk1"/>
              </a:buClr>
              <a:buSzPts val="2800"/>
              <a:buChar char="•"/>
            </a:pPr>
            <a:r>
              <a:rPr lang="en-US" sz="2000"/>
              <a:t>Row 2 = Burger details</a:t>
            </a:r>
            <a:endParaRPr/>
          </a:p>
          <a:p>
            <a:pPr marL="342900" lvl="0" indent="-342900" algn="just" rtl="0">
              <a:lnSpc>
                <a:spcPct val="150000"/>
              </a:lnSpc>
              <a:spcBef>
                <a:spcPts val="0"/>
              </a:spcBef>
              <a:spcAft>
                <a:spcPts val="0"/>
              </a:spcAft>
              <a:buClr>
                <a:schemeClr val="dk1"/>
              </a:buClr>
              <a:buSzPts val="2800"/>
              <a:buChar char="•"/>
            </a:pPr>
            <a:r>
              <a:rPr lang="en-US" sz="2000"/>
              <a:t>Row 3 = Pasta details</a:t>
            </a:r>
            <a:endParaRPr/>
          </a:p>
          <a:p>
            <a:pPr marL="342900" lvl="0" indent="-342900" algn="just" rtl="0">
              <a:lnSpc>
                <a:spcPct val="150000"/>
              </a:lnSpc>
              <a:spcBef>
                <a:spcPts val="0"/>
              </a:spcBef>
              <a:spcAft>
                <a:spcPts val="0"/>
              </a:spcAft>
              <a:buClr>
                <a:schemeClr val="dk1"/>
              </a:buClr>
              <a:buSzPts val="2800"/>
              <a:buChar char="•"/>
            </a:pPr>
            <a:r>
              <a:rPr lang="en-US" sz="2000"/>
              <a:t>Check prices or availability by accessing rows and columns!</a:t>
            </a:r>
            <a:endParaRPr/>
          </a:p>
          <a:p>
            <a:pPr marL="342900" lvl="0" indent="-165100" algn="just" rtl="0">
              <a:lnSpc>
                <a:spcPct val="150000"/>
              </a:lnSpc>
              <a:spcBef>
                <a:spcPts val="0"/>
              </a:spcBef>
              <a:spcAft>
                <a:spcPts val="0"/>
              </a:spcAft>
              <a:buClr>
                <a:schemeClr val="dk1"/>
              </a:buClr>
              <a:buSzPts val="2800"/>
              <a:buNone/>
            </a:pPr>
            <a:endParaRPr sz="2000"/>
          </a:p>
        </p:txBody>
      </p:sp>
      <p:pic>
        <p:nvPicPr>
          <p:cNvPr id="365" name="Google Shape;365;p39"/>
          <p:cNvPicPr preferRelativeResize="0"/>
          <p:nvPr/>
        </p:nvPicPr>
        <p:blipFill rotWithShape="1">
          <a:blip r:embed="rId3">
            <a:alphaModFix/>
          </a:blip>
          <a:srcRect/>
          <a:stretch/>
        </p:blipFill>
        <p:spPr>
          <a:xfrm>
            <a:off x="7239000" y="7783"/>
            <a:ext cx="1653683" cy="617273"/>
          </a:xfrm>
          <a:prstGeom prst="rect">
            <a:avLst/>
          </a:prstGeom>
          <a:noFill/>
          <a:ln>
            <a:noFill/>
          </a:ln>
        </p:spPr>
      </p:pic>
      <p:pic>
        <p:nvPicPr>
          <p:cNvPr id="366" name="Google Shape;366;p39"/>
          <p:cNvPicPr preferRelativeResize="0"/>
          <p:nvPr/>
        </p:nvPicPr>
        <p:blipFill rotWithShape="1">
          <a:blip r:embed="rId4">
            <a:alphaModFix/>
          </a:blip>
          <a:srcRect/>
          <a:stretch/>
        </p:blipFill>
        <p:spPr>
          <a:xfrm>
            <a:off x="1981200" y="2190750"/>
            <a:ext cx="5041650" cy="115355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63"/>
                                        </p:tgtEl>
                                        <p:attrNameLst>
                                          <p:attrName>style.visibility</p:attrName>
                                        </p:attrNameLst>
                                      </p:cBhvr>
                                      <p:to>
                                        <p:strVal val="visible"/>
                                      </p:to>
                                    </p:set>
                                    <p:animEffect transition="in" filter="fade">
                                      <p:cBhvr>
                                        <p:cTn id="7" dur="1000"/>
                                        <p:tgtEl>
                                          <p:spTgt spid="36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64">
                                            <p:txEl>
                                              <p:pRg st="0" end="0"/>
                                            </p:txEl>
                                          </p:spTgt>
                                        </p:tgtEl>
                                        <p:attrNameLst>
                                          <p:attrName>style.visibility</p:attrName>
                                        </p:attrNameLst>
                                      </p:cBhvr>
                                      <p:to>
                                        <p:strVal val="visible"/>
                                      </p:to>
                                    </p:set>
                                    <p:anim calcmode="lin" valueType="num">
                                      <p:cBhvr additive="base">
                                        <p:cTn id="12" dur="500"/>
                                        <p:tgtEl>
                                          <p:spTgt spid="36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64">
                                            <p:txEl>
                                              <p:pRg st="1" end="1"/>
                                            </p:txEl>
                                          </p:spTgt>
                                        </p:tgtEl>
                                        <p:attrNameLst>
                                          <p:attrName>style.visibility</p:attrName>
                                        </p:attrNameLst>
                                      </p:cBhvr>
                                      <p:to>
                                        <p:strVal val="visible"/>
                                      </p:to>
                                    </p:set>
                                    <p:anim calcmode="lin" valueType="num">
                                      <p:cBhvr additive="base">
                                        <p:cTn id="17" dur="500"/>
                                        <p:tgtEl>
                                          <p:spTgt spid="36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364">
                                            <p:txEl>
                                              <p:pRg st="2" end="2"/>
                                            </p:txEl>
                                          </p:spTgt>
                                        </p:tgtEl>
                                        <p:attrNameLst>
                                          <p:attrName>style.visibility</p:attrName>
                                        </p:attrNameLst>
                                      </p:cBhvr>
                                      <p:to>
                                        <p:strVal val="visible"/>
                                      </p:to>
                                    </p:set>
                                    <p:anim calcmode="lin" valueType="num">
                                      <p:cBhvr additive="base">
                                        <p:cTn id="22" dur="500"/>
                                        <p:tgtEl>
                                          <p:spTgt spid="36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64">
                                            <p:txEl>
                                              <p:pRg st="3" end="3"/>
                                            </p:txEl>
                                          </p:spTgt>
                                        </p:tgtEl>
                                        <p:attrNameLst>
                                          <p:attrName>style.visibility</p:attrName>
                                        </p:attrNameLst>
                                      </p:cBhvr>
                                      <p:to>
                                        <p:strVal val="visible"/>
                                      </p:to>
                                    </p:set>
                                    <p:anim calcmode="lin" valueType="num">
                                      <p:cBhvr additive="base">
                                        <p:cTn id="27" dur="500"/>
                                        <p:tgtEl>
                                          <p:spTgt spid="36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364">
                                            <p:txEl>
                                              <p:pRg st="4" end="4"/>
                                            </p:txEl>
                                          </p:spTgt>
                                        </p:tgtEl>
                                        <p:attrNameLst>
                                          <p:attrName>style.visibility</p:attrName>
                                        </p:attrNameLst>
                                      </p:cBhvr>
                                      <p:to>
                                        <p:strVal val="visible"/>
                                      </p:to>
                                    </p:set>
                                    <p:anim calcmode="lin" valueType="num">
                                      <p:cBhvr additive="base">
                                        <p:cTn id="32" dur="500"/>
                                        <p:tgtEl>
                                          <p:spTgt spid="36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64">
                                            <p:txEl>
                                              <p:pRg st="5" end="5"/>
                                            </p:txEl>
                                          </p:spTgt>
                                        </p:tgtEl>
                                        <p:attrNameLst>
                                          <p:attrName>style.visibility</p:attrName>
                                        </p:attrNameLst>
                                      </p:cBhvr>
                                      <p:to>
                                        <p:strVal val="visible"/>
                                      </p:to>
                                    </p:set>
                                    <p:anim calcmode="lin" valueType="num">
                                      <p:cBhvr additive="base">
                                        <p:cTn id="37" dur="500"/>
                                        <p:tgtEl>
                                          <p:spTgt spid="36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364">
                                            <p:txEl>
                                              <p:pRg st="6" end="6"/>
                                            </p:txEl>
                                          </p:spTgt>
                                        </p:tgtEl>
                                        <p:attrNameLst>
                                          <p:attrName>style.visibility</p:attrName>
                                        </p:attrNameLst>
                                      </p:cBhvr>
                                      <p:to>
                                        <p:strVal val="visible"/>
                                      </p:to>
                                    </p:set>
                                    <p:anim calcmode="lin" valueType="num">
                                      <p:cBhvr additive="base">
                                        <p:cTn id="42" dur="500"/>
                                        <p:tgtEl>
                                          <p:spTgt spid="36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364">
                                            <p:txEl>
                                              <p:pRg st="7" end="7"/>
                                            </p:txEl>
                                          </p:spTgt>
                                        </p:tgtEl>
                                        <p:attrNameLst>
                                          <p:attrName>style.visibility</p:attrName>
                                        </p:attrNameLst>
                                      </p:cBhvr>
                                      <p:to>
                                        <p:strVal val="visible"/>
                                      </p:to>
                                    </p:set>
                                    <p:anim calcmode="lin" valueType="num">
                                      <p:cBhvr additive="base">
                                        <p:cTn id="47" dur="500"/>
                                        <p:tgtEl>
                                          <p:spTgt spid="36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364">
                                            <p:txEl>
                                              <p:pRg st="8" end="8"/>
                                            </p:txEl>
                                          </p:spTgt>
                                        </p:tgtEl>
                                        <p:attrNameLst>
                                          <p:attrName>style.visibility</p:attrName>
                                        </p:attrNameLst>
                                      </p:cBhvr>
                                      <p:to>
                                        <p:strVal val="visible"/>
                                      </p:to>
                                    </p:set>
                                    <p:anim calcmode="lin" valueType="num">
                                      <p:cBhvr additive="base">
                                        <p:cTn id="52" dur="500"/>
                                        <p:tgtEl>
                                          <p:spTgt spid="364">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40"/>
          <p:cNvSpPr txBox="1">
            <a:spLocks noGrp="1"/>
          </p:cNvSpPr>
          <p:nvPr>
            <p:ph type="title"/>
          </p:nvPr>
        </p:nvSpPr>
        <p:spPr>
          <a:xfrm>
            <a:off x="628650" y="273844"/>
            <a:ext cx="7886700" cy="994172"/>
          </a:xfrm>
          <a:prstGeom prst="rect">
            <a:avLst/>
          </a:prstGeom>
          <a:noFill/>
          <a:ln>
            <a:noFill/>
          </a:ln>
        </p:spPr>
        <p:txBody>
          <a:bodyPr spcFirstLastPara="1" wrap="square" lIns="68550" tIns="34275" rIns="68550" bIns="34275"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2D array</a:t>
            </a:r>
            <a:endParaRPr b="1"/>
          </a:p>
        </p:txBody>
      </p:sp>
      <p:sp>
        <p:nvSpPr>
          <p:cNvPr id="372" name="Google Shape;372;p40"/>
          <p:cNvSpPr txBox="1">
            <a:spLocks noGrp="1"/>
          </p:cNvSpPr>
          <p:nvPr>
            <p:ph type="body" idx="1"/>
          </p:nvPr>
        </p:nvSpPr>
        <p:spPr>
          <a:xfrm>
            <a:off x="628650" y="1268016"/>
            <a:ext cx="7886700" cy="3364707"/>
          </a:xfrm>
          <a:prstGeom prst="rect">
            <a:avLst/>
          </a:prstGeom>
          <a:noFill/>
          <a:ln>
            <a:noFill/>
          </a:ln>
        </p:spPr>
        <p:txBody>
          <a:bodyPr spcFirstLastPara="1" wrap="square" lIns="68550" tIns="34275" rIns="68550" bIns="34275" anchor="t" anchorCtr="0">
            <a:noAutofit/>
          </a:bodyPr>
          <a:lstStyle/>
          <a:p>
            <a:pPr marL="0" lvl="0" indent="0" algn="just" rtl="0">
              <a:lnSpc>
                <a:spcPct val="150000"/>
              </a:lnSpc>
              <a:spcBef>
                <a:spcPts val="0"/>
              </a:spcBef>
              <a:spcAft>
                <a:spcPts val="0"/>
              </a:spcAft>
              <a:buClr>
                <a:schemeClr val="dk1"/>
              </a:buClr>
              <a:buSzPts val="2800"/>
              <a:buNone/>
            </a:pPr>
            <a:r>
              <a:rPr lang="en-US" sz="2000"/>
              <a:t> Scenario 4: Weekly Timetable 📅</a:t>
            </a:r>
            <a:endParaRPr/>
          </a:p>
          <a:p>
            <a:pPr marL="0" lvl="0" indent="0" algn="just" rtl="0">
              <a:lnSpc>
                <a:spcPct val="150000"/>
              </a:lnSpc>
              <a:spcBef>
                <a:spcPts val="0"/>
              </a:spcBef>
              <a:spcAft>
                <a:spcPts val="0"/>
              </a:spcAft>
              <a:buClr>
                <a:schemeClr val="dk1"/>
              </a:buClr>
              <a:buSzPts val="2800"/>
              <a:buNone/>
            </a:pPr>
            <a:r>
              <a:rPr lang="en-US" sz="2000"/>
              <a:t>A student tracks their 5-day schedule with 6 periods per day.</a:t>
            </a:r>
            <a:endParaRPr/>
          </a:p>
          <a:p>
            <a:pPr marL="0" lvl="0" indent="0" algn="just" rtl="0">
              <a:lnSpc>
                <a:spcPct val="150000"/>
              </a:lnSpc>
              <a:spcBef>
                <a:spcPts val="0"/>
              </a:spcBef>
              <a:spcAft>
                <a:spcPts val="0"/>
              </a:spcAft>
              <a:buClr>
                <a:schemeClr val="dk1"/>
              </a:buClr>
              <a:buSzPts val="2800"/>
              <a:buNone/>
            </a:pPr>
            <a:endParaRPr sz="2000"/>
          </a:p>
          <a:p>
            <a:pPr marL="0" lvl="0" indent="0" algn="just" rtl="0">
              <a:lnSpc>
                <a:spcPct val="150000"/>
              </a:lnSpc>
              <a:spcBef>
                <a:spcPts val="0"/>
              </a:spcBef>
              <a:spcAft>
                <a:spcPts val="0"/>
              </a:spcAft>
              <a:buClr>
                <a:schemeClr val="dk1"/>
              </a:buClr>
              <a:buSzPts val="2800"/>
              <a:buNone/>
            </a:pPr>
            <a:endParaRPr sz="2000"/>
          </a:p>
          <a:p>
            <a:pPr marL="342900" lvl="0" indent="-165100" algn="just" rtl="0">
              <a:lnSpc>
                <a:spcPct val="150000"/>
              </a:lnSpc>
              <a:spcBef>
                <a:spcPts val="0"/>
              </a:spcBef>
              <a:spcAft>
                <a:spcPts val="0"/>
              </a:spcAft>
              <a:buClr>
                <a:schemeClr val="dk1"/>
              </a:buClr>
              <a:buSzPts val="2800"/>
              <a:buNone/>
            </a:pPr>
            <a:endParaRPr sz="2000"/>
          </a:p>
          <a:p>
            <a:pPr marL="342900" lvl="0" indent="-165100" algn="just" rtl="0">
              <a:lnSpc>
                <a:spcPct val="150000"/>
              </a:lnSpc>
              <a:spcBef>
                <a:spcPts val="0"/>
              </a:spcBef>
              <a:spcAft>
                <a:spcPts val="0"/>
              </a:spcAft>
              <a:buClr>
                <a:schemeClr val="dk1"/>
              </a:buClr>
              <a:buSzPts val="2800"/>
              <a:buNone/>
            </a:pPr>
            <a:endParaRPr sz="2000"/>
          </a:p>
          <a:p>
            <a:pPr marL="342900" lvl="0" indent="-342900" algn="just" rtl="0">
              <a:lnSpc>
                <a:spcPct val="150000"/>
              </a:lnSpc>
              <a:spcBef>
                <a:spcPts val="0"/>
              </a:spcBef>
              <a:spcAft>
                <a:spcPts val="0"/>
              </a:spcAft>
              <a:buClr>
                <a:schemeClr val="dk1"/>
              </a:buClr>
              <a:buSzPts val="2800"/>
              <a:buChar char="•"/>
            </a:pPr>
            <a:r>
              <a:rPr lang="en-US" sz="2000"/>
              <a:t>Rows = Days, Columns = Periods</a:t>
            </a:r>
            <a:endParaRPr/>
          </a:p>
          <a:p>
            <a:pPr marL="342900" lvl="0" indent="-342900" algn="just" rtl="0">
              <a:lnSpc>
                <a:spcPct val="150000"/>
              </a:lnSpc>
              <a:spcBef>
                <a:spcPts val="0"/>
              </a:spcBef>
              <a:spcAft>
                <a:spcPts val="0"/>
              </a:spcAft>
              <a:buClr>
                <a:schemeClr val="dk1"/>
              </a:buClr>
              <a:buSzPts val="2800"/>
              <a:buChar char="•"/>
            </a:pPr>
            <a:r>
              <a:rPr lang="en-US" sz="2000"/>
              <a:t>Easily check subjects for any day/period!</a:t>
            </a:r>
            <a:endParaRPr/>
          </a:p>
        </p:txBody>
      </p:sp>
      <p:pic>
        <p:nvPicPr>
          <p:cNvPr id="373" name="Google Shape;373;p40"/>
          <p:cNvPicPr preferRelativeResize="0"/>
          <p:nvPr/>
        </p:nvPicPr>
        <p:blipFill rotWithShape="1">
          <a:blip r:embed="rId3">
            <a:alphaModFix/>
          </a:blip>
          <a:srcRect/>
          <a:stretch/>
        </p:blipFill>
        <p:spPr>
          <a:xfrm>
            <a:off x="7239000" y="7783"/>
            <a:ext cx="1653683" cy="617273"/>
          </a:xfrm>
          <a:prstGeom prst="rect">
            <a:avLst/>
          </a:prstGeom>
          <a:noFill/>
          <a:ln>
            <a:noFill/>
          </a:ln>
        </p:spPr>
      </p:pic>
      <p:sp>
        <p:nvSpPr>
          <p:cNvPr id="374" name="Google Shape;374;p40"/>
          <p:cNvSpPr/>
          <p:nvPr/>
        </p:nvSpPr>
        <p:spPr>
          <a:xfrm>
            <a:off x="1828800" y="2190750"/>
            <a:ext cx="4572000" cy="1981200"/>
          </a:xfrm>
          <a:prstGeom prst="rect">
            <a:avLst/>
          </a:prstGeom>
          <a:solidFill>
            <a:schemeClr val="lt1"/>
          </a:solid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400050" marR="0" lvl="1" indent="0" algn="l" rtl="0">
              <a:lnSpc>
                <a:spcPct val="150000"/>
              </a:lnSpc>
              <a:spcBef>
                <a:spcPts val="0"/>
              </a:spcBef>
              <a:spcAft>
                <a:spcPts val="0"/>
              </a:spcAft>
              <a:buClr>
                <a:schemeClr val="dk1"/>
              </a:buClr>
              <a:buSzPts val="2800"/>
              <a:buFont typeface="Calibri"/>
              <a:buNone/>
            </a:pPr>
            <a:r>
              <a:rPr lang="en-US" sz="1200" b="0" i="0" u="none" strike="noStrike" cap="none">
                <a:solidFill>
                  <a:schemeClr val="dk1"/>
                </a:solidFill>
                <a:latin typeface="Calibri"/>
                <a:ea typeface="Calibri"/>
                <a:cs typeface="Calibri"/>
                <a:sym typeface="Calibri"/>
              </a:rPr>
              <a:t>char timetable[5][6][20] = { </a:t>
            </a:r>
            <a:endParaRPr sz="1400" b="0" i="0" u="none" strike="noStrike" cap="none">
              <a:solidFill>
                <a:srgbClr val="000000"/>
              </a:solidFill>
              <a:latin typeface="Arial"/>
              <a:ea typeface="Arial"/>
              <a:cs typeface="Arial"/>
              <a:sym typeface="Arial"/>
            </a:endParaRPr>
          </a:p>
          <a:p>
            <a:pPr marL="400050" marR="0" lvl="1" indent="0" algn="l" rtl="0">
              <a:lnSpc>
                <a:spcPct val="150000"/>
              </a:lnSpc>
              <a:spcBef>
                <a:spcPts val="0"/>
              </a:spcBef>
              <a:spcAft>
                <a:spcPts val="0"/>
              </a:spcAft>
              <a:buClr>
                <a:schemeClr val="dk1"/>
              </a:buClr>
              <a:buSzPts val="2800"/>
              <a:buFont typeface="Calibri"/>
              <a:buNone/>
            </a:pPr>
            <a:r>
              <a:rPr lang="en-US" sz="1200" b="0" i="0" u="none" strike="noStrike" cap="none">
                <a:solidFill>
                  <a:schemeClr val="dk1"/>
                </a:solidFill>
                <a:latin typeface="Calibri"/>
                <a:ea typeface="Calibri"/>
                <a:cs typeface="Calibri"/>
                <a:sym typeface="Calibri"/>
              </a:rPr>
              <a:t>    {"Math", "English", "Science", "Break", "History", "PE"},</a:t>
            </a:r>
            <a:endParaRPr sz="1400" b="0" i="0" u="none" strike="noStrike" cap="none">
              <a:solidFill>
                <a:srgbClr val="000000"/>
              </a:solidFill>
              <a:latin typeface="Arial"/>
              <a:ea typeface="Arial"/>
              <a:cs typeface="Arial"/>
              <a:sym typeface="Arial"/>
            </a:endParaRPr>
          </a:p>
          <a:p>
            <a:pPr marL="400050" marR="0" lvl="1" indent="0" algn="l" rtl="0">
              <a:lnSpc>
                <a:spcPct val="150000"/>
              </a:lnSpc>
              <a:spcBef>
                <a:spcPts val="0"/>
              </a:spcBef>
              <a:spcAft>
                <a:spcPts val="0"/>
              </a:spcAft>
              <a:buClr>
                <a:schemeClr val="dk1"/>
              </a:buClr>
              <a:buSzPts val="2800"/>
              <a:buFont typeface="Calibri"/>
              <a:buNone/>
            </a:pPr>
            <a:r>
              <a:rPr lang="en-US" sz="1200" b="0" i="0" u="none" strike="noStrike" cap="none">
                <a:solidFill>
                  <a:schemeClr val="dk1"/>
                </a:solidFill>
                <a:latin typeface="Calibri"/>
                <a:ea typeface="Calibri"/>
                <a:cs typeface="Calibri"/>
                <a:sym typeface="Calibri"/>
              </a:rPr>
              <a:t>    {"English", "Science", "Math", "Break", "Art", "Computer"},</a:t>
            </a:r>
            <a:endParaRPr sz="1400" b="0" i="0" u="none" strike="noStrike" cap="none">
              <a:solidFill>
                <a:srgbClr val="000000"/>
              </a:solidFill>
              <a:latin typeface="Arial"/>
              <a:ea typeface="Arial"/>
              <a:cs typeface="Arial"/>
              <a:sym typeface="Arial"/>
            </a:endParaRPr>
          </a:p>
          <a:p>
            <a:pPr marL="400050" marR="0" lvl="1" indent="0" algn="l" rtl="0">
              <a:lnSpc>
                <a:spcPct val="150000"/>
              </a:lnSpc>
              <a:spcBef>
                <a:spcPts val="0"/>
              </a:spcBef>
              <a:spcAft>
                <a:spcPts val="0"/>
              </a:spcAft>
              <a:buClr>
                <a:schemeClr val="dk1"/>
              </a:buClr>
              <a:buSzPts val="2800"/>
              <a:buFont typeface="Calibri"/>
              <a:buNone/>
            </a:pPr>
            <a:r>
              <a:rPr lang="en-US" sz="1200" b="0" i="0" u="none" strike="noStrike" cap="none">
                <a:solidFill>
                  <a:schemeClr val="dk1"/>
                </a:solidFill>
                <a:latin typeface="Calibri"/>
                <a:ea typeface="Calibri"/>
                <a:cs typeface="Calibri"/>
                <a:sym typeface="Calibri"/>
              </a:rPr>
              <a:t>    {"Science", "History", "English", "Break", "Math", "Music"},</a:t>
            </a:r>
            <a:endParaRPr sz="1400" b="0" i="0" u="none" strike="noStrike" cap="none">
              <a:solidFill>
                <a:srgbClr val="000000"/>
              </a:solidFill>
              <a:latin typeface="Arial"/>
              <a:ea typeface="Arial"/>
              <a:cs typeface="Arial"/>
              <a:sym typeface="Arial"/>
            </a:endParaRPr>
          </a:p>
          <a:p>
            <a:pPr marL="400050" marR="0" lvl="1" indent="0" algn="l" rtl="0">
              <a:lnSpc>
                <a:spcPct val="150000"/>
              </a:lnSpc>
              <a:spcBef>
                <a:spcPts val="0"/>
              </a:spcBef>
              <a:spcAft>
                <a:spcPts val="0"/>
              </a:spcAft>
              <a:buClr>
                <a:schemeClr val="dk1"/>
              </a:buClr>
              <a:buSzPts val="2800"/>
              <a:buFont typeface="Calibri"/>
              <a:buNone/>
            </a:pPr>
            <a:r>
              <a:rPr lang="en-US" sz="1200" b="0" i="0" u="none" strike="noStrike" cap="none">
                <a:solidFill>
                  <a:schemeClr val="dk1"/>
                </a:solidFill>
                <a:latin typeface="Calibri"/>
                <a:ea typeface="Calibri"/>
                <a:cs typeface="Calibri"/>
                <a:sym typeface="Calibri"/>
              </a:rPr>
              <a:t>    {"Math", "PE", "History", "Break", "Science", "Art"},</a:t>
            </a:r>
            <a:endParaRPr sz="1400" b="0" i="0" u="none" strike="noStrike" cap="none">
              <a:solidFill>
                <a:srgbClr val="000000"/>
              </a:solidFill>
              <a:latin typeface="Arial"/>
              <a:ea typeface="Arial"/>
              <a:cs typeface="Arial"/>
              <a:sym typeface="Arial"/>
            </a:endParaRPr>
          </a:p>
          <a:p>
            <a:pPr marL="400050" marR="0" lvl="1" indent="0" algn="l" rtl="0">
              <a:lnSpc>
                <a:spcPct val="150000"/>
              </a:lnSpc>
              <a:spcBef>
                <a:spcPts val="0"/>
              </a:spcBef>
              <a:spcAft>
                <a:spcPts val="0"/>
              </a:spcAft>
              <a:buClr>
                <a:schemeClr val="dk1"/>
              </a:buClr>
              <a:buSzPts val="2800"/>
              <a:buFont typeface="Calibri"/>
              <a:buNone/>
            </a:pPr>
            <a:r>
              <a:rPr lang="en-US" sz="1200" b="0" i="0" u="none" strike="noStrike" cap="none">
                <a:solidFill>
                  <a:schemeClr val="dk1"/>
                </a:solidFill>
                <a:latin typeface="Calibri"/>
                <a:ea typeface="Calibri"/>
                <a:cs typeface="Calibri"/>
                <a:sym typeface="Calibri"/>
              </a:rPr>
              <a:t>    {"Computer", "Music", "Math", "Break", "English", "PE"}</a:t>
            </a:r>
            <a:endParaRPr sz="1400" b="0" i="0" u="none" strike="noStrike" cap="none">
              <a:solidFill>
                <a:srgbClr val="000000"/>
              </a:solidFill>
              <a:latin typeface="Arial"/>
              <a:ea typeface="Arial"/>
              <a:cs typeface="Arial"/>
              <a:sym typeface="Arial"/>
            </a:endParaRPr>
          </a:p>
          <a:p>
            <a:pPr marL="400050" marR="0" lvl="1" indent="0" algn="l" rtl="0">
              <a:lnSpc>
                <a:spcPct val="150000"/>
              </a:lnSpc>
              <a:spcBef>
                <a:spcPts val="0"/>
              </a:spcBef>
              <a:spcAft>
                <a:spcPts val="0"/>
              </a:spcAft>
              <a:buClr>
                <a:schemeClr val="dk1"/>
              </a:buClr>
              <a:buSzPts val="2800"/>
              <a:buFont typeface="Calibri"/>
              <a:buNone/>
            </a:pPr>
            <a:r>
              <a:rPr lang="en-US" sz="12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1"/>
                                        </p:tgtEl>
                                        <p:attrNameLst>
                                          <p:attrName>style.visibility</p:attrName>
                                        </p:attrNameLst>
                                      </p:cBhvr>
                                      <p:to>
                                        <p:strVal val="visible"/>
                                      </p:to>
                                    </p:set>
                                    <p:animEffect transition="in" filter="fade">
                                      <p:cBhvr>
                                        <p:cTn id="7" dur="1000"/>
                                        <p:tgtEl>
                                          <p:spTgt spid="37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72">
                                            <p:txEl>
                                              <p:pRg st="0" end="0"/>
                                            </p:txEl>
                                          </p:spTgt>
                                        </p:tgtEl>
                                        <p:attrNameLst>
                                          <p:attrName>style.visibility</p:attrName>
                                        </p:attrNameLst>
                                      </p:cBhvr>
                                      <p:to>
                                        <p:strVal val="visible"/>
                                      </p:to>
                                    </p:set>
                                    <p:anim calcmode="lin" valueType="num">
                                      <p:cBhvr additive="base">
                                        <p:cTn id="12" dur="500"/>
                                        <p:tgtEl>
                                          <p:spTgt spid="37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72">
                                            <p:txEl>
                                              <p:pRg st="1" end="1"/>
                                            </p:txEl>
                                          </p:spTgt>
                                        </p:tgtEl>
                                        <p:attrNameLst>
                                          <p:attrName>style.visibility</p:attrName>
                                        </p:attrNameLst>
                                      </p:cBhvr>
                                      <p:to>
                                        <p:strVal val="visible"/>
                                      </p:to>
                                    </p:set>
                                    <p:anim calcmode="lin" valueType="num">
                                      <p:cBhvr additive="base">
                                        <p:cTn id="17" dur="500"/>
                                        <p:tgtEl>
                                          <p:spTgt spid="37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372">
                                            <p:txEl>
                                              <p:pRg st="2" end="2"/>
                                            </p:txEl>
                                          </p:spTgt>
                                        </p:tgtEl>
                                        <p:attrNameLst>
                                          <p:attrName>style.visibility</p:attrName>
                                        </p:attrNameLst>
                                      </p:cBhvr>
                                      <p:to>
                                        <p:strVal val="visible"/>
                                      </p:to>
                                    </p:set>
                                    <p:anim calcmode="lin" valueType="num">
                                      <p:cBhvr additive="base">
                                        <p:cTn id="22" dur="500"/>
                                        <p:tgtEl>
                                          <p:spTgt spid="37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72">
                                            <p:txEl>
                                              <p:pRg st="3" end="3"/>
                                            </p:txEl>
                                          </p:spTgt>
                                        </p:tgtEl>
                                        <p:attrNameLst>
                                          <p:attrName>style.visibility</p:attrName>
                                        </p:attrNameLst>
                                      </p:cBhvr>
                                      <p:to>
                                        <p:strVal val="visible"/>
                                      </p:to>
                                    </p:set>
                                    <p:anim calcmode="lin" valueType="num">
                                      <p:cBhvr additive="base">
                                        <p:cTn id="27" dur="500"/>
                                        <p:tgtEl>
                                          <p:spTgt spid="37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372">
                                            <p:txEl>
                                              <p:pRg st="4" end="4"/>
                                            </p:txEl>
                                          </p:spTgt>
                                        </p:tgtEl>
                                        <p:attrNameLst>
                                          <p:attrName>style.visibility</p:attrName>
                                        </p:attrNameLst>
                                      </p:cBhvr>
                                      <p:to>
                                        <p:strVal val="visible"/>
                                      </p:to>
                                    </p:set>
                                    <p:anim calcmode="lin" valueType="num">
                                      <p:cBhvr additive="base">
                                        <p:cTn id="32" dur="500"/>
                                        <p:tgtEl>
                                          <p:spTgt spid="37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72">
                                            <p:txEl>
                                              <p:pRg st="5" end="5"/>
                                            </p:txEl>
                                          </p:spTgt>
                                        </p:tgtEl>
                                        <p:attrNameLst>
                                          <p:attrName>style.visibility</p:attrName>
                                        </p:attrNameLst>
                                      </p:cBhvr>
                                      <p:to>
                                        <p:strVal val="visible"/>
                                      </p:to>
                                    </p:set>
                                    <p:anim calcmode="lin" valueType="num">
                                      <p:cBhvr additive="base">
                                        <p:cTn id="37" dur="500"/>
                                        <p:tgtEl>
                                          <p:spTgt spid="37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372">
                                            <p:txEl>
                                              <p:pRg st="6" end="6"/>
                                            </p:txEl>
                                          </p:spTgt>
                                        </p:tgtEl>
                                        <p:attrNameLst>
                                          <p:attrName>style.visibility</p:attrName>
                                        </p:attrNameLst>
                                      </p:cBhvr>
                                      <p:to>
                                        <p:strVal val="visible"/>
                                      </p:to>
                                    </p:set>
                                    <p:anim calcmode="lin" valueType="num">
                                      <p:cBhvr additive="base">
                                        <p:cTn id="42" dur="500"/>
                                        <p:tgtEl>
                                          <p:spTgt spid="37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372">
                                            <p:txEl>
                                              <p:pRg st="7" end="7"/>
                                            </p:txEl>
                                          </p:spTgt>
                                        </p:tgtEl>
                                        <p:attrNameLst>
                                          <p:attrName>style.visibility</p:attrName>
                                        </p:attrNameLst>
                                      </p:cBhvr>
                                      <p:to>
                                        <p:strVal val="visible"/>
                                      </p:to>
                                    </p:set>
                                    <p:anim calcmode="lin" valueType="num">
                                      <p:cBhvr additive="base">
                                        <p:cTn id="47" dur="500"/>
                                        <p:tgtEl>
                                          <p:spTgt spid="372">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41"/>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2800"/>
              <a:buFont typeface="Calibri"/>
              <a:buNone/>
            </a:pPr>
            <a:r>
              <a:rPr lang="en-US" sz="2800" b="1"/>
              <a:t>Matrix Operations-Addition Using Two Dimensional Array</a:t>
            </a:r>
            <a:endParaRPr/>
          </a:p>
        </p:txBody>
      </p:sp>
      <p:sp>
        <p:nvSpPr>
          <p:cNvPr id="380" name="Google Shape;380;p41"/>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2000"/>
              <a:buChar char="•"/>
            </a:pPr>
            <a:r>
              <a:rPr lang="en-US" sz="2000"/>
              <a:t>Matrix addition is performed by adding corresponding elements of two matrices.</a:t>
            </a:r>
            <a:endParaRPr/>
          </a:p>
          <a:p>
            <a:pPr marL="0" lvl="0" indent="0" algn="l" rtl="0">
              <a:lnSpc>
                <a:spcPct val="100000"/>
              </a:lnSpc>
              <a:spcBef>
                <a:spcPts val="400"/>
              </a:spcBef>
              <a:spcAft>
                <a:spcPts val="0"/>
              </a:spcAft>
              <a:buClr>
                <a:schemeClr val="dk1"/>
              </a:buClr>
              <a:buSzPts val="2000"/>
              <a:buNone/>
            </a:pPr>
            <a:r>
              <a:rPr lang="en-US" sz="2000"/>
              <a:t>Formula:</a:t>
            </a:r>
            <a:endParaRPr/>
          </a:p>
          <a:p>
            <a:pPr marL="0" lvl="0" indent="0" algn="l" rtl="0">
              <a:lnSpc>
                <a:spcPct val="100000"/>
              </a:lnSpc>
              <a:spcBef>
                <a:spcPts val="400"/>
              </a:spcBef>
              <a:spcAft>
                <a:spcPts val="0"/>
              </a:spcAft>
              <a:buClr>
                <a:schemeClr val="dk1"/>
              </a:buClr>
              <a:buSzPts val="2000"/>
              <a:buNone/>
            </a:pPr>
            <a:endParaRPr sz="2000"/>
          </a:p>
        </p:txBody>
      </p:sp>
      <p:pic>
        <p:nvPicPr>
          <p:cNvPr id="381" name="Google Shape;381;p41"/>
          <p:cNvPicPr preferRelativeResize="0"/>
          <p:nvPr/>
        </p:nvPicPr>
        <p:blipFill rotWithShape="1">
          <a:blip r:embed="rId3">
            <a:alphaModFix/>
          </a:blip>
          <a:srcRect/>
          <a:stretch/>
        </p:blipFill>
        <p:spPr>
          <a:xfrm>
            <a:off x="3146351" y="2270109"/>
            <a:ext cx="2851297" cy="603281"/>
          </a:xfrm>
          <a:prstGeom prst="rect">
            <a:avLst/>
          </a:prstGeom>
          <a:noFill/>
          <a:ln>
            <a:noFill/>
          </a:ln>
        </p:spPr>
      </p:pic>
      <p:sp>
        <p:nvSpPr>
          <p:cNvPr id="382" name="Google Shape;382;p41"/>
          <p:cNvSpPr txBox="1"/>
          <p:nvPr/>
        </p:nvSpPr>
        <p:spPr>
          <a:xfrm>
            <a:off x="457200" y="3181350"/>
            <a:ext cx="99060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Sum Is:</a:t>
            </a:r>
            <a:endParaRPr sz="1400" b="0" i="0" u="none" strike="noStrike" cap="none">
              <a:solidFill>
                <a:srgbClr val="000000"/>
              </a:solidFill>
              <a:latin typeface="Arial"/>
              <a:ea typeface="Arial"/>
              <a:cs typeface="Arial"/>
              <a:sym typeface="Arial"/>
            </a:endParaRPr>
          </a:p>
        </p:txBody>
      </p:sp>
      <p:pic>
        <p:nvPicPr>
          <p:cNvPr id="383" name="Google Shape;383;p41"/>
          <p:cNvPicPr preferRelativeResize="0"/>
          <p:nvPr/>
        </p:nvPicPr>
        <p:blipFill rotWithShape="1">
          <a:blip r:embed="rId4">
            <a:alphaModFix/>
          </a:blip>
          <a:srcRect/>
          <a:stretch/>
        </p:blipFill>
        <p:spPr>
          <a:xfrm>
            <a:off x="3200400" y="3537934"/>
            <a:ext cx="3022755" cy="539778"/>
          </a:xfrm>
          <a:prstGeom prst="rect">
            <a:avLst/>
          </a:prstGeom>
          <a:noFill/>
          <a:ln>
            <a:noFill/>
          </a:ln>
        </p:spPr>
      </p:pic>
      <p:pic>
        <p:nvPicPr>
          <p:cNvPr id="384" name="Google Shape;384;p41"/>
          <p:cNvPicPr preferRelativeResize="0"/>
          <p:nvPr/>
        </p:nvPicPr>
        <p:blipFill rotWithShape="1">
          <a:blip r:embed="rId5">
            <a:alphaModFix/>
          </a:blip>
          <a:srcRect/>
          <a:stretch/>
        </p:blipFill>
        <p:spPr>
          <a:xfrm>
            <a:off x="7239000" y="7783"/>
            <a:ext cx="1653683" cy="61727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80">
                                            <p:txEl>
                                              <p:pRg st="0" end="0"/>
                                            </p:txEl>
                                          </p:spTgt>
                                        </p:tgtEl>
                                        <p:attrNameLst>
                                          <p:attrName>style.visibility</p:attrName>
                                        </p:attrNameLst>
                                      </p:cBhvr>
                                      <p:to>
                                        <p:strVal val="visible"/>
                                      </p:to>
                                    </p:set>
                                    <p:animEffect transition="in" filter="fade">
                                      <p:cBhvr>
                                        <p:cTn id="7" dur="500"/>
                                        <p:tgtEl>
                                          <p:spTgt spid="38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80">
                                            <p:txEl>
                                              <p:pRg st="1" end="1"/>
                                            </p:txEl>
                                          </p:spTgt>
                                        </p:tgtEl>
                                        <p:attrNameLst>
                                          <p:attrName>style.visibility</p:attrName>
                                        </p:attrNameLst>
                                      </p:cBhvr>
                                      <p:to>
                                        <p:strVal val="visible"/>
                                      </p:to>
                                    </p:set>
                                    <p:animEffect transition="in" filter="fade">
                                      <p:cBhvr>
                                        <p:cTn id="12" dur="500"/>
                                        <p:tgtEl>
                                          <p:spTgt spid="38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80">
                                            <p:txEl>
                                              <p:pRg st="2" end="2"/>
                                            </p:txEl>
                                          </p:spTgt>
                                        </p:tgtEl>
                                        <p:attrNameLst>
                                          <p:attrName>style.visibility</p:attrName>
                                        </p:attrNameLst>
                                      </p:cBhvr>
                                      <p:to>
                                        <p:strVal val="visible"/>
                                      </p:to>
                                    </p:set>
                                    <p:animEffect transition="in" filter="fade">
                                      <p:cBhvr>
                                        <p:cTn id="17" dur="500"/>
                                        <p:tgtEl>
                                          <p:spTgt spid="38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81"/>
                                        </p:tgtEl>
                                        <p:attrNameLst>
                                          <p:attrName>style.visibility</p:attrName>
                                        </p:attrNameLst>
                                      </p:cBhvr>
                                      <p:to>
                                        <p:strVal val="visible"/>
                                      </p:to>
                                    </p:set>
                                    <p:animEffect transition="in" filter="fade">
                                      <p:cBhvr>
                                        <p:cTn id="22" dur="500"/>
                                        <p:tgtEl>
                                          <p:spTgt spid="38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82"/>
                                        </p:tgtEl>
                                        <p:attrNameLst>
                                          <p:attrName>style.visibility</p:attrName>
                                        </p:attrNameLst>
                                      </p:cBhvr>
                                      <p:to>
                                        <p:strVal val="visible"/>
                                      </p:to>
                                    </p:set>
                                    <p:animEffect transition="in" filter="fade">
                                      <p:cBhvr>
                                        <p:cTn id="27" dur="500"/>
                                        <p:tgtEl>
                                          <p:spTgt spid="38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83"/>
                                        </p:tgtEl>
                                        <p:attrNameLst>
                                          <p:attrName>style.visibility</p:attrName>
                                        </p:attrNameLst>
                                      </p:cBhvr>
                                      <p:to>
                                        <p:strVal val="visible"/>
                                      </p:to>
                                    </p:set>
                                    <p:animEffect transition="in" filter="fade">
                                      <p:cBhvr>
                                        <p:cTn id="32" dur="500"/>
                                        <p:tgtEl>
                                          <p:spTgt spid="3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pic>
        <p:nvPicPr>
          <p:cNvPr id="389" name="Google Shape;389;p42"/>
          <p:cNvPicPr preferRelativeResize="0"/>
          <p:nvPr/>
        </p:nvPicPr>
        <p:blipFill rotWithShape="1">
          <a:blip r:embed="rId3">
            <a:alphaModFix/>
          </a:blip>
          <a:srcRect/>
          <a:stretch/>
        </p:blipFill>
        <p:spPr>
          <a:xfrm>
            <a:off x="685800" y="590550"/>
            <a:ext cx="4261069" cy="4267200"/>
          </a:xfrm>
          <a:prstGeom prst="rect">
            <a:avLst/>
          </a:prstGeom>
          <a:noFill/>
          <a:ln>
            <a:noFill/>
          </a:ln>
        </p:spPr>
      </p:pic>
      <p:sp>
        <p:nvSpPr>
          <p:cNvPr id="390" name="Google Shape;390;p42"/>
          <p:cNvSpPr txBox="1"/>
          <p:nvPr/>
        </p:nvSpPr>
        <p:spPr>
          <a:xfrm>
            <a:off x="457200" y="209550"/>
            <a:ext cx="541020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Implementation of Matrix Operations-Addition</a:t>
            </a:r>
            <a:endParaRPr sz="1800" b="0" i="0" u="none" strike="noStrike" cap="none">
              <a:solidFill>
                <a:schemeClr val="dk1"/>
              </a:solidFill>
              <a:latin typeface="Calibri"/>
              <a:ea typeface="Calibri"/>
              <a:cs typeface="Calibri"/>
              <a:sym typeface="Calibri"/>
            </a:endParaRPr>
          </a:p>
        </p:txBody>
      </p:sp>
      <p:sp>
        <p:nvSpPr>
          <p:cNvPr id="391" name="Google Shape;391;p42"/>
          <p:cNvSpPr txBox="1"/>
          <p:nvPr/>
        </p:nvSpPr>
        <p:spPr>
          <a:xfrm>
            <a:off x="5410200" y="1352550"/>
            <a:ext cx="152400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Output</a:t>
            </a:r>
            <a:endParaRPr sz="1400" b="0" i="0" u="none" strike="noStrike" cap="none">
              <a:solidFill>
                <a:srgbClr val="000000"/>
              </a:solidFill>
              <a:latin typeface="Arial"/>
              <a:ea typeface="Arial"/>
              <a:cs typeface="Arial"/>
              <a:sym typeface="Arial"/>
            </a:endParaRPr>
          </a:p>
        </p:txBody>
      </p:sp>
      <p:pic>
        <p:nvPicPr>
          <p:cNvPr id="392" name="Google Shape;392;p42"/>
          <p:cNvPicPr preferRelativeResize="0"/>
          <p:nvPr/>
        </p:nvPicPr>
        <p:blipFill rotWithShape="1">
          <a:blip r:embed="rId4">
            <a:alphaModFix/>
          </a:blip>
          <a:srcRect/>
          <a:stretch/>
        </p:blipFill>
        <p:spPr>
          <a:xfrm>
            <a:off x="5410200" y="1885950"/>
            <a:ext cx="2362200" cy="1676400"/>
          </a:xfrm>
          <a:prstGeom prst="rect">
            <a:avLst/>
          </a:prstGeom>
          <a:noFill/>
          <a:ln>
            <a:noFill/>
          </a:ln>
        </p:spPr>
      </p:pic>
      <p:pic>
        <p:nvPicPr>
          <p:cNvPr id="393" name="Google Shape;393;p42"/>
          <p:cNvPicPr preferRelativeResize="0"/>
          <p:nvPr/>
        </p:nvPicPr>
        <p:blipFill rotWithShape="1">
          <a:blip r:embed="rId5">
            <a:alphaModFix/>
          </a:blip>
          <a:srcRect/>
          <a:stretch/>
        </p:blipFill>
        <p:spPr>
          <a:xfrm>
            <a:off x="7239000" y="7783"/>
            <a:ext cx="1653683" cy="61727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89"/>
                                        </p:tgtEl>
                                        <p:attrNameLst>
                                          <p:attrName>style.visibility</p:attrName>
                                        </p:attrNameLst>
                                      </p:cBhvr>
                                      <p:to>
                                        <p:strVal val="visible"/>
                                      </p:to>
                                    </p:set>
                                    <p:animEffect transition="in" filter="fade">
                                      <p:cBhvr>
                                        <p:cTn id="7" dur="500"/>
                                        <p:tgtEl>
                                          <p:spTgt spid="38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91"/>
                                        </p:tgtEl>
                                        <p:attrNameLst>
                                          <p:attrName>style.visibility</p:attrName>
                                        </p:attrNameLst>
                                      </p:cBhvr>
                                      <p:to>
                                        <p:strVal val="visible"/>
                                      </p:to>
                                    </p:set>
                                    <p:animEffect transition="in" filter="fade">
                                      <p:cBhvr>
                                        <p:cTn id="12" dur="500"/>
                                        <p:tgtEl>
                                          <p:spTgt spid="39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92"/>
                                        </p:tgtEl>
                                        <p:attrNameLst>
                                          <p:attrName>style.visibility</p:attrName>
                                        </p:attrNameLst>
                                      </p:cBhvr>
                                      <p:to>
                                        <p:strVal val="visible"/>
                                      </p:to>
                                    </p:set>
                                    <p:animEffect transition="in" filter="fade">
                                      <p:cBhvr>
                                        <p:cTn id="17" dur="500"/>
                                        <p:tgtEl>
                                          <p:spTgt spid="3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43"/>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2800"/>
              <a:buFont typeface="Calibri"/>
              <a:buNone/>
            </a:pPr>
            <a:r>
              <a:rPr lang="en-US" sz="2800" b="1"/>
              <a:t>Matrix Operations-Subtraction Using Two Dimensional Array</a:t>
            </a:r>
            <a:endParaRPr/>
          </a:p>
        </p:txBody>
      </p:sp>
      <p:sp>
        <p:nvSpPr>
          <p:cNvPr id="399" name="Google Shape;399;p43"/>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2000"/>
              <a:buChar char="•"/>
            </a:pPr>
            <a:r>
              <a:rPr lang="en-US" sz="2000"/>
              <a:t>Matrix subtraction follows the same rule as addition but subtracts corresponding elements.</a:t>
            </a:r>
            <a:endParaRPr/>
          </a:p>
          <a:p>
            <a:pPr marL="342900" lvl="0" indent="-342900" algn="l" rtl="0">
              <a:lnSpc>
                <a:spcPct val="100000"/>
              </a:lnSpc>
              <a:spcBef>
                <a:spcPts val="400"/>
              </a:spcBef>
              <a:spcAft>
                <a:spcPts val="0"/>
              </a:spcAft>
              <a:buClr>
                <a:schemeClr val="dk1"/>
              </a:buClr>
              <a:buSzPts val="2000"/>
              <a:buChar char="•"/>
            </a:pPr>
            <a:r>
              <a:rPr lang="en-US" sz="2000"/>
              <a:t>Same logic as addition.</a:t>
            </a:r>
            <a:endParaRPr/>
          </a:p>
          <a:p>
            <a:pPr marL="0" lvl="0" indent="0" algn="l" rtl="0">
              <a:lnSpc>
                <a:spcPct val="100000"/>
              </a:lnSpc>
              <a:spcBef>
                <a:spcPts val="400"/>
              </a:spcBef>
              <a:spcAft>
                <a:spcPts val="0"/>
              </a:spcAft>
              <a:buClr>
                <a:schemeClr val="dk1"/>
              </a:buClr>
              <a:buSzPts val="2000"/>
              <a:buNone/>
            </a:pPr>
            <a:r>
              <a:rPr lang="en-US" sz="2000"/>
              <a:t>Formula:</a:t>
            </a:r>
            <a:endParaRPr/>
          </a:p>
          <a:p>
            <a:pPr marL="0" lvl="0" indent="0" algn="l" rtl="0">
              <a:lnSpc>
                <a:spcPct val="100000"/>
              </a:lnSpc>
              <a:spcBef>
                <a:spcPts val="400"/>
              </a:spcBef>
              <a:spcAft>
                <a:spcPts val="0"/>
              </a:spcAft>
              <a:buClr>
                <a:schemeClr val="dk1"/>
              </a:buClr>
              <a:buSzPts val="2000"/>
              <a:buNone/>
            </a:pPr>
            <a:endParaRPr sz="2000"/>
          </a:p>
        </p:txBody>
      </p:sp>
      <p:pic>
        <p:nvPicPr>
          <p:cNvPr id="400" name="Google Shape;400;p43"/>
          <p:cNvPicPr preferRelativeResize="0"/>
          <p:nvPr/>
        </p:nvPicPr>
        <p:blipFill rotWithShape="1">
          <a:blip r:embed="rId3">
            <a:alphaModFix/>
          </a:blip>
          <a:srcRect/>
          <a:stretch/>
        </p:blipFill>
        <p:spPr>
          <a:xfrm>
            <a:off x="3051097" y="2571750"/>
            <a:ext cx="3041806" cy="584230"/>
          </a:xfrm>
          <a:prstGeom prst="rect">
            <a:avLst/>
          </a:prstGeom>
          <a:noFill/>
          <a:ln>
            <a:noFill/>
          </a:ln>
        </p:spPr>
      </p:pic>
      <p:pic>
        <p:nvPicPr>
          <p:cNvPr id="401" name="Google Shape;401;p43"/>
          <p:cNvPicPr preferRelativeResize="0"/>
          <p:nvPr/>
        </p:nvPicPr>
        <p:blipFill rotWithShape="1">
          <a:blip r:embed="rId4">
            <a:alphaModFix/>
          </a:blip>
          <a:srcRect/>
          <a:stretch/>
        </p:blipFill>
        <p:spPr>
          <a:xfrm>
            <a:off x="7239000" y="7783"/>
            <a:ext cx="1653683" cy="61727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9">
                                            <p:txEl>
                                              <p:pRg st="0" end="0"/>
                                            </p:txEl>
                                          </p:spTgt>
                                        </p:tgtEl>
                                        <p:attrNameLst>
                                          <p:attrName>style.visibility</p:attrName>
                                        </p:attrNameLst>
                                      </p:cBhvr>
                                      <p:to>
                                        <p:strVal val="visible"/>
                                      </p:to>
                                    </p:set>
                                    <p:animEffect transition="in" filter="fade">
                                      <p:cBhvr>
                                        <p:cTn id="7" dur="500"/>
                                        <p:tgtEl>
                                          <p:spTgt spid="3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99">
                                            <p:txEl>
                                              <p:pRg st="1" end="1"/>
                                            </p:txEl>
                                          </p:spTgt>
                                        </p:tgtEl>
                                        <p:attrNameLst>
                                          <p:attrName>style.visibility</p:attrName>
                                        </p:attrNameLst>
                                      </p:cBhvr>
                                      <p:to>
                                        <p:strVal val="visible"/>
                                      </p:to>
                                    </p:set>
                                    <p:animEffect transition="in" filter="fade">
                                      <p:cBhvr>
                                        <p:cTn id="12" dur="500"/>
                                        <p:tgtEl>
                                          <p:spTgt spid="39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99">
                                            <p:txEl>
                                              <p:pRg st="2" end="2"/>
                                            </p:txEl>
                                          </p:spTgt>
                                        </p:tgtEl>
                                        <p:attrNameLst>
                                          <p:attrName>style.visibility</p:attrName>
                                        </p:attrNameLst>
                                      </p:cBhvr>
                                      <p:to>
                                        <p:strVal val="visible"/>
                                      </p:to>
                                    </p:set>
                                    <p:animEffect transition="in" filter="fade">
                                      <p:cBhvr>
                                        <p:cTn id="17" dur="500"/>
                                        <p:tgtEl>
                                          <p:spTgt spid="39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99">
                                            <p:txEl>
                                              <p:pRg st="3" end="3"/>
                                            </p:txEl>
                                          </p:spTgt>
                                        </p:tgtEl>
                                        <p:attrNameLst>
                                          <p:attrName>style.visibility</p:attrName>
                                        </p:attrNameLst>
                                      </p:cBhvr>
                                      <p:to>
                                        <p:strVal val="visible"/>
                                      </p:to>
                                    </p:set>
                                    <p:animEffect transition="in" filter="fade">
                                      <p:cBhvr>
                                        <p:cTn id="22" dur="500"/>
                                        <p:tgtEl>
                                          <p:spTgt spid="39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00"/>
                                        </p:tgtEl>
                                        <p:attrNameLst>
                                          <p:attrName>style.visibility</p:attrName>
                                        </p:attrNameLst>
                                      </p:cBhvr>
                                      <p:to>
                                        <p:strVal val="visible"/>
                                      </p:to>
                                    </p:set>
                                    <p:animEffect transition="in" filter="fade">
                                      <p:cBhvr>
                                        <p:cTn id="27" dur="500"/>
                                        <p:tgtEl>
                                          <p:spTgt spid="4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44"/>
          <p:cNvSpPr txBox="1"/>
          <p:nvPr/>
        </p:nvSpPr>
        <p:spPr>
          <a:xfrm>
            <a:off x="228600" y="-1075832"/>
            <a:ext cx="6629400" cy="60170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#include &lt;stdio.h&gt;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int main()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int A[2][2] = {{9, 8}, {7, 6}};</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int B[2][2] = {{5, 4}, {3, 2}};</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int C[2][2];</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 Performing matrix subtraction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for (int i = 0; i &lt; 2; i++)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for (int j = 0; j &lt; 2; j++)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C[i][j] = A[i][j] - B[i][j];  // Subtract corresponding elements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 Displaying the result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printf("Matrix Subtraction Result:\n");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for (int i = 0; i &lt; 2; i++)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for (int j = 0; j &lt; 2; j++)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printf("%d ", C[i][j]);</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printf("\n");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return 0;</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07" name="Google Shape;407;p44"/>
          <p:cNvSpPr txBox="1"/>
          <p:nvPr/>
        </p:nvSpPr>
        <p:spPr>
          <a:xfrm>
            <a:off x="262976" y="90619"/>
            <a:ext cx="5105400"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Implementation of Matrix Operations-Substraction</a:t>
            </a: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08" name="Google Shape;408;p44"/>
          <p:cNvSpPr txBox="1"/>
          <p:nvPr/>
        </p:nvSpPr>
        <p:spPr>
          <a:xfrm>
            <a:off x="5791200" y="1352550"/>
            <a:ext cx="457200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Output</a:t>
            </a:r>
            <a:endParaRPr sz="1400" b="0" i="0" u="none" strike="noStrike" cap="none">
              <a:solidFill>
                <a:srgbClr val="000000"/>
              </a:solidFill>
              <a:latin typeface="Arial"/>
              <a:ea typeface="Arial"/>
              <a:cs typeface="Arial"/>
              <a:sym typeface="Arial"/>
            </a:endParaRPr>
          </a:p>
        </p:txBody>
      </p:sp>
      <p:pic>
        <p:nvPicPr>
          <p:cNvPr id="409" name="Google Shape;409;p44"/>
          <p:cNvPicPr preferRelativeResize="0"/>
          <p:nvPr/>
        </p:nvPicPr>
        <p:blipFill rotWithShape="1">
          <a:blip r:embed="rId3">
            <a:alphaModFix/>
          </a:blip>
          <a:srcRect/>
          <a:stretch/>
        </p:blipFill>
        <p:spPr>
          <a:xfrm>
            <a:off x="5368376" y="1903401"/>
            <a:ext cx="2241884" cy="1336697"/>
          </a:xfrm>
          <a:prstGeom prst="rect">
            <a:avLst/>
          </a:prstGeom>
          <a:noFill/>
          <a:ln>
            <a:noFill/>
          </a:ln>
        </p:spPr>
      </p:pic>
      <p:pic>
        <p:nvPicPr>
          <p:cNvPr id="410" name="Google Shape;410;p44"/>
          <p:cNvPicPr preferRelativeResize="0"/>
          <p:nvPr/>
        </p:nvPicPr>
        <p:blipFill rotWithShape="1">
          <a:blip r:embed="rId4">
            <a:alphaModFix/>
          </a:blip>
          <a:srcRect/>
          <a:stretch/>
        </p:blipFill>
        <p:spPr>
          <a:xfrm>
            <a:off x="7239000" y="7783"/>
            <a:ext cx="1653683" cy="617273"/>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45"/>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2400"/>
              <a:buFont typeface="Calibri"/>
              <a:buNone/>
            </a:pPr>
            <a:r>
              <a:rPr lang="en-US" sz="2400" b="1"/>
              <a:t>Matrix Operations-Multiplication Using Two Dimensional Array</a:t>
            </a:r>
            <a:endParaRPr/>
          </a:p>
        </p:txBody>
      </p:sp>
      <p:sp>
        <p:nvSpPr>
          <p:cNvPr id="416" name="Google Shape;416;p45"/>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rmAutofit/>
          </a:bodyPr>
          <a:lstStyle/>
          <a:p>
            <a:pPr marL="342900" lvl="0" indent="-342900" algn="just" rtl="0">
              <a:lnSpc>
                <a:spcPct val="100000"/>
              </a:lnSpc>
              <a:spcBef>
                <a:spcPts val="0"/>
              </a:spcBef>
              <a:spcAft>
                <a:spcPts val="0"/>
              </a:spcAft>
              <a:buClr>
                <a:schemeClr val="dk1"/>
              </a:buClr>
              <a:buSzPts val="2000"/>
              <a:buChar char="•"/>
            </a:pPr>
            <a:r>
              <a:rPr lang="en-US" sz="2000"/>
              <a:t>Matrix multiplication follows a specific rule: the number of columns in the first matrix must be equal to the number of rows in the second matrix.</a:t>
            </a:r>
            <a:endParaRPr/>
          </a:p>
          <a:p>
            <a:pPr marL="0" lvl="0" indent="0" algn="just" rtl="0">
              <a:lnSpc>
                <a:spcPct val="100000"/>
              </a:lnSpc>
              <a:spcBef>
                <a:spcPts val="400"/>
              </a:spcBef>
              <a:spcAft>
                <a:spcPts val="0"/>
              </a:spcAft>
              <a:buClr>
                <a:schemeClr val="dk1"/>
              </a:buClr>
              <a:buSzPts val="2000"/>
              <a:buNone/>
            </a:pPr>
            <a:r>
              <a:rPr lang="en-US" sz="2000"/>
              <a:t>Formula:</a:t>
            </a:r>
            <a:endParaRPr/>
          </a:p>
        </p:txBody>
      </p:sp>
      <p:pic>
        <p:nvPicPr>
          <p:cNvPr id="417" name="Google Shape;417;p45"/>
          <p:cNvPicPr preferRelativeResize="0"/>
          <p:nvPr/>
        </p:nvPicPr>
        <p:blipFill rotWithShape="1">
          <a:blip r:embed="rId3">
            <a:alphaModFix/>
          </a:blip>
          <a:srcRect/>
          <a:stretch/>
        </p:blipFill>
        <p:spPr>
          <a:xfrm>
            <a:off x="3108250" y="2114550"/>
            <a:ext cx="2927500" cy="603281"/>
          </a:xfrm>
          <a:prstGeom prst="rect">
            <a:avLst/>
          </a:prstGeom>
          <a:noFill/>
          <a:ln>
            <a:noFill/>
          </a:ln>
        </p:spPr>
      </p:pic>
      <p:sp>
        <p:nvSpPr>
          <p:cNvPr id="418" name="Google Shape;418;p45"/>
          <p:cNvSpPr txBox="1"/>
          <p:nvPr/>
        </p:nvSpPr>
        <p:spPr>
          <a:xfrm>
            <a:off x="533400" y="3257550"/>
            <a:ext cx="257485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The product </a:t>
            </a:r>
            <a:r>
              <a:rPr lang="en-US" sz="1800" b="1" i="0" u="none" strike="noStrike" cap="none">
                <a:solidFill>
                  <a:schemeClr val="dk1"/>
                </a:solidFill>
                <a:latin typeface="Calibri"/>
                <a:ea typeface="Calibri"/>
                <a:cs typeface="Calibri"/>
                <a:sym typeface="Calibri"/>
              </a:rPr>
              <a:t>C = A × B</a:t>
            </a:r>
            <a:r>
              <a:rPr lang="en-US" sz="1800" b="0" i="0" u="none" strike="noStrike" cap="none">
                <a:solidFill>
                  <a:schemeClr val="dk1"/>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pic>
        <p:nvPicPr>
          <p:cNvPr id="419" name="Google Shape;419;p45"/>
          <p:cNvPicPr preferRelativeResize="0"/>
          <p:nvPr/>
        </p:nvPicPr>
        <p:blipFill rotWithShape="1">
          <a:blip r:embed="rId4">
            <a:alphaModFix/>
          </a:blip>
          <a:srcRect/>
          <a:stretch/>
        </p:blipFill>
        <p:spPr>
          <a:xfrm>
            <a:off x="3080176" y="3550619"/>
            <a:ext cx="3384724" cy="615982"/>
          </a:xfrm>
          <a:prstGeom prst="rect">
            <a:avLst/>
          </a:prstGeom>
          <a:noFill/>
          <a:ln>
            <a:noFill/>
          </a:ln>
        </p:spPr>
      </p:pic>
      <p:pic>
        <p:nvPicPr>
          <p:cNvPr id="420" name="Google Shape;420;p45"/>
          <p:cNvPicPr preferRelativeResize="0"/>
          <p:nvPr/>
        </p:nvPicPr>
        <p:blipFill rotWithShape="1">
          <a:blip r:embed="rId5">
            <a:alphaModFix/>
          </a:blip>
          <a:srcRect/>
          <a:stretch/>
        </p:blipFill>
        <p:spPr>
          <a:xfrm>
            <a:off x="7239000" y="7783"/>
            <a:ext cx="1653683" cy="61727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16">
                                            <p:txEl>
                                              <p:pRg st="0" end="0"/>
                                            </p:txEl>
                                          </p:spTgt>
                                        </p:tgtEl>
                                        <p:attrNameLst>
                                          <p:attrName>style.visibility</p:attrName>
                                        </p:attrNameLst>
                                      </p:cBhvr>
                                      <p:to>
                                        <p:strVal val="visible"/>
                                      </p:to>
                                    </p:set>
                                    <p:animEffect transition="in" filter="fade">
                                      <p:cBhvr>
                                        <p:cTn id="7" dur="500"/>
                                        <p:tgtEl>
                                          <p:spTgt spid="4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16">
                                            <p:txEl>
                                              <p:pRg st="1" end="1"/>
                                            </p:txEl>
                                          </p:spTgt>
                                        </p:tgtEl>
                                        <p:attrNameLst>
                                          <p:attrName>style.visibility</p:attrName>
                                        </p:attrNameLst>
                                      </p:cBhvr>
                                      <p:to>
                                        <p:strVal val="visible"/>
                                      </p:to>
                                    </p:set>
                                    <p:animEffect transition="in" filter="fade">
                                      <p:cBhvr>
                                        <p:cTn id="12" dur="500"/>
                                        <p:tgtEl>
                                          <p:spTgt spid="4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17"/>
                                        </p:tgtEl>
                                        <p:attrNameLst>
                                          <p:attrName>style.visibility</p:attrName>
                                        </p:attrNameLst>
                                      </p:cBhvr>
                                      <p:to>
                                        <p:strVal val="visible"/>
                                      </p:to>
                                    </p:set>
                                    <p:animEffect transition="in" filter="fade">
                                      <p:cBhvr>
                                        <p:cTn id="17" dur="500"/>
                                        <p:tgtEl>
                                          <p:spTgt spid="4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18"/>
                                        </p:tgtEl>
                                        <p:attrNameLst>
                                          <p:attrName>style.visibility</p:attrName>
                                        </p:attrNameLst>
                                      </p:cBhvr>
                                      <p:to>
                                        <p:strVal val="visible"/>
                                      </p:to>
                                    </p:set>
                                    <p:animEffect transition="in" filter="fade">
                                      <p:cBhvr>
                                        <p:cTn id="22" dur="500"/>
                                        <p:tgtEl>
                                          <p:spTgt spid="41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19"/>
                                        </p:tgtEl>
                                        <p:attrNameLst>
                                          <p:attrName>style.visibility</p:attrName>
                                        </p:attrNameLst>
                                      </p:cBhvr>
                                      <p:to>
                                        <p:strVal val="visible"/>
                                      </p:to>
                                    </p:set>
                                    <p:animEffect transition="in" filter="fade">
                                      <p:cBhvr>
                                        <p:cTn id="27" dur="500"/>
                                        <p:tgtEl>
                                          <p:spTgt spid="4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46"/>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2400"/>
              <a:buFont typeface="Calibri"/>
              <a:buNone/>
            </a:pPr>
            <a:r>
              <a:rPr lang="en-US" sz="2400" b="1"/>
              <a:t>Matrix Operations-Multiplication Using Two Dimensional Array</a:t>
            </a:r>
            <a:endParaRPr/>
          </a:p>
        </p:txBody>
      </p:sp>
      <p:pic>
        <p:nvPicPr>
          <p:cNvPr id="426" name="Google Shape;426;p46"/>
          <p:cNvPicPr preferRelativeResize="0">
            <a:picLocks noGrp="1"/>
          </p:cNvPicPr>
          <p:nvPr>
            <p:ph type="body" idx="1"/>
          </p:nvPr>
        </p:nvPicPr>
        <p:blipFill rotWithShape="1">
          <a:blip r:embed="rId3">
            <a:alphaModFix/>
          </a:blip>
          <a:srcRect/>
          <a:stretch/>
        </p:blipFill>
        <p:spPr>
          <a:xfrm>
            <a:off x="519112" y="1506536"/>
            <a:ext cx="8105775" cy="2970213"/>
          </a:xfrm>
          <a:prstGeom prst="rect">
            <a:avLst/>
          </a:prstGeom>
          <a:noFill/>
          <a:ln>
            <a:noFill/>
          </a:ln>
        </p:spPr>
      </p:pic>
      <p:pic>
        <p:nvPicPr>
          <p:cNvPr id="427" name="Google Shape;427;p46"/>
          <p:cNvPicPr preferRelativeResize="0"/>
          <p:nvPr/>
        </p:nvPicPr>
        <p:blipFill rotWithShape="1">
          <a:blip r:embed="rId4">
            <a:alphaModFix/>
          </a:blip>
          <a:srcRect/>
          <a:stretch/>
        </p:blipFill>
        <p:spPr>
          <a:xfrm>
            <a:off x="7239000" y="7783"/>
            <a:ext cx="1653683" cy="61727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6"/>
                                        </p:tgtEl>
                                        <p:attrNameLst>
                                          <p:attrName>style.visibility</p:attrName>
                                        </p:attrNameLst>
                                      </p:cBhvr>
                                      <p:to>
                                        <p:strVal val="visible"/>
                                      </p:to>
                                    </p:set>
                                    <p:animEffect transition="in" filter="fade">
                                      <p:cBhvr>
                                        <p:cTn id="7" dur="500"/>
                                        <p:tgtEl>
                                          <p:spTgt spid="4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sp>
        <p:nvSpPr>
          <p:cNvPr id="432" name="Google Shape;432;p47"/>
          <p:cNvSpPr txBox="1"/>
          <p:nvPr/>
        </p:nvSpPr>
        <p:spPr>
          <a:xfrm>
            <a:off x="381000" y="209550"/>
            <a:ext cx="571500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Implementation of Matrix Operations-Multiplication</a:t>
            </a:r>
            <a:endParaRPr sz="1800" b="0" i="0" u="none" strike="noStrike" cap="none">
              <a:solidFill>
                <a:schemeClr val="dk1"/>
              </a:solidFill>
              <a:latin typeface="Calibri"/>
              <a:ea typeface="Calibri"/>
              <a:cs typeface="Calibri"/>
              <a:sym typeface="Calibri"/>
            </a:endParaRPr>
          </a:p>
        </p:txBody>
      </p:sp>
      <p:sp>
        <p:nvSpPr>
          <p:cNvPr id="433" name="Google Shape;433;p47"/>
          <p:cNvSpPr txBox="1"/>
          <p:nvPr/>
        </p:nvSpPr>
        <p:spPr>
          <a:xfrm>
            <a:off x="473700" y="-1381505"/>
            <a:ext cx="6324600" cy="6526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#include &lt;stdio.h&gt;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int main()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int A[2][2] = {{1, 2}, {3, 4}};</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int B[2][2] = {{5, 6}, {7, 8}};</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int C[2][2];</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Performing matrix multiplication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for (int i = 0; i &lt; 2; i++)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for (int j = 0; j &lt; 2; j++)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C[i][j] = 0;  // Initialize sum to zero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for (int k = 0; k &lt; 2; k++)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C[i][j] += A[i][k] * B[k][j];  // Multiply and sum</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 Displaying the result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printf("Matrix Multiplication Result:\n");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for (int i = 0; i &lt; 2; i++)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for (int j = 0; j &lt; 2; j++)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printf("%d ", C[i][j]);</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printf("\n");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return 0;</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434" name="Google Shape;434;p47"/>
          <p:cNvSpPr txBox="1"/>
          <p:nvPr/>
        </p:nvSpPr>
        <p:spPr>
          <a:xfrm>
            <a:off x="5562600" y="1401769"/>
            <a:ext cx="457200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Output</a:t>
            </a:r>
            <a:endParaRPr sz="1400" b="0" i="0" u="none" strike="noStrike" cap="none">
              <a:solidFill>
                <a:srgbClr val="000000"/>
              </a:solidFill>
              <a:latin typeface="Arial"/>
              <a:ea typeface="Arial"/>
              <a:cs typeface="Arial"/>
              <a:sym typeface="Arial"/>
            </a:endParaRPr>
          </a:p>
        </p:txBody>
      </p:sp>
      <p:pic>
        <p:nvPicPr>
          <p:cNvPr id="435" name="Google Shape;435;p47"/>
          <p:cNvPicPr preferRelativeResize="0"/>
          <p:nvPr/>
        </p:nvPicPr>
        <p:blipFill rotWithShape="1">
          <a:blip r:embed="rId3">
            <a:alphaModFix/>
          </a:blip>
          <a:srcRect/>
          <a:stretch/>
        </p:blipFill>
        <p:spPr>
          <a:xfrm>
            <a:off x="5251360" y="1873340"/>
            <a:ext cx="2444840" cy="1499059"/>
          </a:xfrm>
          <a:prstGeom prst="rect">
            <a:avLst/>
          </a:prstGeom>
          <a:noFill/>
          <a:ln>
            <a:noFill/>
          </a:ln>
        </p:spPr>
      </p:pic>
      <p:pic>
        <p:nvPicPr>
          <p:cNvPr id="436" name="Google Shape;436;p47"/>
          <p:cNvPicPr preferRelativeResize="0"/>
          <p:nvPr/>
        </p:nvPicPr>
        <p:blipFill rotWithShape="1">
          <a:blip r:embed="rId4">
            <a:alphaModFix/>
          </a:blip>
          <a:srcRect/>
          <a:stretch/>
        </p:blipFill>
        <p:spPr>
          <a:xfrm>
            <a:off x="7239000" y="7783"/>
            <a:ext cx="1653683" cy="617273"/>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1" name="Google Shape;441;p48"/>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2400"/>
              <a:buFont typeface="Calibri"/>
              <a:buNone/>
            </a:pPr>
            <a:r>
              <a:rPr lang="en-US" sz="2400" b="1"/>
              <a:t>Matrix Transpose Using Two Dimensional Array</a:t>
            </a:r>
            <a:endParaRPr/>
          </a:p>
        </p:txBody>
      </p:sp>
      <p:sp>
        <p:nvSpPr>
          <p:cNvPr id="442" name="Google Shape;442;p48"/>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rmAutofit/>
          </a:bodyPr>
          <a:lstStyle/>
          <a:p>
            <a:pPr marL="342900" lvl="0" indent="-342900" algn="just" rtl="0">
              <a:lnSpc>
                <a:spcPct val="100000"/>
              </a:lnSpc>
              <a:spcBef>
                <a:spcPts val="0"/>
              </a:spcBef>
              <a:spcAft>
                <a:spcPts val="0"/>
              </a:spcAft>
              <a:buClr>
                <a:srgbClr val="202122"/>
              </a:buClr>
              <a:buSzPts val="1800"/>
              <a:buChar char="•"/>
            </a:pPr>
            <a:r>
              <a:rPr lang="en-US" sz="1800" b="0" i="0" u="none" strike="noStrike">
                <a:solidFill>
                  <a:srgbClr val="202122"/>
                </a:solidFill>
                <a:latin typeface="Calibri"/>
                <a:ea typeface="Calibri"/>
                <a:cs typeface="Calibri"/>
                <a:sym typeface="Calibri"/>
              </a:rPr>
              <a:t>In </a:t>
            </a:r>
            <a:r>
              <a:rPr lang="en-US" sz="1800" b="0" i="0" u="sng" strike="noStrike">
                <a:solidFill>
                  <a:srgbClr val="3366CC"/>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linear algebra</a:t>
            </a:r>
            <a:r>
              <a:rPr lang="en-US" sz="1800" b="0" i="0" u="none" strike="noStrike">
                <a:solidFill>
                  <a:srgbClr val="202122"/>
                </a:solidFill>
                <a:latin typeface="Calibri"/>
                <a:ea typeface="Calibri"/>
                <a:cs typeface="Calibri"/>
                <a:sym typeface="Calibri"/>
              </a:rPr>
              <a:t>, the </a:t>
            </a:r>
            <a:r>
              <a:rPr lang="en-US" sz="1800" b="1" i="0" u="none" strike="noStrike">
                <a:solidFill>
                  <a:srgbClr val="202122"/>
                </a:solidFill>
                <a:latin typeface="Calibri"/>
                <a:ea typeface="Calibri"/>
                <a:cs typeface="Calibri"/>
                <a:sym typeface="Calibri"/>
              </a:rPr>
              <a:t>transpose</a:t>
            </a:r>
            <a:r>
              <a:rPr lang="en-US" sz="1800" b="0" i="0" u="none" strike="noStrike">
                <a:solidFill>
                  <a:srgbClr val="202122"/>
                </a:solidFill>
                <a:latin typeface="Calibri"/>
                <a:ea typeface="Calibri"/>
                <a:cs typeface="Calibri"/>
                <a:sym typeface="Calibri"/>
              </a:rPr>
              <a:t> of a </a:t>
            </a:r>
            <a:r>
              <a:rPr lang="en-US" sz="1800" b="0" i="0" u="sng" strike="noStrike">
                <a:solidFill>
                  <a:srgbClr val="3366CC"/>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matrix</a:t>
            </a:r>
            <a:r>
              <a:rPr lang="en-US" sz="1800" b="0" i="0" u="none" strike="noStrike">
                <a:solidFill>
                  <a:srgbClr val="202122"/>
                </a:solidFill>
                <a:latin typeface="Calibri"/>
                <a:ea typeface="Calibri"/>
                <a:cs typeface="Calibri"/>
                <a:sym typeface="Calibri"/>
              </a:rPr>
              <a:t> is an operator which flips a matrix over its diagonal; that is, it switches the row and column indices of the matrix </a:t>
            </a:r>
            <a:r>
              <a:rPr lang="en-US" sz="1800" b="1" i="0" u="none" strike="noStrike">
                <a:solidFill>
                  <a:srgbClr val="202122"/>
                </a:solidFill>
                <a:latin typeface="Calibri"/>
                <a:ea typeface="Calibri"/>
                <a:cs typeface="Calibri"/>
                <a:sym typeface="Calibri"/>
              </a:rPr>
              <a:t>A</a:t>
            </a:r>
            <a:r>
              <a:rPr lang="en-US" sz="1800" b="0" i="0" u="none" strike="noStrike">
                <a:solidFill>
                  <a:srgbClr val="202122"/>
                </a:solidFill>
                <a:latin typeface="Calibri"/>
                <a:ea typeface="Calibri"/>
                <a:cs typeface="Calibri"/>
                <a:sym typeface="Calibri"/>
              </a:rPr>
              <a:t> by producing another matrix.</a:t>
            </a:r>
            <a:endParaRPr/>
          </a:p>
          <a:p>
            <a:pPr marL="342900" lvl="0" indent="-342900" algn="just" rtl="0">
              <a:lnSpc>
                <a:spcPct val="100000"/>
              </a:lnSpc>
              <a:spcBef>
                <a:spcPts val="400"/>
              </a:spcBef>
              <a:spcAft>
                <a:spcPts val="0"/>
              </a:spcAft>
              <a:buClr>
                <a:schemeClr val="dk1"/>
              </a:buClr>
              <a:buSzPts val="2000"/>
              <a:buChar char="•"/>
            </a:pPr>
            <a:r>
              <a:rPr lang="en-US" sz="2000"/>
              <a:t>To state formally, the </a:t>
            </a:r>
            <a:r>
              <a:rPr lang="en-US" sz="2000" i="1"/>
              <a:t>i</a:t>
            </a:r>
            <a:r>
              <a:rPr lang="en-US" sz="2000"/>
              <a:t>-th row, </a:t>
            </a:r>
            <a:r>
              <a:rPr lang="en-US" sz="2000" i="1"/>
              <a:t>j</a:t>
            </a:r>
            <a:r>
              <a:rPr lang="en-US" sz="2000"/>
              <a:t>-th column element of the transpose matrix </a:t>
            </a:r>
            <a:r>
              <a:rPr lang="en-US" sz="2000" b="1"/>
              <a:t>A</a:t>
            </a:r>
            <a:r>
              <a:rPr lang="en-US" sz="2000" baseline="30000"/>
              <a:t>T</a:t>
            </a:r>
            <a:r>
              <a:rPr lang="en-US" sz="2000"/>
              <a:t> is the </a:t>
            </a:r>
            <a:r>
              <a:rPr lang="en-US" sz="2000" i="1"/>
              <a:t>j</a:t>
            </a:r>
            <a:r>
              <a:rPr lang="en-US" sz="2000"/>
              <a:t>-th row, </a:t>
            </a:r>
            <a:r>
              <a:rPr lang="en-US" sz="2000" i="1"/>
              <a:t>i</a:t>
            </a:r>
            <a:r>
              <a:rPr lang="en-US" sz="2000"/>
              <a:t>-th column element of </a:t>
            </a:r>
            <a:r>
              <a:rPr lang="en-US" sz="2000" b="1"/>
              <a:t>A</a:t>
            </a:r>
            <a:r>
              <a:rPr lang="en-US" sz="2000"/>
              <a:t>:</a:t>
            </a:r>
            <a:endParaRPr/>
          </a:p>
          <a:p>
            <a:pPr marL="342900" lvl="0" indent="-228600" algn="just" rtl="0">
              <a:lnSpc>
                <a:spcPct val="100000"/>
              </a:lnSpc>
              <a:spcBef>
                <a:spcPts val="360"/>
              </a:spcBef>
              <a:spcAft>
                <a:spcPts val="0"/>
              </a:spcAft>
              <a:buClr>
                <a:schemeClr val="dk1"/>
              </a:buClr>
              <a:buSzPts val="1800"/>
              <a:buNone/>
            </a:pPr>
            <a:endParaRPr sz="1800" b="0" i="0" u="none" strike="noStrike">
              <a:solidFill>
                <a:srgbClr val="202122"/>
              </a:solidFill>
              <a:latin typeface="Arial"/>
              <a:ea typeface="Arial"/>
              <a:cs typeface="Arial"/>
              <a:sym typeface="Arial"/>
            </a:endParaRPr>
          </a:p>
          <a:p>
            <a:pPr marL="342900" lvl="0" indent="-342900" algn="l" rtl="0">
              <a:lnSpc>
                <a:spcPct val="100000"/>
              </a:lnSpc>
              <a:spcBef>
                <a:spcPts val="360"/>
              </a:spcBef>
              <a:spcAft>
                <a:spcPts val="0"/>
              </a:spcAft>
              <a:buClr>
                <a:schemeClr val="dk1"/>
              </a:buClr>
              <a:buSzPts val="1800"/>
              <a:buChar char="•"/>
            </a:pPr>
            <a:r>
              <a:rPr lang="en-US" sz="1800"/>
              <a:t>Formula:</a:t>
            </a:r>
            <a:endParaRPr/>
          </a:p>
        </p:txBody>
      </p:sp>
      <p:pic>
        <p:nvPicPr>
          <p:cNvPr id="443" name="Google Shape;443;p48"/>
          <p:cNvPicPr preferRelativeResize="0"/>
          <p:nvPr/>
        </p:nvPicPr>
        <p:blipFill rotWithShape="1">
          <a:blip r:embed="rId5">
            <a:alphaModFix/>
          </a:blip>
          <a:srcRect/>
          <a:stretch/>
        </p:blipFill>
        <p:spPr>
          <a:xfrm>
            <a:off x="3886200" y="2891514"/>
            <a:ext cx="1111307" cy="673135"/>
          </a:xfrm>
          <a:prstGeom prst="rect">
            <a:avLst/>
          </a:prstGeom>
          <a:noFill/>
          <a:ln>
            <a:noFill/>
          </a:ln>
        </p:spPr>
      </p:pic>
      <p:sp>
        <p:nvSpPr>
          <p:cNvPr id="444" name="Google Shape;444;p48"/>
          <p:cNvSpPr txBox="1"/>
          <p:nvPr/>
        </p:nvSpPr>
        <p:spPr>
          <a:xfrm>
            <a:off x="762000" y="4019550"/>
            <a:ext cx="182880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The </a:t>
            </a:r>
            <a:r>
              <a:rPr lang="en-US" sz="1800" b="1" i="0" u="none" strike="noStrike" cap="none">
                <a:solidFill>
                  <a:schemeClr val="dk1"/>
                </a:solidFill>
                <a:latin typeface="Calibri"/>
                <a:ea typeface="Calibri"/>
                <a:cs typeface="Calibri"/>
                <a:sym typeface="Calibri"/>
              </a:rPr>
              <a:t>transpose</a:t>
            </a:r>
            <a:r>
              <a:rPr lang="en-US" sz="1800" b="0" i="0" u="none" strike="noStrike" cap="none">
                <a:solidFill>
                  <a:schemeClr val="dk1"/>
                </a:solidFill>
                <a:latin typeface="Calibri"/>
                <a:ea typeface="Calibri"/>
                <a:cs typeface="Calibri"/>
                <a:sym typeface="Calibri"/>
              </a:rPr>
              <a:t> is:</a:t>
            </a:r>
            <a:endParaRPr sz="1400" b="0" i="0" u="none" strike="noStrike" cap="none">
              <a:solidFill>
                <a:srgbClr val="000000"/>
              </a:solidFill>
              <a:latin typeface="Arial"/>
              <a:ea typeface="Arial"/>
              <a:cs typeface="Arial"/>
              <a:sym typeface="Arial"/>
            </a:endParaRPr>
          </a:p>
        </p:txBody>
      </p:sp>
      <p:pic>
        <p:nvPicPr>
          <p:cNvPr id="445" name="Google Shape;445;p48"/>
          <p:cNvPicPr preferRelativeResize="0"/>
          <p:nvPr/>
        </p:nvPicPr>
        <p:blipFill rotWithShape="1">
          <a:blip r:embed="rId6">
            <a:alphaModFix/>
          </a:blip>
          <a:srcRect/>
          <a:stretch/>
        </p:blipFill>
        <p:spPr>
          <a:xfrm>
            <a:off x="3878752" y="4057838"/>
            <a:ext cx="1327218" cy="654084"/>
          </a:xfrm>
          <a:prstGeom prst="rect">
            <a:avLst/>
          </a:prstGeom>
          <a:noFill/>
          <a:ln>
            <a:noFill/>
          </a:ln>
        </p:spPr>
      </p:pic>
      <p:pic>
        <p:nvPicPr>
          <p:cNvPr id="446" name="Google Shape;446;p48"/>
          <p:cNvPicPr preferRelativeResize="0"/>
          <p:nvPr/>
        </p:nvPicPr>
        <p:blipFill rotWithShape="1">
          <a:blip r:embed="rId7">
            <a:alphaModFix/>
          </a:blip>
          <a:srcRect/>
          <a:stretch/>
        </p:blipFill>
        <p:spPr>
          <a:xfrm>
            <a:off x="7239000" y="7783"/>
            <a:ext cx="1653683" cy="61727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42">
                                            <p:txEl>
                                              <p:pRg st="0" end="0"/>
                                            </p:txEl>
                                          </p:spTgt>
                                        </p:tgtEl>
                                        <p:attrNameLst>
                                          <p:attrName>style.visibility</p:attrName>
                                        </p:attrNameLst>
                                      </p:cBhvr>
                                      <p:to>
                                        <p:strVal val="visible"/>
                                      </p:to>
                                    </p:set>
                                    <p:animEffect transition="in" filter="fade">
                                      <p:cBhvr>
                                        <p:cTn id="7" dur="500"/>
                                        <p:tgtEl>
                                          <p:spTgt spid="44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42">
                                            <p:txEl>
                                              <p:pRg st="1" end="1"/>
                                            </p:txEl>
                                          </p:spTgt>
                                        </p:tgtEl>
                                        <p:attrNameLst>
                                          <p:attrName>style.visibility</p:attrName>
                                        </p:attrNameLst>
                                      </p:cBhvr>
                                      <p:to>
                                        <p:strVal val="visible"/>
                                      </p:to>
                                    </p:set>
                                    <p:animEffect transition="in" filter="fade">
                                      <p:cBhvr>
                                        <p:cTn id="12" dur="500"/>
                                        <p:tgtEl>
                                          <p:spTgt spid="44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42">
                                            <p:txEl>
                                              <p:pRg st="2" end="2"/>
                                            </p:txEl>
                                          </p:spTgt>
                                        </p:tgtEl>
                                        <p:attrNameLst>
                                          <p:attrName>style.visibility</p:attrName>
                                        </p:attrNameLst>
                                      </p:cBhvr>
                                      <p:to>
                                        <p:strVal val="visible"/>
                                      </p:to>
                                    </p:set>
                                    <p:animEffect transition="in" filter="fade">
                                      <p:cBhvr>
                                        <p:cTn id="17" dur="500"/>
                                        <p:tgtEl>
                                          <p:spTgt spid="44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42">
                                            <p:txEl>
                                              <p:pRg st="3" end="3"/>
                                            </p:txEl>
                                          </p:spTgt>
                                        </p:tgtEl>
                                        <p:attrNameLst>
                                          <p:attrName>style.visibility</p:attrName>
                                        </p:attrNameLst>
                                      </p:cBhvr>
                                      <p:to>
                                        <p:strVal val="visible"/>
                                      </p:to>
                                    </p:set>
                                    <p:animEffect transition="in" filter="fade">
                                      <p:cBhvr>
                                        <p:cTn id="22" dur="500"/>
                                        <p:tgtEl>
                                          <p:spTgt spid="44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43"/>
                                        </p:tgtEl>
                                        <p:attrNameLst>
                                          <p:attrName>style.visibility</p:attrName>
                                        </p:attrNameLst>
                                      </p:cBhvr>
                                      <p:to>
                                        <p:strVal val="visible"/>
                                      </p:to>
                                    </p:set>
                                    <p:animEffect transition="in" filter="fade">
                                      <p:cBhvr>
                                        <p:cTn id="27" dur="500"/>
                                        <p:tgtEl>
                                          <p:spTgt spid="44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44"/>
                                        </p:tgtEl>
                                        <p:attrNameLst>
                                          <p:attrName>style.visibility</p:attrName>
                                        </p:attrNameLst>
                                      </p:cBhvr>
                                      <p:to>
                                        <p:strVal val="visible"/>
                                      </p:to>
                                    </p:set>
                                    <p:animEffect transition="in" filter="fade">
                                      <p:cBhvr>
                                        <p:cTn id="32" dur="500"/>
                                        <p:tgtEl>
                                          <p:spTgt spid="44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45"/>
                                        </p:tgtEl>
                                        <p:attrNameLst>
                                          <p:attrName>style.visibility</p:attrName>
                                        </p:attrNameLst>
                                      </p:cBhvr>
                                      <p:to>
                                        <p:strVal val="visible"/>
                                      </p:to>
                                    </p:set>
                                    <p:animEffect transition="in" filter="fade">
                                      <p:cBhvr>
                                        <p:cTn id="37" dur="500"/>
                                        <p:tgtEl>
                                          <p:spTgt spid="4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p49"/>
          <p:cNvSpPr txBox="1"/>
          <p:nvPr/>
        </p:nvSpPr>
        <p:spPr>
          <a:xfrm>
            <a:off x="304800" y="209550"/>
            <a:ext cx="5105400"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Implementation of Matrix Transpose: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52" name="Google Shape;452;p49"/>
          <p:cNvSpPr txBox="1"/>
          <p:nvPr/>
        </p:nvSpPr>
        <p:spPr>
          <a:xfrm>
            <a:off x="76200" y="-937333"/>
            <a:ext cx="6781800" cy="5509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#include &lt;stdio.h&gt;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int main()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int A[2][2] = {{1, 2}, {3, 4}};</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int T[2][2];</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Computing the transpose of the matrix</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for (int i = 0; i &lt; 2; i++)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for (int j = 0; j &lt; 2; j++)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T[j][i] = A[i][j];  // Swapping row and column elements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Displaying the transpose matrix</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printf("Transpose of the Matrix:\n");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for (int i = 0; i &lt; 2; i++)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for (int j = 0; j &lt; 2; j++)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printf("%d ", T[i][j]);</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printf("\n");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    return 0;</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pic>
        <p:nvPicPr>
          <p:cNvPr id="453" name="Google Shape;453;p49"/>
          <p:cNvPicPr preferRelativeResize="0"/>
          <p:nvPr/>
        </p:nvPicPr>
        <p:blipFill rotWithShape="1">
          <a:blip r:embed="rId3">
            <a:alphaModFix/>
          </a:blip>
          <a:srcRect/>
          <a:stretch/>
        </p:blipFill>
        <p:spPr>
          <a:xfrm>
            <a:off x="5410200" y="2174854"/>
            <a:ext cx="2362200" cy="1311296"/>
          </a:xfrm>
          <a:prstGeom prst="rect">
            <a:avLst/>
          </a:prstGeom>
          <a:noFill/>
          <a:ln>
            <a:noFill/>
          </a:ln>
        </p:spPr>
      </p:pic>
      <p:sp>
        <p:nvSpPr>
          <p:cNvPr id="454" name="Google Shape;454;p49"/>
          <p:cNvSpPr txBox="1"/>
          <p:nvPr/>
        </p:nvSpPr>
        <p:spPr>
          <a:xfrm>
            <a:off x="5334000" y="1733550"/>
            <a:ext cx="457200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Output</a:t>
            </a:r>
            <a:endParaRPr sz="1400" b="0" i="0" u="none" strike="noStrike" cap="none">
              <a:solidFill>
                <a:srgbClr val="000000"/>
              </a:solidFill>
              <a:latin typeface="Arial"/>
              <a:ea typeface="Arial"/>
              <a:cs typeface="Arial"/>
              <a:sym typeface="Arial"/>
            </a:endParaRPr>
          </a:p>
        </p:txBody>
      </p:sp>
      <p:pic>
        <p:nvPicPr>
          <p:cNvPr id="455" name="Google Shape;455;p49"/>
          <p:cNvPicPr preferRelativeResize="0"/>
          <p:nvPr/>
        </p:nvPicPr>
        <p:blipFill rotWithShape="1">
          <a:blip r:embed="rId4">
            <a:alphaModFix/>
          </a:blip>
          <a:srcRect/>
          <a:stretch/>
        </p:blipFill>
        <p:spPr>
          <a:xfrm>
            <a:off x="7239000" y="7783"/>
            <a:ext cx="1653683" cy="617273"/>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50"/>
          <p:cNvSpPr txBox="1"/>
          <p:nvPr/>
        </p:nvSpPr>
        <p:spPr>
          <a:xfrm>
            <a:off x="609600" y="2419350"/>
            <a:ext cx="8229600" cy="857250"/>
          </a:xfrm>
          <a:prstGeom prst="rect">
            <a:avLst/>
          </a:prstGeom>
          <a:noFill/>
          <a:ln>
            <a:noFill/>
          </a:ln>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Clr>
                <a:schemeClr val="dk1"/>
              </a:buClr>
              <a:buSzPts val="4000"/>
              <a:buFont typeface="Calibri"/>
              <a:buNone/>
            </a:pPr>
            <a:r>
              <a:rPr lang="en-US" sz="4000" b="1" i="0" u="none" strike="noStrike" cap="none">
                <a:solidFill>
                  <a:schemeClr val="dk1"/>
                </a:solidFill>
                <a:latin typeface="Calibri"/>
                <a:ea typeface="Calibri"/>
                <a:cs typeface="Calibri"/>
                <a:sym typeface="Calibri"/>
              </a:rPr>
              <a:t>THANK YOU</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223</TotalTime>
  <Words>3917</Words>
  <Application>Microsoft Office PowerPoint</Application>
  <PresentationFormat>On-screen Show (16:9)</PresentationFormat>
  <Paragraphs>519</Paragraphs>
  <Slides>53</Slides>
  <Notes>53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53</vt:i4>
      </vt:variant>
    </vt:vector>
  </HeadingPairs>
  <TitlesOfParts>
    <vt:vector size="57" baseType="lpstr">
      <vt:lpstr>Arial</vt:lpstr>
      <vt:lpstr>Calibri</vt:lpstr>
      <vt:lpstr>Courier New</vt:lpstr>
      <vt:lpstr>Office Theme</vt:lpstr>
      <vt:lpstr>PowerPoint Presentation</vt:lpstr>
      <vt:lpstr>Applications of One Dimensional Array</vt:lpstr>
      <vt:lpstr>Linear Search</vt:lpstr>
      <vt:lpstr>Linear Search</vt:lpstr>
      <vt:lpstr>Linear Search</vt:lpstr>
      <vt:lpstr>Linear Search</vt:lpstr>
      <vt:lpstr>Linear Search</vt:lpstr>
      <vt:lpstr>Linear Search</vt:lpstr>
      <vt:lpstr>Linear Search</vt:lpstr>
      <vt:lpstr>Linear Search</vt:lpstr>
      <vt:lpstr>Binary Search</vt:lpstr>
      <vt:lpstr>Binary Search Algorithm</vt:lpstr>
      <vt:lpstr>Binary Search</vt:lpstr>
      <vt:lpstr>Binary Search</vt:lpstr>
      <vt:lpstr>Binary Search</vt:lpstr>
      <vt:lpstr>Binary Search</vt:lpstr>
      <vt:lpstr>Binary Search</vt:lpstr>
      <vt:lpstr>Binary Search</vt:lpstr>
      <vt:lpstr>Binary Search</vt:lpstr>
      <vt:lpstr>Bubble Sort</vt:lpstr>
      <vt:lpstr>Bubble Sort</vt:lpstr>
      <vt:lpstr>Bubble Sort</vt:lpstr>
      <vt:lpstr>Bubble Sort</vt:lpstr>
      <vt:lpstr>Bubble Sort</vt:lpstr>
      <vt:lpstr>Bubble Sort</vt:lpstr>
      <vt:lpstr>Bubble Sort</vt:lpstr>
      <vt:lpstr>Bubble Sort</vt:lpstr>
      <vt:lpstr>Selection Sort</vt:lpstr>
      <vt:lpstr>Selection Sort</vt:lpstr>
      <vt:lpstr>Selection Sort</vt:lpstr>
      <vt:lpstr>Selection Sort</vt:lpstr>
      <vt:lpstr>Selection Sort</vt:lpstr>
      <vt:lpstr>Selection Sort</vt:lpstr>
      <vt:lpstr>Selection Sort</vt:lpstr>
      <vt:lpstr>Selection Sort</vt:lpstr>
      <vt:lpstr>Selection Sort</vt:lpstr>
      <vt:lpstr>Bubble Sort 🫧 vs Selection Sort 🎯</vt:lpstr>
      <vt:lpstr>PowerPoint Presentation</vt:lpstr>
      <vt:lpstr>Applications of Two Dimensional Array</vt:lpstr>
      <vt:lpstr>2D array</vt:lpstr>
      <vt:lpstr>2D array</vt:lpstr>
      <vt:lpstr>2D array</vt:lpstr>
      <vt:lpstr>2D array</vt:lpstr>
      <vt:lpstr>Matrix Operations-Addition Using Two Dimensional Array</vt:lpstr>
      <vt:lpstr>PowerPoint Presentation</vt:lpstr>
      <vt:lpstr>Matrix Operations-Subtraction Using Two Dimensional Array</vt:lpstr>
      <vt:lpstr>PowerPoint Presentation</vt:lpstr>
      <vt:lpstr>Matrix Operations-Multiplication Using Two Dimensional Array</vt:lpstr>
      <vt:lpstr>Matrix Operations-Multiplication Using Two Dimensional Array</vt:lpstr>
      <vt:lpstr>PowerPoint Presentation</vt:lpstr>
      <vt:lpstr>Matrix Transpose Using Two Dimensional Array</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RK</dc:creator>
  <cp:lastModifiedBy>Mayur M</cp:lastModifiedBy>
  <cp:revision>5</cp:revision>
  <dcterms:created xsi:type="dcterms:W3CDTF">2006-08-16T00:00:00Z</dcterms:created>
  <dcterms:modified xsi:type="dcterms:W3CDTF">2026-05-24T11:30:11Z</dcterms:modified>
</cp:coreProperties>
</file>