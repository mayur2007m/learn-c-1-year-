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91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iBeV4EKVUSJxoYgvFX65SORKdo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6D5AC2-E52A-4C7A-90AE-5A73D5A5CC7E}">
  <a:tblStyle styleId="{C16D5AC2-E52A-4C7A-90AE-5A73D5A5CC7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91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2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2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2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2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3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" type="body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7" name="Google Shape;27;p33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3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3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8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8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8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8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4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4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4"/>
          <p:cNvSpPr txBox="1"/>
          <p:nvPr>
            <p:ph type="ctrTitle"/>
          </p:nvPr>
        </p:nvSpPr>
        <p:spPr>
          <a:xfrm>
            <a:off x="1645920" y="1138428"/>
            <a:ext cx="15087600" cy="5349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0"/>
              <a:buFont typeface="Calibri"/>
              <a:buNone/>
              <a:defRPr sz="12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4"/>
          <p:cNvSpPr txBox="1"/>
          <p:nvPr>
            <p:ph idx="1" type="subTitle"/>
          </p:nvPr>
        </p:nvSpPr>
        <p:spPr>
          <a:xfrm>
            <a:off x="1650077" y="6683430"/>
            <a:ext cx="150876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3600"/>
              <a:buNone/>
              <a:defRPr sz="36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" name="Google Shape;41;p34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4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4" name="Google Shape;44;p34"/>
          <p:cNvCxnSpPr/>
          <p:nvPr/>
        </p:nvCxnSpPr>
        <p:spPr>
          <a:xfrm>
            <a:off x="1811487" y="6515100"/>
            <a:ext cx="1481328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5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5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5"/>
          <p:cNvSpPr txBox="1"/>
          <p:nvPr>
            <p:ph type="title"/>
          </p:nvPr>
        </p:nvSpPr>
        <p:spPr>
          <a:xfrm>
            <a:off x="1645920" y="1138428"/>
            <a:ext cx="15087600" cy="5349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0"/>
              <a:buFont typeface="Calibri"/>
              <a:buNone/>
              <a:defRPr b="0" sz="12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5"/>
          <p:cNvSpPr txBox="1"/>
          <p:nvPr>
            <p:ph idx="1" type="body"/>
          </p:nvPr>
        </p:nvSpPr>
        <p:spPr>
          <a:xfrm>
            <a:off x="1645920" y="6679692"/>
            <a:ext cx="150876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3600"/>
              <a:buNone/>
              <a:defRPr sz="36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700"/>
              <a:buNone/>
              <a:defRPr sz="27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35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5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3" name="Google Shape;53;p35"/>
          <p:cNvCxnSpPr/>
          <p:nvPr/>
        </p:nvCxnSpPr>
        <p:spPr>
          <a:xfrm>
            <a:off x="1811487" y="6515100"/>
            <a:ext cx="1481328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7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7"/>
          <p:cNvSpPr txBox="1"/>
          <p:nvPr>
            <p:ph idx="1" type="body"/>
          </p:nvPr>
        </p:nvSpPr>
        <p:spPr>
          <a:xfrm>
            <a:off x="1645920" y="2769078"/>
            <a:ext cx="7406640" cy="11044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3000"/>
              <a:buNone/>
              <a:defRPr b="0" sz="3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3000"/>
              <a:buNone/>
              <a:defRPr b="1" sz="3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00"/>
              <a:buNone/>
              <a:defRPr b="1" sz="27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7" name="Google Shape;57;p37"/>
          <p:cNvSpPr txBox="1"/>
          <p:nvPr>
            <p:ph idx="2" type="body"/>
          </p:nvPr>
        </p:nvSpPr>
        <p:spPr>
          <a:xfrm>
            <a:off x="1645920" y="3873501"/>
            <a:ext cx="7406640" cy="50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8" name="Google Shape;58;p37"/>
          <p:cNvSpPr txBox="1"/>
          <p:nvPr>
            <p:ph idx="3" type="body"/>
          </p:nvPr>
        </p:nvSpPr>
        <p:spPr>
          <a:xfrm>
            <a:off x="9326880" y="2769078"/>
            <a:ext cx="7406640" cy="11044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3000"/>
              <a:buNone/>
              <a:defRPr b="0" sz="3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3000"/>
              <a:buNone/>
              <a:defRPr b="1" sz="3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00"/>
              <a:buNone/>
              <a:defRPr b="1" sz="27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9" name="Google Shape;59;p37"/>
          <p:cNvSpPr txBox="1"/>
          <p:nvPr>
            <p:ph idx="4" type="body"/>
          </p:nvPr>
        </p:nvSpPr>
        <p:spPr>
          <a:xfrm>
            <a:off x="9326880" y="3873501"/>
            <a:ext cx="7406640" cy="50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7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7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9"/>
          <p:cNvSpPr/>
          <p:nvPr/>
        </p:nvSpPr>
        <p:spPr>
          <a:xfrm>
            <a:off x="25" y="0"/>
            <a:ext cx="6076187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9"/>
          <p:cNvSpPr/>
          <p:nvPr/>
        </p:nvSpPr>
        <p:spPr>
          <a:xfrm>
            <a:off x="6060107" y="0"/>
            <a:ext cx="96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9"/>
          <p:cNvSpPr txBox="1"/>
          <p:nvPr>
            <p:ph type="title"/>
          </p:nvPr>
        </p:nvSpPr>
        <p:spPr>
          <a:xfrm>
            <a:off x="685800" y="891538"/>
            <a:ext cx="4800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  <a:defRPr b="0" sz="5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 txBox="1"/>
          <p:nvPr>
            <p:ph idx="1" type="body"/>
          </p:nvPr>
        </p:nvSpPr>
        <p:spPr>
          <a:xfrm>
            <a:off x="7200900" y="1097280"/>
            <a:ext cx="973836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8" name="Google Shape;68;p39"/>
          <p:cNvSpPr txBox="1"/>
          <p:nvPr>
            <p:ph idx="2" type="body"/>
          </p:nvPr>
        </p:nvSpPr>
        <p:spPr>
          <a:xfrm>
            <a:off x="685800" y="4389120"/>
            <a:ext cx="4800600" cy="5068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250"/>
              <a:buNone/>
              <a:defRPr sz="225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350"/>
              <a:buNone/>
              <a:defRPr sz="1350"/>
            </a:lvl9pPr>
          </a:lstStyle>
          <a:p/>
        </p:txBody>
      </p:sp>
      <p:sp>
        <p:nvSpPr>
          <p:cNvPr id="69" name="Google Shape;69;p39"/>
          <p:cNvSpPr txBox="1"/>
          <p:nvPr>
            <p:ph idx="10" type="dt"/>
          </p:nvPr>
        </p:nvSpPr>
        <p:spPr>
          <a:xfrm>
            <a:off x="698268" y="9689678"/>
            <a:ext cx="3927765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9"/>
          <p:cNvSpPr txBox="1"/>
          <p:nvPr>
            <p:ph idx="11" type="ftr"/>
          </p:nvPr>
        </p:nvSpPr>
        <p:spPr>
          <a:xfrm>
            <a:off x="7200900" y="9689678"/>
            <a:ext cx="69723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9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0"/>
          <p:cNvSpPr/>
          <p:nvPr/>
        </p:nvSpPr>
        <p:spPr>
          <a:xfrm>
            <a:off x="1" y="7429500"/>
            <a:ext cx="18283238" cy="285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0"/>
          <p:cNvSpPr/>
          <p:nvPr/>
        </p:nvSpPr>
        <p:spPr>
          <a:xfrm>
            <a:off x="23" y="737261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0"/>
          <p:cNvSpPr txBox="1"/>
          <p:nvPr>
            <p:ph type="title"/>
          </p:nvPr>
        </p:nvSpPr>
        <p:spPr>
          <a:xfrm>
            <a:off x="1645920" y="7612380"/>
            <a:ext cx="15169896" cy="12344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  <a:defRPr b="0" sz="5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0"/>
          <p:cNvSpPr/>
          <p:nvPr>
            <p:ph idx="2" type="pic"/>
          </p:nvPr>
        </p:nvSpPr>
        <p:spPr>
          <a:xfrm>
            <a:off x="23" y="0"/>
            <a:ext cx="18287978" cy="7372614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40"/>
          <p:cNvSpPr txBox="1"/>
          <p:nvPr>
            <p:ph idx="1" type="body"/>
          </p:nvPr>
        </p:nvSpPr>
        <p:spPr>
          <a:xfrm>
            <a:off x="1645920" y="8860535"/>
            <a:ext cx="15169896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  <a:defRPr sz="225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 sz="15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None/>
              <a:defRPr sz="135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350"/>
              <a:buNone/>
              <a:defRPr sz="1350"/>
            </a:lvl9pPr>
          </a:lstStyle>
          <a:p/>
        </p:txBody>
      </p:sp>
      <p:sp>
        <p:nvSpPr>
          <p:cNvPr id="78" name="Google Shape;78;p40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0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0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1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1"/>
          <p:cNvSpPr txBox="1"/>
          <p:nvPr>
            <p:ph idx="1" type="body"/>
          </p:nvPr>
        </p:nvSpPr>
        <p:spPr>
          <a:xfrm rot="5400000">
            <a:off x="6172200" y="-1757679"/>
            <a:ext cx="6035040" cy="150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4" name="Google Shape;84;p41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1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1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2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2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2"/>
          <p:cNvSpPr txBox="1"/>
          <p:nvPr>
            <p:ph type="title"/>
          </p:nvPr>
        </p:nvSpPr>
        <p:spPr>
          <a:xfrm rot="5400000">
            <a:off x="10740959" y="2968559"/>
            <a:ext cx="8636132" cy="3943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2"/>
          <p:cNvSpPr txBox="1"/>
          <p:nvPr>
            <p:ph idx="1" type="body"/>
          </p:nvPr>
        </p:nvSpPr>
        <p:spPr>
          <a:xfrm rot="5400000">
            <a:off x="2739959" y="-860492"/>
            <a:ext cx="8636133" cy="1160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2" name="Google Shape;92;p42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2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2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/>
          <p:nvPr/>
        </p:nvSpPr>
        <p:spPr>
          <a:xfrm>
            <a:off x="2" y="9601200"/>
            <a:ext cx="182880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1"/>
          <p:cNvSpPr/>
          <p:nvPr/>
        </p:nvSpPr>
        <p:spPr>
          <a:xfrm>
            <a:off x="1" y="9501474"/>
            <a:ext cx="18288002" cy="98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1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Calibri"/>
              <a:buNone/>
              <a:defRPr b="0" i="0" sz="72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" type="body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4191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Char char=" "/>
              <a:defRPr b="0" i="0" sz="3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005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Char char="◦"/>
              <a:defRPr b="0" i="0" sz="27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6195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195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195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195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195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2100"/>
              <a:buFont typeface="Calibri"/>
              <a:buChar char="◦"/>
              <a:defRPr b="0" i="0" sz="21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31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31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Arial"/>
              <a:buNone/>
              <a:defRPr b="0" i="0" sz="15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31"/>
          <p:cNvCxnSpPr/>
          <p:nvPr/>
        </p:nvCxnSpPr>
        <p:spPr>
          <a:xfrm>
            <a:off x="1790298" y="2606768"/>
            <a:ext cx="149504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" name="Google Shape;18;p3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5517929" y="229056"/>
            <a:ext cx="2438400" cy="11715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gif"/><Relationship Id="rId4" Type="http://schemas.openxmlformats.org/officeDocument/2006/relationships/hyperlink" Target="https://docs.google.com/forms/d/e/1FAIpQLScaTpixj_2p6_GTARw_sCjsp4LhLa6y77KsS51HS1ADfOL87A/viewform?usp=sharing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9880" y="190501"/>
            <a:ext cx="3491457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101" name="Google Shape;101;p1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1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1.0001 LECTURE 1      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2418184" y="1994611"/>
            <a:ext cx="12581729" cy="14086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mbria"/>
              <a:buNone/>
            </a:pPr>
            <a:r>
              <a:rPr b="1" i="0" lang="en-US" sz="5400" u="none" cap="none" strike="noStrike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C PROGRAMMING FOR PROBLEM SOLVING</a:t>
            </a:r>
            <a:endParaRPr b="1" i="0" sz="5400" u="none" cap="none" strike="noStrike">
              <a:solidFill>
                <a:srgbClr val="00206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mbria"/>
              <a:buNone/>
            </a:pPr>
            <a:r>
              <a:rPr b="1" i="0" lang="en-US" sz="5400" u="none" cap="none" strike="noStrike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(2</a:t>
            </a:r>
            <a:r>
              <a:rPr b="1" lang="en-US" sz="54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r>
              <a:rPr b="1" i="0" lang="en-US" sz="5400" u="none" cap="none" strike="noStrike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EN1</a:t>
            </a:r>
            <a:r>
              <a:rPr b="1" lang="en-US" sz="54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114)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1645921" y="3943430"/>
            <a:ext cx="14889479" cy="18454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UNIT-4: </a:t>
            </a:r>
            <a:r>
              <a:rPr b="1" i="0" lang="en-US" sz="5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UNIONS</a:t>
            </a:r>
            <a:endParaRPr b="1" i="0" sz="5400" u="none" cap="none" strike="noStrike">
              <a:solidFill>
                <a:srgbClr val="C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05" name="Google Shape;10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818" y="447869"/>
            <a:ext cx="1392594" cy="1392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4000">
        <p14:vortex dir="r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b="1" lang="en-U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CONTENT</a:t>
            </a:r>
            <a:endParaRPr b="1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2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1946786" y="2875936"/>
            <a:ext cx="14615653" cy="5293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Noto Sans Symbols"/>
              <a:buChar char="⮚"/>
            </a:pPr>
            <a:r>
              <a:rPr b="1" i="0" lang="en-US" sz="5400" u="none" cap="none" strike="noStrike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DEFINING A UNION</a:t>
            </a:r>
            <a:endParaRPr/>
          </a:p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Noto Sans Symbols"/>
              <a:buChar char="⮚"/>
            </a:pPr>
            <a:r>
              <a:rPr b="1" i="0" lang="en-US" sz="5400" u="none" cap="none" strike="noStrike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CREATING A UNION VARIABLE</a:t>
            </a:r>
            <a:endParaRPr/>
          </a:p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Noto Sans Symbols"/>
              <a:buChar char="⮚"/>
            </a:pPr>
            <a:r>
              <a:rPr b="1" i="0" lang="en-US" sz="5400" u="none" cap="none" strike="noStrike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ACCESSING UNION MEMEBERS</a:t>
            </a:r>
            <a:endParaRPr/>
          </a:p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Noto Sans Symbols"/>
              <a:buChar char="⮚"/>
            </a:pPr>
            <a:r>
              <a:rPr b="1" i="0" lang="en-US" sz="5400" u="none" cap="none" strike="noStrike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SIZE OF UNION</a:t>
            </a:r>
            <a:endParaRPr/>
          </a:p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Noto Sans Symbols"/>
              <a:buChar char="⮚"/>
            </a:pPr>
            <a:r>
              <a:rPr b="1" i="0" lang="en-US" sz="5400" u="none" cap="none" strike="noStrike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ACCESSING MEMBERS USING POINTERS</a:t>
            </a:r>
            <a:endParaRPr/>
          </a:p>
          <a:p>
            <a:pPr indent="-6858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Noto Sans Symbols"/>
              <a:buChar char="⮚"/>
            </a:pPr>
            <a:r>
              <a:rPr b="1" i="0" lang="en-US" sz="5400" u="none" cap="none" strike="noStrike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STRUCTURE V/S UNION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/>
          <p:nvPr>
            <p:ph type="title"/>
          </p:nvPr>
        </p:nvSpPr>
        <p:spPr>
          <a:xfrm>
            <a:off x="1828800" y="172880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000"/>
              <a:buFont typeface="Times New Roman"/>
              <a:buNone/>
            </a:pPr>
            <a:r>
              <a:rPr b="1" lang="en-US" sz="80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 b="1" sz="8000" u="sng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8" name="Google Shape;118;p3"/>
          <p:cNvSpPr txBox="1"/>
          <p:nvPr>
            <p:ph idx="1" type="body"/>
          </p:nvPr>
        </p:nvSpPr>
        <p:spPr>
          <a:xfrm>
            <a:off x="838200" y="2557491"/>
            <a:ext cx="16535400" cy="6699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685800" lvl="2" marL="1261745" rtl="0" algn="just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3900"/>
              <a:buFont typeface="Arial"/>
              <a:buChar char="•"/>
            </a:pPr>
            <a:r>
              <a:rPr lang="en-US" sz="5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union  is a special data type available in C that allows to store different data types in the same memory location.</a:t>
            </a:r>
            <a:endParaRPr/>
          </a:p>
          <a:p>
            <a:pPr indent="-685800" lvl="2" marL="1261745" rtl="0" algn="just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3900"/>
              <a:buFont typeface="Arial"/>
              <a:buChar char="•"/>
            </a:pPr>
            <a:r>
              <a:rPr lang="en-US" sz="5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You can define a union with many members , but only one member can contain a value at any given time.</a:t>
            </a:r>
            <a:endParaRPr/>
          </a:p>
          <a:p>
            <a:pPr indent="-685800" lvl="2" marL="1261745" rtl="0" algn="just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3900"/>
              <a:buFont typeface="Arial"/>
              <a:buChar char="•"/>
            </a:pPr>
            <a:r>
              <a:rPr lang="en-US" sz="5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Unions provide an efficient way of using the same memory location for multiple-purpose. </a:t>
            </a:r>
            <a:endParaRPr b="1" sz="5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9" name="Google Shape;119;p3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120" name="Google Shape;120;p3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3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1.0001 LECTURE 1 				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>
            <p:ph type="title"/>
          </p:nvPr>
        </p:nvSpPr>
        <p:spPr>
          <a:xfrm>
            <a:off x="1903205" y="312223"/>
            <a:ext cx="16459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Calibri"/>
              <a:buNone/>
            </a:pPr>
            <a:r>
              <a:rPr b="1" lang="en-US" sz="8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DEFINING A UNION</a:t>
            </a:r>
            <a:endParaRPr/>
          </a:p>
        </p:txBody>
      </p:sp>
      <p:sp>
        <p:nvSpPr>
          <p:cNvPr id="127" name="Google Shape;127;p4"/>
          <p:cNvSpPr txBox="1"/>
          <p:nvPr>
            <p:ph idx="1" type="body"/>
          </p:nvPr>
        </p:nvSpPr>
        <p:spPr>
          <a:xfrm>
            <a:off x="835499" y="2917688"/>
            <a:ext cx="16535400" cy="65887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>
            <p:ph idx="10" type="dt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2/22/2024</a:t>
            </a:r>
            <a:endParaRPr/>
          </a:p>
        </p:txBody>
      </p:sp>
      <p:sp>
        <p:nvSpPr>
          <p:cNvPr id="129" name="Google Shape;129;p4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4"/>
          <p:cNvSpPr txBox="1"/>
          <p:nvPr>
            <p:ph idx="11" type="ftr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1.0001 LECTURE 1 				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800"/>
          </a:p>
        </p:txBody>
      </p:sp>
      <p:sp>
        <p:nvSpPr>
          <p:cNvPr id="131" name="Google Shape;131;p4"/>
          <p:cNvSpPr txBox="1"/>
          <p:nvPr/>
        </p:nvSpPr>
        <p:spPr>
          <a:xfrm>
            <a:off x="1903204" y="2192539"/>
            <a:ext cx="14399991" cy="6617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 define a union , you must use the union statement in the same way as you did while defining a structure.</a:t>
            </a:r>
            <a:endParaRPr/>
          </a:p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union statement defines a new data type with more than one member for your program. </a:t>
            </a:r>
            <a:endParaRPr/>
          </a:p>
          <a:p>
            <a:pPr indent="-571500" lvl="0" marL="571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format of the union statement is as follows: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union [union _tag]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{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	data_type variable_name;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	data_type variable_name;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} union _variable1, ….., union _variable_n;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/>
          </a:p>
        </p:txBody>
      </p:sp>
      <p:pic>
        <p:nvPicPr>
          <p:cNvPr id="132" name="Google Shape;1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73135" y="5501137"/>
            <a:ext cx="5555105" cy="4188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3"/>
          <p:cNvSpPr txBox="1"/>
          <p:nvPr>
            <p:ph type="title"/>
          </p:nvPr>
        </p:nvSpPr>
        <p:spPr>
          <a:xfrm>
            <a:off x="1122704" y="0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Calibri"/>
              <a:buNone/>
            </a:pPr>
            <a:r>
              <a:rPr b="1" lang="en-US" sz="8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CREATING A UNION VARIABLE</a:t>
            </a:r>
            <a:br>
              <a:rPr b="1" lang="en-US" sz="72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</a:br>
            <a:endParaRPr/>
          </a:p>
        </p:txBody>
      </p:sp>
      <p:sp>
        <p:nvSpPr>
          <p:cNvPr id="138" name="Google Shape;138;p43"/>
          <p:cNvSpPr txBox="1"/>
          <p:nvPr>
            <p:ph idx="1" type="body"/>
          </p:nvPr>
        </p:nvSpPr>
        <p:spPr>
          <a:xfrm>
            <a:off x="1735746" y="1940057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When a union is defined, it creates a user-defined type. However, no memory is allocated.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 allocate memory 	for a given union type and work with it, we need to create variables.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3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memory occupied by a union will be large enough to hold the largest member of the union.</a:t>
            </a:r>
            <a:endParaRPr/>
          </a:p>
          <a:p>
            <a:pPr indent="-2286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3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9" name="Google Shape;139;p43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0" name="Google Shape;14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2862" y="6117070"/>
            <a:ext cx="12720484" cy="3333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4"/>
          <p:cNvSpPr txBox="1"/>
          <p:nvPr>
            <p:ph type="title"/>
          </p:nvPr>
        </p:nvSpPr>
        <p:spPr>
          <a:xfrm>
            <a:off x="1277210" y="395291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Calibri"/>
              <a:buNone/>
            </a:pPr>
            <a:r>
              <a:rPr b="1" lang="en-US" sz="8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ACCESSING UNION MEMEBERS</a:t>
            </a:r>
            <a:br>
              <a:rPr b="1" lang="en-US" sz="72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</a:br>
            <a:endParaRPr/>
          </a:p>
        </p:txBody>
      </p:sp>
      <p:sp>
        <p:nvSpPr>
          <p:cNvPr id="146" name="Google Shape;146;p44"/>
          <p:cNvSpPr txBox="1"/>
          <p:nvPr>
            <p:ph idx="1" type="body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 access any member of a union, we use the member access operator (.).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member access operator is coded as a period between the union variable name and the union member that we wish to access.</a:t>
            </a:r>
            <a:endParaRPr/>
          </a:p>
          <a:p>
            <a:pPr indent="0" lvl="0" marL="1143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7" name="Google Shape;147;p44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8" name="Google Shape;14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8735" y="4885929"/>
            <a:ext cx="13347291" cy="4523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5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Calibri"/>
              <a:buNone/>
            </a:pPr>
            <a:r>
              <a:rPr b="1" lang="en-US" sz="8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SIZE OF UNION</a:t>
            </a:r>
            <a:br>
              <a:rPr b="1" lang="en-US" sz="72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</a:br>
            <a:endParaRPr/>
          </a:p>
        </p:txBody>
      </p:sp>
      <p:sp>
        <p:nvSpPr>
          <p:cNvPr id="154" name="Google Shape;154;p45"/>
          <p:cNvSpPr txBox="1"/>
          <p:nvPr>
            <p:ph idx="1" type="body"/>
          </p:nvPr>
        </p:nvSpPr>
        <p:spPr>
          <a:xfrm>
            <a:off x="982242" y="2783349"/>
            <a:ext cx="10477254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size of the union is based on the size of the largest member of the union.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As we know, the size of int is 4 bytes, size of char is 1 byte, size of float is 4 bytes, and the size of double is 8 bytes.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Since the double variable occupies the largest memory among all the four variables, so total 8 bytes will be allocated in the memory.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Therefore, the output of the program would be 8 bytes.</a:t>
            </a:r>
            <a:endParaRPr/>
          </a:p>
          <a:p>
            <a:pPr indent="0" lvl="0" marL="1143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6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5" name="Google Shape;155;p45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6" name="Google Shape;15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8385" y="2789392"/>
            <a:ext cx="5884606" cy="5867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6"/>
          <p:cNvSpPr txBox="1"/>
          <p:nvPr>
            <p:ph type="title"/>
          </p:nvPr>
        </p:nvSpPr>
        <p:spPr>
          <a:xfrm>
            <a:off x="333450" y="919210"/>
            <a:ext cx="15087600" cy="16547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11111"/>
              <a:buFont typeface="Calibri"/>
              <a:buNone/>
            </a:pPr>
            <a:r>
              <a:rPr b="1" lang="en-US" sz="7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ACCESSING MEMBERS USING POINTERS</a:t>
            </a:r>
            <a:br>
              <a:rPr b="1" lang="en-US" sz="72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</a:br>
            <a:endParaRPr/>
          </a:p>
        </p:txBody>
      </p:sp>
      <p:sp>
        <p:nvSpPr>
          <p:cNvPr id="162" name="Google Shape;162;p46"/>
          <p:cNvSpPr txBox="1"/>
          <p:nvPr>
            <p:ph idx="1" type="body"/>
          </p:nvPr>
        </p:nvSpPr>
        <p:spPr>
          <a:xfrm>
            <a:off x="1645919" y="2768601"/>
            <a:ext cx="9120403" cy="6154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3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We can access the members of the union through pointers by using the (-&gt;) arrow operator.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3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 the above code, we have created a pointer variable i,e., *ptr, that stores the address of var variable.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3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Now, ptr can access the variable ‘a’ by using the (-&gt;) operator.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3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Hence the output of the above code would be 90.</a:t>
            </a:r>
            <a:endParaRPr/>
          </a:p>
        </p:txBody>
      </p:sp>
      <p:sp>
        <p:nvSpPr>
          <p:cNvPr id="163" name="Google Shape;163;p46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4" name="Google Shape;16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85754" y="3908774"/>
            <a:ext cx="6548283" cy="4347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7"/>
          <p:cNvSpPr txBox="1"/>
          <p:nvPr>
            <p:ph type="title"/>
          </p:nvPr>
        </p:nvSpPr>
        <p:spPr>
          <a:xfrm>
            <a:off x="2799805" y="233961"/>
            <a:ext cx="12004766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Calibri"/>
              <a:buNone/>
            </a:pPr>
            <a:r>
              <a:rPr b="1" lang="en-US" sz="7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 STRUCTURE V/S UNION</a:t>
            </a:r>
            <a:br>
              <a:rPr b="1" lang="en-US" sz="72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</a:br>
            <a:endParaRPr/>
          </a:p>
        </p:txBody>
      </p:sp>
      <p:sp>
        <p:nvSpPr>
          <p:cNvPr id="170" name="Google Shape;170;p47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71" name="Google Shape;171;p47"/>
          <p:cNvGraphicFramePr/>
          <p:nvPr/>
        </p:nvGraphicFramePr>
        <p:xfrm>
          <a:off x="1188999" y="14857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{C16D5AC2-E52A-4C7A-90AE-5A73D5A5CC7E}</a:tableStyleId>
              </a:tblPr>
              <a:tblGrid>
                <a:gridCol w="8016100"/>
                <a:gridCol w="8016100"/>
              </a:tblGrid>
              <a:tr h="786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STRUCTURE</a:t>
                      </a:r>
                      <a:endParaRPr sz="32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2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UNION</a:t>
                      </a:r>
                      <a:endParaRPr sz="32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25" marB="45725" marR="91450" marL="91450">
                    <a:noFill/>
                  </a:tcPr>
                </a:tc>
              </a:tr>
              <a:tr h="15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You can use Struct keyword to define a structure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You can use Union keyword to define a structure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noFill/>
                  </a:tcPr>
                </a:tc>
              </a:tr>
              <a:tr h="1271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Every member within structure is assigned a unique memory location.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 union, a memory location is shared by all the data members.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151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Changing the value on one data member will not affect data members in structure.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Changing the value on one data member will change the value of other data members in union.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1271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It enables you to initialize several members at once.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It enables you to initialize only the first member of union.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noFill/>
                  </a:tcPr>
                </a:tc>
              </a:tr>
              <a:tr h="117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The total size of the structure is the sum of the size of every data member.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The total size of the union is the size of the largest data member.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"/>
          <p:cNvSpPr txBox="1"/>
          <p:nvPr>
            <p:ph type="title"/>
          </p:nvPr>
        </p:nvSpPr>
        <p:spPr>
          <a:xfrm>
            <a:off x="1757886" y="292344"/>
            <a:ext cx="15087600" cy="11347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000"/>
              <a:buFont typeface="Calibri"/>
              <a:buNone/>
            </a:pPr>
            <a:r>
              <a:rPr b="1" lang="en-US"/>
              <a:t>MCQs</a:t>
            </a:r>
            <a:endParaRPr b="1"/>
          </a:p>
        </p:txBody>
      </p:sp>
      <p:sp>
        <p:nvSpPr>
          <p:cNvPr id="177" name="Google Shape;177;p15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8" name="Google Shape;17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6238" y="5527675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5"/>
          <p:cNvSpPr/>
          <p:nvPr/>
        </p:nvSpPr>
        <p:spPr>
          <a:xfrm>
            <a:off x="1781764" y="1945207"/>
            <a:ext cx="14724472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https://docs.google.com/forms/d/e/1FAIpQLScaTpixj_2p6_GTARw_sCjsp4LhLa6y77KsS51HS1ADfOL87A/viewform?usp=sharing</a:t>
            </a:r>
            <a:endParaRPr b="0" i="0" sz="2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1655763" y="2863435"/>
            <a:ext cx="15087599" cy="6535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1. What is a union in C?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lphaLcParenR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data type that allows storing multiple values of different types at the same time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lphaLcParenR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b) A data type that allows storing multiple values of different types but only one at a time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lphaLcParenR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 data type that stores only integers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lphaLcParenR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 data type used to define functions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2. What is the size of a union in C?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a) Sum of sizes of all members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b) Size of the largest member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c) Always 4 bytes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d) Always 8 bytes</a:t>
            </a:r>
            <a:endParaRPr/>
          </a:p>
          <a:p>
            <a:pPr indent="-152400" lvl="0" marL="2286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8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75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48"/>
          <p:cNvSpPr txBox="1"/>
          <p:nvPr/>
        </p:nvSpPr>
        <p:spPr>
          <a:xfrm>
            <a:off x="1312606" y="492085"/>
            <a:ext cx="15506120" cy="863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3. Which keyword is used to define a union in C?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a) struct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b) union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c) enum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d) typedef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4. What happens when you assign values to two different members of a union?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lphaLcParenR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Both values are stored separately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lphaLcParenR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The last assigned value overwrites the previous one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lphaLcParenR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union generates an error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lphaLcParenR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The compiler automatically expands the union size	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5. Which of the following correctly declares a union in C?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a) union { int a; float b; }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b) struct union { int a; float b; }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c) union U { int a; float b; };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d) union U { int a float b; };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9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75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49"/>
          <p:cNvSpPr txBox="1"/>
          <p:nvPr/>
        </p:nvSpPr>
        <p:spPr>
          <a:xfrm>
            <a:off x="1991032" y="640665"/>
            <a:ext cx="14718890" cy="9108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6. Can a union have a pointer as a member?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lphaLcParenR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Yes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lphaLcParenR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No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7. How do you access a union member?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a) Using . operator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b) Using -&gt; operator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c) Using * operator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d) Both a) and b)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8. What is the primary advantage of using a union over a structure?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a) More memory efficient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b) Easier to declare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c) Faster execution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d) Stores multiple values at the same time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9. Can a union have functions as its members?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a) Yes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b) No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0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75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50"/>
          <p:cNvSpPr txBox="1"/>
          <p:nvPr/>
        </p:nvSpPr>
        <p:spPr>
          <a:xfrm>
            <a:off x="1932039" y="332054"/>
            <a:ext cx="14497664" cy="962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10. What is the output of the following program?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#include &lt;stdio.h&gt;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union Data {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int i;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float f;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};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int main() {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union Data d;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d.i = 10;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printf("%d", d.i);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return 0;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}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11. Can we use sizeof() on a union?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a) Yes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b) No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1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75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51"/>
          <p:cNvSpPr txBox="1"/>
          <p:nvPr/>
        </p:nvSpPr>
        <p:spPr>
          <a:xfrm>
            <a:off x="2168011" y="49634"/>
            <a:ext cx="13480027" cy="10326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12. How many members of a union can be accessed at a time?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lphaLcParenR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One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lphaLcParenR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Two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lphaLcParenR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All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lphaLcParenR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None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13. Which of the following is NOT a correct way to define a union?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a) union X { int x; float y; };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b) typedef union { int x; char y; } U;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c) union { int x; double y; } U;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d) union X { int x char y; };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14. Can a union be nested inside another union?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a) Yes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b) No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15. What is the difference between union and struct?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a) struct uses separate memory for each member, union shares memory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b) union uses more memory than struct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c) Both allocate memory equally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d) struct allows only integers, union allows all types</a:t>
            </a:r>
            <a:endParaRPr/>
          </a:p>
          <a:p>
            <a:pPr indent="-2540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2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75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" name="Google Shape;210;p52"/>
          <p:cNvSpPr txBox="1"/>
          <p:nvPr/>
        </p:nvSpPr>
        <p:spPr>
          <a:xfrm>
            <a:off x="2133455" y="418344"/>
            <a:ext cx="13701252" cy="9108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16. Which of the following is a valid way to initialize a union?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lphaLcParenR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union U u = {10};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lphaLcParenR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union U u = {10, 20};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lphaLcParenR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union U u = {10, "Hello"};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AutoNum type="alphaLcParenR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union U u = {"Hello"};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17. Which of the following statements about unions is TRUE?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a) All members share the same memory location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b) Each member has its own separate memory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c) You can store values in multiple members at the same time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d) Unions can only store integer values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18. What happens if we try to print a union member that was not assigned a value?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a) It prints a garbage value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b) It prints 0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c) It throws a runtime error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d) It causes compilation failure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3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75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6" name="Google Shape;216;p53"/>
          <p:cNvSpPr txBox="1"/>
          <p:nvPr/>
        </p:nvSpPr>
        <p:spPr>
          <a:xfrm>
            <a:off x="2389238" y="818305"/>
            <a:ext cx="13155561" cy="43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19. Can a union be passed as a function argument?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a) Yes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b) No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20. What is the alignment requirement for a union?</a:t>
            </a:r>
            <a:endParaRPr b="0" i="0" sz="3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a) The alignment of the smallest member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b) The alignment of the largest member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c) The sum of alignments of all members</a:t>
            </a:r>
            <a:b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US" sz="3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d) None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4"/>
          <p:cNvSpPr txBox="1"/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200"/>
              <a:buFont typeface="Calibri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EXCERCISE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2" name="Google Shape;222;p54"/>
          <p:cNvSpPr txBox="1"/>
          <p:nvPr>
            <p:ph idx="1" type="body"/>
          </p:nvPr>
        </p:nvSpPr>
        <p:spPr>
          <a:xfrm>
            <a:off x="1645920" y="2606041"/>
            <a:ext cx="15087600" cy="689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0" lvl="0" marL="1143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rPr lang="en-US" sz="3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1)write a program to define a union named Data that can store an int, a float, and a char. Assign values to each member and print them.</a:t>
            </a:r>
            <a:endParaRPr/>
          </a:p>
          <a:p>
            <a:pPr indent="0" lvl="0" marL="1143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rPr lang="en-US" sz="3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2) Write a program to find out the memory size occupied by the following union.</a:t>
            </a:r>
            <a:endParaRPr/>
          </a:p>
          <a:p>
            <a:pPr indent="0" lvl="0" marL="1143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rPr lang="en-US" sz="3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4) Write a program to access a union using a pointer.</a:t>
            </a:r>
            <a:endParaRPr/>
          </a:p>
          <a:p>
            <a:pPr indent="0" lvl="0" marL="1143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rPr lang="en-US" sz="3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5) Write a program where a structure contains a union, allowing either an int or a char[] to be stored for an employee.</a:t>
            </a:r>
            <a:endParaRPr/>
          </a:p>
          <a:p>
            <a:pPr indent="0" lvl="0" marL="1143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rPr lang="en-US" sz="3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6) Write a program to compare the memory sizes of a union and a structure with identical members.</a:t>
            </a:r>
            <a:endParaRPr/>
          </a:p>
          <a:p>
            <a:pPr indent="0" lvl="0" marL="1143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rPr lang="en-US" sz="3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7. Use a union to represent a network packet that can either contain an IPv4 address</a:t>
            </a:r>
            <a:endParaRPr/>
          </a:p>
          <a:p>
            <a:pPr indent="0" lvl="0" marL="1143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1143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4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54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" name="Google Shape;224;p54"/>
          <p:cNvSpPr txBox="1"/>
          <p:nvPr/>
        </p:nvSpPr>
        <p:spPr>
          <a:xfrm>
            <a:off x="14222730" y="3166745"/>
            <a:ext cx="609600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5"/>
          <p:cNvSpPr txBox="1"/>
          <p:nvPr>
            <p:ph idx="1" type="body"/>
          </p:nvPr>
        </p:nvSpPr>
        <p:spPr>
          <a:xfrm>
            <a:off x="1439442" y="49634"/>
            <a:ext cx="15087600" cy="964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</a:pPr>
            <a:r>
              <a:rPr lang="en-U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8)Write the output of the following code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</a:pPr>
            <a:r>
              <a:rPr lang="en-U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#include &lt;stdio.h&gt;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</a:pPr>
            <a:r>
              <a:rPr lang="en-U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union Example {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</a:pPr>
            <a:r>
              <a:rPr lang="en-U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int x;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</a:pPr>
            <a:r>
              <a:rPr lang="en-U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float y;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</a:pPr>
            <a:r>
              <a:rPr lang="en-U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};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</a:pPr>
            <a:r>
              <a:rPr lang="en-U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int main() {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</a:pPr>
            <a:r>
              <a:rPr lang="en-U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union Example e;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</a:pPr>
            <a:r>
              <a:rPr lang="en-U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e.x = 100;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</a:pPr>
            <a:r>
              <a:rPr lang="en-U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printf(&amp;quot;x = %d\n&amp;quot;, e.x);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</a:pPr>
            <a:r>
              <a:rPr lang="en-U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e.y = 5.5; // Overwrites `x`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</a:pPr>
            <a:r>
              <a:rPr lang="en-U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printf(&amp;quot;y = %f\n&amp;quot;, e.y);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</a:pPr>
            <a:r>
              <a:rPr lang="en-U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printf(&amp;quot;x (after assigning y) = %d\n&amp;quot;, e.x);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</a:pPr>
            <a:r>
              <a:rPr lang="en-U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return 0;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</a:pPr>
            <a:r>
              <a:rPr lang="en-US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}</a:t>
            </a:r>
            <a:endParaRPr/>
          </a:p>
        </p:txBody>
      </p:sp>
      <p:sp>
        <p:nvSpPr>
          <p:cNvPr id="230" name="Google Shape;230;p55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idx="1" type="body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ctr">
              <a:lnSpc>
                <a:spcPct val="280000"/>
              </a:lnSpc>
              <a:spcBef>
                <a:spcPts val="1800"/>
              </a:spcBef>
              <a:spcAft>
                <a:spcPts val="0"/>
              </a:spcAft>
              <a:buSzPts val="1800"/>
              <a:buChar char=" "/>
            </a:pPr>
            <a:r>
              <a:rPr b="1" lang="en-US" sz="8000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1" sz="8000">
              <a:solidFill>
                <a:srgbClr val="00206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6" name="Google Shape;236;p30"/>
          <p:cNvSpPr txBox="1"/>
          <p:nvPr>
            <p:ph idx="12" type="sldNum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2024-04-29T17:39:00Z</dcterms:created>
  <dc:creator>Manojkumar 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89EE99F6503E471885A3EECA3BCDD05F_13</vt:lpwstr>
  </property>
  <property fmtid="{D5CDD505-2E9C-101B-9397-08002B2CF9AE}" pid="3" name="KSOProductBuildVer">
    <vt:lpwstr>1033-12.2.0.16731</vt:lpwstr>
  </property>
</Properties>
</file>