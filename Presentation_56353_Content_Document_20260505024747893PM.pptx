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1" r:id="rId2"/>
  </p:sldMasterIdLst>
  <p:notesMasterIdLst>
    <p:notesMasterId r:id="rId35"/>
  </p:notesMasterIdLst>
  <p:sldIdLst>
    <p:sldId id="256" r:id="rId3"/>
    <p:sldId id="346" r:id="rId4"/>
    <p:sldId id="347" r:id="rId5"/>
    <p:sldId id="348" r:id="rId6"/>
    <p:sldId id="350" r:id="rId7"/>
    <p:sldId id="349" r:id="rId8"/>
    <p:sldId id="351" r:id="rId9"/>
    <p:sldId id="352" r:id="rId10"/>
    <p:sldId id="353" r:id="rId11"/>
    <p:sldId id="354" r:id="rId12"/>
    <p:sldId id="355" r:id="rId13"/>
    <p:sldId id="356" r:id="rId14"/>
    <p:sldId id="357" r:id="rId15"/>
    <p:sldId id="375" r:id="rId16"/>
    <p:sldId id="374" r:id="rId17"/>
    <p:sldId id="358" r:id="rId18"/>
    <p:sldId id="359" r:id="rId19"/>
    <p:sldId id="360" r:id="rId20"/>
    <p:sldId id="361" r:id="rId21"/>
    <p:sldId id="362" r:id="rId22"/>
    <p:sldId id="363" r:id="rId23"/>
    <p:sldId id="364" r:id="rId24"/>
    <p:sldId id="365" r:id="rId25"/>
    <p:sldId id="366" r:id="rId26"/>
    <p:sldId id="367" r:id="rId27"/>
    <p:sldId id="368" r:id="rId28"/>
    <p:sldId id="369" r:id="rId29"/>
    <p:sldId id="370" r:id="rId30"/>
    <p:sldId id="371" r:id="rId31"/>
    <p:sldId id="372" r:id="rId32"/>
    <p:sldId id="373" r:id="rId33"/>
    <p:sldId id="345" r:id="rId34"/>
  </p:sldIdLst>
  <p:sldSz cx="12192000" cy="6858000"/>
  <p:notesSz cx="6858000" cy="9144000"/>
  <p:embeddedFontLst>
    <p:embeddedFont>
      <p:font typeface="Rockwell" panose="02060603020205020403" pitchFamily="18" charset="0"/>
      <p:regular r:id="rId36"/>
      <p:bold r:id="rId37"/>
      <p:italic r:id="rId38"/>
      <p:boldItalic r:id="rId39"/>
    </p:embeddedFont>
    <p:embeddedFont>
      <p:font typeface="Cambria" panose="02040503050406030204" pitchFamily="18" charset="0"/>
      <p:regular r:id="rId40"/>
      <p:bold r:id="rId41"/>
      <p:italic r:id="rId42"/>
      <p:boldItalic r:id="rId43"/>
    </p:embeddedFont>
    <p:embeddedFont>
      <p:font typeface="Cambria Math" panose="02040503050406030204" pitchFamily="18" charset="0"/>
      <p:regular r:id="rId44"/>
    </p:embeddedFont>
    <p:embeddedFont>
      <p:font typeface="Calibri" panose="020F0502020204030204" pitchFamily="34" charset="0"/>
      <p:regular r:id="rId45"/>
      <p:bold r:id="rId46"/>
      <p:italic r:id="rId47"/>
      <p:boldItalic r:id="rId4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01" roundtripDataSignature="AMtx7mjopGD+XrEvhqbHsYnrrRz1SAzK3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F0AFC675-E86C-4B7C-ABF3-56943B3A1C83}">
  <a:tblStyle styleId="{F0AFC675-E86C-4B7C-ABF3-56943B3A1C83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-864" y="-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4.fntdata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font" Target="fonts/font7.fntdata"/><Relationship Id="rId47" Type="http://schemas.openxmlformats.org/officeDocument/2006/relationships/font" Target="fonts/font12.fntdata"/><Relationship Id="rId10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font" Target="fonts/font3.fntdata"/><Relationship Id="rId46" Type="http://schemas.openxmlformats.org/officeDocument/2006/relationships/font" Target="fonts/font11.fntdata"/><Relationship Id="rId10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font" Target="fonts/font10.fntdata"/><Relationship Id="rId10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1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font" Target="fonts/font9.fntdata"/><Relationship Id="rId101" Type="http://customschemas.google.com/relationships/presentationmetadata" Target="meta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notesMaster" Target="notesMasters/notesMaster1.xml"/><Relationship Id="rId43" Type="http://schemas.openxmlformats.org/officeDocument/2006/relationships/font" Target="fonts/font8.fntdata"/><Relationship Id="rId48" Type="http://schemas.openxmlformats.org/officeDocument/2006/relationships/font" Target="fonts/font13.fntdata"/><Relationship Id="rId10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827786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4" name="Google Shape;16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6840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9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77" name="Google Shape;777;p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92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92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92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0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0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9pPr>
          </a:lstStyle>
          <a:p>
            <a:endParaRPr/>
          </a:p>
        </p:txBody>
      </p:sp>
      <p:sp>
        <p:nvSpPr>
          <p:cNvPr id="19" name="Google Shape;19;p105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0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0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06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0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106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06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0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07"/>
          <p:cNvSpPr txBox="1"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7"/>
          <p:cNvSpPr txBox="1"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107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07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0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8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0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0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08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08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08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9"/>
          <p:cNvSpPr txBox="1"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09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9pPr>
          </a:lstStyle>
          <a:p>
            <a:endParaRPr/>
          </a:p>
        </p:txBody>
      </p:sp>
      <p:sp>
        <p:nvSpPr>
          <p:cNvPr id="44" name="Google Shape;44;p109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109"/>
          <p:cNvSpPr txBox="1">
            <a:spLocks noGrp="1"/>
          </p:cNvSpPr>
          <p:nvPr>
            <p:ph type="body" idx="3"/>
          </p:nvPr>
        </p:nvSpPr>
        <p:spPr>
          <a:xfrm>
            <a:off x="6172201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9pPr>
          </a:lstStyle>
          <a:p>
            <a:endParaRPr/>
          </a:p>
        </p:txBody>
      </p:sp>
      <p:sp>
        <p:nvSpPr>
          <p:cNvPr id="46" name="Google Shape;46;p109"/>
          <p:cNvSpPr txBox="1">
            <a:spLocks noGrp="1"/>
          </p:cNvSpPr>
          <p:nvPr>
            <p:ph type="body" idx="4"/>
          </p:nvPr>
        </p:nvSpPr>
        <p:spPr>
          <a:xfrm>
            <a:off x="6172201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09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09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09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0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10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10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10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11"/>
          <p:cNvSpPr txBox="1">
            <a:spLocks noGrp="1"/>
          </p:cNvSpPr>
          <p:nvPr>
            <p:ph type="body" idx="1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2400"/>
            </a:lvl1pPr>
            <a:lvl2pPr marL="914400" lvl="1" indent="-406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100"/>
            </a:lvl2pPr>
            <a:lvl3pPr marL="1371600" lvl="2" indent="-381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1800"/>
            </a:lvl3pPr>
            <a:lvl4pPr marL="1828800" lvl="3" indent="-355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4pPr>
            <a:lvl5pPr marL="2286000" lvl="4" indent="-355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5pPr>
            <a:lvl6pPr marL="2743200" lvl="5" indent="-355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6pPr>
            <a:lvl7pPr marL="3200400" lvl="6" indent="-355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7pPr>
            <a:lvl8pPr marL="3657600" lvl="7" indent="-355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8pPr>
            <a:lvl9pPr marL="4114800" lvl="8" indent="-355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9pPr>
          </a:lstStyle>
          <a:p>
            <a:endParaRPr/>
          </a:p>
        </p:txBody>
      </p:sp>
      <p:sp>
        <p:nvSpPr>
          <p:cNvPr id="58" name="Google Shape;58;p11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9pPr>
          </a:lstStyle>
          <a:p>
            <a:endParaRPr/>
          </a:p>
        </p:txBody>
      </p:sp>
      <p:sp>
        <p:nvSpPr>
          <p:cNvPr id="59" name="Google Shape;59;p111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11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11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12"/>
          <p:cNvSpPr>
            <a:spLocks noGrp="1"/>
          </p:cNvSpPr>
          <p:nvPr>
            <p:ph type="pic" idx="2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11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9pPr>
          </a:lstStyle>
          <a:p>
            <a:endParaRPr/>
          </a:p>
        </p:txBody>
      </p:sp>
      <p:sp>
        <p:nvSpPr>
          <p:cNvPr id="66" name="Google Shape;66;p112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2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12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3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1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113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3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3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4"/>
          <p:cNvSpPr txBox="1">
            <a:spLocks noGrp="1"/>
          </p:cNvSpPr>
          <p:nvPr>
            <p:ph type="title"/>
          </p:nvPr>
        </p:nvSpPr>
        <p:spPr>
          <a:xfrm rot="5400000">
            <a:off x="7133432" y="1956595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4"/>
          <p:cNvSpPr txBox="1">
            <a:spLocks noGrp="1"/>
          </p:cNvSpPr>
          <p:nvPr>
            <p:ph type="body" idx="1"/>
          </p:nvPr>
        </p:nvSpPr>
        <p:spPr>
          <a:xfrm rot="5400000">
            <a:off x="1799432" y="-596105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14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14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14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 type="tx">
  <p:cSld name="TITLE_AND_BODY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15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15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1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1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9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94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6" name="Google Shape;96;p94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94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94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97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97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1" name="Google Shape;111;p97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97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97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98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98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7" name="Google Shape;117;p98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98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98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9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99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23" name="Google Shape;123;p99"/>
          <p:cNvSpPr txBox="1">
            <a:spLocks noGrp="1"/>
          </p:cNvSpPr>
          <p:nvPr>
            <p:ph type="body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24" name="Google Shape;124;p99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99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99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00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100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30" name="Google Shape;130;p100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31" name="Google Shape;131;p100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32" name="Google Shape;132;p100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33" name="Google Shape;133;p100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100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100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01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101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9" name="Google Shape;139;p101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40" name="Google Shape;140;p10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101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101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2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102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46" name="Google Shape;146;p102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47" name="Google Shape;147;p10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10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10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03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103"/>
          <p:cNvSpPr txBox="1">
            <a:spLocks noGrp="1"/>
          </p:cNvSpPr>
          <p:nvPr>
            <p:ph type="body" idx="1"/>
          </p:nvPr>
        </p:nvSpPr>
        <p:spPr>
          <a:xfrm rot="5400000">
            <a:off x="3833019" y="-1623219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3" name="Google Shape;153;p10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103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103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04"/>
          <p:cNvSpPr txBox="1">
            <a:spLocks noGrp="1"/>
          </p:cNvSpPr>
          <p:nvPr>
            <p:ph type="title"/>
          </p:nvPr>
        </p:nvSpPr>
        <p:spPr>
          <a:xfrm rot="5400000">
            <a:off x="7285038" y="1828800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104"/>
          <p:cNvSpPr txBox="1">
            <a:spLocks noGrp="1"/>
          </p:cNvSpPr>
          <p:nvPr>
            <p:ph type="body" idx="1"/>
          </p:nvPr>
        </p:nvSpPr>
        <p:spPr>
          <a:xfrm rot="5400000">
            <a:off x="1697039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9" name="Google Shape;159;p104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104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104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1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9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91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91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91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11" name="Google Shape;11;p91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2" y="69089"/>
            <a:ext cx="2848663" cy="958819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93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" name="Google Shape;89;p93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0" name="Google Shape;90;p9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1" name="Google Shape;91;p93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2" name="Google Shape;92;p93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"/>
          <p:cNvSpPr txBox="1"/>
          <p:nvPr/>
        </p:nvSpPr>
        <p:spPr>
          <a:xfrm>
            <a:off x="2440557" y="954355"/>
            <a:ext cx="7935600" cy="15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3200400" indent="457200"/>
            <a:r>
              <a:rPr lang="en-IN" sz="65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 </a:t>
            </a:r>
            <a:endParaRPr sz="65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r>
              <a:rPr lang="en-IN" sz="3400" b="1" dirty="0">
                <a:latin typeface="Calibri"/>
                <a:ea typeface="Calibri"/>
                <a:cs typeface="Calibri"/>
                <a:sym typeface="Calibri"/>
              </a:rPr>
              <a:t>STRUCTURES</a:t>
            </a:r>
            <a:endParaRPr sz="28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"/>
          <p:cNvSpPr txBox="1"/>
          <p:nvPr/>
        </p:nvSpPr>
        <p:spPr>
          <a:xfrm>
            <a:off x="1874100" y="3296925"/>
            <a:ext cx="8285900" cy="26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r>
              <a:rPr lang="en-IN" sz="2400" b="1" dirty="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Course Code: 24EN1202</a:t>
            </a:r>
            <a:endParaRPr sz="1050" dirty="0"/>
          </a:p>
          <a:p>
            <a:r>
              <a:rPr lang="en-IN" sz="2400" b="1" dirty="0">
                <a:latin typeface="Calibri"/>
                <a:ea typeface="Calibri"/>
                <a:cs typeface="Calibri"/>
                <a:sym typeface="Calibri"/>
              </a:rPr>
              <a:t>Course Instructor:  						                                           </a:t>
            </a:r>
            <a:r>
              <a:rPr lang="en-IN" sz="2400" b="1" dirty="0" err="1">
                <a:latin typeface="Calibri"/>
                <a:ea typeface="Calibri"/>
                <a:cs typeface="Calibri"/>
                <a:sym typeface="Calibri"/>
              </a:rPr>
              <a:t>Dr.</a:t>
            </a:r>
            <a:r>
              <a:rPr lang="en-IN" sz="2400" b="1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N" sz="2400" b="1" dirty="0" err="1" smtClean="0">
                <a:latin typeface="Calibri"/>
                <a:ea typeface="Calibri"/>
                <a:cs typeface="Calibri"/>
                <a:sym typeface="Calibri"/>
              </a:rPr>
              <a:t>Shreekant</a:t>
            </a:r>
            <a:r>
              <a:rPr lang="en-IN" sz="2400" b="1" dirty="0" smtClean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N" sz="2400" b="1" smtClean="0">
                <a:latin typeface="Calibri"/>
                <a:ea typeface="Calibri"/>
                <a:cs typeface="Calibri"/>
                <a:sym typeface="Calibri"/>
              </a:rPr>
              <a:t>Salotagi</a:t>
            </a:r>
            <a:endParaRPr sz="2400" dirty="0">
              <a:latin typeface="Calibri"/>
              <a:ea typeface="Calibri"/>
              <a:cs typeface="Calibri"/>
              <a:sym typeface="Calibri"/>
            </a:endParaRPr>
          </a:p>
          <a:p>
            <a:endParaRPr sz="2400" b="1" dirty="0">
              <a:latin typeface="Calibri"/>
              <a:ea typeface="Calibri"/>
              <a:cs typeface="Calibri"/>
              <a:sym typeface="Calibri"/>
            </a:endParaRPr>
          </a:p>
          <a:p>
            <a:r>
              <a:rPr lang="en-IN" sz="2400" b="1" dirty="0">
                <a:latin typeface="Calibri"/>
                <a:ea typeface="Calibri"/>
                <a:cs typeface="Calibri"/>
                <a:sym typeface="Calibri"/>
              </a:rPr>
              <a:t>Academic Year: 2024–2025</a:t>
            </a:r>
            <a:endParaRPr sz="2400" dirty="0">
              <a:latin typeface="Calibri"/>
              <a:ea typeface="Calibri"/>
              <a:cs typeface="Calibri"/>
              <a:sym typeface="Calibri"/>
            </a:endParaRPr>
          </a:p>
          <a:p>
            <a:r>
              <a:rPr lang="en-IN" sz="2400" dirty="0">
                <a:latin typeface="Calibri"/>
                <a:ea typeface="Calibri"/>
                <a:cs typeface="Calibri"/>
                <a:sym typeface="Calibri"/>
              </a:rPr>
              <a:t>Year :1st  </a:t>
            </a:r>
            <a:endParaRPr sz="2400" dirty="0">
              <a:latin typeface="Calibri"/>
              <a:ea typeface="Calibri"/>
              <a:cs typeface="Calibri"/>
              <a:sym typeface="Calibri"/>
            </a:endParaRPr>
          </a:p>
          <a:p>
            <a:r>
              <a:rPr lang="en-IN" sz="2400" dirty="0">
                <a:latin typeface="Calibri"/>
                <a:ea typeface="Calibri"/>
                <a:cs typeface="Calibri"/>
                <a:sym typeface="Calibri"/>
              </a:rPr>
              <a:t>Semester : II</a:t>
            </a:r>
            <a:endParaRPr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B847D718-DFE9-3851-76C0-B977D8E3C3C8}"/>
              </a:ext>
            </a:extLst>
          </p:cNvPr>
          <p:cNvSpPr txBox="1"/>
          <p:nvPr/>
        </p:nvSpPr>
        <p:spPr>
          <a:xfrm>
            <a:off x="423332" y="1473200"/>
            <a:ext cx="11514667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Content:</a:t>
            </a:r>
          </a:p>
          <a:p>
            <a:pPr algn="just"/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5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Structures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Purpose and usage of structures. Declaration of structures. Assignment with structures. Structure variables and arrays. Nested structures. Student and employee database implementation using structures.</a:t>
            </a:r>
          </a:p>
        </p:txBody>
      </p:sp>
    </p:spTree>
    <p:extLst>
      <p:ext uri="{BB962C8B-B14F-4D97-AF65-F5344CB8AC3E}">
        <p14:creationId xmlns:p14="http://schemas.microsoft.com/office/powerpoint/2010/main" val="3927156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A0BDFA37-EB55-19B4-4591-FC47C726960C}"/>
              </a:ext>
            </a:extLst>
          </p:cNvPr>
          <p:cNvSpPr txBox="1"/>
          <p:nvPr/>
        </p:nvSpPr>
        <p:spPr>
          <a:xfrm>
            <a:off x="660400" y="1074509"/>
            <a:ext cx="11226800" cy="4324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i="1" u="sng" dirty="0"/>
              <a:t>Examples:</a:t>
            </a:r>
          </a:p>
          <a:p>
            <a:pPr algn="just"/>
            <a:endParaRPr lang="en-US" sz="2500" i="1" u="sng" dirty="0"/>
          </a:p>
          <a:p>
            <a:pPr marL="457200" indent="-457200" algn="just">
              <a:buFont typeface="+mj-lt"/>
              <a:buAutoNum type="arabicPeriod"/>
            </a:pPr>
            <a:r>
              <a:rPr lang="en-US" sz="2500" dirty="0"/>
              <a:t>For example, a student may have a name(string), age(int), CGPA(float), graduation year(int/date) and contact details(</a:t>
            </a:r>
            <a:r>
              <a:rPr lang="en-US" sz="2500" dirty="0" err="1"/>
              <a:t>Ph.No</a:t>
            </a:r>
            <a:r>
              <a:rPr lang="en-US" sz="2500" dirty="0"/>
              <a:t> - long int/Address-string). It is very hard to manage student data with separate variables as shown(next slide) in the program.</a:t>
            </a:r>
          </a:p>
          <a:p>
            <a:pPr marL="457200" indent="-457200" algn="just">
              <a:buFont typeface="+mj-lt"/>
              <a:buAutoNum type="arabicPeriod"/>
            </a:pPr>
            <a:endParaRPr lang="en-US" sz="2500" dirty="0"/>
          </a:p>
          <a:p>
            <a:pPr marL="457200" indent="-457200" algn="just">
              <a:buFont typeface="+mj-lt"/>
              <a:buAutoNum type="arabicPeriod"/>
            </a:pPr>
            <a:r>
              <a:rPr lang="en-US" sz="2500" dirty="0"/>
              <a:t>For three fields in student record it seems feasible to you. But to store and manage information of 100 students with different variables is hard  i.e., name[100][20], age[100], CGPA[100], </a:t>
            </a:r>
            <a:r>
              <a:rPr lang="en-US" sz="2500" dirty="0" err="1"/>
              <a:t>gyear</a:t>
            </a:r>
            <a:r>
              <a:rPr lang="en-US" sz="2500" dirty="0"/>
              <a:t>[100] and </a:t>
            </a:r>
            <a:r>
              <a:rPr lang="en-US" sz="2500" dirty="0" err="1"/>
              <a:t>addr</a:t>
            </a:r>
            <a:r>
              <a:rPr lang="en-US" sz="2500" dirty="0"/>
              <a:t>[100][50]. Details of a particular student will be identified by a same index</a:t>
            </a:r>
          </a:p>
        </p:txBody>
      </p:sp>
    </p:spTree>
    <p:extLst>
      <p:ext uri="{BB962C8B-B14F-4D97-AF65-F5344CB8AC3E}">
        <p14:creationId xmlns:p14="http://schemas.microsoft.com/office/powerpoint/2010/main" val="2615279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2737EA36-85D8-841B-5A03-5460B63BE0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012" y="1100667"/>
            <a:ext cx="6019800" cy="40999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B4F20218-38F4-E9EB-64C1-14278E12A5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012" y="5181599"/>
            <a:ext cx="6019800" cy="1371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33CBB852-EBF9-A28B-8B0A-91B919EE55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0788" y="1233754"/>
            <a:ext cx="4267200" cy="3947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569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A20F7079-E701-1AB5-24EF-04D36C922163}"/>
              </a:ext>
            </a:extLst>
          </p:cNvPr>
          <p:cNvSpPr txBox="1"/>
          <p:nvPr/>
        </p:nvSpPr>
        <p:spPr>
          <a:xfrm>
            <a:off x="383645" y="711539"/>
            <a:ext cx="11497733" cy="5093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500" u="sng" dirty="0"/>
          </a:p>
          <a:p>
            <a:pPr algn="just"/>
            <a:r>
              <a:rPr lang="en-US" sz="2500" dirty="0">
                <a:latin typeface="Rockwell" panose="02060603020205020403" pitchFamily="18" charset="0"/>
              </a:rPr>
              <a:t>The structure is a user-defined data type in C, which is used to store a collection of different kinds of data i.e., heterogeneous collection of data</a:t>
            </a:r>
          </a:p>
          <a:p>
            <a:pPr algn="just"/>
            <a:endParaRPr lang="en-US" sz="2500" dirty="0">
              <a:latin typeface="Rockwell" panose="02060603020205020403" pitchFamily="18" charset="0"/>
            </a:endParaRPr>
          </a:p>
          <a:p>
            <a:pPr algn="just"/>
            <a:endParaRPr lang="en-US" sz="2500" dirty="0">
              <a:latin typeface="Rockwell" panose="02060603020205020403" pitchFamily="18" charset="0"/>
            </a:endParaRPr>
          </a:p>
          <a:p>
            <a:pPr algn="just"/>
            <a:endParaRPr lang="en-US" sz="2500" dirty="0">
              <a:latin typeface="Rockwell" panose="02060603020205020403" pitchFamily="18" charset="0"/>
            </a:endParaRPr>
          </a:p>
          <a:p>
            <a:pPr algn="just"/>
            <a:endParaRPr lang="en-US" sz="2500" dirty="0">
              <a:latin typeface="Rockwell" panose="02060603020205020403" pitchFamily="18" charset="0"/>
            </a:endParaRPr>
          </a:p>
          <a:p>
            <a:pPr algn="just"/>
            <a:endParaRPr lang="en-US" sz="2500" dirty="0">
              <a:latin typeface="Rockwell" panose="02060603020205020403" pitchFamily="18" charset="0"/>
            </a:endParaRPr>
          </a:p>
          <a:p>
            <a:pPr algn="just"/>
            <a:endParaRPr lang="en-US" sz="2500" dirty="0">
              <a:latin typeface="Rockwell" panose="02060603020205020403" pitchFamily="18" charset="0"/>
            </a:endParaRPr>
          </a:p>
          <a:p>
            <a:pPr algn="just"/>
            <a:endParaRPr lang="en-US" sz="2500" dirty="0">
              <a:latin typeface="Rockwell" panose="02060603020205020403" pitchFamily="18" charset="0"/>
            </a:endParaRPr>
          </a:p>
          <a:p>
            <a:pPr algn="just"/>
            <a:endParaRPr lang="en-US" sz="2500" dirty="0">
              <a:latin typeface="Rockwell" panose="02060603020205020403" pitchFamily="18" charset="0"/>
            </a:endParaRPr>
          </a:p>
          <a:p>
            <a:pPr algn="just"/>
            <a:endParaRPr lang="en-US" sz="2500" dirty="0">
              <a:latin typeface="Rockwell" panose="02060603020205020403" pitchFamily="18" charset="0"/>
            </a:endParaRPr>
          </a:p>
          <a:p>
            <a:pPr algn="just"/>
            <a:endParaRPr lang="en-US" sz="25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9D0447B3-9C5D-78BD-FC6D-74D57BD610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86" y="4039849"/>
            <a:ext cx="5000181" cy="23234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F5CC5999-086E-F857-B73D-1241A8ECC4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8597" y="3057696"/>
            <a:ext cx="5579550" cy="24196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046AC5CC-0981-A776-E7E3-5C19B83EF6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7780" y="1944052"/>
            <a:ext cx="6244952" cy="232347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0F277AC1-ADF9-419E-9A8B-E580B8297F21}"/>
              </a:ext>
            </a:extLst>
          </p:cNvPr>
          <p:cNvSpPr txBox="1"/>
          <p:nvPr/>
        </p:nvSpPr>
        <p:spPr>
          <a:xfrm>
            <a:off x="5072937" y="366326"/>
            <a:ext cx="609600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5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Structure definition</a:t>
            </a:r>
          </a:p>
        </p:txBody>
      </p:sp>
    </p:spTree>
    <p:extLst>
      <p:ext uri="{BB962C8B-B14F-4D97-AF65-F5344CB8AC3E}">
        <p14:creationId xmlns:p14="http://schemas.microsoft.com/office/powerpoint/2010/main" val="1625435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xit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trips(downLeft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11990995-1F6B-36C1-E1AF-276EA81D0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56" y="3675743"/>
            <a:ext cx="4899427" cy="27432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216EBAEF-62DD-64F4-0C52-A3288573B1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7744" y="2356697"/>
            <a:ext cx="7458075" cy="340042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54F301AF-B0F4-7580-FE56-E7D6D38ECF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1604" y="1553028"/>
            <a:ext cx="4609783" cy="2358739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xmlns="" id="{C99FB76F-0880-98A6-650D-BE95234994DC}"/>
              </a:ext>
            </a:extLst>
          </p:cNvPr>
          <p:cNvSpPr txBox="1">
            <a:spLocks/>
          </p:cNvSpPr>
          <p:nvPr/>
        </p:nvSpPr>
        <p:spPr>
          <a:xfrm>
            <a:off x="5317069" y="333241"/>
            <a:ext cx="4899427" cy="806714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500" u="sng" dirty="0"/>
              <a:t>Structure definition</a:t>
            </a:r>
          </a:p>
        </p:txBody>
      </p:sp>
    </p:spTree>
    <p:extLst>
      <p:ext uri="{BB962C8B-B14F-4D97-AF65-F5344CB8AC3E}">
        <p14:creationId xmlns:p14="http://schemas.microsoft.com/office/powerpoint/2010/main" val="1055135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82DA74E-2D07-1D10-2A7D-18EAF92B9855}"/>
              </a:ext>
            </a:extLst>
          </p:cNvPr>
          <p:cNvSpPr txBox="1">
            <a:spLocks/>
          </p:cNvSpPr>
          <p:nvPr/>
        </p:nvSpPr>
        <p:spPr>
          <a:xfrm>
            <a:off x="4018041" y="319384"/>
            <a:ext cx="5079998" cy="102076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500" u="sng" dirty="0"/>
              <a:t>Structure Initialization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ED6B9120-66A8-1D87-C0F8-3E80E57DD9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81400"/>
            <a:ext cx="6400800" cy="2895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C0B008A8-EC56-5162-FAC7-FD987DA30B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5740" y="2387600"/>
            <a:ext cx="6324600" cy="2971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72964FF6-C859-DFB8-77EB-30D796C09C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9667" y="829765"/>
            <a:ext cx="5943599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535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9E0FA171-E90A-513F-68A5-2264B9B71248}"/>
              </a:ext>
            </a:extLst>
          </p:cNvPr>
          <p:cNvSpPr txBox="1"/>
          <p:nvPr/>
        </p:nvSpPr>
        <p:spPr>
          <a:xfrm>
            <a:off x="5300133" y="319528"/>
            <a:ext cx="609600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500" u="sng" dirty="0"/>
              <a:t>Structure Initialization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882FAEE5-21F9-9ED8-D4CF-55A840C5A1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865" y="1439333"/>
            <a:ext cx="7366001" cy="25569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3B489831-8973-6A69-1582-60CD72FE4A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866" y="4428066"/>
            <a:ext cx="10668000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8731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5091B1C-3250-9278-AE90-483EF36E0982}"/>
              </a:ext>
            </a:extLst>
          </p:cNvPr>
          <p:cNvSpPr txBox="1">
            <a:spLocks/>
          </p:cNvSpPr>
          <p:nvPr/>
        </p:nvSpPr>
        <p:spPr>
          <a:xfrm>
            <a:off x="4333348" y="246852"/>
            <a:ext cx="6571719" cy="75713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500" u="sng" dirty="0"/>
              <a:t>Structure variable access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D8D9D17-E52E-87F2-4FB1-63C729A96E67}"/>
              </a:ext>
            </a:extLst>
          </p:cNvPr>
          <p:cNvSpPr txBox="1"/>
          <p:nvPr/>
        </p:nvSpPr>
        <p:spPr>
          <a:xfrm>
            <a:off x="684212" y="1363130"/>
            <a:ext cx="11049000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</a:pPr>
            <a:r>
              <a:rPr lang="en-US" sz="2400" b="1" dirty="0"/>
              <a:t>The dot (.) operator or membership operator is used to access members of a structure using a structure variable. Here is the syntax: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295EDACD-925C-5087-0208-1CF689488A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0265" y="2695996"/>
            <a:ext cx="6291470" cy="2595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0089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A1B8FBD-E656-56FB-BF54-94242800249D}"/>
              </a:ext>
            </a:extLst>
          </p:cNvPr>
          <p:cNvSpPr txBox="1">
            <a:spLocks/>
          </p:cNvSpPr>
          <p:nvPr/>
        </p:nvSpPr>
        <p:spPr>
          <a:xfrm>
            <a:off x="304800" y="968905"/>
            <a:ext cx="11582400" cy="102076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r>
              <a:rPr lang="en-US" sz="2800" b="1"/>
              <a:t>C program to read and print coordinates of a 2D-point on cartesian plane using structure</a:t>
            </a:r>
            <a:endParaRPr lang="en-US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28B3DAAB-6B1D-2C49-48EB-DE8DA8C1FF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135" y="2303673"/>
            <a:ext cx="5932278" cy="397012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02D29C69-D496-68F7-F8B3-827391D1AB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8279" y="4826000"/>
            <a:ext cx="4392612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7918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B130801-8DED-D41D-0430-67682ECCBE49}"/>
              </a:ext>
            </a:extLst>
          </p:cNvPr>
          <p:cNvSpPr txBox="1">
            <a:spLocks/>
          </p:cNvSpPr>
          <p:nvPr/>
        </p:nvSpPr>
        <p:spPr>
          <a:xfrm>
            <a:off x="304800" y="1002772"/>
            <a:ext cx="11582400" cy="102076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r>
              <a:rPr lang="en-US" sz="2800" b="1" dirty="0"/>
              <a:t>C program to read and print complex number using structure</a:t>
            </a:r>
            <a:endParaRPr lang="en-US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77729EC1-47B5-90AE-8A1F-E7B13C1AA2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745" y="1730902"/>
            <a:ext cx="8356600" cy="390777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9F61DC89-6A95-9E45-8CAF-698C4A776F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0" y="5638678"/>
            <a:ext cx="7010400" cy="944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3076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9216227-2788-CB96-83DF-2FD879684228}"/>
              </a:ext>
            </a:extLst>
          </p:cNvPr>
          <p:cNvSpPr txBox="1">
            <a:spLocks/>
          </p:cNvSpPr>
          <p:nvPr/>
        </p:nvSpPr>
        <p:spPr>
          <a:xfrm>
            <a:off x="1200681" y="1222905"/>
            <a:ext cx="9143998" cy="102076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3500" u="sng" dirty="0"/>
              <a:t>Exercise Question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472D027D-0AEB-17BC-8A9B-5335E1682DD3}"/>
              </a:ext>
            </a:extLst>
          </p:cNvPr>
          <p:cNvSpPr txBox="1"/>
          <p:nvPr/>
        </p:nvSpPr>
        <p:spPr>
          <a:xfrm>
            <a:off x="679292" y="2076368"/>
            <a:ext cx="10833415" cy="14219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endParaRPr lang="en-US" sz="2400" dirty="0"/>
          </a:p>
          <a:p>
            <a:pPr>
              <a:lnSpc>
                <a:spcPct val="90000"/>
              </a:lnSpc>
            </a:pPr>
            <a:r>
              <a:rPr lang="en-US" sz="2400" b="1" dirty="0"/>
              <a:t>C Program to read and print Employee details(Name, Id, Age and Salary) </a:t>
            </a:r>
          </a:p>
          <a:p>
            <a:pPr>
              <a:lnSpc>
                <a:spcPct val="90000"/>
              </a:lnSpc>
            </a:pPr>
            <a:r>
              <a:rPr lang="en-US" sz="2400" b="1" dirty="0"/>
              <a:t>using structure</a:t>
            </a:r>
            <a:endParaRPr lang="en-US" sz="2400" dirty="0"/>
          </a:p>
          <a:p>
            <a:pPr>
              <a:lnSpc>
                <a:spcPct val="90000"/>
              </a:lnSpc>
            </a:pP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F5021C03-1C76-9923-22C2-61994D1630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7212" y="3489829"/>
            <a:ext cx="3124200" cy="222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892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E6A544F-8E6A-0F25-6604-A5413CC9E3A8}"/>
              </a:ext>
            </a:extLst>
          </p:cNvPr>
          <p:cNvSpPr txBox="1">
            <a:spLocks/>
          </p:cNvSpPr>
          <p:nvPr/>
        </p:nvSpPr>
        <p:spPr>
          <a:xfrm>
            <a:off x="4487337" y="315785"/>
            <a:ext cx="7450665" cy="75713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500" u="sng" dirty="0"/>
              <a:t>Type defined structure – typedef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F9CEFF84-7E78-05D8-1D47-D93D1DFADD0B}"/>
              </a:ext>
            </a:extLst>
          </p:cNvPr>
          <p:cNvSpPr txBox="1"/>
          <p:nvPr/>
        </p:nvSpPr>
        <p:spPr>
          <a:xfrm>
            <a:off x="511147" y="1617136"/>
            <a:ext cx="11166531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400" dirty="0"/>
              <a:t>In C programming language, </a:t>
            </a:r>
            <a:r>
              <a:rPr lang="en-US" sz="2400" b="1" dirty="0"/>
              <a:t>typedef</a:t>
            </a:r>
            <a:r>
              <a:rPr lang="en-US" sz="2400" dirty="0"/>
              <a:t> is also used with structures. We can define an alias to the structure </a:t>
            </a:r>
            <a:r>
              <a:rPr lang="en-US" sz="2400" i="1" dirty="0"/>
              <a:t>(user defined data type)</a:t>
            </a:r>
            <a:r>
              <a:rPr lang="en-US" sz="2400" dirty="0"/>
              <a:t> using </a:t>
            </a:r>
            <a:r>
              <a:rPr lang="en-US" sz="2400" b="1" dirty="0"/>
              <a:t>typedef</a:t>
            </a:r>
            <a:r>
              <a:rPr lang="en-US" sz="2400" dirty="0"/>
              <a:t> in C.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9775C0AA-84F9-6170-9A98-A78407A058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12" y="2514603"/>
            <a:ext cx="5943600" cy="3733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90E9F5C4-0B34-122E-F798-33353A8D56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4471" y="2767747"/>
            <a:ext cx="5223529" cy="3227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796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9D58F26B-02F3-F3E6-F945-483849FF07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2423" y="1924210"/>
            <a:ext cx="4350532" cy="29989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9059ADCA-A791-24AF-9CE3-09C14F60A1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593" y="1556766"/>
            <a:ext cx="5908803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683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8DFB2906-E294-CD1F-0CA7-327881F1B3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6455" y="1700941"/>
            <a:ext cx="5732547" cy="37920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959847B1-8E88-EAD7-B627-8F3376AFEB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629" y="1533355"/>
            <a:ext cx="6543603" cy="4127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079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6F20460-AAF5-2991-A576-F9BB3E9DDF48}"/>
              </a:ext>
            </a:extLst>
          </p:cNvPr>
          <p:cNvSpPr txBox="1">
            <a:spLocks/>
          </p:cNvSpPr>
          <p:nvPr/>
        </p:nvSpPr>
        <p:spPr>
          <a:xfrm>
            <a:off x="304800" y="951971"/>
            <a:ext cx="11582400" cy="102076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r>
              <a:rPr lang="en-US" sz="2800" b="1"/>
              <a:t>C program to read and print coordinates of a 2D-point on cartitian plane using structure</a:t>
            </a:r>
            <a:endParaRPr lang="en-US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EBFE42B7-1972-ACF2-B9E8-67DAE4DA54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8611" y="2006595"/>
            <a:ext cx="6005689" cy="42672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8EE50EC9-105A-E8AF-C332-7D5D7EB124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9412" y="4825995"/>
            <a:ext cx="3006436" cy="1066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CE1DE171-FB2F-22B7-E5A9-2B73E84F2F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8610" y="2006595"/>
            <a:ext cx="5924113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983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4CD645D-7A90-7063-61FA-B96208887936}"/>
              </a:ext>
            </a:extLst>
          </p:cNvPr>
          <p:cNvSpPr txBox="1">
            <a:spLocks/>
          </p:cNvSpPr>
          <p:nvPr/>
        </p:nvSpPr>
        <p:spPr>
          <a:xfrm>
            <a:off x="304800" y="985838"/>
            <a:ext cx="11582400" cy="102076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r>
              <a:rPr lang="en-US" sz="2800" b="1"/>
              <a:t>C program to read and print employee details(name and salary) using structure</a:t>
            </a:r>
            <a:endParaRPr lang="en-US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C7D205AB-B7CE-01F6-28C3-6EC05B8D93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945" y="2006600"/>
            <a:ext cx="5970446" cy="42672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BFE13E31-1E70-CEF1-B54F-BF2A4DF26B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0345" y="4368800"/>
            <a:ext cx="3987459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7752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6A7D5A4-BD80-D3AB-8DED-BC7FE4DD1308}"/>
              </a:ext>
            </a:extLst>
          </p:cNvPr>
          <p:cNvSpPr txBox="1">
            <a:spLocks/>
          </p:cNvSpPr>
          <p:nvPr/>
        </p:nvSpPr>
        <p:spPr>
          <a:xfrm>
            <a:off x="304800" y="1087439"/>
            <a:ext cx="11582400" cy="102076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r>
              <a:rPr lang="en-US" sz="2800" b="1"/>
              <a:t>Comparison between Normal and typedef structure definition</a:t>
            </a:r>
            <a:endParaRPr lang="en-US" sz="28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233FA510-4DEA-B3A7-038D-64B593A14C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479" y="1817953"/>
            <a:ext cx="9874738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9578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F326744-6762-0DCC-D331-94F11584A77F}"/>
              </a:ext>
            </a:extLst>
          </p:cNvPr>
          <p:cNvSpPr txBox="1">
            <a:spLocks/>
          </p:cNvSpPr>
          <p:nvPr/>
        </p:nvSpPr>
        <p:spPr>
          <a:xfrm>
            <a:off x="5520265" y="310607"/>
            <a:ext cx="5621867" cy="59532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sz="3500" u="sng" dirty="0"/>
              <a:t>Array of structure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786AD5B9-49C2-7F7A-418E-FA7BBD93B5A9}"/>
              </a:ext>
            </a:extLst>
          </p:cNvPr>
          <p:cNvSpPr txBox="1"/>
          <p:nvPr/>
        </p:nvSpPr>
        <p:spPr>
          <a:xfrm>
            <a:off x="559110" y="1227662"/>
            <a:ext cx="11131765" cy="12557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Structure variable represents a single record (of an entity) in memory, </a:t>
            </a:r>
          </a:p>
          <a:p>
            <a:pPr>
              <a:lnSpc>
                <a:spcPct val="90000"/>
              </a:lnSpc>
            </a:pPr>
            <a:r>
              <a:rPr lang="en-US" sz="2800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if we want more than one record of structure type, we have to create an </a:t>
            </a:r>
          </a:p>
          <a:p>
            <a:pPr>
              <a:lnSpc>
                <a:spcPct val="90000"/>
              </a:lnSpc>
            </a:pPr>
            <a:r>
              <a:rPr lang="en-US" sz="2800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array of structure variable. </a:t>
            </a:r>
            <a:endParaRPr lang="en-US"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909EFF25-6AF6-86C6-2F2B-5C13CCC1F8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12" y="2788191"/>
            <a:ext cx="10461613" cy="3841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5059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70CA59D-DA1D-DFDD-A2C2-EA2EC4B707C8}"/>
              </a:ext>
            </a:extLst>
          </p:cNvPr>
          <p:cNvSpPr txBox="1">
            <a:spLocks/>
          </p:cNvSpPr>
          <p:nvPr/>
        </p:nvSpPr>
        <p:spPr>
          <a:xfrm>
            <a:off x="5863166" y="326850"/>
            <a:ext cx="6024034" cy="824617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r>
              <a:rPr lang="en-US" sz="3500" u="sng" dirty="0"/>
              <a:t>Array of structure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37D6CDAD-AC5A-2CEE-2116-A5784EDF4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12" y="999067"/>
            <a:ext cx="10439400" cy="5684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5606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xmlns="" id="{E1BB1B6B-201C-BF8F-CB4F-E406B6E44155}"/>
              </a:ext>
            </a:extLst>
          </p:cNvPr>
          <p:cNvSpPr txBox="1">
            <a:spLocks/>
          </p:cNvSpPr>
          <p:nvPr/>
        </p:nvSpPr>
        <p:spPr>
          <a:xfrm>
            <a:off x="6056311" y="254000"/>
            <a:ext cx="4150254" cy="683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4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r>
              <a:rPr lang="en-US" sz="3500" u="sng" dirty="0"/>
              <a:t>Array of structure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544B0BF7-F738-4F03-1EDD-956878809B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953" y="1083735"/>
            <a:ext cx="10644717" cy="5579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3461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xmlns="" id="{8981A7D5-E382-E5A6-7412-FF25DBB5E0B1}"/>
              </a:ext>
            </a:extLst>
          </p:cNvPr>
          <p:cNvSpPr txBox="1">
            <a:spLocks/>
          </p:cNvSpPr>
          <p:nvPr/>
        </p:nvSpPr>
        <p:spPr>
          <a:xfrm>
            <a:off x="455612" y="407667"/>
            <a:ext cx="11201400" cy="1020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4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r>
              <a:rPr lang="en-US" sz="3500" b="1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 program to read and print </a:t>
            </a:r>
            <a:r>
              <a:rPr lang="en-US" sz="3500" b="1" dirty="0"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 students record</a:t>
            </a:r>
            <a:endParaRPr lang="en-US" sz="35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516E82A-5A6F-0FDC-6208-7D70C035DD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212" y="1479228"/>
            <a:ext cx="10743513" cy="5378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177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xmlns="" id="{A8E2181C-DD4A-8C9D-CEB9-06DD4FE3AFC9}"/>
              </a:ext>
            </a:extLst>
          </p:cNvPr>
          <p:cNvSpPr txBox="1">
            <a:spLocks/>
          </p:cNvSpPr>
          <p:nvPr/>
        </p:nvSpPr>
        <p:spPr>
          <a:xfrm>
            <a:off x="4865947" y="83343"/>
            <a:ext cx="6767253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4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r>
              <a:rPr lang="en-US" sz="3500" u="sng" dirty="0"/>
              <a:t>Operations on structure variable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EB396CF3-1978-B75C-C8D2-443C59491C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612" y="1295400"/>
            <a:ext cx="9677400" cy="5334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AB080F6D-C636-87DD-04F4-16957C72A6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5947" y="944562"/>
            <a:ext cx="695325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942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xmlns="" id="{79809140-05C8-732F-A5D3-61DAE08EAA35}"/>
              </a:ext>
            </a:extLst>
          </p:cNvPr>
          <p:cNvSpPr txBox="1">
            <a:spLocks/>
          </p:cNvSpPr>
          <p:nvPr/>
        </p:nvSpPr>
        <p:spPr>
          <a:xfrm>
            <a:off x="4968345" y="287866"/>
            <a:ext cx="6766455" cy="631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4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r>
              <a:rPr lang="en-US" sz="3500" u="sng" dirty="0"/>
              <a:t>Operations on structure variable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3CA2C89-6ABC-0743-794C-D0FE99454B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412" y="1219200"/>
            <a:ext cx="10348686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2434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2CE41CF-93E3-8CAA-ED91-ED0B3EBB56C3}"/>
              </a:ext>
            </a:extLst>
          </p:cNvPr>
          <p:cNvSpPr txBox="1">
            <a:spLocks/>
          </p:cNvSpPr>
          <p:nvPr/>
        </p:nvSpPr>
        <p:spPr>
          <a:xfrm>
            <a:off x="4477278" y="381000"/>
            <a:ext cx="7325255" cy="60589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r>
              <a:rPr lang="en-US" sz="3500" u="sng" dirty="0"/>
              <a:t>Operations on structure variable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11228CD6-C513-6F20-AD51-F453C95599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412" y="1219200"/>
            <a:ext cx="10791749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7092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E2D2006-DE16-1B8C-5124-A7BDB20B2E87}"/>
              </a:ext>
            </a:extLst>
          </p:cNvPr>
          <p:cNvSpPr txBox="1">
            <a:spLocks/>
          </p:cNvSpPr>
          <p:nvPr/>
        </p:nvSpPr>
        <p:spPr>
          <a:xfrm>
            <a:off x="5290079" y="355561"/>
            <a:ext cx="5648854" cy="67152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sz="3500" u="sng" dirty="0"/>
              <a:t>Nested structure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5AF971CF-4DC7-A2D8-7BCF-9D01E4EEC0F8}"/>
              </a:ext>
            </a:extLst>
          </p:cNvPr>
          <p:cNvSpPr txBox="1"/>
          <p:nvPr/>
        </p:nvSpPr>
        <p:spPr>
          <a:xfrm>
            <a:off x="264467" y="1027089"/>
            <a:ext cx="11809000" cy="169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</a:pPr>
            <a:r>
              <a:rPr lang="en-US" sz="2800" dirty="0"/>
              <a:t>Nested structure in C is nothing but structure within structure(Like nested loop). It is used to  group composite attributes of an entity. Example </a:t>
            </a:r>
            <a:r>
              <a:rPr lang="en-US" sz="3200" b="1" dirty="0"/>
              <a:t>name</a:t>
            </a:r>
            <a:r>
              <a:rPr lang="en-US" sz="3200" dirty="0"/>
              <a:t> </a:t>
            </a:r>
            <a:r>
              <a:rPr lang="en-US" sz="2800" dirty="0"/>
              <a:t>is a composite attribute consist of </a:t>
            </a:r>
            <a:r>
              <a:rPr lang="en-US" sz="2800" b="1" dirty="0" err="1"/>
              <a:t>First_Name</a:t>
            </a:r>
            <a:r>
              <a:rPr lang="en-US" sz="2800" b="1" dirty="0"/>
              <a:t>, </a:t>
            </a:r>
            <a:r>
              <a:rPr lang="en-US" sz="2800" b="1" dirty="0" err="1"/>
              <a:t>Middle_Name</a:t>
            </a:r>
            <a:r>
              <a:rPr lang="en-US" sz="2800" b="1" dirty="0"/>
              <a:t> and </a:t>
            </a:r>
            <a:r>
              <a:rPr lang="en-US" sz="2800" b="1" dirty="0" err="1"/>
              <a:t>Last_Name</a:t>
            </a:r>
            <a:r>
              <a:rPr lang="en-US" sz="2800" dirty="0"/>
              <a:t>.</a:t>
            </a:r>
            <a:endParaRPr lang="en-US"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316D1B06-DBE3-16F3-D676-9519568425D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85246" y="3039534"/>
            <a:ext cx="10287000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142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3ACB320-51D5-4BA8-4CC0-3B227DA8DD1E}"/>
              </a:ext>
            </a:extLst>
          </p:cNvPr>
          <p:cNvSpPr txBox="1">
            <a:spLocks/>
          </p:cNvSpPr>
          <p:nvPr/>
        </p:nvSpPr>
        <p:spPr>
          <a:xfrm>
            <a:off x="5637213" y="322997"/>
            <a:ext cx="4048654" cy="676069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r>
              <a:rPr lang="en-US" sz="3500" u="sng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Nested  Structure</a:t>
            </a:r>
            <a:endParaRPr lang="en-US" sz="3500" u="sng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7B5CD7C1-FB85-5546-21CD-721089EC45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361" y="1219200"/>
            <a:ext cx="10355902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0009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xmlns="" id="{8A1B9041-B1D3-2A1F-4A5A-C070BAD92C6A}"/>
              </a:ext>
            </a:extLst>
          </p:cNvPr>
          <p:cNvSpPr txBox="1">
            <a:spLocks/>
          </p:cNvSpPr>
          <p:nvPr/>
        </p:nvSpPr>
        <p:spPr>
          <a:xfrm>
            <a:off x="5535612" y="372533"/>
            <a:ext cx="5750732" cy="766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4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r>
              <a:rPr lang="en-US" sz="3500" u="sng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Nested  Structure</a:t>
            </a:r>
            <a:endParaRPr lang="en-US" sz="3500" u="s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A9A31FBB-9901-869B-134C-B0A92A5402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12" y="1219200"/>
            <a:ext cx="10373532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0241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xmlns="" id="{6FF115E8-023A-DF3B-C4A1-56A16164D69E}"/>
              </a:ext>
            </a:extLst>
          </p:cNvPr>
          <p:cNvSpPr txBox="1">
            <a:spLocks/>
          </p:cNvSpPr>
          <p:nvPr/>
        </p:nvSpPr>
        <p:spPr>
          <a:xfrm>
            <a:off x="6229879" y="186267"/>
            <a:ext cx="5792788" cy="665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4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r>
              <a:rPr lang="en-US" sz="3500" u="sng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Nested  Structure</a:t>
            </a:r>
            <a:endParaRPr lang="en-US" sz="3500" u="s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CBB479AF-6A2B-1E83-4597-5F2C0EA73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12" y="1295399"/>
            <a:ext cx="9982200" cy="517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0927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B23A0E3-8660-B2AB-FE4C-58798EC02B0D}"/>
              </a:ext>
            </a:extLst>
          </p:cNvPr>
          <p:cNvSpPr txBox="1">
            <a:spLocks/>
          </p:cNvSpPr>
          <p:nvPr/>
        </p:nvSpPr>
        <p:spPr>
          <a:xfrm>
            <a:off x="3791478" y="187533"/>
            <a:ext cx="8281987" cy="743803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r>
              <a:rPr lang="en-US" sz="3500" u="sng" dirty="0">
                <a:latin typeface="Cambria" panose="02040503050406030204" pitchFamily="18" charset="0"/>
                <a:cs typeface="Times New Roman" panose="02020603050405020304" pitchFamily="18" charset="0"/>
              </a:rPr>
              <a:t>Example program for Nested structure</a:t>
            </a:r>
            <a:endParaRPr lang="en-US" sz="3500" u="sng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A283F219-6147-E8A9-BBDD-E1F88A7F1B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12" y="948266"/>
            <a:ext cx="7620000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6202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FE1AB647-306C-E56D-A2FF-EF5CFF34F9E0}"/>
              </a:ext>
            </a:extLst>
          </p:cNvPr>
          <p:cNvSpPr txBox="1"/>
          <p:nvPr/>
        </p:nvSpPr>
        <p:spPr>
          <a:xfrm>
            <a:off x="541867" y="2243667"/>
            <a:ext cx="112776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Student and employee database</a:t>
            </a:r>
          </a:p>
          <a:p>
            <a:r>
              <a:rPr lang="en-US" sz="3500" dirty="0"/>
              <a:t>implementation</a:t>
            </a:r>
            <a:r>
              <a:rPr lang="en-US" sz="4000" dirty="0"/>
              <a:t> using structures.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xmlns="" id="{31D807CC-49F5-5C80-FB9A-0588798E28E6}"/>
              </a:ext>
            </a:extLst>
          </p:cNvPr>
          <p:cNvSpPr txBox="1">
            <a:spLocks/>
          </p:cNvSpPr>
          <p:nvPr/>
        </p:nvSpPr>
        <p:spPr>
          <a:xfrm>
            <a:off x="1507066" y="1222905"/>
            <a:ext cx="9143998" cy="102076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3500" b="1" u="sng" dirty="0"/>
              <a:t>Exercise Question</a:t>
            </a:r>
          </a:p>
        </p:txBody>
      </p:sp>
    </p:spTree>
    <p:extLst>
      <p:ext uri="{BB962C8B-B14F-4D97-AF65-F5344CB8AC3E}">
        <p14:creationId xmlns:p14="http://schemas.microsoft.com/office/powerpoint/2010/main" val="16253228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9" name="Google Shape;779;p90" descr="Thank You Clipart GIFs - Express Gratitude with Animated Image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91621" y="951089"/>
            <a:ext cx="6400202" cy="4401827"/>
          </a:xfrm>
          <a:prstGeom prst="rect">
            <a:avLst/>
          </a:prstGeom>
          <a:solidFill>
            <a:srgbClr val="FFFF00"/>
          </a:solidFill>
          <a:ln w="9525" cap="flat" cmpd="sng">
            <a:solidFill>
              <a:srgbClr val="FF0066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sy="23000" kx="-1200000" algn="bl" rotWithShape="0">
              <a:srgbClr val="000000">
                <a:alpha val="2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822"/>
                                        <p:tgtEl>
                                          <p:spTgt spid="7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</TotalTime>
  <Words>414</Words>
  <Application>Microsoft Office PowerPoint</Application>
  <PresentationFormat>Custom</PresentationFormat>
  <Paragraphs>62</Paragraphs>
  <Slides>32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32</vt:i4>
      </vt:variant>
    </vt:vector>
  </HeadingPairs>
  <TitlesOfParts>
    <vt:vector size="40" baseType="lpstr">
      <vt:lpstr>Arial</vt:lpstr>
      <vt:lpstr>Rockwell</vt:lpstr>
      <vt:lpstr>Cambria</vt:lpstr>
      <vt:lpstr>Times New Roman</vt:lpstr>
      <vt:lpstr>Cambria Math</vt:lpstr>
      <vt:lpstr>Calibri</vt:lpstr>
      <vt:lpstr>Office 2013 - 2022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Latitude</cp:lastModifiedBy>
  <cp:revision>12</cp:revision>
  <dcterms:modified xsi:type="dcterms:W3CDTF">2025-04-22T02:38:28Z</dcterms:modified>
</cp:coreProperties>
</file>