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3.xml" ContentType="application/vnd.openxmlformats-officedocument.presentationml.slideLayout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metadata" ContentType="application/binary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notesSlides/notesSlide29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9" r:id="rId2"/>
  </p:sldMasterIdLst>
  <p:notesMasterIdLst>
    <p:notesMasterId r:id="rId38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90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</p:sldIdLst>
  <p:sldSz cx="9144000" cy="6858000" type="screen4x3"/>
  <p:notesSz cx="6858000" cy="9144000"/>
  <p:embeddedFontLst>
    <p:embeddedFont>
      <p:font typeface="Calibri" pitchFamily="34" charset="0"/>
      <p:regular r:id="rId39"/>
      <p:bold r:id="rId40"/>
      <p:italic r:id="rId41"/>
      <p:boldItalic r:id="rId42"/>
    </p:embeddedFont>
    <p:embeddedFont>
      <p:font typeface="Quattrocento Sans" charset="0"/>
      <p:regular r:id="rId43"/>
      <p:bold r:id="rId44"/>
      <p:italic r:id="rId45"/>
      <p:boldItalic r:id="rId46"/>
    </p:embeddedFont>
    <p:embeddedFont>
      <p:font typeface="Consolas" pitchFamily="49" charset="0"/>
      <p:regular r:id="rId47"/>
      <p:bold r:id="rId48"/>
      <p:italic r:id="rId49"/>
      <p:boldItalic r:id="rId50"/>
    </p:embeddedFont>
    <p:embeddedFont>
      <p:font typeface="Nunito" charset="0"/>
      <p:regular r:id="rId51"/>
      <p:bold r:id="rId52"/>
      <p:italic r:id="rId53"/>
      <p:boldItalic r:id="rId5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gBneVr0LGcJwVTo8NeAPkiBeXC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67DA829-2066-4AC0-815F-B39406FB8673}">
  <a:tblStyle styleId="{567DA829-2066-4AC0-815F-B39406FB8673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10"/>
    <p:restoredTop sz="94586"/>
  </p:normalViewPr>
  <p:slideViewPr>
    <p:cSldViewPr snapToGrid="0"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1.fntdata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font" Target="fonts/font4.fntdata"/><Relationship Id="rId47" Type="http://schemas.openxmlformats.org/officeDocument/2006/relationships/font" Target="fonts/font9.fntdata"/><Relationship Id="rId50" Type="http://schemas.openxmlformats.org/officeDocument/2006/relationships/font" Target="fonts/font12.fntdata"/><Relationship Id="rId55" Type="http://customschemas.google.com/relationships/presentationmetadata" Target="meta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notesMaster" Target="notesMasters/notesMaster1.xml"/><Relationship Id="rId46" Type="http://schemas.openxmlformats.org/officeDocument/2006/relationships/font" Target="fonts/font8.fntdata"/><Relationship Id="rId59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font" Target="fonts/font3.fntdata"/><Relationship Id="rId54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font" Target="fonts/font2.fntdata"/><Relationship Id="rId45" Type="http://schemas.openxmlformats.org/officeDocument/2006/relationships/font" Target="fonts/font7.fntdata"/><Relationship Id="rId53" Type="http://schemas.openxmlformats.org/officeDocument/2006/relationships/font" Target="fonts/font15.fntdata"/><Relationship Id="rId58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font" Target="fonts/font11.fntdata"/><Relationship Id="rId57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font" Target="fonts/font6.fntdata"/><Relationship Id="rId52" Type="http://schemas.openxmlformats.org/officeDocument/2006/relationships/font" Target="fonts/font14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font" Target="fonts/font5.fntdata"/><Relationship Id="rId48" Type="http://schemas.openxmlformats.org/officeDocument/2006/relationships/font" Target="fonts/font10.fntdata"/><Relationship Id="rId56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font" Target="fonts/font13.fntdata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2" name="Google Shape;15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8" name="Google Shape;15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0" name="Google Shape;17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6" name="Google Shape;17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1" name="Google Shape;18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6" name="Google Shape;18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5" name="Google Shape;20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6" name="Google Shape;22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3" name="Google Shape;23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41" name="Google Shape;24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247" name="Google Shape;24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4" name="Google Shape;25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60" name="Google Shape;26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67" name="Google Shape;26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74" name="Google Shape;27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81" name="Google Shape;28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87" name="Google Shape;28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93" name="Google Shape;293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9" name="Google Shape;309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15" name="Google Shape;31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24" name="Google Shape;324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30" name="Google Shape;330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36" name="Google Shape;336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2" name="Google Shape;342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51" name="Google Shape;351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5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6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6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6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6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6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6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6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6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26" name="Google Shape;26;p70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27" name="Google Shape;27;p7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71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3" name="Google Shape;33;p71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34" name="Google Shape;34;p71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5" name="Google Shape;35;p71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36" name="Google Shape;36;p7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7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7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7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4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4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1" name="Google Shape;51;p74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2" name="Google Shape;52;p7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7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5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75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75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9" name="Google Shape;59;p7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7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7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7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76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7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7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7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7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77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7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7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7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8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68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68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68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6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78"/>
          <p:cNvSpPr txBox="1"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78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90" name="Google Shape;90;p78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78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7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9"/>
          <p:cNvSpPr txBox="1"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79"/>
          <p:cNvSpPr txBox="1"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6" name="Google Shape;96;p79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79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79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80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80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2" name="Google Shape;102;p80"/>
          <p:cNvSpPr txBox="1">
            <a:spLocks noGrp="1"/>
          </p:cNvSpPr>
          <p:nvPr>
            <p:ph type="body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3" name="Google Shape;103;p80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80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80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81"/>
          <p:cNvSpPr txBox="1"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81"/>
          <p:cNvSpPr txBox="1"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09" name="Google Shape;109;p81"/>
          <p:cNvSpPr txBox="1">
            <a:spLocks noGrp="1"/>
          </p:cNvSpPr>
          <p:nvPr>
            <p:ph type="body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0" name="Google Shape;110;p81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11" name="Google Shape;111;p81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2" name="Google Shape;112;p81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81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8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2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82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82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8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83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83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8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4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84"/>
          <p:cNvSpPr txBox="1">
            <a:spLocks noGrp="1"/>
          </p:cNvSpPr>
          <p:nvPr>
            <p:ph type="body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27" name="Google Shape;127;p84"/>
          <p:cNvSpPr txBox="1"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128" name="Google Shape;128;p84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84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8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5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85"/>
          <p:cNvSpPr>
            <a:spLocks noGrp="1"/>
          </p:cNvSpPr>
          <p:nvPr>
            <p:ph type="pic" idx="2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34" name="Google Shape;134;p85"/>
          <p:cNvSpPr txBox="1">
            <a:spLocks noGrp="1"/>
          </p:cNvSpPr>
          <p:nvPr>
            <p:ph type="body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135" name="Google Shape;135;p85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85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8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6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86"/>
          <p:cNvSpPr txBox="1">
            <a:spLocks noGrp="1"/>
          </p:cNvSpPr>
          <p:nvPr>
            <p:ph type="body" idx="1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1" name="Google Shape;141;p86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86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8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7"/>
          <p:cNvSpPr txBox="1">
            <a:spLocks noGrp="1"/>
          </p:cNvSpPr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87"/>
          <p:cNvSpPr txBox="1">
            <a:spLocks noGrp="1"/>
          </p:cNvSpPr>
          <p:nvPr>
            <p:ph type="body" idx="1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7" name="Google Shape;147;p87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87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8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6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6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6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6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7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" name="Google Shape;76;p67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Google Shape;77;p67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8" name="Google Shape;78;p67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Google Shape;79;p6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80" name="Google Shape;80;p67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377343" y="0"/>
            <a:ext cx="1766657" cy="1130998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"/>
          <p:cNvSpPr txBox="1">
            <a:spLocks noGrp="1"/>
          </p:cNvSpPr>
          <p:nvPr>
            <p:ph type="ctrTitle"/>
          </p:nvPr>
        </p:nvSpPr>
        <p:spPr>
          <a:xfrm>
            <a:off x="395536" y="836712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/>
              <a:t>UNIT – III </a:t>
            </a:r>
            <a:r>
              <a:rPr lang="en-US"/>
              <a:t>	</a:t>
            </a:r>
            <a:br>
              <a:rPr lang="en-US"/>
            </a:br>
            <a:endParaRPr/>
          </a:p>
        </p:txBody>
      </p:sp>
      <p:sp>
        <p:nvSpPr>
          <p:cNvPr id="155" name="Google Shape;155;p1"/>
          <p:cNvSpPr txBox="1">
            <a:spLocks noGrp="1"/>
          </p:cNvSpPr>
          <p:nvPr>
            <p:ph type="subTitle" idx="1"/>
          </p:nvPr>
        </p:nvSpPr>
        <p:spPr>
          <a:xfrm>
            <a:off x="251520" y="1979629"/>
            <a:ext cx="8496944" cy="4251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lang="en-US" sz="2800" b="1">
                <a:solidFill>
                  <a:schemeClr val="dk1"/>
                </a:solidFill>
              </a:rPr>
              <a:t>Pointers: </a:t>
            </a:r>
            <a:r>
              <a:rPr lang="en-US" sz="2800">
                <a:solidFill>
                  <a:schemeClr val="dk1"/>
                </a:solidFill>
              </a:rPr>
              <a:t>Definition and declaration and initialization of pointers. Accessing values using pointers. Accessing array elements using pointers. 	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endParaRPr sz="2800" b="1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lang="en-US" sz="2800" b="1">
                <a:solidFill>
                  <a:schemeClr val="dk1"/>
                </a:solidFill>
              </a:rPr>
              <a:t>Functions: </a:t>
            </a:r>
            <a:r>
              <a:rPr lang="en-US" sz="2800">
                <a:solidFill>
                  <a:schemeClr val="dk1"/>
                </a:solidFill>
              </a:rPr>
              <a:t>Definition and declaration. Built-in functions and User-defined functions. Categories of functions with example. Pointers as function arguments, array as function argument, Call-by-value and call-by-reference. Recursion. 	</a:t>
            </a:r>
            <a:endParaRPr sz="280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endParaRPr sz="28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b="1" dirty="0">
                <a:solidFill>
                  <a:srgbClr val="002060"/>
                </a:solidFill>
              </a:rPr>
              <a:t>C Pointers</a:t>
            </a:r>
            <a:br>
              <a:rPr lang="en-US" b="1" dirty="0">
                <a:solidFill>
                  <a:srgbClr val="002060"/>
                </a:solidFill>
              </a:rPr>
            </a:br>
            <a:endParaRPr dirty="0">
              <a:solidFill>
                <a:srgbClr val="002060"/>
              </a:solidFill>
            </a:endParaRPr>
          </a:p>
        </p:txBody>
      </p:sp>
      <p:sp>
        <p:nvSpPr>
          <p:cNvPr id="161" name="Google Shape;161;p2"/>
          <p:cNvSpPr txBox="1">
            <a:spLocks noGrp="1"/>
          </p:cNvSpPr>
          <p:nvPr>
            <p:ph type="body" idx="1"/>
          </p:nvPr>
        </p:nvSpPr>
        <p:spPr>
          <a:xfrm>
            <a:off x="285161" y="983290"/>
            <a:ext cx="8573678" cy="5720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800" b="1" dirty="0">
                <a:solidFill>
                  <a:srgbClr val="FF0000"/>
                </a:solidFill>
              </a:rPr>
              <a:t>What is a Pointer in C?</a:t>
            </a:r>
            <a:endParaRPr sz="4000" dirty="0">
              <a:solidFill>
                <a:srgbClr val="FF0000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sz="2200" dirty="0"/>
          </a:p>
          <a:p>
            <a:pPr marL="342900" lvl="0" indent="-342900" algn="just" rtl="0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 dirty="0"/>
              <a:t>A pointer is  a </a:t>
            </a:r>
            <a:r>
              <a:rPr lang="en-US" sz="2200" b="1" dirty="0"/>
              <a:t>derived data type </a:t>
            </a:r>
            <a:r>
              <a:rPr lang="en-US" sz="2200" dirty="0"/>
              <a:t>that can </a:t>
            </a:r>
            <a:r>
              <a:rPr lang="en-US" sz="2200" b="1" dirty="0"/>
              <a:t>store the address of other  variables </a:t>
            </a:r>
            <a:r>
              <a:rPr lang="en-US" sz="2200" dirty="0"/>
              <a:t>or a </a:t>
            </a:r>
            <a:r>
              <a:rPr lang="en-US" sz="2200" b="1" dirty="0"/>
              <a:t>memory location</a:t>
            </a:r>
            <a:r>
              <a:rPr lang="en-US" sz="2200" dirty="0"/>
              <a:t>. </a:t>
            </a:r>
            <a:endParaRPr dirty="0"/>
          </a:p>
          <a:p>
            <a:pPr marL="342900" lvl="0" indent="-342900" algn="just" rtl="0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 dirty="0"/>
              <a:t>Pointers allow us to access and modify the data stored at a specific memory location.</a:t>
            </a:r>
            <a:endParaRPr sz="2200" dirty="0"/>
          </a:p>
          <a:p>
            <a:pPr marL="342900" lvl="0" indent="-342900" algn="just" rtl="0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 dirty="0"/>
              <a:t>As the pointers in C store the memory addresses, their size is independent of the type of data they are pointing to. </a:t>
            </a:r>
            <a:endParaRPr dirty="0"/>
          </a:p>
          <a:p>
            <a:pPr marL="0" lvl="0" indent="0" algn="just" rtl="0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sz="2200" dirty="0"/>
          </a:p>
          <a:p>
            <a:pPr marL="800100" lvl="1" indent="-342900" algn="just" rtl="0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SzPts val="2200"/>
              <a:buFont typeface="Noto Sans Symbols"/>
              <a:buChar char="⮚"/>
            </a:pPr>
            <a:r>
              <a:rPr lang="en-US" sz="2200" dirty="0"/>
              <a:t>The </a:t>
            </a:r>
            <a:r>
              <a:rPr lang="en-US" sz="2200" b="1" dirty="0"/>
              <a:t>operator &amp;</a:t>
            </a:r>
            <a:r>
              <a:rPr lang="en-US" sz="2200" dirty="0"/>
              <a:t> gives the address of a variable.</a:t>
            </a:r>
            <a:endParaRPr dirty="0"/>
          </a:p>
          <a:p>
            <a:pPr marL="571500" lvl="1" indent="0" algn="just" rtl="0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SzPts val="2200"/>
              <a:buNone/>
            </a:pPr>
            <a:endParaRPr sz="2200" dirty="0"/>
          </a:p>
          <a:p>
            <a:pPr marL="800100" lvl="1" indent="-342900" algn="just" rtl="0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SzPts val="2200"/>
              <a:buFont typeface="Noto Sans Symbols"/>
              <a:buChar char="⮚"/>
            </a:pPr>
            <a:r>
              <a:rPr lang="en-US" sz="2200" dirty="0"/>
              <a:t>The indirection or </a:t>
            </a:r>
            <a:r>
              <a:rPr lang="en-US" sz="2200" b="1" dirty="0"/>
              <a:t>deference operator (*) </a:t>
            </a:r>
            <a:r>
              <a:rPr lang="en-US" sz="2200" dirty="0"/>
              <a:t>to accesses the value stored at the pointer’s address.</a:t>
            </a:r>
            <a:endParaRPr dirty="0"/>
          </a:p>
          <a:p>
            <a:pPr marL="342900" lvl="0" indent="-154940" algn="just" rtl="0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b="1" dirty="0">
                <a:solidFill>
                  <a:srgbClr val="002060"/>
                </a:solidFill>
              </a:rPr>
              <a:t>Declaration of pointer in C</a:t>
            </a:r>
            <a:endParaRPr dirty="0">
              <a:solidFill>
                <a:srgbClr val="002060"/>
              </a:solidFill>
            </a:endParaRPr>
          </a:p>
        </p:txBody>
      </p:sp>
      <p:sp>
        <p:nvSpPr>
          <p:cNvPr id="167" name="Google Shape;167;p88"/>
          <p:cNvSpPr txBox="1">
            <a:spLocks noGrp="1"/>
          </p:cNvSpPr>
          <p:nvPr>
            <p:ph type="body" idx="1"/>
          </p:nvPr>
        </p:nvSpPr>
        <p:spPr>
          <a:xfrm>
            <a:off x="84841" y="1417638"/>
            <a:ext cx="9059159" cy="5237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200"/>
              <a:t>To declare a pointer, use the dereferencing operator(*) followed by the data type and pointer variable name. </a:t>
            </a:r>
            <a:endParaRPr/>
          </a:p>
          <a:p>
            <a:pPr marL="2286000" lvl="5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endParaRPr sz="2200">
              <a:solidFill>
                <a:srgbClr val="FF0000"/>
              </a:solidFill>
            </a:endParaRPr>
          </a:p>
          <a:p>
            <a:pPr marL="2286000" lvl="5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 sz="2200">
                <a:solidFill>
                  <a:srgbClr val="FF0000"/>
                </a:solidFill>
              </a:rPr>
              <a:t>datatype </a:t>
            </a:r>
            <a:r>
              <a:rPr lang="en-US" sz="2200" b="1">
                <a:solidFill>
                  <a:srgbClr val="FF0000"/>
                </a:solidFill>
              </a:rPr>
              <a:t>*</a:t>
            </a:r>
            <a:r>
              <a:rPr lang="en-US" sz="2200" b="1" i="1">
                <a:solidFill>
                  <a:srgbClr val="FF0000"/>
                </a:solidFill>
              </a:rPr>
              <a:t>ptr_name</a:t>
            </a:r>
            <a:r>
              <a:rPr lang="en-US" sz="2200">
                <a:solidFill>
                  <a:srgbClr val="FF0000"/>
                </a:solidFill>
              </a:rPr>
              <a:t>;</a:t>
            </a:r>
            <a:endParaRPr/>
          </a:p>
          <a:p>
            <a:pPr marL="2286000" lvl="5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endParaRPr sz="2200">
              <a:solidFill>
                <a:srgbClr val="FF0000"/>
              </a:solidFill>
            </a:endParaRPr>
          </a:p>
          <a:p>
            <a:pPr marL="342900" lvl="0" indent="-342900" algn="l" rtl="0">
              <a:lnSpc>
                <a:spcPct val="170000"/>
              </a:lnSpc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200" b="1"/>
              <a:t>data_type - </a:t>
            </a:r>
            <a:r>
              <a:rPr lang="en-US" sz="2200"/>
              <a:t>can be any valid C data types(eg: int,char,float).</a:t>
            </a:r>
            <a:endParaRPr/>
          </a:p>
          <a:p>
            <a:pPr marL="342900" lvl="0" indent="-342900" algn="l" rtl="0">
              <a:lnSpc>
                <a:spcPct val="170000"/>
              </a:lnSpc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200" b="1"/>
              <a:t>The indirection operator(*) - indicates the variable is a pointer </a:t>
            </a:r>
            <a:r>
              <a:rPr lang="en-US" sz="2200"/>
              <a:t>which declares a pointer.</a:t>
            </a:r>
            <a:endParaRPr/>
          </a:p>
          <a:p>
            <a:pPr marL="342900" lvl="0" indent="-342900" algn="l" rtl="0">
              <a:lnSpc>
                <a:spcPct val="170000"/>
              </a:lnSpc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200" b="1"/>
              <a:t>ptr_name - </a:t>
            </a:r>
            <a:r>
              <a:rPr lang="en-US" sz="2200"/>
              <a:t>Name of the pointer variable(any valid identifier).</a:t>
            </a:r>
            <a:endParaRPr/>
          </a:p>
          <a:p>
            <a:pPr marL="0" lvl="0" indent="0" algn="l" rtl="0">
              <a:lnSpc>
                <a:spcPct val="17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 sz="2200">
                <a:solidFill>
                  <a:srgbClr val="FF0000"/>
                </a:solidFill>
                <a:highlight>
                  <a:srgbClr val="FFFF00"/>
                </a:highlight>
              </a:rPr>
              <a:t>Note:</a:t>
            </a:r>
            <a:r>
              <a:rPr lang="en-US" sz="2200">
                <a:highlight>
                  <a:srgbClr val="FFFF00"/>
                </a:highlight>
              </a:rPr>
              <a:t> pointers can be defined to variable, functions, structures, etc.</a:t>
            </a:r>
            <a:endParaRPr/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200">
              <a:highlight>
                <a:srgbClr val="FFFF00"/>
              </a:highlight>
            </a:endParaRPr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2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"/>
          <p:cNvSpPr txBox="1">
            <a:spLocks noGrp="1"/>
          </p:cNvSpPr>
          <p:nvPr>
            <p:ph type="title"/>
          </p:nvPr>
        </p:nvSpPr>
        <p:spPr>
          <a:xfrm>
            <a:off x="457200" y="94268"/>
            <a:ext cx="8229600" cy="880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9773"/>
              <a:buNone/>
            </a:pPr>
            <a:r>
              <a:rPr lang="en-US" sz="4900" b="1" dirty="0">
                <a:solidFill>
                  <a:srgbClr val="002060"/>
                </a:solidFill>
              </a:rPr>
              <a:t/>
            </a:r>
            <a:br>
              <a:rPr lang="en-US" sz="4900" b="1" dirty="0">
                <a:solidFill>
                  <a:srgbClr val="002060"/>
                </a:solidFill>
              </a:rPr>
            </a:br>
            <a:r>
              <a:rPr lang="en-US" sz="4900" b="1" dirty="0">
                <a:solidFill>
                  <a:srgbClr val="002060"/>
                </a:solidFill>
              </a:rPr>
              <a:t>How to Use Pointers?</a:t>
            </a:r>
            <a:r>
              <a:rPr lang="en-US" dirty="0">
                <a:solidFill>
                  <a:srgbClr val="002060"/>
                </a:solidFill>
              </a:rPr>
              <a:t/>
            </a:r>
            <a:br>
              <a:rPr lang="en-US" dirty="0">
                <a:solidFill>
                  <a:srgbClr val="002060"/>
                </a:solidFill>
              </a:rPr>
            </a:br>
            <a:endParaRPr dirty="0">
              <a:solidFill>
                <a:srgbClr val="002060"/>
              </a:solidFill>
            </a:endParaRPr>
          </a:p>
        </p:txBody>
      </p:sp>
      <p:sp>
        <p:nvSpPr>
          <p:cNvPr id="173" name="Google Shape;17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/>
              <a:t>The use of pointers in C can be divided into three steps: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 b="1"/>
              <a:t>Pointer Declaration</a:t>
            </a:r>
            <a:endParaRPr sz="2800"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 b="1"/>
              <a:t>Pointer Initialization</a:t>
            </a:r>
            <a:endParaRPr sz="2800"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 b="1"/>
              <a:t>Pointer Dereferencing</a:t>
            </a:r>
            <a:endParaRPr sz="2800"/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5"/>
          <p:cNvSpPr txBox="1">
            <a:spLocks noGrp="1"/>
          </p:cNvSpPr>
          <p:nvPr>
            <p:ph type="body" idx="1"/>
          </p:nvPr>
        </p:nvSpPr>
        <p:spPr>
          <a:xfrm>
            <a:off x="457200" y="332656"/>
            <a:ext cx="8347435" cy="6086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US" sz="2200" b="1" dirty="0">
                <a:solidFill>
                  <a:srgbClr val="002060"/>
                </a:solidFill>
              </a:rPr>
              <a:t>Pointer Declaration</a:t>
            </a:r>
            <a:endParaRPr dirty="0">
              <a:solidFill>
                <a:srgbClr val="002060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200" dirty="0"/>
          </a:p>
          <a:p>
            <a:pPr marL="34290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200" dirty="0"/>
              <a:t>A pointer declaration defines the variable that store the memory address of another variable and use </a:t>
            </a:r>
            <a:r>
              <a:rPr lang="en-US" sz="2200" b="1" dirty="0"/>
              <a:t>deference operator(*) </a:t>
            </a:r>
            <a:r>
              <a:rPr lang="en-US" sz="2200" dirty="0"/>
              <a:t>before the pointer variable name the but do not initialize it. </a:t>
            </a:r>
            <a:endParaRPr sz="2200" dirty="0"/>
          </a:p>
          <a:p>
            <a:pPr marL="0" lvl="0" indent="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200" b="1" dirty="0"/>
          </a:p>
          <a:p>
            <a:pPr marL="0" lvl="0" indent="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200" b="1" dirty="0"/>
              <a:t>Syntax:	</a:t>
            </a:r>
            <a:endParaRPr dirty="0"/>
          </a:p>
          <a:p>
            <a:pPr marL="0" lvl="0" indent="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200" b="1" dirty="0"/>
              <a:t>		</a:t>
            </a:r>
            <a:r>
              <a:rPr lang="en-US" sz="2200" dirty="0">
                <a:highlight>
                  <a:srgbClr val="FFFF00"/>
                </a:highlight>
              </a:rPr>
              <a:t>datatype *</a:t>
            </a:r>
            <a:r>
              <a:rPr lang="en-US" sz="2200" dirty="0" err="1">
                <a:highlight>
                  <a:srgbClr val="FFFF00"/>
                </a:highlight>
              </a:rPr>
              <a:t>pointer_name</a:t>
            </a:r>
            <a:r>
              <a:rPr lang="en-US" sz="2200" dirty="0">
                <a:highlight>
                  <a:srgbClr val="FFFF00"/>
                </a:highlight>
              </a:rPr>
              <a:t>;</a:t>
            </a:r>
            <a:endParaRPr dirty="0"/>
          </a:p>
          <a:p>
            <a:pPr marL="0" lvl="0" indent="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200" b="1" dirty="0"/>
          </a:p>
          <a:p>
            <a:pPr marL="0" lvl="0" indent="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200" b="1" dirty="0"/>
              <a:t>Example:</a:t>
            </a:r>
            <a:endParaRPr sz="2200" dirty="0"/>
          </a:p>
          <a:p>
            <a:pPr marL="0" lvl="0" indent="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200" dirty="0"/>
              <a:t>                                     </a:t>
            </a:r>
            <a:r>
              <a:rPr lang="en-US" sz="2200" dirty="0">
                <a:highlight>
                  <a:srgbClr val="FFFF00"/>
                </a:highlight>
              </a:rPr>
              <a:t>int *</a:t>
            </a:r>
            <a:r>
              <a:rPr lang="en-US" sz="2200" b="1" dirty="0" err="1">
                <a:highlight>
                  <a:srgbClr val="FFFF00"/>
                </a:highlight>
              </a:rPr>
              <a:t>ptr</a:t>
            </a:r>
            <a:r>
              <a:rPr lang="en-US" sz="2200" dirty="0">
                <a:highlight>
                  <a:srgbClr val="FFFF00"/>
                </a:highlight>
              </a:rPr>
              <a:t>;</a:t>
            </a:r>
            <a:endParaRPr sz="2200" dirty="0">
              <a:highlight>
                <a:srgbClr val="FFFF00"/>
              </a:highlight>
            </a:endParaRPr>
          </a:p>
          <a:p>
            <a:pPr marL="342900" lvl="0" indent="-1905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200" dirty="0"/>
          </a:p>
          <a:p>
            <a:pPr marL="34290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200" dirty="0"/>
              <a:t>The pointer declared here will point to some random memory address as it is not initialized. Such pointers are called </a:t>
            </a:r>
            <a:r>
              <a:rPr lang="en-US" sz="2200" b="1" dirty="0"/>
              <a:t>wild pointers</a:t>
            </a:r>
            <a:r>
              <a:rPr lang="en-US" sz="2200" dirty="0"/>
              <a:t>.</a:t>
            </a:r>
            <a:endParaRPr sz="2200" dirty="0"/>
          </a:p>
          <a:p>
            <a:pPr marL="342900" lvl="0" indent="-1905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"/>
          <p:cNvSpPr txBox="1">
            <a:spLocks noGrp="1"/>
          </p:cNvSpPr>
          <p:nvPr>
            <p:ph type="body" idx="1"/>
          </p:nvPr>
        </p:nvSpPr>
        <p:spPr>
          <a:xfrm>
            <a:off x="509046" y="0"/>
            <a:ext cx="8182467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400" b="1" dirty="0">
                <a:solidFill>
                  <a:srgbClr val="002060"/>
                </a:solidFill>
              </a:rPr>
              <a:t>2. Pointer Initialization</a:t>
            </a:r>
            <a:endParaRPr sz="3600" dirty="0">
              <a:solidFill>
                <a:srgbClr val="002060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200" dirty="0"/>
          </a:p>
          <a:p>
            <a:pPr marL="342900" lvl="0" indent="-3429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200" dirty="0"/>
              <a:t>Pointer initialization is the process to assign some  value to the pointer variable. </a:t>
            </a:r>
            <a:endParaRPr dirty="0"/>
          </a:p>
          <a:p>
            <a:pPr marL="342900" lvl="0" indent="-3429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200" dirty="0"/>
              <a:t>Use the </a:t>
            </a:r>
            <a:r>
              <a:rPr lang="en-US" sz="2200" b="1" dirty="0"/>
              <a:t>(&amp;) address operator</a:t>
            </a:r>
            <a:r>
              <a:rPr lang="en-US" sz="2200" dirty="0"/>
              <a:t> to get the memory address of a variable and then store it in the pointer variable.</a:t>
            </a:r>
            <a:endParaRPr sz="2200" dirty="0"/>
          </a:p>
          <a:p>
            <a:pPr marL="0" lvl="0" indent="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200" b="1" dirty="0"/>
          </a:p>
          <a:p>
            <a:pPr marL="0" lvl="0" indent="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200" b="1" dirty="0"/>
              <a:t>Example	 </a:t>
            </a:r>
            <a:r>
              <a:rPr lang="en-US" sz="2200" dirty="0"/>
              <a:t>int var = 10;</a:t>
            </a:r>
            <a:endParaRPr dirty="0"/>
          </a:p>
          <a:p>
            <a:pPr marL="0" lvl="0" indent="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200" dirty="0"/>
              <a:t>		        int *</a:t>
            </a:r>
            <a:r>
              <a:rPr lang="en-US" sz="2200" b="1" dirty="0" err="1"/>
              <a:t>ptr</a:t>
            </a:r>
            <a:r>
              <a:rPr lang="en-US" sz="2200" dirty="0"/>
              <a:t>; </a:t>
            </a:r>
            <a:endParaRPr dirty="0"/>
          </a:p>
          <a:p>
            <a:pPr marL="0" lvl="0" indent="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200" dirty="0"/>
              <a:t>		        </a:t>
            </a:r>
            <a:r>
              <a:rPr lang="en-US" sz="2200" dirty="0" err="1"/>
              <a:t>ptr</a:t>
            </a:r>
            <a:r>
              <a:rPr lang="en-US" sz="2200" dirty="0"/>
              <a:t> = </a:t>
            </a:r>
            <a:r>
              <a:rPr lang="en-US" sz="2200" b="1" dirty="0"/>
              <a:t>&amp;</a:t>
            </a:r>
            <a:r>
              <a:rPr lang="en-US" sz="2200" dirty="0"/>
              <a:t>var;         </a:t>
            </a:r>
            <a:r>
              <a:rPr lang="en-US" sz="2200" dirty="0">
                <a:solidFill>
                  <a:srgbClr val="00B050"/>
                </a:solidFill>
              </a:rPr>
              <a:t>//</a:t>
            </a:r>
            <a:r>
              <a:rPr lang="en-US" sz="2200" dirty="0" err="1">
                <a:solidFill>
                  <a:srgbClr val="00B050"/>
                </a:solidFill>
              </a:rPr>
              <a:t>ptr</a:t>
            </a:r>
            <a:r>
              <a:rPr lang="en-US" sz="2200" dirty="0">
                <a:solidFill>
                  <a:srgbClr val="00B050"/>
                </a:solidFill>
              </a:rPr>
              <a:t> now holds the address of var</a:t>
            </a:r>
            <a:endParaRPr dirty="0"/>
          </a:p>
          <a:p>
            <a:pPr marL="0" lvl="0" indent="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200" dirty="0"/>
          </a:p>
          <a:p>
            <a:pPr marL="342900" lvl="0" indent="-3429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200" dirty="0"/>
              <a:t>Pointer can be declare and initialize in a </a:t>
            </a:r>
            <a:r>
              <a:rPr lang="en-US" sz="2200" b="1" dirty="0"/>
              <a:t>single step</a:t>
            </a:r>
            <a:r>
              <a:rPr lang="en-US" sz="2200" dirty="0"/>
              <a:t>. This method is called</a:t>
            </a:r>
            <a:r>
              <a:rPr lang="en-US" sz="2200" b="1" dirty="0"/>
              <a:t> pointer definition </a:t>
            </a:r>
            <a:r>
              <a:rPr lang="en-US" sz="2200" dirty="0"/>
              <a:t>as the pointer is declared and initialized at the same time.</a:t>
            </a:r>
            <a:endParaRPr sz="2200" dirty="0"/>
          </a:p>
          <a:p>
            <a:pPr marL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200" dirty="0">
                <a:highlight>
                  <a:srgbClr val="FFFF00"/>
                </a:highlight>
              </a:rPr>
              <a:t>int *</a:t>
            </a:r>
            <a:r>
              <a:rPr lang="en-US" sz="2200" b="1" dirty="0" err="1">
                <a:highlight>
                  <a:srgbClr val="FFFF00"/>
                </a:highlight>
              </a:rPr>
              <a:t>ptr</a:t>
            </a:r>
            <a:r>
              <a:rPr lang="en-US" sz="2200" b="1" dirty="0">
                <a:highlight>
                  <a:srgbClr val="FFFF00"/>
                </a:highlight>
              </a:rPr>
              <a:t> = &amp;</a:t>
            </a:r>
            <a:r>
              <a:rPr lang="en-US" sz="2200" dirty="0">
                <a:highlight>
                  <a:srgbClr val="FFFF00"/>
                </a:highlight>
              </a:rPr>
              <a:t>var;</a:t>
            </a:r>
            <a:endParaRPr sz="2200" dirty="0">
              <a:highlight>
                <a:srgbClr val="FFFF00"/>
              </a:highlight>
            </a:endParaRPr>
          </a:p>
          <a:p>
            <a:pPr marL="0" lvl="0" indent="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</a:pPr>
            <a:r>
              <a:rPr lang="en-US" sz="2200" b="1" dirty="0">
                <a:solidFill>
                  <a:schemeClr val="accent2"/>
                </a:solidFill>
              </a:rPr>
              <a:t>Note:</a:t>
            </a:r>
            <a:r>
              <a:rPr lang="en-US" sz="2200" dirty="0">
                <a:solidFill>
                  <a:schemeClr val="accent2"/>
                </a:solidFill>
              </a:rPr>
              <a:t> </a:t>
            </a:r>
            <a:r>
              <a:rPr lang="en-US" sz="2200" dirty="0">
                <a:solidFill>
                  <a:srgbClr val="FF0000"/>
                </a:solidFill>
              </a:rPr>
              <a:t>It is recommended that the pointers should always be initialized to value before using it. Otherwise, it may lead to number of errors.</a:t>
            </a:r>
            <a:endParaRPr sz="2200" dirty="0">
              <a:solidFill>
                <a:srgbClr val="FF0000"/>
              </a:solidFill>
            </a:endParaRPr>
          </a:p>
          <a:p>
            <a:pPr marL="342900" lvl="0" indent="-2159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"/>
          <p:cNvSpPr txBox="1">
            <a:spLocks noGrp="1"/>
          </p:cNvSpPr>
          <p:nvPr>
            <p:ph type="body" idx="1"/>
          </p:nvPr>
        </p:nvSpPr>
        <p:spPr>
          <a:xfrm>
            <a:off x="251520" y="116632"/>
            <a:ext cx="8637956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solidFill>
                  <a:srgbClr val="002060"/>
                </a:solidFill>
              </a:rPr>
              <a:t>3. Pointer Dereferencing</a:t>
            </a:r>
            <a:endParaRPr dirty="0">
              <a:solidFill>
                <a:srgbClr val="00206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/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Dereferencing a pointer is the process of accessing the value stored in the memory address specified in the pointer. </a:t>
            </a: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Use the same </a:t>
            </a:r>
            <a:r>
              <a:rPr lang="en-US" sz="2400" b="1" dirty="0"/>
              <a:t>( * ) dereferencing operator</a:t>
            </a:r>
            <a:r>
              <a:rPr lang="en-US" sz="2400" dirty="0"/>
              <a:t> that used in the pointer declaration.</a:t>
            </a:r>
            <a:endParaRPr dirty="0"/>
          </a:p>
          <a:p>
            <a:pPr marL="342900" lvl="0" indent="-1905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dirty="0"/>
          </a:p>
        </p:txBody>
      </p:sp>
      <p:pic>
        <p:nvPicPr>
          <p:cNvPr id="189" name="Google Shape;189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1233" y="3428998"/>
            <a:ext cx="8038603" cy="32228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454"/>
              <a:buNone/>
            </a:pPr>
            <a:r>
              <a:rPr lang="en-US" b="1" i="0" dirty="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Memory Address</a:t>
            </a:r>
            <a:br>
              <a:rPr lang="en-US" b="1" i="0" dirty="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endParaRPr b="1" dirty="0"/>
          </a:p>
        </p:txBody>
      </p:sp>
      <p:sp>
        <p:nvSpPr>
          <p:cNvPr id="195" name="Google Shape;195;p89"/>
          <p:cNvSpPr txBox="1">
            <a:spLocks noGrp="1"/>
          </p:cNvSpPr>
          <p:nvPr>
            <p:ph type="body" idx="1"/>
          </p:nvPr>
        </p:nvSpPr>
        <p:spPr>
          <a:xfrm>
            <a:off x="457200" y="1286525"/>
            <a:ext cx="8229600" cy="49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just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 sz="2400" i="0" dirty="0">
                <a:solidFill>
                  <a:srgbClr val="000000"/>
                </a:solidFill>
              </a:rPr>
              <a:t>When a variable is created</a:t>
            </a:r>
            <a:r>
              <a:rPr lang="en-US" sz="2400" dirty="0">
                <a:solidFill>
                  <a:srgbClr val="000000"/>
                </a:solidFill>
              </a:rPr>
              <a:t>,</a:t>
            </a:r>
            <a:r>
              <a:rPr lang="en-US" sz="2400" i="0" dirty="0">
                <a:solidFill>
                  <a:srgbClr val="000000"/>
                </a:solidFill>
              </a:rPr>
              <a:t> a memory address is assigned to the variable.</a:t>
            </a:r>
            <a:endParaRPr sz="2400" dirty="0"/>
          </a:p>
          <a:p>
            <a:pPr marL="457200" lvl="0" indent="-228600" algn="just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None/>
            </a:pPr>
            <a:endParaRPr sz="2400" i="0" dirty="0">
              <a:solidFill>
                <a:srgbClr val="000000"/>
              </a:solidFill>
            </a:endParaRPr>
          </a:p>
          <a:p>
            <a:pPr marL="457200" lvl="0" indent="-381000" algn="just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The memory address is the location in memory where the variable is stored on the computer</a:t>
            </a:r>
            <a:r>
              <a:rPr lang="en-US" sz="2400" i="0" dirty="0">
                <a:solidFill>
                  <a:srgbClr val="000000"/>
                </a:solidFill>
              </a:rPr>
              <a:t>.</a:t>
            </a:r>
            <a:endParaRPr sz="2400" dirty="0"/>
          </a:p>
          <a:p>
            <a:pPr marL="457200" lvl="0" indent="-228600" algn="just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None/>
            </a:pPr>
            <a:endParaRPr sz="2400" dirty="0">
              <a:solidFill>
                <a:srgbClr val="000000"/>
              </a:solidFill>
            </a:endParaRPr>
          </a:p>
          <a:p>
            <a:pPr marL="457200" lvl="0" indent="-381000" algn="just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When you assign a value to the variable, that value is stored at the assigned memory address.</a:t>
            </a:r>
            <a:endParaRPr sz="2400" dirty="0"/>
          </a:p>
          <a:p>
            <a:pPr marL="457200" lvl="0" indent="-228600" algn="just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None/>
            </a:pPr>
            <a:endParaRPr sz="2400" i="0" dirty="0">
              <a:solidFill>
                <a:srgbClr val="000000"/>
              </a:solidFill>
            </a:endParaRPr>
          </a:p>
          <a:p>
            <a:pPr marL="457200" lvl="0" indent="-381000" algn="just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 dirty="0"/>
              <a:t>To access the memory address, use the </a:t>
            </a:r>
            <a:r>
              <a:rPr lang="en-US" sz="2400" b="1" dirty="0"/>
              <a:t>reference operator (</a:t>
            </a:r>
            <a:r>
              <a:rPr lang="en-US" sz="2400" b="1" dirty="0">
                <a:solidFill>
                  <a:srgbClr val="188038"/>
                </a:solidFill>
              </a:rPr>
              <a:t>&amp;</a:t>
            </a:r>
            <a:r>
              <a:rPr lang="en-US" sz="2400" b="1" dirty="0"/>
              <a:t>)</a:t>
            </a:r>
            <a:r>
              <a:rPr lang="en-US" sz="2400" dirty="0"/>
              <a:t>, which gives the address where the variable is stored.</a:t>
            </a:r>
            <a:endParaRPr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09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Calibri"/>
              <a:buNone/>
            </a:pPr>
            <a:r>
              <a:rPr lang="en-US" sz="4400" b="1" dirty="0">
                <a:solidFill>
                  <a:srgbClr val="002060"/>
                </a:solidFill>
              </a:rPr>
              <a:t/>
            </a:r>
            <a:br>
              <a:rPr lang="en-US" sz="4400" b="1" dirty="0">
                <a:solidFill>
                  <a:srgbClr val="002060"/>
                </a:solidFill>
              </a:rPr>
            </a:br>
            <a:r>
              <a:rPr lang="en-US" sz="4400" b="1" dirty="0">
                <a:solidFill>
                  <a:srgbClr val="002060"/>
                </a:solidFill>
              </a:rPr>
              <a:t>Creating Pointers</a:t>
            </a:r>
            <a:r>
              <a:rPr lang="en-US" b="1" i="0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b="1" i="0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</a:br>
            <a:endParaRPr b="1" dirty="0">
              <a:solidFill>
                <a:srgbClr val="002060"/>
              </a:solidFill>
            </a:endParaRPr>
          </a:p>
        </p:txBody>
      </p:sp>
      <p:sp>
        <p:nvSpPr>
          <p:cNvPr id="201" name="Google Shape;201;p8"/>
          <p:cNvSpPr txBox="1">
            <a:spLocks noGrp="1"/>
          </p:cNvSpPr>
          <p:nvPr>
            <p:ph type="body" idx="1"/>
          </p:nvPr>
        </p:nvSpPr>
        <p:spPr>
          <a:xfrm>
            <a:off x="318305" y="1382094"/>
            <a:ext cx="8368500" cy="54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just" rtl="0">
              <a:lnSpc>
                <a:spcPct val="17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To get the address of a variable use the </a:t>
            </a:r>
            <a:r>
              <a:rPr lang="en-US" sz="2200" b="1">
                <a:latin typeface="Calibri"/>
                <a:ea typeface="Calibri"/>
                <a:cs typeface="Calibri"/>
                <a:sym typeface="Calibri"/>
              </a:rPr>
              <a:t>reference operator (&amp;)</a:t>
            </a: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. </a:t>
            </a:r>
            <a:endParaRPr/>
          </a:p>
          <a:p>
            <a:pPr marL="457200" lvl="0" indent="-342900" algn="just" rtl="0">
              <a:lnSpc>
                <a:spcPct val="17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The reference operator is also known as the </a:t>
            </a:r>
            <a:r>
              <a:rPr lang="en-US" sz="2200" b="1">
                <a:latin typeface="Calibri"/>
                <a:ea typeface="Calibri"/>
                <a:cs typeface="Calibri"/>
                <a:sym typeface="Calibri"/>
              </a:rPr>
              <a:t>address of operator</a:t>
            </a: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.</a:t>
            </a:r>
            <a:endParaRPr sz="2200">
              <a:solidFill>
                <a:srgbClr val="55637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228600" algn="just" rtl="0">
              <a:lnSpc>
                <a:spcPct val="17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2200" b="0" i="0">
              <a:solidFill>
                <a:srgbClr val="55637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4300" lvl="0" indent="0" algn="just" rtl="0">
              <a:lnSpc>
                <a:spcPct val="17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2200" b="0" i="0">
              <a:solidFill>
                <a:srgbClr val="55637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228600" algn="just" rtl="0">
              <a:lnSpc>
                <a:spcPct val="17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2200" b="0" i="0">
              <a:solidFill>
                <a:srgbClr val="27323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just" rtl="0">
              <a:lnSpc>
                <a:spcPct val="17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2200" b="0" i="0">
                <a:solidFill>
                  <a:srgbClr val="273239"/>
                </a:solidFill>
                <a:latin typeface="Calibri"/>
                <a:ea typeface="Calibri"/>
                <a:cs typeface="Calibri"/>
                <a:sym typeface="Calibri"/>
              </a:rPr>
              <a:t>A variable </a:t>
            </a:r>
            <a:r>
              <a:rPr lang="en-US" sz="2200" b="1">
                <a:solidFill>
                  <a:srgbClr val="273239"/>
                </a:solidFill>
                <a:latin typeface="Calibri"/>
                <a:ea typeface="Calibri"/>
                <a:cs typeface="Calibri"/>
                <a:sym typeface="Calibri"/>
              </a:rPr>
              <a:t>myAge</a:t>
            </a:r>
            <a:r>
              <a:rPr lang="en-US" sz="2200" b="0" i="0">
                <a:solidFill>
                  <a:srgbClr val="273239"/>
                </a:solidFill>
                <a:latin typeface="Calibri"/>
                <a:ea typeface="Calibri"/>
                <a:cs typeface="Calibri"/>
                <a:sym typeface="Calibri"/>
              </a:rPr>
              <a:t> was defined and initialized with the value 43 . </a:t>
            </a:r>
            <a:endParaRPr/>
          </a:p>
          <a:p>
            <a:pPr marL="457200" lvl="0" indent="-342900" algn="just" rtl="0">
              <a:lnSpc>
                <a:spcPct val="17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2200" b="0" i="0">
                <a:solidFill>
                  <a:srgbClr val="273239"/>
                </a:solidFill>
                <a:latin typeface="Calibri"/>
                <a:ea typeface="Calibri"/>
                <a:cs typeface="Calibri"/>
                <a:sym typeface="Calibri"/>
              </a:rPr>
              <a:t>To </a:t>
            </a:r>
            <a:r>
              <a:rPr lang="en-US" sz="2200" b="1" i="0">
                <a:solidFill>
                  <a:srgbClr val="273239"/>
                </a:solidFill>
                <a:latin typeface="Calibri"/>
                <a:ea typeface="Calibri"/>
                <a:cs typeface="Calibri"/>
                <a:sym typeface="Calibri"/>
              </a:rPr>
              <a:t>retrieved the address </a:t>
            </a:r>
            <a:r>
              <a:rPr lang="en-US" sz="2200" b="0" i="0">
                <a:solidFill>
                  <a:srgbClr val="273239"/>
                </a:solidFill>
                <a:latin typeface="Calibri"/>
                <a:ea typeface="Calibri"/>
                <a:cs typeface="Calibri"/>
                <a:sym typeface="Calibri"/>
              </a:rPr>
              <a:t>of this variable myAge use the address </a:t>
            </a:r>
            <a:r>
              <a:rPr lang="en-US" sz="2200" b="1" i="0">
                <a:solidFill>
                  <a:srgbClr val="273239"/>
                </a:solidFill>
                <a:latin typeface="Calibri"/>
                <a:ea typeface="Calibri"/>
                <a:cs typeface="Calibri"/>
                <a:sym typeface="Calibri"/>
              </a:rPr>
              <a:t>operator (&amp;).</a:t>
            </a:r>
            <a:endParaRPr sz="2200" b="1" i="0">
              <a:solidFill>
                <a:srgbClr val="55637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2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 txBox="1"/>
          <p:nvPr/>
        </p:nvSpPr>
        <p:spPr>
          <a:xfrm>
            <a:off x="876693" y="2725726"/>
            <a:ext cx="79491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2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myAge = </a:t>
            </a:r>
            <a:r>
              <a:rPr lang="en-US" sz="2200" b="0" i="0" u="none" strike="noStrike" cap="none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43</a:t>
            </a:r>
            <a:r>
              <a:rPr lang="en-US" sz="22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2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printf(</a:t>
            </a:r>
            <a:r>
              <a:rPr lang="en-US" sz="2200" b="0" i="0" u="none" strike="noStrike" cap="non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"%p"</a:t>
            </a:r>
            <a:r>
              <a:rPr lang="en-US" sz="22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2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&amp;myAge</a:t>
            </a:r>
            <a:r>
              <a:rPr lang="en-US" sz="22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); </a:t>
            </a:r>
            <a:r>
              <a:rPr lang="en-US" sz="2200" b="1" i="0" u="none" strike="noStrike" cap="none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// Outputs 0x7ffe5367e044</a:t>
            </a:r>
            <a:endParaRPr sz="2200" b="1" i="0" u="none" strike="noStrike" cap="non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pic>
        <p:nvPicPr>
          <p:cNvPr id="208" name="Google Shape;208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888" y="116632"/>
            <a:ext cx="9007516" cy="6661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0"/>
          <p:cNvSpPr txBox="1">
            <a:spLocks noGrp="1"/>
          </p:cNvSpPr>
          <p:nvPr>
            <p:ph type="title"/>
          </p:nvPr>
        </p:nvSpPr>
        <p:spPr>
          <a:xfrm>
            <a:off x="353505" y="123810"/>
            <a:ext cx="8229600" cy="70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454"/>
              <a:buNone/>
            </a:pPr>
            <a:r>
              <a:rPr lang="en-US" sz="4400" b="1" dirty="0">
                <a:solidFill>
                  <a:srgbClr val="002060"/>
                </a:solidFill>
              </a:rPr>
              <a:t/>
            </a:r>
            <a:br>
              <a:rPr lang="en-US" sz="4400" b="1" dirty="0">
                <a:solidFill>
                  <a:srgbClr val="002060"/>
                </a:solidFill>
              </a:rPr>
            </a:br>
            <a:r>
              <a:rPr lang="en-US" sz="4400" b="1" dirty="0">
                <a:solidFill>
                  <a:srgbClr val="002060"/>
                </a:solidFill>
              </a:rPr>
              <a:t>Dereference </a:t>
            </a:r>
            <a:r>
              <a:rPr lang="en-US" sz="4400" dirty="0">
                <a:solidFill>
                  <a:srgbClr val="002060"/>
                </a:solidFill>
              </a:rPr>
              <a:t/>
            </a:r>
            <a:br>
              <a:rPr lang="en-US" sz="4400" dirty="0">
                <a:solidFill>
                  <a:srgbClr val="002060"/>
                </a:solidFill>
              </a:rPr>
            </a:br>
            <a:endParaRPr dirty="0">
              <a:solidFill>
                <a:srgbClr val="002060"/>
              </a:solidFill>
            </a:endParaRPr>
          </a:p>
        </p:txBody>
      </p:sp>
      <p:sp>
        <p:nvSpPr>
          <p:cNvPr id="214" name="Google Shape;214;p90"/>
          <p:cNvSpPr txBox="1">
            <a:spLocks noGrp="1"/>
          </p:cNvSpPr>
          <p:nvPr>
            <p:ph type="body" idx="1"/>
          </p:nvPr>
        </p:nvSpPr>
        <p:spPr>
          <a:xfrm>
            <a:off x="353505" y="996884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just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200" dirty="0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Dereferencing a pointer is the process of </a:t>
            </a:r>
            <a:r>
              <a:rPr lang="en-US" sz="2200" b="1" dirty="0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accessing the value </a:t>
            </a:r>
            <a:r>
              <a:rPr lang="en-US" sz="2200" dirty="0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stored in the </a:t>
            </a:r>
            <a:r>
              <a:rPr lang="en-US" sz="2200" b="1" dirty="0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memory address </a:t>
            </a:r>
            <a:r>
              <a:rPr lang="en-US" sz="2200" dirty="0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specified in the pointer. Use the same </a:t>
            </a:r>
            <a:r>
              <a:rPr lang="en-US" sz="2200" b="1" dirty="0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(*) dereferencing operator</a:t>
            </a:r>
            <a:r>
              <a:rPr lang="en-US" sz="2200" dirty="0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 that used in the pointer declaration.</a:t>
            </a:r>
            <a:endParaRPr sz="2200" dirty="0">
              <a:solidFill>
                <a:srgbClr val="273239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342900" lvl="0" indent="-355600" algn="just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2200"/>
              <a:buChar char="•"/>
            </a:pPr>
            <a:endParaRPr sz="2200" dirty="0"/>
          </a:p>
          <a:p>
            <a:pPr marL="342900" lvl="0" indent="-215900" algn="just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200" dirty="0"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2200" dirty="0"/>
          </a:p>
        </p:txBody>
      </p:sp>
      <p:pic>
        <p:nvPicPr>
          <p:cNvPr id="215" name="Google Shape;215;p9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6300" y="3156975"/>
            <a:ext cx="8229601" cy="300815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90"/>
          <p:cNvSpPr txBox="1"/>
          <p:nvPr/>
        </p:nvSpPr>
        <p:spPr>
          <a:xfrm>
            <a:off x="579748" y="6313562"/>
            <a:ext cx="8003357" cy="933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1" u="none" strike="noStrike" cap="none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Note: The %p format specifier to print the address in hexadecimal form.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16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9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2800" b="1" dirty="0">
                <a:solidFill>
                  <a:srgbClr val="002060"/>
                </a:solidFill>
              </a:rPr>
              <a:t>Two ways to declare pointer variables </a:t>
            </a:r>
            <a:endParaRPr sz="2800" b="1" dirty="0">
              <a:solidFill>
                <a:srgbClr val="002060"/>
              </a:solidFill>
            </a:endParaRPr>
          </a:p>
        </p:txBody>
      </p:sp>
      <p:sp>
        <p:nvSpPr>
          <p:cNvPr id="222" name="Google Shape;222;p9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200" dirty="0" err="1">
                <a:highlight>
                  <a:srgbClr val="FFFF00"/>
                </a:highlight>
              </a:rPr>
              <a:t>int</a:t>
            </a:r>
            <a:r>
              <a:rPr lang="en-US" sz="2200" dirty="0">
                <a:highlight>
                  <a:srgbClr val="FFFF00"/>
                </a:highlight>
              </a:rPr>
              <a:t>* </a:t>
            </a:r>
            <a:r>
              <a:rPr lang="en-US" sz="2200" dirty="0" err="1">
                <a:highlight>
                  <a:srgbClr val="FFFF00"/>
                </a:highlight>
              </a:rPr>
              <a:t>myNum</a:t>
            </a:r>
            <a:r>
              <a:rPr lang="en-US" sz="2200" dirty="0">
                <a:highlight>
                  <a:srgbClr val="FFFF00"/>
                </a:highlight>
              </a:rPr>
              <a:t>;</a:t>
            </a:r>
            <a:endParaRPr/>
          </a:p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2200" dirty="0"/>
              <a:t>	or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200" dirty="0" err="1">
                <a:highlight>
                  <a:srgbClr val="FFFF00"/>
                </a:highlight>
              </a:rPr>
              <a:t>int</a:t>
            </a:r>
            <a:r>
              <a:rPr lang="en-US" sz="2200" dirty="0">
                <a:highlight>
                  <a:srgbClr val="FFFF00"/>
                </a:highlight>
              </a:rPr>
              <a:t> *</a:t>
            </a:r>
            <a:r>
              <a:rPr lang="en-US" sz="2200" dirty="0" err="1">
                <a:highlight>
                  <a:srgbClr val="FFFF00"/>
                </a:highlight>
              </a:rPr>
              <a:t>myNum</a:t>
            </a:r>
            <a:r>
              <a:rPr lang="en-US" sz="2200" dirty="0">
                <a:highlight>
                  <a:srgbClr val="FFFF00"/>
                </a:highlight>
              </a:rPr>
              <a:t>;</a:t>
            </a:r>
            <a:endParaRPr/>
          </a:p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2200" b="1">
              <a:solidFill>
                <a:srgbClr val="FF0000"/>
              </a:solidFill>
            </a:endParaRPr>
          </a:p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2200" b="1" dirty="0">
                <a:solidFill>
                  <a:srgbClr val="FF0000"/>
                </a:solidFill>
              </a:rPr>
              <a:t>Note:</a:t>
            </a:r>
            <a:endParaRPr/>
          </a:p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2200" b="1">
              <a:solidFill>
                <a:srgbClr val="FF0000"/>
              </a:solidFill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200" dirty="0"/>
              <a:t>When used in declaration (</a:t>
            </a:r>
            <a:r>
              <a:rPr lang="en-US" sz="2200" dirty="0" err="1"/>
              <a:t>int</a:t>
            </a:r>
            <a:r>
              <a:rPr lang="en-US" sz="2200" dirty="0"/>
              <a:t>* </a:t>
            </a:r>
            <a:r>
              <a:rPr lang="en-US" sz="2200" dirty="0" err="1"/>
              <a:t>ptr</a:t>
            </a:r>
            <a:r>
              <a:rPr lang="en-US" sz="2200" dirty="0"/>
              <a:t>) it creates a </a:t>
            </a:r>
            <a:r>
              <a:rPr lang="en-US" sz="2200" b="1" dirty="0"/>
              <a:t>pointer variable</a:t>
            </a:r>
            <a:r>
              <a:rPr lang="en-US" sz="2200" dirty="0"/>
              <a:t>.</a:t>
            </a:r>
            <a:endParaRPr/>
          </a:p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2200"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200" dirty="0"/>
              <a:t>When not used in declaration, it acts as a </a:t>
            </a:r>
            <a:r>
              <a:rPr lang="en-US" sz="2200" b="1" dirty="0"/>
              <a:t>dereference operator</a:t>
            </a:r>
            <a:r>
              <a:rPr lang="en-US" sz="2200" dirty="0"/>
              <a:t>.</a:t>
            </a:r>
            <a:endParaRPr sz="2200"/>
          </a:p>
        </p:txBody>
      </p:sp>
      <p:sp>
        <p:nvSpPr>
          <p:cNvPr id="223" name="Google Shape;223;p9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4A68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DD4A68"/>
                </a:solidFill>
                <a:latin typeface="Arial"/>
                <a:ea typeface="Arial"/>
                <a:cs typeface="Arial"/>
                <a:sym typeface="Arial"/>
              </a:rPr>
              <a:t>printf</a:t>
            </a:r>
            <a:r>
              <a:rPr lang="en-US" sz="10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000" b="0" i="0" u="none" strike="noStrike" cap="none">
                <a:solidFill>
                  <a:srgbClr val="669900"/>
                </a:solidFill>
                <a:latin typeface="Arial"/>
                <a:ea typeface="Arial"/>
                <a:cs typeface="Arial"/>
                <a:sym typeface="Arial"/>
              </a:rPr>
              <a:t>"%d\n"</a:t>
            </a:r>
            <a:r>
              <a:rPr lang="en-US" sz="10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n-US" sz="10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00" b="0" i="0" u="none" strike="noStrike" cap="none">
                <a:solidFill>
                  <a:srgbClr val="9A6E3A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lang="en-US" sz="10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en-US" sz="10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r>
              <a:rPr lang="en-US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002060"/>
                </a:solidFill>
              </a:rPr>
              <a:t>Variables, addresses</a:t>
            </a:r>
            <a:endParaRPr b="1" dirty="0">
              <a:solidFill>
                <a:srgbClr val="002060"/>
              </a:solidFill>
            </a:endParaRPr>
          </a:p>
        </p:txBody>
      </p:sp>
      <p:graphicFrame>
        <p:nvGraphicFramePr>
          <p:cNvPr id="229" name="Google Shape;229;p12"/>
          <p:cNvGraphicFramePr/>
          <p:nvPr/>
        </p:nvGraphicFramePr>
        <p:xfrm>
          <a:off x="3563332" y="1645331"/>
          <a:ext cx="5203600" cy="4557575"/>
        </p:xfrm>
        <a:graphic>
          <a:graphicData uri="http://schemas.openxmlformats.org/drawingml/2006/table">
            <a:tbl>
              <a:tblPr>
                <a:noFill/>
                <a:tableStyleId>{567DA829-2066-4AC0-815F-B39406FB8673}</a:tableStyleId>
              </a:tblPr>
              <a:tblGrid>
                <a:gridCol w="15486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679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9756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1310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b="1" u="none" strike="noStrike" cap="none"/>
                        <a:t>Memory</a:t>
                      </a:r>
                      <a:endParaRPr sz="2000" b="1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b="1" u="none" strike="noStrike" cap="none"/>
                        <a:t>Address</a:t>
                      </a:r>
                      <a:endParaRPr sz="2000" b="1" u="none" strike="noStrike" cap="none"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b="1" u="none" strike="noStrike" cap="none"/>
                        <a:t>Value</a:t>
                      </a:r>
                      <a:endParaRPr sz="2000" b="1" u="none" strike="noStrike" cap="none"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b="1" u="none" strike="noStrike" cap="none"/>
                        <a:t>Variable at this address</a:t>
                      </a:r>
                      <a:endParaRPr sz="2000" b="1" u="none" strike="noStrike" cap="none"/>
                    </a:p>
                  </a:txBody>
                  <a:tcPr marL="68575" marR="68575" marT="34300" marB="34300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85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/>
                        <a:t>0x1000</a:t>
                      </a:r>
                      <a:endParaRPr sz="1800" b="1" u="none" strike="noStrike" cap="none"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b="1" u="none" strike="noStrike" cap="none"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b="1" u="none" strike="noStrike" cap="none"/>
                    </a:p>
                  </a:txBody>
                  <a:tcPr marL="68575" marR="68575" marT="34300" marB="34300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85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/>
                        <a:t>0x1004</a:t>
                      </a:r>
                      <a:endParaRPr sz="1800" b="1" u="none" strike="noStrike" cap="none"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/>
                        <a:t>11</a:t>
                      </a:r>
                      <a:endParaRPr sz="1800" b="1" u="none" strike="noStrike" cap="none"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/>
                        <a:t>a       </a:t>
                      </a:r>
                      <a:endParaRPr sz="1800" b="1" u="none" strike="noStrike" cap="none"/>
                    </a:p>
                  </a:txBody>
                  <a:tcPr marL="68575" marR="68575" marT="34300" marB="34300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85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/>
                        <a:t>0x1008</a:t>
                      </a:r>
                      <a:endParaRPr sz="1800" b="1" u="none" strike="noStrike" cap="none"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/>
                        <a:t>20</a:t>
                      </a:r>
                      <a:endParaRPr sz="1800" b="1" u="none" strike="noStrike" cap="none"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/>
                        <a:t>b</a:t>
                      </a:r>
                      <a:endParaRPr sz="1800" b="1" u="none" strike="noStrike" cap="none"/>
                    </a:p>
                  </a:txBody>
                  <a:tcPr marL="68575" marR="68575" marT="34300" marB="34300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85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/>
                        <a:t>0x100C</a:t>
                      </a:r>
                      <a:endParaRPr sz="1800" b="1" u="none" strike="noStrike" cap="none"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/>
                        <a:t>    </a:t>
                      </a:r>
                      <a:endParaRPr sz="1800" b="1" u="none" strike="noStrike" cap="none"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b="1" u="none" strike="noStrike" cap="none"/>
                    </a:p>
                  </a:txBody>
                  <a:tcPr marL="68575" marR="68575" marT="34300" marB="34300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85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/>
                        <a:t>0x1010</a:t>
                      </a:r>
                      <a:endParaRPr sz="1800" b="1" u="none" strike="noStrike" cap="none"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b="1" u="none" strike="noStrike" cap="none"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b="1" u="none" strike="noStrike" cap="none"/>
                    </a:p>
                  </a:txBody>
                  <a:tcPr marL="68575" marR="68575" marT="34300" marB="34300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85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/>
                        <a:t>0x1014</a:t>
                      </a:r>
                      <a:endParaRPr sz="1800" b="1" u="none" strike="noStrike" cap="none"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/>
                        <a:t>0x1004</a:t>
                      </a:r>
                      <a:endParaRPr sz="1800" b="1" u="none" strike="noStrike" cap="none"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/>
                        <a:t>p1</a:t>
                      </a:r>
                      <a:endParaRPr sz="1800" b="1" u="none" strike="noStrike" cap="none"/>
                    </a:p>
                  </a:txBody>
                  <a:tcPr marL="68575" marR="68575" marT="34300" marB="34300"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385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/>
                        <a:t>0x1018</a:t>
                      </a:r>
                      <a:endParaRPr sz="1800" b="1" u="none" strike="noStrike" cap="none"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/>
                        <a:t>0x1008</a:t>
                      </a:r>
                      <a:endParaRPr sz="1800" b="1" u="none" strike="noStrike" cap="none"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/>
                        <a:t>p2</a:t>
                      </a:r>
                      <a:endParaRPr sz="1800" b="1" u="none" strike="noStrike" cap="none"/>
                    </a:p>
                  </a:txBody>
                  <a:tcPr marL="68575" marR="68575" marT="34300" marB="34300"/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549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/>
                        <a:t>0x101C</a:t>
                      </a:r>
                      <a:endParaRPr sz="1800" b="1" u="none" strike="noStrike" cap="none"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b="1" u="none" strike="noStrike" cap="none"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b="1" u="none" strike="noStrike" cap="none"/>
                    </a:p>
                  </a:txBody>
                  <a:tcPr marL="68575" marR="68575" marT="34300" marB="34300"/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30" name="Google Shape;230;p12"/>
          <p:cNvSpPr txBox="1"/>
          <p:nvPr/>
        </p:nvSpPr>
        <p:spPr>
          <a:xfrm>
            <a:off x="628650" y="1815013"/>
            <a:ext cx="2934682" cy="3816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 a, b;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 *p1, *p2;</a:t>
            </a:r>
            <a:endParaRPr sz="2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= 11;</a:t>
            </a:r>
            <a:endParaRPr sz="2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 = 20;</a:t>
            </a:r>
            <a:endParaRPr sz="2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p1 = &amp;a;</a:t>
            </a:r>
            <a:endParaRPr sz="2200" b="1" i="0" u="none" strike="noStrike" cap="non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p2 = &amp;b;</a:t>
            </a:r>
            <a:endParaRPr sz="2200" b="1" i="0" u="none" strike="noStrike" cap="non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3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 b="1" dirty="0">
                <a:solidFill>
                  <a:srgbClr val="002060"/>
                </a:solidFill>
              </a:rPr>
              <a:t>Declaring a string constant using pointers</a:t>
            </a:r>
            <a:endParaRPr b="1" dirty="0">
              <a:solidFill>
                <a:srgbClr val="002060"/>
              </a:solidFill>
            </a:endParaRPr>
          </a:p>
        </p:txBody>
      </p:sp>
      <p:sp>
        <p:nvSpPr>
          <p:cNvPr id="236" name="Google Shape;236;p13"/>
          <p:cNvSpPr txBox="1">
            <a:spLocks noGrp="1"/>
          </p:cNvSpPr>
          <p:nvPr>
            <p:ph type="body" idx="1"/>
          </p:nvPr>
        </p:nvSpPr>
        <p:spPr>
          <a:xfrm>
            <a:off x="628650" y="1690689"/>
            <a:ext cx="8185500" cy="503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-US" sz="2400" b="1">
                <a:highlight>
                  <a:srgbClr val="FFFF00"/>
                </a:highlight>
              </a:rPr>
              <a:t>    char *s1 = “HELLO”;</a:t>
            </a:r>
            <a:endParaRPr sz="2400" b="1">
              <a:highlight>
                <a:srgbClr val="FFFF00"/>
              </a:highlight>
            </a:endParaRP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-US"/>
              <a:t>    </a:t>
            </a:r>
            <a:endParaRPr/>
          </a:p>
          <a:p>
            <a:pPr marL="342900" lvl="0" indent="-342900" algn="just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100"/>
              <a:buChar char="•"/>
            </a:pPr>
            <a:r>
              <a:rPr lang="en-US"/>
              <a:t> </a:t>
            </a:r>
            <a:r>
              <a:rPr lang="en-US" sz="2200"/>
              <a:t>‘s1’ is a pointer variable that points to a character.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100"/>
              <a:buNone/>
            </a:pPr>
            <a:endParaRPr sz="2200"/>
          </a:p>
          <a:p>
            <a:pPr marL="342900" lvl="0" indent="-342900" algn="just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100"/>
              <a:buChar char="•"/>
            </a:pPr>
            <a:r>
              <a:rPr lang="en-US" sz="2200"/>
              <a:t>The compiler will allocate space for the string “HELLO”, and copy the starting address of this space into the variable ‘s1’.      </a:t>
            </a:r>
            <a:endParaRPr/>
          </a:p>
          <a:p>
            <a:pPr marL="342900" lvl="0" indent="-209550" algn="just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100"/>
              <a:buNone/>
            </a:pPr>
            <a:endParaRPr sz="2200"/>
          </a:p>
          <a:p>
            <a:pPr marL="342900" lvl="0" indent="-209550" algn="just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100"/>
              <a:buNone/>
            </a:pPr>
            <a:endParaRPr sz="2200"/>
          </a:p>
        </p:txBody>
      </p:sp>
      <p:graphicFrame>
        <p:nvGraphicFramePr>
          <p:cNvPr id="237" name="Google Shape;237;p13"/>
          <p:cNvGraphicFramePr/>
          <p:nvPr/>
        </p:nvGraphicFramePr>
        <p:xfrm>
          <a:off x="920881" y="4441049"/>
          <a:ext cx="6648800" cy="709850"/>
        </p:xfrm>
        <a:graphic>
          <a:graphicData uri="http://schemas.openxmlformats.org/drawingml/2006/table">
            <a:tbl>
              <a:tblPr>
                <a:noFill/>
                <a:tableStyleId>{567DA829-2066-4AC0-815F-B39406FB8673}</a:tableStyleId>
              </a:tblPr>
              <a:tblGrid>
                <a:gridCol w="106535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3432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949825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949825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949825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949825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949825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</a:tblGrid>
              <a:tr h="354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/>
                        <a:t>Address</a:t>
                      </a:r>
                      <a:endParaRPr sz="1500" b="1" u="none" strike="noStrike" cap="none"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/>
                        <a:t>0x100</a:t>
                      </a:r>
                      <a:endParaRPr sz="1500" b="1" u="none" strike="noStrike" cap="none"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/>
                        <a:t>0x101</a:t>
                      </a:r>
                      <a:endParaRPr sz="1500" b="1" u="none" strike="noStrike" cap="none"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/>
                        <a:t>0x102</a:t>
                      </a:r>
                      <a:endParaRPr sz="1500" b="1" u="none" strike="noStrike" cap="none"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/>
                        <a:t>0x103</a:t>
                      </a:r>
                      <a:endParaRPr sz="1500" b="1" u="none" strike="noStrike" cap="none"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/>
                        <a:t>0x104</a:t>
                      </a:r>
                      <a:endParaRPr sz="1500" b="1" u="none" strike="noStrike" cap="none"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/>
                        <a:t>0x105</a:t>
                      </a:r>
                      <a:endParaRPr sz="1500" b="1" u="none" strike="noStrike" cap="none"/>
                    </a:p>
                  </a:txBody>
                  <a:tcPr marL="68575" marR="68575" marT="34300" marB="34300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54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/>
                        <a:t>Contents</a:t>
                      </a:r>
                      <a:endParaRPr sz="1500" b="1" u="none" strike="noStrike" cap="none"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/>
                        <a:t>‘H’</a:t>
                      </a:r>
                      <a:endParaRPr sz="1500" b="1" u="none" strike="noStrike" cap="none"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/>
                        <a:t>‘E’</a:t>
                      </a:r>
                      <a:endParaRPr sz="1500" b="1" u="none" strike="noStrike" cap="none"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/>
                        <a:t>‘L’</a:t>
                      </a:r>
                      <a:endParaRPr sz="1500" b="1" u="none" strike="noStrike" cap="none"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/>
                        <a:t>‘L’</a:t>
                      </a:r>
                      <a:endParaRPr sz="1500" b="1" u="none" strike="noStrike" cap="none"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/>
                        <a:t>‘O’</a:t>
                      </a:r>
                      <a:endParaRPr sz="1500" b="1" u="none" strike="noStrike" cap="none"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/>
                        <a:t>‘\0’</a:t>
                      </a:r>
                      <a:endParaRPr sz="1500" b="1" u="none" strike="noStrike" cap="none"/>
                    </a:p>
                  </a:txBody>
                  <a:tcPr marL="68575" marR="68575" marT="34300" marB="34300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38" name="Google Shape;238;p13"/>
          <p:cNvGraphicFramePr/>
          <p:nvPr/>
        </p:nvGraphicFramePr>
        <p:xfrm>
          <a:off x="1420502" y="5601274"/>
          <a:ext cx="3406025" cy="891600"/>
        </p:xfrm>
        <a:graphic>
          <a:graphicData uri="http://schemas.openxmlformats.org/drawingml/2006/table">
            <a:tbl>
              <a:tblPr>
                <a:noFill/>
                <a:tableStyleId>{567DA829-2066-4AC0-815F-B39406FB8673}</a:tableStyleId>
              </a:tblPr>
              <a:tblGrid>
                <a:gridCol w="15978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80822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/>
                        <a:t>Variable</a:t>
                      </a:r>
                      <a:endParaRPr sz="1500" b="1" u="none" strike="noStrike" cap="none"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/>
                        <a:t>s1</a:t>
                      </a:r>
                      <a:endParaRPr sz="1500" b="1" u="none" strike="noStrike" cap="none"/>
                    </a:p>
                  </a:txBody>
                  <a:tcPr marL="68575" marR="68575" marT="34300" marB="34300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/>
                        <a:t>Address</a:t>
                      </a:r>
                      <a:endParaRPr sz="1500" b="1" u="none" strike="noStrike" cap="none"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/>
                        <a:t>0x120</a:t>
                      </a:r>
                      <a:endParaRPr sz="1500" b="1" u="none" strike="noStrike" cap="none"/>
                    </a:p>
                  </a:txBody>
                  <a:tcPr marL="68575" marR="68575" marT="34300" marB="34300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/>
                        <a:t>Contents</a:t>
                      </a:r>
                      <a:endParaRPr sz="1500" b="1" u="none" strike="noStrike" cap="none"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/>
                        <a:t>0x100</a:t>
                      </a:r>
                      <a:endParaRPr sz="1500" b="1" u="none" strike="noStrike" cap="none"/>
                    </a:p>
                  </a:txBody>
                  <a:tcPr marL="68575" marR="68575" marT="34300" marB="34300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pic>
        <p:nvPicPr>
          <p:cNvPr id="244" name="Google Shape;244;p1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93580" y="-14068"/>
            <a:ext cx="8064896" cy="398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5"/>
          <p:cNvSpPr txBox="1">
            <a:spLocks noGrp="1"/>
          </p:cNvSpPr>
          <p:nvPr>
            <p:ph type="title"/>
          </p:nvPr>
        </p:nvSpPr>
        <p:spPr>
          <a:xfrm>
            <a:off x="467544" y="22515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dirty="0">
                <a:solidFill>
                  <a:srgbClr val="002060"/>
                </a:solidFill>
              </a:rPr>
              <a:t>Pointers and Arrays</a:t>
            </a:r>
            <a:br>
              <a:rPr lang="en-US" dirty="0">
                <a:solidFill>
                  <a:srgbClr val="002060"/>
                </a:solidFill>
              </a:rPr>
            </a:b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250" name="Google Shape;250;p15"/>
          <p:cNvSpPr txBox="1">
            <a:spLocks noGrp="1"/>
          </p:cNvSpPr>
          <p:nvPr>
            <p:ph type="body" idx="1"/>
          </p:nvPr>
        </p:nvSpPr>
        <p:spPr>
          <a:xfrm>
            <a:off x="457200" y="535850"/>
            <a:ext cx="8371200" cy="6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endParaRPr lang="en-US" sz="2400" b="1" dirty="0" smtClean="0"/>
          </a:p>
          <a:p>
            <a:pPr marL="3429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 b="1" dirty="0" smtClean="0"/>
              <a:t>Pointers </a:t>
            </a:r>
            <a:r>
              <a:rPr lang="en-US" sz="2400" b="1" dirty="0"/>
              <a:t>are also used to access arrays.</a:t>
            </a:r>
            <a:endParaRPr lang="en-US" sz="2400" dirty="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2200" b="1" dirty="0"/>
              <a:t>Ex</a:t>
            </a:r>
            <a:r>
              <a:rPr lang="en-US" sz="2200" dirty="0" smtClean="0"/>
              <a:t>: </a:t>
            </a:r>
            <a:r>
              <a:rPr lang="en-US" sz="2200" dirty="0" err="1">
                <a:solidFill>
                  <a:schemeClr val="dk1"/>
                </a:solidFill>
                <a:highlight>
                  <a:srgbClr val="FFFF00"/>
                </a:highlight>
              </a:rPr>
              <a:t>int</a:t>
            </a:r>
            <a:r>
              <a:rPr lang="en-US" sz="2200" dirty="0">
                <a:solidFill>
                  <a:schemeClr val="dk1"/>
                </a:solidFill>
                <a:highlight>
                  <a:srgbClr val="FFFF00"/>
                </a:highlight>
              </a:rPr>
              <a:t> </a:t>
            </a:r>
            <a:r>
              <a:rPr lang="en-US" sz="2200" dirty="0" err="1">
                <a:solidFill>
                  <a:schemeClr val="dk1"/>
                </a:solidFill>
                <a:highlight>
                  <a:srgbClr val="FFFF00"/>
                </a:highlight>
              </a:rPr>
              <a:t>myNumbers</a:t>
            </a:r>
            <a:r>
              <a:rPr lang="en-US" sz="2200" dirty="0">
                <a:solidFill>
                  <a:schemeClr val="dk1"/>
                </a:solidFill>
                <a:highlight>
                  <a:srgbClr val="FFFF00"/>
                </a:highlight>
              </a:rPr>
              <a:t>[4] = {25, 50, 75, 100} </a:t>
            </a:r>
            <a:r>
              <a:rPr lang="en-US" sz="2200" dirty="0" smtClean="0">
                <a:solidFill>
                  <a:schemeClr val="dk1"/>
                </a:solidFill>
                <a:highlight>
                  <a:srgbClr val="FFFF00"/>
                </a:highlight>
              </a:rPr>
              <a:t>;</a:t>
            </a:r>
            <a:endParaRPr lang="en-US" sz="2200" dirty="0">
              <a:highlight>
                <a:srgbClr val="FFFF00"/>
              </a:highlight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 b="0" i="0" dirty="0">
                <a:solidFill>
                  <a:srgbClr val="273239"/>
                </a:solidFill>
                <a:latin typeface="Calibri"/>
                <a:ea typeface="Calibri"/>
                <a:cs typeface="Calibri"/>
                <a:sym typeface="Calibri"/>
              </a:rPr>
              <a:t>An array name acts like a pointer constant. </a:t>
            </a:r>
            <a:endParaRPr lang="en-US" sz="2200" dirty="0"/>
          </a:p>
          <a:p>
            <a:pPr marL="457200" lvl="0" indent="-3683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 b="0" i="0" dirty="0">
                <a:solidFill>
                  <a:srgbClr val="273239"/>
                </a:solidFill>
                <a:latin typeface="Calibri"/>
                <a:ea typeface="Calibri"/>
                <a:cs typeface="Calibri"/>
                <a:sym typeface="Calibri"/>
              </a:rPr>
              <a:t>The value of this pointer constant is the address of the first element</a:t>
            </a:r>
            <a:r>
              <a:rPr lang="en-US" sz="2200" dirty="0">
                <a:solidFill>
                  <a:srgbClr val="273239"/>
                </a:solidFill>
              </a:rPr>
              <a:t> of the array</a:t>
            </a:r>
            <a:r>
              <a:rPr lang="en-US" sz="2200" dirty="0" smtClean="0">
                <a:solidFill>
                  <a:srgbClr val="273239"/>
                </a:solidFill>
              </a:rPr>
              <a:t>.</a:t>
            </a:r>
          </a:p>
          <a:p>
            <a:pPr marL="457200" lvl="0" indent="-3683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IN" sz="2200" b="1" dirty="0" smtClean="0">
                <a:solidFill>
                  <a:srgbClr val="273239"/>
                </a:solidFill>
              </a:rPr>
              <a:t>	</a:t>
            </a:r>
            <a:r>
              <a:rPr lang="en-IN" sz="2200" b="1" dirty="0" err="1" smtClean="0">
                <a:solidFill>
                  <a:srgbClr val="273239"/>
                </a:solidFill>
              </a:rPr>
              <a:t>Eg</a:t>
            </a:r>
            <a:r>
              <a:rPr lang="en-IN" sz="2200" b="1" dirty="0" smtClean="0">
                <a:solidFill>
                  <a:srgbClr val="273239"/>
                </a:solidFill>
              </a:rPr>
              <a:t> : - </a:t>
            </a:r>
            <a:r>
              <a:rPr lang="en-IN" sz="2200" b="1" dirty="0" err="1" smtClean="0">
                <a:solidFill>
                  <a:srgbClr val="273239"/>
                </a:solidFill>
              </a:rPr>
              <a:t>myNumbers</a:t>
            </a:r>
            <a:r>
              <a:rPr lang="en-IN" sz="2200" b="1" dirty="0" smtClean="0">
                <a:solidFill>
                  <a:srgbClr val="273239"/>
                </a:solidFill>
              </a:rPr>
              <a:t>==&amp;</a:t>
            </a:r>
            <a:r>
              <a:rPr lang="en-IN" sz="2200" b="1" dirty="0" err="1" smtClean="0">
                <a:solidFill>
                  <a:srgbClr val="273239"/>
                </a:solidFill>
              </a:rPr>
              <a:t>myNumbers</a:t>
            </a:r>
            <a:r>
              <a:rPr lang="en-IN" sz="2200" b="1" dirty="0" smtClean="0">
                <a:solidFill>
                  <a:srgbClr val="273239"/>
                </a:solidFill>
              </a:rPr>
              <a:t>[0]</a:t>
            </a:r>
          </a:p>
          <a:p>
            <a:pPr marL="457200" lvl="0" indent="-3683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lang="en-US" sz="2200" b="1" dirty="0"/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2200"/>
              <a:buChar char="•"/>
            </a:pPr>
            <a:r>
              <a:rPr lang="en-US" sz="2200" dirty="0">
                <a:solidFill>
                  <a:srgbClr val="273239"/>
                </a:solidFill>
              </a:rPr>
              <a:t>Assign this address to a non-constant pointer of the same type, and then use that pointer to access the elements of the array</a:t>
            </a:r>
            <a:r>
              <a:rPr lang="en-US" sz="2200" dirty="0" smtClean="0">
                <a:solidFill>
                  <a:srgbClr val="273239"/>
                </a:solidFill>
              </a:rPr>
              <a:t>.</a:t>
            </a:r>
          </a:p>
          <a:p>
            <a:pPr>
              <a:buNone/>
            </a:pPr>
            <a:r>
              <a:rPr lang="en-US" sz="2400" dirty="0" smtClean="0"/>
              <a:t>	</a:t>
            </a:r>
            <a:r>
              <a:rPr lang="en-US" sz="2200" b="1" dirty="0" err="1" smtClean="0"/>
              <a:t>Eg</a:t>
            </a:r>
            <a:r>
              <a:rPr lang="en-US" sz="2200" b="1" dirty="0" smtClean="0"/>
              <a:t> : - </a:t>
            </a:r>
            <a:r>
              <a:rPr lang="en-US" sz="2200" b="1" dirty="0" err="1" smtClean="0"/>
              <a:t>int</a:t>
            </a:r>
            <a:r>
              <a:rPr lang="en-US" sz="2200" b="1" dirty="0" smtClean="0"/>
              <a:t> *</a:t>
            </a:r>
            <a:r>
              <a:rPr lang="en-US" sz="2200" b="1" dirty="0" err="1" smtClean="0"/>
              <a:t>ptr</a:t>
            </a:r>
            <a:r>
              <a:rPr lang="en-US" sz="2200" b="1" dirty="0" smtClean="0"/>
              <a:t> = </a:t>
            </a:r>
            <a:r>
              <a:rPr lang="en-US" sz="2200" b="1" dirty="0" err="1" smtClean="0"/>
              <a:t>myNumbers</a:t>
            </a:r>
            <a:r>
              <a:rPr lang="en-US" sz="2200" b="1" dirty="0" smtClean="0"/>
              <a:t>;</a:t>
            </a:r>
          </a:p>
          <a:p>
            <a:pPr>
              <a:buNone/>
            </a:pPr>
            <a:r>
              <a:rPr lang="en-US" sz="2200" b="1" dirty="0" smtClean="0"/>
              <a:t>	</a:t>
            </a:r>
            <a:r>
              <a:rPr lang="en-US" sz="2200" b="1" dirty="0" err="1" smtClean="0"/>
              <a:t>myNumbers</a:t>
            </a:r>
            <a:r>
              <a:rPr lang="en-US" sz="2200" b="1" dirty="0" smtClean="0"/>
              <a:t> → gives address of first element </a:t>
            </a:r>
          </a:p>
          <a:p>
            <a:pPr>
              <a:buNone/>
            </a:pPr>
            <a:r>
              <a:rPr lang="en-US" sz="2200" b="1" dirty="0" smtClean="0"/>
              <a:t>	</a:t>
            </a:r>
            <a:r>
              <a:rPr lang="en-US" sz="2200" b="1" dirty="0" err="1" smtClean="0"/>
              <a:t>ptr</a:t>
            </a:r>
            <a:r>
              <a:rPr lang="en-US" sz="2200" b="1" dirty="0" smtClean="0"/>
              <a:t> now points to </a:t>
            </a:r>
            <a:r>
              <a:rPr lang="en-US" sz="2200" b="1" dirty="0" err="1" smtClean="0"/>
              <a:t>myNumbers</a:t>
            </a:r>
            <a:r>
              <a:rPr lang="en-US" sz="2200" b="1" dirty="0" smtClean="0"/>
              <a:t>[0]</a:t>
            </a:r>
          </a:p>
          <a:p>
            <a:pPr>
              <a:buNone/>
            </a:pPr>
            <a:endParaRPr lang="en-US" sz="2200" dirty="0" smtClean="0"/>
          </a:p>
          <a:p>
            <a:r>
              <a:rPr lang="en-IN" sz="2200" b="1" dirty="0" err="1" smtClean="0">
                <a:solidFill>
                  <a:srgbClr val="273239"/>
                </a:solidFill>
              </a:rPr>
              <a:t>Eg</a:t>
            </a:r>
            <a:r>
              <a:rPr lang="en-IN" sz="2200" b="1" dirty="0" smtClean="0">
                <a:solidFill>
                  <a:srgbClr val="273239"/>
                </a:solidFill>
              </a:rPr>
              <a:t> : -  </a:t>
            </a:r>
            <a:r>
              <a:rPr lang="en-US" sz="2200" b="1" dirty="0" err="1" smtClean="0"/>
              <a:t>ptr</a:t>
            </a:r>
            <a:r>
              <a:rPr lang="en-US" sz="2200" b="1" dirty="0" smtClean="0"/>
              <a:t> == </a:t>
            </a:r>
            <a:r>
              <a:rPr lang="en-US" sz="2200" b="1" dirty="0" err="1" smtClean="0"/>
              <a:t>myNumbers</a:t>
            </a:r>
            <a:r>
              <a:rPr lang="en-US" sz="2200" b="1" dirty="0" smtClean="0"/>
              <a:t> == &amp;</a:t>
            </a:r>
            <a:r>
              <a:rPr lang="en-US" sz="2200" b="1" dirty="0" err="1" smtClean="0"/>
              <a:t>myNumbers</a:t>
            </a:r>
            <a:r>
              <a:rPr lang="en-US" sz="2200" b="1" dirty="0" smtClean="0"/>
              <a:t>[0]</a:t>
            </a:r>
            <a:endParaRPr lang="en-US" sz="2200" b="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0842" y="633046"/>
            <a:ext cx="8342143" cy="5570806"/>
          </a:xfrm>
        </p:spPr>
        <p:txBody>
          <a:bodyPr/>
          <a:lstStyle/>
          <a:p>
            <a:pPr lvl="0">
              <a:buNone/>
            </a:pPr>
            <a:r>
              <a:rPr lang="en-US" sz="2200" dirty="0" smtClean="0"/>
              <a:t>To </a:t>
            </a:r>
            <a:r>
              <a:rPr lang="en-US" sz="2200" b="1" dirty="0" smtClean="0"/>
              <a:t>print the elements </a:t>
            </a:r>
            <a:r>
              <a:rPr lang="en-US" sz="2200" dirty="0" smtClean="0"/>
              <a:t>of an array </a:t>
            </a:r>
            <a:endParaRPr lang="en-US" dirty="0" smtClean="0"/>
          </a:p>
          <a:p>
            <a:pPr>
              <a:buNone/>
            </a:pPr>
            <a:endParaRPr lang="en-US" dirty="0"/>
          </a:p>
        </p:txBody>
      </p:sp>
      <p:pic>
        <p:nvPicPr>
          <p:cNvPr id="4" name="Google Shape;251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9509" y="1434905"/>
            <a:ext cx="8100255" cy="44031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6"/>
          <p:cNvSpPr txBox="1">
            <a:spLocks noGrp="1"/>
          </p:cNvSpPr>
          <p:nvPr>
            <p:ph type="body" idx="1"/>
          </p:nvPr>
        </p:nvSpPr>
        <p:spPr>
          <a:xfrm>
            <a:off x="400150" y="473790"/>
            <a:ext cx="8611500" cy="65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 dirty="0"/>
              <a:t>To </a:t>
            </a:r>
            <a:r>
              <a:rPr lang="en-US" sz="2200" b="1" dirty="0"/>
              <a:t>print the memory address </a:t>
            </a:r>
            <a:r>
              <a:rPr lang="en-US" sz="2200" dirty="0"/>
              <a:t>of each array element use </a:t>
            </a:r>
            <a:r>
              <a:rPr lang="en-US" sz="2200" b="1" dirty="0"/>
              <a:t>address operator(&amp;) </a:t>
            </a:r>
            <a:r>
              <a:rPr lang="en-US" sz="2200" dirty="0"/>
              <a:t>for an </a:t>
            </a:r>
            <a:r>
              <a:rPr lang="en-US" sz="2200" dirty="0" smtClean="0"/>
              <a:t>array :</a:t>
            </a:r>
            <a:endParaRPr/>
          </a:p>
          <a:p>
            <a:pPr marL="34290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sz="2200"/>
          </a:p>
          <a:p>
            <a:pPr marL="34290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sz="2200"/>
          </a:p>
          <a:p>
            <a:pPr marL="342900" lvl="0" indent="-185420" algn="l" rtl="0">
              <a:lnSpc>
                <a:spcPct val="10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sz="2200"/>
          </a:p>
          <a:p>
            <a:pPr marL="342900" lvl="0" indent="-185420" algn="l" rtl="0">
              <a:lnSpc>
                <a:spcPct val="10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sz="2200"/>
          </a:p>
          <a:p>
            <a:pPr marL="342900" lvl="0" indent="-185420" algn="l" rtl="0">
              <a:lnSpc>
                <a:spcPct val="10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sz="2200"/>
          </a:p>
          <a:p>
            <a:pPr marL="342900" lvl="0" indent="-185420" algn="l" rtl="0">
              <a:lnSpc>
                <a:spcPct val="10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sz="2200"/>
          </a:p>
          <a:p>
            <a:pPr marL="342900" lvl="0" indent="-185420" algn="l" rtl="0">
              <a:lnSpc>
                <a:spcPct val="10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sz="2200"/>
          </a:p>
          <a:p>
            <a:pPr marL="342900" lvl="0" indent="-185420" algn="l" rtl="0">
              <a:lnSpc>
                <a:spcPct val="10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sz="2200"/>
          </a:p>
          <a:p>
            <a:pPr marL="342900" lvl="0" indent="-185420" algn="l" rtl="0">
              <a:lnSpc>
                <a:spcPct val="10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sz="2200"/>
          </a:p>
          <a:p>
            <a:pPr marL="342900" lvl="0" indent="-185420" algn="l" rtl="0">
              <a:lnSpc>
                <a:spcPct val="10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sz="2200"/>
          </a:p>
          <a:p>
            <a:pPr marL="342900" lvl="0" indent="-185420" algn="l" rtl="0">
              <a:lnSpc>
                <a:spcPct val="10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sz="2200"/>
          </a:p>
          <a:p>
            <a:pPr marL="0" lvl="0" indent="0" algn="just" rtl="0">
              <a:lnSpc>
                <a:spcPct val="10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 b="1" dirty="0"/>
              <a:t>Note:</a:t>
            </a:r>
            <a:r>
              <a:rPr lang="en-US" sz="2200" dirty="0"/>
              <a:t> </a:t>
            </a:r>
            <a:r>
              <a:rPr lang="en-US" sz="2200" dirty="0">
                <a:solidFill>
                  <a:srgbClr val="FF0000"/>
                </a:solidFill>
              </a:rPr>
              <a:t>The last number of each of the elements' memory address is different, with an addition of 4. It is because the size of an </a:t>
            </a:r>
            <a:r>
              <a:rPr lang="en-US" sz="2200" dirty="0" err="1">
                <a:solidFill>
                  <a:srgbClr val="FF0000"/>
                </a:solidFill>
              </a:rPr>
              <a:t>int</a:t>
            </a:r>
            <a:r>
              <a:rPr lang="en-US" sz="2200" dirty="0">
                <a:solidFill>
                  <a:srgbClr val="FF0000"/>
                </a:solidFill>
              </a:rPr>
              <a:t> type is typically 4 bytes.</a:t>
            </a:r>
            <a:endParaRPr sz="2200">
              <a:solidFill>
                <a:srgbClr val="FF0000"/>
              </a:solidFill>
            </a:endParaRPr>
          </a:p>
          <a:p>
            <a:pPr marL="342900" lvl="0" indent="-185420" algn="l" rtl="0">
              <a:lnSpc>
                <a:spcPct val="10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sz="2200"/>
          </a:p>
        </p:txBody>
      </p:sp>
      <p:pic>
        <p:nvPicPr>
          <p:cNvPr id="257" name="Google Shape;257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9250" y="1489424"/>
            <a:ext cx="5863475" cy="346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7"/>
          <p:cNvSpPr txBox="1">
            <a:spLocks noGrp="1"/>
          </p:cNvSpPr>
          <p:nvPr>
            <p:ph type="title"/>
          </p:nvPr>
        </p:nvSpPr>
        <p:spPr>
          <a:xfrm>
            <a:off x="142600" y="4683800"/>
            <a:ext cx="8728500" cy="17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200" b="1">
                <a:solidFill>
                  <a:srgbClr val="FF0000"/>
                </a:solidFill>
              </a:rPr>
              <a:t>Note:</a:t>
            </a:r>
            <a:r>
              <a:rPr lang="en-US" sz="2200">
                <a:solidFill>
                  <a:srgbClr val="FF0000"/>
                </a:solidFill>
              </a:rPr>
              <a:t/>
            </a:r>
            <a:br>
              <a:rPr lang="en-US" sz="2200">
                <a:solidFill>
                  <a:srgbClr val="FF0000"/>
                </a:solidFill>
              </a:rPr>
            </a:br>
            <a:r>
              <a:rPr lang="en-US" sz="2200">
                <a:solidFill>
                  <a:schemeClr val="dk1"/>
                </a:solidFill>
              </a:rPr>
              <a:t>The compiler reserves </a:t>
            </a:r>
            <a:r>
              <a:rPr lang="en-US" sz="2200" b="1">
                <a:solidFill>
                  <a:schemeClr val="dk1"/>
                </a:solidFill>
              </a:rPr>
              <a:t>4 bytes </a:t>
            </a:r>
            <a:r>
              <a:rPr lang="en-US" sz="2200">
                <a:solidFill>
                  <a:schemeClr val="dk1"/>
                </a:solidFill>
              </a:rPr>
              <a:t>of memory </a:t>
            </a:r>
            <a:r>
              <a:rPr lang="en-US" sz="2200" b="1">
                <a:solidFill>
                  <a:schemeClr val="dk1"/>
                </a:solidFill>
              </a:rPr>
              <a:t>for each array element</a:t>
            </a:r>
            <a:r>
              <a:rPr lang="en-US" sz="2200">
                <a:solidFill>
                  <a:schemeClr val="dk1"/>
                </a:solidFill>
              </a:rPr>
              <a:t>,</a:t>
            </a:r>
            <a:r>
              <a:rPr lang="en-US" sz="2200"/>
              <a:t> </a:t>
            </a:r>
            <a:r>
              <a:rPr lang="en-US" sz="2200">
                <a:solidFill>
                  <a:schemeClr val="dk1"/>
                </a:solidFill>
              </a:rPr>
              <a:t>which means that the entire array takes up </a:t>
            </a:r>
            <a:r>
              <a:rPr lang="en-US" sz="2200" b="1">
                <a:solidFill>
                  <a:schemeClr val="dk1"/>
                </a:solidFill>
              </a:rPr>
              <a:t>16 bytes (4*4) of memory storage.</a:t>
            </a:r>
            <a:endParaRPr sz="2200">
              <a:solidFill>
                <a:schemeClr val="dk1"/>
              </a:solidFill>
            </a:endParaRPr>
          </a:p>
        </p:txBody>
      </p:sp>
      <p:pic>
        <p:nvPicPr>
          <p:cNvPr id="263" name="Google Shape;263;p17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07504" y="188639"/>
            <a:ext cx="4044020" cy="39780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7984" y="260648"/>
            <a:ext cx="4597072" cy="3905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8"/>
          <p:cNvSpPr txBox="1">
            <a:spLocks noGrp="1"/>
          </p:cNvSpPr>
          <p:nvPr>
            <p:ph type="title"/>
          </p:nvPr>
        </p:nvSpPr>
        <p:spPr>
          <a:xfrm>
            <a:off x="457200" y="274647"/>
            <a:ext cx="8229600" cy="5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b="1" dirty="0">
                <a:solidFill>
                  <a:srgbClr val="002060"/>
                </a:solidFill>
              </a:rPr>
              <a:t>How Are Pointers Related to Arrays</a:t>
            </a:r>
            <a:br>
              <a:rPr lang="en-US" b="1" dirty="0">
                <a:solidFill>
                  <a:srgbClr val="002060"/>
                </a:solidFill>
              </a:rPr>
            </a:br>
            <a:endParaRPr b="1" dirty="0">
              <a:solidFill>
                <a:srgbClr val="002060"/>
              </a:solidFill>
            </a:endParaRPr>
          </a:p>
        </p:txBody>
      </p:sp>
      <p:sp>
        <p:nvSpPr>
          <p:cNvPr id="270" name="Google Shape;270;p18"/>
          <p:cNvSpPr txBox="1">
            <a:spLocks noGrp="1"/>
          </p:cNvSpPr>
          <p:nvPr>
            <p:ph type="body" idx="1"/>
          </p:nvPr>
        </p:nvSpPr>
        <p:spPr>
          <a:xfrm>
            <a:off x="323528" y="1050587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200" dirty="0"/>
              <a:t>In C, the </a:t>
            </a:r>
            <a:r>
              <a:rPr lang="en-US" sz="2200" b="1" dirty="0"/>
              <a:t>name of an array</a:t>
            </a:r>
            <a:r>
              <a:rPr lang="en-US" sz="2200" dirty="0"/>
              <a:t>, is actually a </a:t>
            </a:r>
            <a:r>
              <a:rPr lang="en-US" sz="2200" b="1" dirty="0"/>
              <a:t>pointer</a:t>
            </a:r>
            <a:r>
              <a:rPr lang="en-US" sz="2200" dirty="0"/>
              <a:t> to the </a:t>
            </a:r>
            <a:r>
              <a:rPr lang="en-US" sz="2200" b="1" dirty="0"/>
              <a:t>first element</a:t>
            </a:r>
            <a:r>
              <a:rPr lang="en-US" sz="2200" dirty="0"/>
              <a:t> of the array.</a:t>
            </a:r>
            <a:endParaRPr/>
          </a:p>
          <a:p>
            <a:pPr marL="342900" lvl="0" indent="-342900" algn="just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200" dirty="0"/>
              <a:t>The </a:t>
            </a:r>
            <a:r>
              <a:rPr lang="en-US" sz="2200" b="1" dirty="0"/>
              <a:t>memory address</a:t>
            </a:r>
            <a:r>
              <a:rPr lang="en-US" sz="2200" dirty="0"/>
              <a:t> of the </a:t>
            </a:r>
            <a:r>
              <a:rPr lang="en-US" sz="2200" b="1" dirty="0"/>
              <a:t>first element</a:t>
            </a:r>
            <a:r>
              <a:rPr lang="en-US" sz="2200" dirty="0"/>
              <a:t> is the same as the </a:t>
            </a:r>
            <a:r>
              <a:rPr lang="en-US" sz="2200" b="1" dirty="0"/>
              <a:t>name of the </a:t>
            </a:r>
            <a:r>
              <a:rPr lang="en-US" sz="2200" b="1" dirty="0" smtClean="0"/>
              <a:t>array address</a:t>
            </a:r>
            <a:r>
              <a:rPr lang="en-US" sz="2200" dirty="0" smtClean="0"/>
              <a:t>:</a:t>
            </a:r>
            <a:endParaRPr/>
          </a:p>
          <a:p>
            <a:pPr marL="342900" lvl="0" indent="-228600" algn="just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2200"/>
          </a:p>
          <a:p>
            <a:pPr marL="342900" lvl="0" indent="-228600" algn="just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2200"/>
          </a:p>
        </p:txBody>
      </p:sp>
      <p:sp>
        <p:nvSpPr>
          <p:cNvPr id="271" name="Google Shape;271;p18"/>
          <p:cNvSpPr txBox="1"/>
          <p:nvPr/>
        </p:nvSpPr>
        <p:spPr>
          <a:xfrm>
            <a:off x="684301" y="2506250"/>
            <a:ext cx="8229600" cy="36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myNumbers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 sz="1800" b="0" i="0" u="none" strike="noStrike" cap="none" dirty="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 = {</a:t>
            </a:r>
            <a:r>
              <a:rPr lang="en-US" sz="1800" b="0" i="0" u="none" strike="noStrike" cap="none" dirty="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25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1800" b="0" i="0" u="none" strike="noStrike" cap="none" dirty="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50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1800" b="0" i="0" u="none" strike="noStrike" cap="none" dirty="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75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1800" b="0" i="0" u="none" strike="noStrike" cap="none" dirty="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100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br>
              <a:rPr lang="en-US" sz="1800" b="0" i="0" u="none" strike="noStrike" cap="none" dirty="0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800" b="0" i="0" u="none" strike="noStrike" cap="none" dirty="0" err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printf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800" b="0" i="0" u="none" strike="noStrike" cap="none" dirty="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"%p\n"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myNumbers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      </a:t>
            </a:r>
            <a:r>
              <a:rPr lang="en-US" sz="1800" b="0" i="0" u="none" strike="noStrike" cap="none" dirty="0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//Get the memory address of the 					                </a:t>
            </a:r>
            <a:r>
              <a:rPr lang="en-US" sz="1800" b="0" i="0" u="none" strike="noStrike" cap="none" dirty="0" err="1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myNumbers</a:t>
            </a:r>
            <a:r>
              <a:rPr lang="en-US" sz="1800" b="0" i="0" u="none" strike="noStrike" cap="none" dirty="0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 array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b="0" i="0" u="none" strike="noStrike" cap="none" dirty="0">
                <a:solidFill>
                  <a:srgbClr val="708090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br>
              <a:rPr lang="en-US" sz="1800" b="0" i="0" u="none" strike="noStrike" cap="none" dirty="0">
                <a:solidFill>
                  <a:srgbClr val="70809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800" b="0" i="0" u="none" strike="noStrike" cap="none" dirty="0" err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printf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800" b="0" i="0" u="none" strike="noStrike" cap="none" dirty="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"%p\n"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800" b="0" i="0" u="none" strike="noStrike" cap="none" dirty="0">
                <a:solidFill>
                  <a:srgbClr val="FF0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&amp;</a:t>
            </a:r>
            <a:r>
              <a:rPr lang="en-US" sz="1800" b="0" i="0" u="none" strike="noStrike" cap="none" dirty="0" err="1">
                <a:solidFill>
                  <a:srgbClr val="FF0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myNumbers</a:t>
            </a:r>
            <a:r>
              <a:rPr lang="en-US" sz="1800" b="0" i="0" u="none" strike="noStrike" cap="none" dirty="0">
                <a:solidFill>
                  <a:srgbClr val="FF0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[0]);</a:t>
            </a:r>
            <a:r>
              <a:rPr lang="en-US" sz="1800" b="0" i="0" u="none" strike="noStrike" cap="none" dirty="0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  // Get the memory address of 					                     the first array element</a:t>
            </a:r>
            <a:endParaRPr sz="1800" b="0" i="0" u="none" strike="noStrike" cap="none">
              <a:solidFill>
                <a:srgbClr val="FF0000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Output:</a:t>
            </a:r>
            <a:endParaRPr sz="18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FF0000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0x7ffe70f9d8f0</a:t>
            </a:r>
            <a:endParaRPr sz="1800">
              <a:solidFill>
                <a:srgbClr val="FF0000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0x7ffe70f9d8f0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9"/>
          <p:cNvSpPr txBox="1">
            <a:spLocks noGrp="1"/>
          </p:cNvSpPr>
          <p:nvPr>
            <p:ph type="body" idx="1"/>
          </p:nvPr>
        </p:nvSpPr>
        <p:spPr>
          <a:xfrm>
            <a:off x="179512" y="18864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b="1"/>
              <a:t>myNumbers is a pointer </a:t>
            </a:r>
            <a:r>
              <a:rPr lang="en-US" sz="2400"/>
              <a:t>to the first element in myNumbers, use the </a:t>
            </a:r>
            <a:r>
              <a:rPr lang="en-US" sz="2400" b="1"/>
              <a:t>* operator </a:t>
            </a:r>
            <a:r>
              <a:rPr lang="en-US" sz="2400"/>
              <a:t>to access the value of the first element.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34290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To access the rest of the elements in myNumbers, increment the pointer/array (+1, +2, etc):</a:t>
            </a:r>
            <a:endParaRPr/>
          </a:p>
          <a:p>
            <a:pPr marL="342900" lvl="0" indent="-1905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/>
          </a:p>
        </p:txBody>
      </p:sp>
      <p:pic>
        <p:nvPicPr>
          <p:cNvPr id="277" name="Google Shape;277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00" y="2780925"/>
            <a:ext cx="3928350" cy="395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76875" y="2780925"/>
            <a:ext cx="4487625" cy="395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0"/>
          <p:cNvSpPr txBox="1">
            <a:spLocks noGrp="1"/>
          </p:cNvSpPr>
          <p:nvPr>
            <p:ph type="body" idx="1"/>
          </p:nvPr>
        </p:nvSpPr>
        <p:spPr>
          <a:xfrm>
            <a:off x="421196" y="62068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2200" b="1"/>
              <a:t>			Or 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2200"/>
              <a:t>using Loop can access the value of the elements of an array:</a:t>
            </a:r>
            <a:endParaRPr sz="2200"/>
          </a:p>
          <a:p>
            <a:pPr marL="34290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2200" b="1"/>
          </a:p>
        </p:txBody>
      </p:sp>
      <p:pic>
        <p:nvPicPr>
          <p:cNvPr id="284" name="Google Shape;284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9118" y="1628800"/>
            <a:ext cx="5373278" cy="4608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1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960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dirty="0">
                <a:solidFill>
                  <a:srgbClr val="002060"/>
                </a:solidFill>
              </a:rPr>
              <a:t>Change the value of array elements with pointers:</a:t>
            </a:r>
            <a:endParaRPr sz="2800" b="1" dirty="0">
              <a:solidFill>
                <a:srgbClr val="002060"/>
              </a:solidFill>
            </a:endParaRPr>
          </a:p>
        </p:txBody>
      </p:sp>
      <p:sp>
        <p:nvSpPr>
          <p:cNvPr id="290" name="Google Shape;290;p21"/>
          <p:cNvSpPr txBox="1">
            <a:spLocks noGrp="1"/>
          </p:cNvSpPr>
          <p:nvPr>
            <p:ph type="body" idx="1"/>
          </p:nvPr>
        </p:nvSpPr>
        <p:spPr>
          <a:xfrm>
            <a:off x="457200" y="1168923"/>
            <a:ext cx="8229600" cy="5689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2200" b="0" i="0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200" b="0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myNumbers[</a:t>
            </a:r>
            <a:r>
              <a:rPr lang="en-US" sz="2200" b="0" i="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en-US" sz="2200" b="0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 = {</a:t>
            </a:r>
            <a:r>
              <a:rPr lang="en-US" sz="2200" b="0" i="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25</a:t>
            </a:r>
            <a:r>
              <a:rPr lang="en-US" sz="2200" b="0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200" b="0" i="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50</a:t>
            </a:r>
            <a:r>
              <a:rPr lang="en-US" sz="2200" b="0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200" b="0" i="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75</a:t>
            </a:r>
            <a:r>
              <a:rPr lang="en-US" sz="2200" b="0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200" b="0" i="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100</a:t>
            </a:r>
            <a:r>
              <a:rPr lang="en-US" sz="2200" b="0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r>
              <a:rPr lang="en-US" sz="2200"/>
              <a:t/>
            </a:r>
            <a:br>
              <a:rPr lang="en-US" sz="2200"/>
            </a:br>
            <a:r>
              <a:rPr lang="en-US" sz="2200"/>
              <a:t/>
            </a:r>
            <a:br>
              <a:rPr lang="en-US" sz="2200"/>
            </a:br>
            <a:r>
              <a:rPr lang="en-US" sz="2200" b="0" i="0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// Change the value of the first element to 13</a:t>
            </a:r>
            <a:r>
              <a:rPr lang="en-US" sz="2200" b="0" i="0">
                <a:solidFill>
                  <a:srgbClr val="708090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br>
              <a:rPr lang="en-US" sz="2200" b="0" i="0">
                <a:solidFill>
                  <a:srgbClr val="70809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2200" b="0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*myNumbers = </a:t>
            </a:r>
            <a:r>
              <a:rPr lang="en-US" sz="2200" b="0" i="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13</a:t>
            </a:r>
            <a:r>
              <a:rPr lang="en-US" sz="2200" b="0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sz="2200"/>
              <a:t/>
            </a:r>
            <a:br>
              <a:rPr lang="en-US" sz="2200"/>
            </a:br>
            <a:r>
              <a:rPr lang="en-US" sz="2200"/>
              <a:t/>
            </a:r>
            <a:br>
              <a:rPr lang="en-US" sz="2200"/>
            </a:br>
            <a:r>
              <a:rPr lang="en-US" sz="2200" b="0" i="0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// Change the value of the second element to 17</a:t>
            </a:r>
            <a:r>
              <a:rPr lang="en-US" sz="2200" b="0" i="0">
                <a:solidFill>
                  <a:srgbClr val="708090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br>
              <a:rPr lang="en-US" sz="2200" b="0" i="0">
                <a:solidFill>
                  <a:srgbClr val="70809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2200" b="0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*(myNumbers +</a:t>
            </a:r>
            <a:r>
              <a:rPr lang="en-US" sz="2200" b="0" i="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2200" b="0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 = </a:t>
            </a:r>
            <a:r>
              <a:rPr lang="en-US" sz="2200" b="0" i="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17</a:t>
            </a:r>
            <a:r>
              <a:rPr lang="en-US" sz="2200" b="0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sz="2200"/>
              <a:t/>
            </a:r>
            <a:br>
              <a:rPr lang="en-US" sz="2200"/>
            </a:br>
            <a:r>
              <a:rPr lang="en-US" sz="2200"/>
              <a:t/>
            </a:r>
            <a:br>
              <a:rPr lang="en-US" sz="2200"/>
            </a:br>
            <a:r>
              <a:rPr lang="en-US" sz="2200" b="0" i="0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// Get the value of the first element</a:t>
            </a:r>
            <a:br>
              <a:rPr lang="en-US" sz="2200" b="0" i="0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2200" b="0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printf(</a:t>
            </a:r>
            <a:r>
              <a:rPr lang="en-US" sz="2200" b="0" i="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"%d\n"</a:t>
            </a:r>
            <a:r>
              <a:rPr lang="en-US" sz="2200" b="0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*myNumbers);</a:t>
            </a:r>
            <a:r>
              <a:rPr lang="en-US" sz="2200"/>
              <a:t/>
            </a:r>
            <a:br>
              <a:rPr lang="en-US" sz="2200"/>
            </a:br>
            <a:r>
              <a:rPr lang="en-US" sz="2200"/>
              <a:t/>
            </a:r>
            <a:br>
              <a:rPr lang="en-US" sz="2200"/>
            </a:br>
            <a:r>
              <a:rPr lang="en-US" sz="2200" b="0" i="0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// Get the value of the second element</a:t>
            </a:r>
            <a:r>
              <a:rPr lang="en-US" sz="2200" b="0" i="0">
                <a:solidFill>
                  <a:srgbClr val="708090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br>
              <a:rPr lang="en-US" sz="2200" b="0" i="0">
                <a:solidFill>
                  <a:srgbClr val="70809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2200" b="0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printf(</a:t>
            </a:r>
            <a:r>
              <a:rPr lang="en-US" sz="2200" b="0" i="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"%d\n"</a:t>
            </a:r>
            <a:r>
              <a:rPr lang="en-US" sz="2200" b="0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*(myNumbers + </a:t>
            </a:r>
            <a:r>
              <a:rPr lang="en-US" sz="2200" b="0" i="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2200" b="0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));</a:t>
            </a:r>
            <a:endParaRPr/>
          </a:p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2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2200"/>
              <a:t>13	17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2"/>
          <p:cNvSpPr/>
          <p:nvPr/>
        </p:nvSpPr>
        <p:spPr>
          <a:xfrm>
            <a:off x="251519" y="260648"/>
            <a:ext cx="8229599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String using pointers in C</a:t>
            </a:r>
            <a:endParaRPr sz="2800" b="1" i="0" u="none" strike="noStrike" cap="none" dirty="0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2"/>
          <p:cNvSpPr txBox="1">
            <a:spLocks noGrp="1"/>
          </p:cNvSpPr>
          <p:nvPr>
            <p:ph type="body" idx="1"/>
          </p:nvPr>
        </p:nvSpPr>
        <p:spPr>
          <a:xfrm>
            <a:off x="251518" y="1166018"/>
            <a:ext cx="8848941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200" dirty="0"/>
              <a:t> A string </a:t>
            </a:r>
            <a:r>
              <a:rPr lang="en-US" sz="2200" b="1" dirty="0" err="1"/>
              <a:t>str</a:t>
            </a:r>
            <a:r>
              <a:rPr lang="en-US" sz="2200" dirty="0"/>
              <a:t> using </a:t>
            </a:r>
            <a:r>
              <a:rPr lang="en-US" sz="2200" b="1" dirty="0"/>
              <a:t>char</a:t>
            </a:r>
            <a:r>
              <a:rPr lang="en-US" sz="2200" dirty="0"/>
              <a:t> character array of size </a:t>
            </a:r>
            <a:r>
              <a:rPr lang="en-US" sz="2200" b="1" dirty="0"/>
              <a:t>6</a:t>
            </a:r>
            <a:r>
              <a:rPr lang="en-US" sz="2200" dirty="0"/>
              <a:t>.</a:t>
            </a:r>
            <a:endParaRPr sz="2200"/>
          </a:p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2200" dirty="0">
                <a:solidFill>
                  <a:srgbClr val="00B050"/>
                </a:solidFill>
              </a:rPr>
              <a:t>	</a:t>
            </a:r>
            <a:r>
              <a:rPr lang="en-US" sz="2200" dirty="0">
                <a:solidFill>
                  <a:schemeClr val="dk1"/>
                </a:solidFill>
                <a:highlight>
                  <a:srgbClr val="FFFF00"/>
                </a:highlight>
              </a:rPr>
              <a:t>char </a:t>
            </a:r>
            <a:r>
              <a:rPr lang="en-US" sz="2200" dirty="0" err="1">
                <a:solidFill>
                  <a:schemeClr val="dk1"/>
                </a:solidFill>
                <a:highlight>
                  <a:srgbClr val="FFFF00"/>
                </a:highlight>
              </a:rPr>
              <a:t>str</a:t>
            </a:r>
            <a:r>
              <a:rPr lang="en-US" sz="2200" dirty="0">
                <a:solidFill>
                  <a:schemeClr val="dk1"/>
                </a:solidFill>
                <a:highlight>
                  <a:srgbClr val="FFFF00"/>
                </a:highlight>
              </a:rPr>
              <a:t>[6] = "Hello";</a:t>
            </a:r>
            <a:endParaRPr/>
          </a:p>
        </p:txBody>
      </p:sp>
      <p:sp>
        <p:nvSpPr>
          <p:cNvPr id="297" name="Google Shape;297;p22"/>
          <p:cNvSpPr txBox="1"/>
          <p:nvPr/>
        </p:nvSpPr>
        <p:spPr>
          <a:xfrm>
            <a:off x="444964" y="2218168"/>
            <a:ext cx="8254071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en-US"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 a character pointer ptr and store the address of the string str variable in it. This way, ptr will point at the string str.</a:t>
            </a:r>
            <a:endParaRPr sz="2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2"/>
          <p:cNvSpPr txBox="1"/>
          <p:nvPr/>
        </p:nvSpPr>
        <p:spPr>
          <a:xfrm>
            <a:off x="465820" y="3146984"/>
            <a:ext cx="7546411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en-US"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assigning the address of the string str to the pointer ptr.</a:t>
            </a:r>
            <a:endParaRPr sz="2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22"/>
          <p:cNvSpPr txBox="1"/>
          <p:nvPr/>
        </p:nvSpPr>
        <p:spPr>
          <a:xfrm>
            <a:off x="954110" y="3711237"/>
            <a:ext cx="464741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char *ptr = str;</a:t>
            </a:r>
            <a:endParaRPr/>
          </a:p>
        </p:txBody>
      </p:sp>
      <p:pic>
        <p:nvPicPr>
          <p:cNvPr id="300" name="Google Shape;300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408" y="4080568"/>
            <a:ext cx="7704313" cy="25526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9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454"/>
              <a:buNone/>
            </a:pPr>
            <a:r>
              <a:rPr lang="en-US" b="0" i="0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Accessing string via pointer</a:t>
            </a:r>
            <a:br>
              <a:rPr lang="en-US" b="0" i="0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</a:br>
            <a:endParaRPr dirty="0">
              <a:solidFill>
                <a:srgbClr val="002060"/>
              </a:solidFill>
            </a:endParaRPr>
          </a:p>
        </p:txBody>
      </p:sp>
      <p:sp>
        <p:nvSpPr>
          <p:cNvPr id="306" name="Google Shape;306;p92"/>
          <p:cNvSpPr txBox="1">
            <a:spLocks noGrp="1"/>
          </p:cNvSpPr>
          <p:nvPr>
            <p:ph type="body" idx="1"/>
          </p:nvPr>
        </p:nvSpPr>
        <p:spPr>
          <a:xfrm>
            <a:off x="372359" y="1166018"/>
            <a:ext cx="8229600" cy="5417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2200" dirty="0"/>
              <a:t>To access and print the elements of the string we can use a loop and check for the \0 null character.</a:t>
            </a:r>
            <a:endParaRPr/>
          </a:p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2200" dirty="0"/>
              <a:t>#include &lt;</a:t>
            </a:r>
            <a:r>
              <a:rPr lang="en-US" sz="2200" dirty="0" err="1"/>
              <a:t>stdio.h</a:t>
            </a:r>
            <a:r>
              <a:rPr lang="en-US" sz="2200" dirty="0"/>
              <a:t>&gt;</a:t>
            </a:r>
            <a:endParaRPr/>
          </a:p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2200" dirty="0" err="1"/>
              <a:t>int</a:t>
            </a:r>
            <a:r>
              <a:rPr lang="en-US" sz="2200" dirty="0"/>
              <a:t> </a:t>
            </a:r>
            <a:r>
              <a:rPr lang="en-US" sz="2200" dirty="0" smtClean="0"/>
              <a:t>main() </a:t>
            </a:r>
          </a:p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2200" dirty="0" smtClean="0"/>
              <a:t>{</a:t>
            </a:r>
            <a:endParaRPr/>
          </a:p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2200" dirty="0"/>
              <a:t>char </a:t>
            </a:r>
            <a:r>
              <a:rPr lang="en-US" sz="2200" dirty="0" err="1"/>
              <a:t>str</a:t>
            </a:r>
            <a:r>
              <a:rPr lang="en-US" sz="2200" dirty="0"/>
              <a:t>[6] = "Hello";		 </a:t>
            </a:r>
            <a:r>
              <a:rPr lang="en-US" sz="2200" dirty="0">
                <a:solidFill>
                  <a:srgbClr val="00B050"/>
                </a:solidFill>
              </a:rPr>
              <a:t>// string variable</a:t>
            </a:r>
            <a:endParaRPr/>
          </a:p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2200" dirty="0">
                <a:solidFill>
                  <a:srgbClr val="FF0000"/>
                </a:solidFill>
              </a:rPr>
              <a:t>char *</a:t>
            </a:r>
            <a:r>
              <a:rPr lang="en-US" sz="2200" dirty="0" err="1">
                <a:solidFill>
                  <a:srgbClr val="FF0000"/>
                </a:solidFill>
              </a:rPr>
              <a:t>ptr</a:t>
            </a:r>
            <a:r>
              <a:rPr lang="en-US" sz="2200" dirty="0">
                <a:solidFill>
                  <a:srgbClr val="FF0000"/>
                </a:solidFill>
              </a:rPr>
              <a:t> = </a:t>
            </a:r>
            <a:r>
              <a:rPr lang="en-US" sz="2200" dirty="0" err="1">
                <a:solidFill>
                  <a:srgbClr val="FF0000"/>
                </a:solidFill>
              </a:rPr>
              <a:t>str</a:t>
            </a:r>
            <a:r>
              <a:rPr lang="en-US" sz="2200" dirty="0">
                <a:solidFill>
                  <a:srgbClr val="FF0000"/>
                </a:solidFill>
              </a:rPr>
              <a:t>;	</a:t>
            </a:r>
            <a:r>
              <a:rPr lang="en-US" sz="2200" dirty="0"/>
              <a:t>		</a:t>
            </a:r>
            <a:r>
              <a:rPr lang="en-US" sz="2200" dirty="0">
                <a:solidFill>
                  <a:srgbClr val="00B050"/>
                </a:solidFill>
              </a:rPr>
              <a:t>// pointer variable</a:t>
            </a:r>
            <a:endParaRPr/>
          </a:p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2200" dirty="0">
                <a:solidFill>
                  <a:srgbClr val="FF0000"/>
                </a:solidFill>
              </a:rPr>
              <a:t>while(*</a:t>
            </a:r>
            <a:r>
              <a:rPr lang="en-US" sz="2200" dirty="0" err="1">
                <a:solidFill>
                  <a:srgbClr val="FF0000"/>
                </a:solidFill>
              </a:rPr>
              <a:t>ptr</a:t>
            </a:r>
            <a:r>
              <a:rPr lang="en-US" sz="2200" dirty="0">
                <a:solidFill>
                  <a:srgbClr val="FF0000"/>
                </a:solidFill>
              </a:rPr>
              <a:t> != '\0’)</a:t>
            </a:r>
            <a:endParaRPr/>
          </a:p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2200" dirty="0"/>
              <a:t> {</a:t>
            </a:r>
            <a:endParaRPr/>
          </a:p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2200" dirty="0"/>
              <a:t>    </a:t>
            </a:r>
            <a:r>
              <a:rPr lang="en-US" sz="2200" dirty="0" err="1">
                <a:solidFill>
                  <a:srgbClr val="FF0000"/>
                </a:solidFill>
              </a:rPr>
              <a:t>printf</a:t>
            </a:r>
            <a:r>
              <a:rPr lang="en-US" sz="2200" dirty="0">
                <a:solidFill>
                  <a:srgbClr val="FF0000"/>
                </a:solidFill>
              </a:rPr>
              <a:t>("%c", *</a:t>
            </a:r>
            <a:r>
              <a:rPr lang="en-US" sz="2200" dirty="0" err="1">
                <a:solidFill>
                  <a:srgbClr val="FF0000"/>
                </a:solidFill>
              </a:rPr>
              <a:t>ptr</a:t>
            </a:r>
            <a:r>
              <a:rPr lang="en-US" sz="2200" dirty="0">
                <a:solidFill>
                  <a:srgbClr val="FF0000"/>
                </a:solidFill>
              </a:rPr>
              <a:t>);</a:t>
            </a:r>
            <a:r>
              <a:rPr lang="en-US" sz="2200" dirty="0"/>
              <a:t>		 </a:t>
            </a:r>
            <a:r>
              <a:rPr lang="en-US" sz="2200" dirty="0">
                <a:solidFill>
                  <a:srgbClr val="00B050"/>
                </a:solidFill>
              </a:rPr>
              <a:t>// print the string</a:t>
            </a:r>
            <a:endParaRPr/>
          </a:p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2200" dirty="0">
                <a:solidFill>
                  <a:srgbClr val="FF0000"/>
                </a:solidFill>
              </a:rPr>
              <a:t>     </a:t>
            </a:r>
            <a:r>
              <a:rPr lang="en-US" sz="2200" dirty="0" err="1">
                <a:solidFill>
                  <a:srgbClr val="FF0000"/>
                </a:solidFill>
              </a:rPr>
              <a:t>ptr</a:t>
            </a:r>
            <a:r>
              <a:rPr lang="en-US" sz="2200" dirty="0">
                <a:solidFill>
                  <a:srgbClr val="FF0000"/>
                </a:solidFill>
              </a:rPr>
              <a:t>++;</a:t>
            </a:r>
            <a:r>
              <a:rPr lang="en-US" sz="2200" dirty="0"/>
              <a:t>	</a:t>
            </a:r>
            <a:r>
              <a:rPr lang="en-US" sz="2200" dirty="0">
                <a:solidFill>
                  <a:srgbClr val="00B050"/>
                </a:solidFill>
              </a:rPr>
              <a:t>// move the </a:t>
            </a:r>
            <a:r>
              <a:rPr lang="en-US" sz="2200" dirty="0" err="1">
                <a:solidFill>
                  <a:srgbClr val="00B050"/>
                </a:solidFill>
              </a:rPr>
              <a:t>ptr</a:t>
            </a:r>
            <a:r>
              <a:rPr lang="en-US" sz="2200" dirty="0">
                <a:solidFill>
                  <a:srgbClr val="00B050"/>
                </a:solidFill>
              </a:rPr>
              <a:t> pointer to the next memory location</a:t>
            </a:r>
            <a:endParaRPr/>
          </a:p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2200" dirty="0"/>
              <a:t>  } </a:t>
            </a:r>
            <a:endParaRPr/>
          </a:p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2200" dirty="0"/>
              <a:t>  return 0;</a:t>
            </a:r>
            <a:endParaRPr/>
          </a:p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2200" dirty="0"/>
              <a:t>}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 dirty="0">
                <a:solidFill>
                  <a:srgbClr val="002060"/>
                </a:solidFill>
              </a:rPr>
              <a:t>Alternate way to use pointer to access array elements</a:t>
            </a:r>
            <a:endParaRPr sz="3200" dirty="0">
              <a:solidFill>
                <a:srgbClr val="002060"/>
              </a:solidFill>
            </a:endParaRPr>
          </a:p>
        </p:txBody>
      </p:sp>
      <p:sp>
        <p:nvSpPr>
          <p:cNvPr id="312" name="Google Shape;312;p23"/>
          <p:cNvSpPr txBox="1">
            <a:spLocks noGrp="1"/>
          </p:cNvSpPr>
          <p:nvPr>
            <p:ph type="body" idx="1"/>
          </p:nvPr>
        </p:nvSpPr>
        <p:spPr>
          <a:xfrm>
            <a:off x="557949" y="1578990"/>
            <a:ext cx="8128851" cy="5279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/>
              <a:t>     int arr[10];  		</a:t>
            </a:r>
            <a:r>
              <a:rPr lang="en-US" sz="2200">
                <a:solidFill>
                  <a:srgbClr val="00B050"/>
                </a:solidFill>
              </a:rPr>
              <a:t>/* Declare array ‘arr’ of 10 integers */</a:t>
            </a:r>
            <a:endParaRPr sz="2200">
              <a:solidFill>
                <a:srgbClr val="00B05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/>
              <a:t>     int *pa</a:t>
            </a:r>
            <a:r>
              <a:rPr lang="en-US" sz="2200">
                <a:solidFill>
                  <a:srgbClr val="00B050"/>
                </a:solidFill>
              </a:rPr>
              <a:t>;  		/* Declare ‘pa’ to be a pointer to a integer */</a:t>
            </a:r>
            <a:endParaRPr sz="2200">
              <a:solidFill>
                <a:srgbClr val="00B05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sz="2200"/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/>
              <a:t>     pa = arr;    </a:t>
            </a:r>
            <a:r>
              <a:rPr lang="en-US" sz="2200">
                <a:solidFill>
                  <a:srgbClr val="00B050"/>
                </a:solidFill>
              </a:rPr>
              <a:t>/* This initializes pointer ‘pa’ to point to the first 			element of array ‘arr’ – The name of an array 			evaluates to the starting address of the array */</a:t>
            </a:r>
            <a:endParaRPr sz="2200">
              <a:solidFill>
                <a:srgbClr val="00B05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</a:pPr>
            <a:r>
              <a:rPr lang="en-US" sz="2200" b="1"/>
              <a:t>To access the ‘i’th element of array arr, </a:t>
            </a:r>
            <a:r>
              <a:rPr lang="en-US" sz="2200"/>
              <a:t>we can use the following        </a:t>
            </a:r>
            <a:r>
              <a:rPr lang="en-US" sz="2200">
                <a:solidFill>
                  <a:srgbClr val="FF0000"/>
                </a:solidFill>
              </a:rPr>
              <a:t>syntax: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</a:pPr>
            <a:endParaRPr sz="2200">
              <a:solidFill>
                <a:srgbClr val="FF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/>
              <a:t>      int b;</a:t>
            </a:r>
            <a:endParaRPr sz="2200"/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/>
              <a:t>      b = pa[i</a:t>
            </a:r>
            <a:r>
              <a:rPr lang="en-US" sz="2200">
                <a:solidFill>
                  <a:schemeClr val="dk1"/>
                </a:solidFill>
              </a:rPr>
              <a:t>];</a:t>
            </a:r>
            <a:r>
              <a:rPr lang="en-US" sz="2200">
                <a:solidFill>
                  <a:srgbClr val="00B050"/>
                </a:solidFill>
              </a:rPr>
              <a:t>     /* The pointer variable can be used like the array 		name */</a:t>
            </a:r>
            <a:endParaRPr sz="2200">
              <a:solidFill>
                <a:srgbClr val="00B05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B050"/>
              </a:buClr>
              <a:buSzPts val="2200"/>
              <a:buNone/>
            </a:pPr>
            <a:r>
              <a:rPr lang="en-US" sz="2200" b="1">
                <a:solidFill>
                  <a:srgbClr val="FF0000"/>
                </a:solidFill>
              </a:rPr>
              <a:t>   Note: pa[i] is same as *(pa+i)</a:t>
            </a:r>
            <a:endParaRPr sz="2200" b="1">
              <a:solidFill>
                <a:srgbClr val="FF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sz="2200"/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sz="22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4"/>
          <p:cNvSpPr txBox="1">
            <a:spLocks noGrp="1"/>
          </p:cNvSpPr>
          <p:nvPr>
            <p:ph type="title"/>
          </p:nvPr>
        </p:nvSpPr>
        <p:spPr>
          <a:xfrm>
            <a:off x="567429" y="146802"/>
            <a:ext cx="8229600" cy="706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dirty="0">
                <a:solidFill>
                  <a:srgbClr val="002060"/>
                </a:solidFill>
              </a:rPr>
              <a:t/>
            </a:r>
            <a:br>
              <a:rPr lang="en-US" sz="2800" dirty="0">
                <a:solidFill>
                  <a:srgbClr val="002060"/>
                </a:solidFill>
              </a:rPr>
            </a:br>
            <a:r>
              <a:rPr lang="en-US" sz="2800" dirty="0">
                <a:solidFill>
                  <a:srgbClr val="002060"/>
                </a:solidFill>
              </a:rPr>
              <a:t>Accessing the elements of the two dimensional array via a simple pointer</a:t>
            </a:r>
            <a:br>
              <a:rPr lang="en-US" sz="2800" dirty="0">
                <a:solidFill>
                  <a:srgbClr val="002060"/>
                </a:solidFill>
              </a:rPr>
            </a:br>
            <a:endParaRPr sz="2800" dirty="0">
              <a:solidFill>
                <a:srgbClr val="002060"/>
              </a:solidFill>
            </a:endParaRPr>
          </a:p>
        </p:txBody>
      </p:sp>
      <p:pic>
        <p:nvPicPr>
          <p:cNvPr id="318" name="Google Shape;318;p2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346971" y="852892"/>
            <a:ext cx="4297039" cy="6005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09328" y="1340768"/>
            <a:ext cx="3478491" cy="1034787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4"/>
          <p:cNvSpPr txBox="1"/>
          <p:nvPr/>
        </p:nvSpPr>
        <p:spPr>
          <a:xfrm>
            <a:off x="4644010" y="2714380"/>
            <a:ext cx="4468980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the following code,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Printing the content of the num array using for loop and by incrementing the value of ptr.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4"/>
          <p:cNvSpPr txBox="1"/>
          <p:nvPr/>
        </p:nvSpPr>
        <p:spPr>
          <a:xfrm>
            <a:off x="4644010" y="4032519"/>
            <a:ext cx="4320480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two-dimensional array num will be saved as a continuous block in the memory. 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So, if increment the value of ptr by 1 it will move to the next block in the allocated memory.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790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>
                <a:solidFill>
                  <a:srgbClr val="002060"/>
                </a:solidFill>
              </a:rPr>
              <a:t>2D Arrays and Pointers</a:t>
            </a:r>
            <a:endParaRPr dirty="0">
              <a:solidFill>
                <a:srgbClr val="002060"/>
              </a:solidFill>
            </a:endParaRPr>
          </a:p>
        </p:txBody>
      </p:sp>
      <p:sp>
        <p:nvSpPr>
          <p:cNvPr id="327" name="Google Shape;327;p25"/>
          <p:cNvSpPr txBox="1">
            <a:spLocks noGrp="1"/>
          </p:cNvSpPr>
          <p:nvPr>
            <p:ph type="body" idx="1"/>
          </p:nvPr>
        </p:nvSpPr>
        <p:spPr>
          <a:xfrm>
            <a:off x="365289" y="1065229"/>
            <a:ext cx="8545398" cy="5674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2200" dirty="0" err="1"/>
              <a:t>int</a:t>
            </a:r>
            <a:r>
              <a:rPr lang="en-US" sz="2200" dirty="0"/>
              <a:t> arr1[3][5] = {{1,2,3,4,5},                       </a:t>
            </a:r>
            <a:endParaRPr sz="2200"/>
          </a:p>
          <a:p>
            <a:pPr marL="0" lvl="0" indent="0" algn="l" rtl="0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 dirty="0"/>
              <a:t>                              {6,7,8,9,10},                       </a:t>
            </a:r>
            <a:endParaRPr sz="2200"/>
          </a:p>
          <a:p>
            <a:pPr marL="0" lvl="0" indent="0" algn="l" rtl="0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 dirty="0"/>
              <a:t>                             {11,12,13,14,15}};  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 dirty="0"/>
              <a:t>   </a:t>
            </a:r>
            <a:endParaRPr sz="2200"/>
          </a:p>
          <a:p>
            <a:pPr marL="0" lvl="0" indent="0" algn="l" rtl="0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 dirty="0" err="1"/>
              <a:t>int</a:t>
            </a:r>
            <a:r>
              <a:rPr lang="en-US" sz="2200" dirty="0"/>
              <a:t>  (*p2)[5];       </a:t>
            </a:r>
            <a:r>
              <a:rPr lang="en-US" sz="2200" dirty="0">
                <a:solidFill>
                  <a:srgbClr val="00B050"/>
                </a:solidFill>
              </a:rPr>
              <a:t>/* Declares p2 to be a pointer to an array of 5 integers */      </a:t>
            </a:r>
            <a:endParaRPr sz="2200">
              <a:solidFill>
                <a:srgbClr val="00B05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 dirty="0"/>
              <a:t>p2 = arr1[0];  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sz="2200"/>
          </a:p>
          <a:p>
            <a:pPr marL="0" lvl="0" indent="0" algn="l" rtl="0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 dirty="0">
                <a:solidFill>
                  <a:srgbClr val="00B050"/>
                </a:solidFill>
              </a:rPr>
              <a:t>/* Giving only one dimension of ‘</a:t>
            </a:r>
            <a:r>
              <a:rPr lang="en-US" sz="2200" dirty="0" smtClean="0">
                <a:solidFill>
                  <a:srgbClr val="00B050"/>
                </a:solidFill>
              </a:rPr>
              <a:t>arr1’ </a:t>
            </a:r>
            <a:r>
              <a:rPr lang="en-US" sz="2200" dirty="0">
                <a:solidFill>
                  <a:srgbClr val="00B050"/>
                </a:solidFill>
              </a:rPr>
              <a:t>evaluates to the address of the first row of array ‘</a:t>
            </a:r>
            <a:r>
              <a:rPr lang="en-US" sz="2200" dirty="0" smtClean="0">
                <a:solidFill>
                  <a:srgbClr val="00B050"/>
                </a:solidFill>
              </a:rPr>
              <a:t>arr1’ </a:t>
            </a:r>
            <a:r>
              <a:rPr lang="en-US" sz="2200" dirty="0">
                <a:solidFill>
                  <a:srgbClr val="00B050"/>
                </a:solidFill>
              </a:rPr>
              <a:t>*/   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 dirty="0"/>
              <a:t>  </a:t>
            </a:r>
            <a:endParaRPr sz="2200"/>
          </a:p>
          <a:p>
            <a:pPr marL="0" lvl="0" indent="0" algn="l" rtl="0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 dirty="0" err="1"/>
              <a:t>printf</a:t>
            </a:r>
            <a:r>
              <a:rPr lang="en-US" sz="2200" dirty="0"/>
              <a:t>("arr1[0][0]=%d\n",p2[0][0]);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 dirty="0"/>
              <a:t> 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 dirty="0" err="1"/>
              <a:t>printf</a:t>
            </a:r>
            <a:r>
              <a:rPr lang="en-US" sz="2200" dirty="0"/>
              <a:t>("arr1[2][3]=%d\n",p2[2][3]);</a:t>
            </a:r>
            <a:endParaRPr sz="22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dirty="0">
                <a:solidFill>
                  <a:srgbClr val="002060"/>
                </a:solidFill>
              </a:rPr>
              <a:t>Another way to declare 2D pointers</a:t>
            </a:r>
            <a:endParaRPr dirty="0">
              <a:solidFill>
                <a:srgbClr val="002060"/>
              </a:solidFill>
            </a:endParaRPr>
          </a:p>
        </p:txBody>
      </p:sp>
      <p:sp>
        <p:nvSpPr>
          <p:cNvPr id="333" name="Google Shape;333;p26"/>
          <p:cNvSpPr txBox="1">
            <a:spLocks noGrp="1"/>
          </p:cNvSpPr>
          <p:nvPr>
            <p:ph type="body" idx="1"/>
          </p:nvPr>
        </p:nvSpPr>
        <p:spPr>
          <a:xfrm>
            <a:off x="628649" y="1602557"/>
            <a:ext cx="8229599" cy="4911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     int arr1[3][5] = {{1,2,3,4,5},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                       {6,7,8,9,10},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                       {11,12,13,14,15}};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352"/>
              </a:spcBef>
              <a:spcAft>
                <a:spcPts val="0"/>
              </a:spcAft>
              <a:buSzPts val="2000"/>
              <a:buNone/>
            </a:pPr>
            <a:r>
              <a:rPr lang="en-US" sz="2000">
                <a:solidFill>
                  <a:srgbClr val="00B050"/>
                </a:solidFill>
              </a:rPr>
              <a:t>/* Declares p2 to be a pointer to a 2D array of 3 x 5 integers */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    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      int  (*p2)[3][5];   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      p2 = arr1;     			                  </a:t>
            </a:r>
            <a:r>
              <a:rPr lang="en-US" sz="2000">
                <a:solidFill>
                  <a:srgbClr val="00B050"/>
                </a:solidFill>
              </a:rPr>
              <a:t>/* Or, p2 = &amp;arr1[0][0]     */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      printf("arr1[0][0]=%d\n",(*p2)[0][0]);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      printf("arr1[2][3]=%d\n",(*p2)[2][3]); 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    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      printf("arr1[1][4]=%d\n",(*p2)[1][4]);</a:t>
            </a:r>
            <a:endParaRPr sz="20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 dirty="0">
                <a:solidFill>
                  <a:srgbClr val="002060"/>
                </a:solidFill>
              </a:rPr>
              <a:t>Pointer Arithmetic in C</a:t>
            </a:r>
            <a:br>
              <a:rPr lang="en-US" sz="3200" dirty="0">
                <a:solidFill>
                  <a:srgbClr val="002060"/>
                </a:solidFill>
              </a:rPr>
            </a:br>
            <a:endParaRPr sz="3200" dirty="0">
              <a:solidFill>
                <a:srgbClr val="002060"/>
              </a:solidFill>
            </a:endParaRPr>
          </a:p>
        </p:txBody>
      </p:sp>
      <p:sp>
        <p:nvSpPr>
          <p:cNvPr id="339" name="Google Shape;339;p2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en-US" sz="2500"/>
              <a:t>The C pointer arithmetic operations are slightly different from the ones that we generally use for mathematical calculations.</a:t>
            </a:r>
            <a:endParaRPr sz="2500"/>
          </a:p>
          <a:p>
            <a:pPr marL="0" lvl="0" indent="0" algn="l" rtl="0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endParaRPr sz="2500"/>
          </a:p>
          <a:p>
            <a:pPr marL="0" lvl="0" indent="0" algn="l" rtl="0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en-US" sz="2500"/>
              <a:t> </a:t>
            </a:r>
            <a:r>
              <a:rPr lang="en-US" sz="2500" b="1"/>
              <a:t>These operations are:</a:t>
            </a:r>
            <a:endParaRPr sz="2500" b="1"/>
          </a:p>
          <a:p>
            <a:pPr marL="342900" lvl="0" indent="-342900" algn="l" rtl="0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500"/>
              <a:buFont typeface="Noto Sans Symbols"/>
              <a:buChar char="⮚"/>
            </a:pPr>
            <a:r>
              <a:rPr lang="en-US" sz="2500"/>
              <a:t>Increment/Decrement of a Pointer</a:t>
            </a:r>
            <a:endParaRPr sz="2500"/>
          </a:p>
          <a:p>
            <a:pPr marL="342900" lvl="0" indent="-342900" algn="l" rtl="0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500"/>
              <a:buFont typeface="Noto Sans Symbols"/>
              <a:buChar char="⮚"/>
            </a:pPr>
            <a:r>
              <a:rPr lang="en-US" sz="2500"/>
              <a:t>Addition of integer to a pointer</a:t>
            </a:r>
            <a:endParaRPr sz="2500"/>
          </a:p>
          <a:p>
            <a:pPr marL="342900" lvl="0" indent="-342900" algn="l" rtl="0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500"/>
              <a:buFont typeface="Noto Sans Symbols"/>
              <a:buChar char="⮚"/>
            </a:pPr>
            <a:r>
              <a:rPr lang="en-US" sz="2500"/>
              <a:t>Subtraction of integer to a pointer</a:t>
            </a:r>
            <a:endParaRPr sz="2500"/>
          </a:p>
          <a:p>
            <a:pPr marL="342900" lvl="0" indent="-342900" algn="l" rtl="0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500"/>
              <a:buFont typeface="Noto Sans Symbols"/>
              <a:buChar char="⮚"/>
            </a:pPr>
            <a:r>
              <a:rPr lang="en-US" sz="2500"/>
              <a:t>Subtracting two pointers of the same type</a:t>
            </a:r>
            <a:endParaRPr sz="2500"/>
          </a:p>
          <a:p>
            <a:pPr marL="342900" lvl="0" indent="-342900" algn="l" rtl="0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500"/>
              <a:buFont typeface="Noto Sans Symbols"/>
              <a:buChar char="⮚"/>
            </a:pPr>
            <a:r>
              <a:rPr lang="en-US" sz="2500"/>
              <a:t>Comparison of pointers</a:t>
            </a:r>
            <a:endParaRPr sz="2500"/>
          </a:p>
          <a:p>
            <a:pPr marL="342900" lvl="0" indent="-154940" algn="l" rtl="0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endParaRPr sz="25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28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835696" y="302028"/>
            <a:ext cx="6336704" cy="3168352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28" descr="pointer addition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6" name="Google Shape;346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5575" y="3755825"/>
            <a:ext cx="5112568" cy="2556284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28" descr="pointer substraction"/>
          <p:cNvSpPr/>
          <p:nvPr/>
        </p:nvSpPr>
        <p:spPr>
          <a:xfrm>
            <a:off x="307975" y="79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8" name="Google Shape;348;p2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88024" y="3788584"/>
            <a:ext cx="4248472" cy="21242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" name="Google Shape;353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04" y="107204"/>
            <a:ext cx="8970507" cy="65858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9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6943" y="84842"/>
            <a:ext cx="8686801" cy="4703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9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6137" y="4911481"/>
            <a:ext cx="6110844" cy="156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9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28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454"/>
              <a:buNone/>
            </a:pPr>
            <a:r>
              <a:rPr lang="en-US" sz="4400" dirty="0">
                <a:solidFill>
                  <a:srgbClr val="002060"/>
                </a:solidFill>
              </a:rPr>
              <a:t/>
            </a:r>
            <a:br>
              <a:rPr lang="en-US" sz="4400" dirty="0">
                <a:solidFill>
                  <a:srgbClr val="002060"/>
                </a:solidFill>
              </a:rPr>
            </a:br>
            <a:r>
              <a:rPr lang="en-US" sz="4400" dirty="0">
                <a:solidFill>
                  <a:srgbClr val="002060"/>
                </a:solidFill>
              </a:rPr>
              <a:t>Advantages of Pointers are :-</a:t>
            </a:r>
            <a:br>
              <a:rPr lang="en-US" sz="4400" dirty="0">
                <a:solidFill>
                  <a:srgbClr val="002060"/>
                </a:solidFill>
              </a:rPr>
            </a:br>
            <a:endParaRPr dirty="0">
              <a:solidFill>
                <a:srgbClr val="002060"/>
              </a:solidFill>
            </a:endParaRPr>
          </a:p>
        </p:txBody>
      </p:sp>
      <p:sp>
        <p:nvSpPr>
          <p:cNvPr id="365" name="Google Shape;365;p9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342900" lvl="0" indent="-342900" algn="just" rtl="0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 dirty="0"/>
              <a:t>Pointer provide </a:t>
            </a:r>
            <a:r>
              <a:rPr lang="en-US" sz="3200" b="1" dirty="0">
                <a:solidFill>
                  <a:srgbClr val="FF0000"/>
                </a:solidFill>
              </a:rPr>
              <a:t>direct access to the memory</a:t>
            </a:r>
            <a:r>
              <a:rPr lang="en-US" sz="3200" dirty="0"/>
              <a:t>.</a:t>
            </a:r>
            <a:endParaRPr dirty="0"/>
          </a:p>
          <a:p>
            <a:pPr marL="342900" lvl="0" indent="-342900" algn="just" rtl="0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 dirty="0"/>
              <a:t>Pointer provides a way to return more than one value to the functions – Multiple parameters can be declared as pointers through which values are returned.</a:t>
            </a:r>
            <a:endParaRPr dirty="0"/>
          </a:p>
          <a:p>
            <a:pPr marL="342900" lvl="0" indent="-342900" algn="just" rtl="0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 dirty="0"/>
              <a:t>Pointers provides an alternate way to access array elements.</a:t>
            </a:r>
            <a:endParaRPr dirty="0"/>
          </a:p>
          <a:p>
            <a:pPr marL="342900" lvl="0" indent="-342900" algn="just" rtl="0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 dirty="0"/>
              <a:t>Used to write system software and low level code – Pointers are used to address devices in the system.</a:t>
            </a:r>
            <a:endParaRPr dirty="0"/>
          </a:p>
          <a:p>
            <a:pPr marL="342900" lvl="0" indent="-200660" algn="just" rtl="0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3200" dirty="0"/>
          </a:p>
          <a:p>
            <a:pPr marL="457200" lvl="0" indent="-228600" algn="just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60810"/>
              <a:buNone/>
            </a:pPr>
            <a:endParaRPr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9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454"/>
              <a:buNone/>
            </a:pPr>
            <a:r>
              <a:rPr lang="en-US" dirty="0">
                <a:solidFill>
                  <a:srgbClr val="002060"/>
                </a:solidFill>
              </a:rPr>
              <a:t>Disadvantages of Pointers are :-</a:t>
            </a:r>
            <a:br>
              <a:rPr lang="en-US" dirty="0">
                <a:solidFill>
                  <a:srgbClr val="002060"/>
                </a:solidFill>
              </a:rPr>
            </a:br>
            <a:endParaRPr dirty="0">
              <a:solidFill>
                <a:srgbClr val="002060"/>
              </a:solidFill>
            </a:endParaRPr>
          </a:p>
        </p:txBody>
      </p:sp>
      <p:sp>
        <p:nvSpPr>
          <p:cNvPr id="371" name="Google Shape;371;p9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just" rtl="0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 dirty="0"/>
              <a:t>Pointer are slower than normal variables.</a:t>
            </a:r>
            <a:endParaRPr dirty="0"/>
          </a:p>
          <a:p>
            <a:pPr marL="342900" lvl="0" indent="-342900" algn="just" rtl="0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 dirty="0"/>
              <a:t>Uninitialized pointer can cause segmentation fault when it is dereferenced.</a:t>
            </a:r>
            <a:endParaRPr dirty="0"/>
          </a:p>
          <a:p>
            <a:pPr marL="342900" lvl="0" indent="-342900" algn="just" rtl="0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 dirty="0"/>
              <a:t>If a pointer is accidentally assigned an address that points to another variable in the program, it can lead to corruption of data when we write using the pointer.</a:t>
            </a:r>
            <a:endParaRPr dirty="0"/>
          </a:p>
          <a:p>
            <a:pPr marL="342900" lvl="0" indent="-342900" algn="just" rtl="0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 dirty="0"/>
              <a:t>Basically, pointer bugs are difficult to handle. So, use pointer effectively and correctly.</a:t>
            </a:r>
            <a:endParaRPr dirty="0"/>
          </a:p>
          <a:p>
            <a:pPr marL="457200" lvl="0" indent="-228600" algn="just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464</TotalTime>
  <Words>1118</Words>
  <Application>Microsoft Macintosh PowerPoint</Application>
  <PresentationFormat>On-screen Show (4:3)</PresentationFormat>
  <Paragraphs>282</Paragraphs>
  <Slides>35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35</vt:i4>
      </vt:variant>
    </vt:vector>
  </HeadingPairs>
  <TitlesOfParts>
    <vt:vector size="43" baseType="lpstr">
      <vt:lpstr>Arial</vt:lpstr>
      <vt:lpstr>Calibri</vt:lpstr>
      <vt:lpstr>Noto Sans Symbols</vt:lpstr>
      <vt:lpstr>Quattrocento Sans</vt:lpstr>
      <vt:lpstr>Consolas</vt:lpstr>
      <vt:lpstr>Nunito</vt:lpstr>
      <vt:lpstr>Office Theme</vt:lpstr>
      <vt:lpstr>Custom Design</vt:lpstr>
      <vt:lpstr>UNIT – III   </vt:lpstr>
      <vt:lpstr>C Pointers </vt:lpstr>
      <vt:lpstr>Declaration of pointer in C</vt:lpstr>
      <vt:lpstr> How to Use Pointers? </vt:lpstr>
      <vt:lpstr>Slide 5</vt:lpstr>
      <vt:lpstr>Slide 6</vt:lpstr>
      <vt:lpstr>Slide 7</vt:lpstr>
      <vt:lpstr>Memory Address </vt:lpstr>
      <vt:lpstr> Creating Pointers </vt:lpstr>
      <vt:lpstr>Slide 10</vt:lpstr>
      <vt:lpstr> Dereference  </vt:lpstr>
      <vt:lpstr>Two ways to declare pointer variables </vt:lpstr>
      <vt:lpstr>Variables, addresses</vt:lpstr>
      <vt:lpstr>Declaring a string constant using pointers</vt:lpstr>
      <vt:lpstr>Slide 15</vt:lpstr>
      <vt:lpstr>Pointers and Arrays </vt:lpstr>
      <vt:lpstr>Slide 17</vt:lpstr>
      <vt:lpstr>Slide 18</vt:lpstr>
      <vt:lpstr>Note: The compiler reserves 4 bytes of memory for each array element, which means that the entire array takes up 16 bytes (4*4) of memory storage.</vt:lpstr>
      <vt:lpstr> How Are Pointers Related to Arrays </vt:lpstr>
      <vt:lpstr>Slide 21</vt:lpstr>
      <vt:lpstr>Slide 22</vt:lpstr>
      <vt:lpstr>Change the value of array elements with pointers:</vt:lpstr>
      <vt:lpstr>Slide 24</vt:lpstr>
      <vt:lpstr>Accessing string via pointer </vt:lpstr>
      <vt:lpstr>Alternate way to use pointer to access array elements</vt:lpstr>
      <vt:lpstr> Accessing the elements of the two dimensional array via a simple pointer </vt:lpstr>
      <vt:lpstr>2D Arrays and Pointers</vt:lpstr>
      <vt:lpstr>Another way to declare 2D pointers</vt:lpstr>
      <vt:lpstr>Pointer Arithmetic in C </vt:lpstr>
      <vt:lpstr>Slide 31</vt:lpstr>
      <vt:lpstr>Slide 32</vt:lpstr>
      <vt:lpstr>Slide 33</vt:lpstr>
      <vt:lpstr> Advantages of Pointers are :- </vt:lpstr>
      <vt:lpstr>Disadvantages of Pointers are :-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– III   </dc:title>
  <dc:creator>HP</dc:creator>
  <cp:lastModifiedBy>Windows User</cp:lastModifiedBy>
  <cp:revision>14</cp:revision>
  <dcterms:created xsi:type="dcterms:W3CDTF">2023-12-04T11:30:24Z</dcterms:created>
  <dcterms:modified xsi:type="dcterms:W3CDTF">2026-03-31T06:41:03Z</dcterms:modified>
</cp:coreProperties>
</file>