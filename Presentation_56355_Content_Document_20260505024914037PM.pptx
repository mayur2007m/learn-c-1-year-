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1" r:id="rId5"/>
    <p:sldId id="262" r:id="rId6"/>
    <p:sldId id="263" r:id="rId7"/>
    <p:sldId id="260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7" autoAdjust="0"/>
    <p:restoredTop sz="94660"/>
  </p:normalViewPr>
  <p:slideViewPr>
    <p:cSldViewPr snapToGrid="0">
      <p:cViewPr varScale="1">
        <p:scale>
          <a:sx n="94" d="100"/>
          <a:sy n="94" d="100"/>
        </p:scale>
        <p:origin x="91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ur M" userId="4f169486fe4141b2" providerId="LiveId" clId="{55D0DEFB-2E76-4D5D-B212-C4B8A18F8203}"/>
    <pc:docChg chg="custSel modSld">
      <pc:chgData name="Mayur M" userId="4f169486fe4141b2" providerId="LiveId" clId="{55D0DEFB-2E76-4D5D-B212-C4B8A18F8203}" dt="2026-05-24T17:40:37.170" v="1" actId="1036"/>
      <pc:docMkLst>
        <pc:docMk/>
      </pc:docMkLst>
      <pc:sldChg chg="delSp mod">
        <pc:chgData name="Mayur M" userId="4f169486fe4141b2" providerId="LiveId" clId="{55D0DEFB-2E76-4D5D-B212-C4B8A18F8203}" dt="2026-05-24T16:31:26.753" v="0" actId="478"/>
        <pc:sldMkLst>
          <pc:docMk/>
          <pc:sldMk cId="3719340072" sldId="258"/>
        </pc:sldMkLst>
        <pc:picChg chg="del">
          <ac:chgData name="Mayur M" userId="4f169486fe4141b2" providerId="LiveId" clId="{55D0DEFB-2E76-4D5D-B212-C4B8A18F8203}" dt="2026-05-24T16:31:26.753" v="0" actId="478"/>
          <ac:picMkLst>
            <pc:docMk/>
            <pc:sldMk cId="3719340072" sldId="258"/>
            <ac:picMk id="4" creationId="{00000000-0000-0000-0000-000000000000}"/>
          </ac:picMkLst>
        </pc:picChg>
      </pc:sldChg>
      <pc:sldChg chg="modSp mod">
        <pc:chgData name="Mayur M" userId="4f169486fe4141b2" providerId="LiveId" clId="{55D0DEFB-2E76-4D5D-B212-C4B8A18F8203}" dt="2026-05-24T17:40:37.170" v="1" actId="1036"/>
        <pc:sldMkLst>
          <pc:docMk/>
          <pc:sldMk cId="778347246" sldId="261"/>
        </pc:sldMkLst>
        <pc:picChg chg="mod">
          <ac:chgData name="Mayur M" userId="4f169486fe4141b2" providerId="LiveId" clId="{55D0DEFB-2E76-4D5D-B212-C4B8A18F8203}" dt="2026-05-24T17:40:37.170" v="1" actId="1036"/>
          <ac:picMkLst>
            <pc:docMk/>
            <pc:sldMk cId="778347246" sldId="261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543E9-1A07-4FC4-B641-210B86B15A0E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48342-3636-497A-9CAD-527C9DEF8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190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9820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5213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028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6396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1ffb817594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1ffb81759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3284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62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6647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4459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8695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8510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9972" y="2404534"/>
            <a:ext cx="8639503" cy="1646302"/>
          </a:xfrm>
        </p:spPr>
        <p:txBody>
          <a:bodyPr/>
          <a:lstStyle/>
          <a:p>
            <a:pPr algn="l"/>
            <a:r>
              <a:rPr lang="en-US" dirty="0"/>
              <a:t>UNIT 5 - Memory allocation in C programs:</a:t>
            </a:r>
            <a:endParaRPr lang="en-IN" dirty="0"/>
          </a:p>
        </p:txBody>
      </p:sp>
      <p:sp>
        <p:nvSpPr>
          <p:cNvPr id="3" name="AutoShape 2" descr="data:image/png;base64,iVBORw0KGgoAAAANSUhEUgAAANkAAABRCAYAAABfXQPDAAAQAElEQVR4AeydB3iVVfLwf+eWJDe9UhJKaIGA9F4EQbGAFBFQARV7V/RvW3Ut66666ooNO4rYUBAVBUTBgtKl9w6hhZBGerv3fjPvzYUAQcna9nu8L+/c02bmzJkzc+r7EJvH4/F6PAHweAI68HgCOvB4fnsd2Ag8AQ0ENPC7aiDgZL+regPMAxqAgJMFrCCggd9ZAwEn+50VHGB/RAN/2UjAyf6yXR9o+B+lgYCT/VGaDtTzl9VAwMn+sl0faPgfpYGAk/1Rmg7U85fVQMDJ/vCuD1T4V9NAwMn+aj0eaO8froGAk/3hKg9U+FfTQMDJ/mo9HmjvH66B/x0nM2CM+a+AwBPQwP+wBv48JxOliEsdcaricsPu3AqW7clh+rqtvPTDQib8MJuJiz5j4sKPmbjoE15f+DkvfD+XN5euZM6WNDYcLOJQoRcPwqnSQYVt4A1o4H9KA3+Kkxnjc4rcUpi/I5vJyxby4rfjmb3yevIyB5ISfCbnJJ3PsEYjGNnkIi5pNoqLml7MsOSRDE0exukJ5xBd3p9Nu0fw9o938/L89/h49RY2ZJTg9vp4G2P+pxQdEOavq4E/1MmMMXhl1tmaWcqrC5fw9oKHOZw1hL51hnBnlzu5vsNEzmiwmAah6TSJz6FuRBEHdoWw4Ic4Nq0LIy60jKSIAmIqCuhabyvDUmZxZ4+nueq0K2gUdB4rt4zmmW8m8cWGNHKLwRiDIfAENPDnasD2R1Qvto4xhjUHipgwfybfr7+SvrWHcHP7RxjU/Ec82R5WrIwHj4OMjFAefTKJ4mIX6QdC+eDjCLp0KiA2SkT1Oti1J4YnX6hLeZmTsrIg3v8oiQ2rY2kRk8boNtO5ofX1RFYM4s0f/8GUFZvJKcGqm8AT0MCfpAHb712vMYb9+R5e+vEHlm65hqGNLuXqLu+TEn8Qu1ReWiKOMj2K9ZtCyc0LosLrwukI5aOpUZRVOCkuM7g9dj77MoTi0mDWrQ+nsMjOgYNBVrh6bRDzl4Tz3fxIsBnC7B561N3IrZ0fpkHwYN748XFmb9xPeeUyksDz19PAn9zi383JxLekaYY5m9N5d8GD9Ks7gqvbvU9iaD4zpieQV+ACBwQHV3DeWYXk5Hr56tsI0tKCGTPyMIcL7ISHehjQt4itW120SS0iKyuIlKalnN6tkPUbQlm7IZKoSLvQuul7ukxZFV5KKoIY/1IimYei6V5nJ+M6/J2SvJE8/90M0uRgxRgjcgXegAb+OA3Yfo+qjDHkywz00oIFHM4ezR3dnqBxaBZutwOb3bB6XTQPP1ZbloMRIDYfEVZK29Ry+vQopmVKBskNMxh7ZQ5FdhtJbZ2ENgySMIISl4OYpEIGDMjkjF45JCcWMfTcHGonlFJSKk0Rp/1peQghrlJiY8qY810i7vJgLjhtASOaXsGUxQ/x3fZMjDEYAk9AA3+MBsQyf9uKjDHszXMz4bt36Rp/KSObf8umjXF8+X0dnhxfV2awINq3KaN7J5j+eTSe8iAaNz5Mi06FbCxpxLQ9Y3hr86N8sG0S8zNnsjBjJityZ7AkcwbLcr7gy32f8N62FwXndhYU94LaYVw6JpfIiEIwNlavdXF2vzIOHAihebMCWX7aeefd+tQLy2Nct8fZsfda3l++GY8xyEvgCWjg99bAb+hkXjFaw7asciYveI6Lm99OpwY72bI9jknvh3FO/zxSmpXz7Q+RxMWW0b9fBldcnsGP+5oyYcWdTNv5Ph7XbM5s/TpX9LiH63qMYFTHHlzauQOXd2kj0JZLOnaS8CyuO/0aLu76b1omT2N9wWxeX/8CUzYNZcehOEYNzyb7kJ1Dh5wkNyhi564IVqwKYX96KMWHXVzZ7hPC3WN5fcEyyj1GZP69VRzg/1fXwG/mZEZmEXWwj5aO55p2D1E3JI8fv6tPSmo+/XoX8tKrEdSv56B1y0K6dcuQ2akFE1Y/Tqb5jJFdn+SW0wfQr1ldGsfaCXV48XpPDkYuAmJDoW3dUEa0bcltfa/itMbv8tXeaUzdewm1Uw2duqbLiWWUYHpo1qSQPXvDWbEmngpZPg5utZjkkGt5fdFCrHu1v4gVBJr552jgN3EyYwz75ATxw6Uvc3XbfxEfXIxbDiBiY92sXF6LM+XwIiTYUL92Dt6YcJ5ecg+5tulc3/t2hrVuTK0wcZuqTnUKuqjqhHbjtRzu+l69Oav1y8zY/R5TVg2gcdM82rTIxRXilmVkKKf3ymD33lC+nVeLc1qsIjl4HG8vXQMiP4EnoIHfSQO/2snUPgvL4Z3F0xjd8hHinCVyupfEI0/FM2MOTP4wiI3rXNxw/X6WlbTji53vMKbbo+JcDQl3Hp2tfm37/E7XNM7BuD5nUbfOZF7b8ABphRH06FrEWf0yOZQRzGtvRWC3Q3lROANSlhFacScz1u8RPzO/VoQAfUAD1WrgVzsZGCYvW0rvun8nOT4bm7OCMRflMLC/m7GXFPP4A/tJaZHHy0vGUOZ4h1v79KNupM23HOS3f2RCFN4e+jSJ4/Ie9zJl82vkRtYlKbGEV96MYdTIfHqflcMbk6PYui2ai9t+zc79/2S1XJQbE3C0375HAhx/lZMZY5i35RAR7n/Qo/4WNq+LJG1PCAm1S2jUqIjt2114gz28suYGWiU/z/C2jcQlESdQxatB/16gTgx1Igy39LmAxQffZEF6S+68KZ22bfJZvSxcLr5tIoiLQ+lhXN52MrPWvEteKRhZelLDxxgjdMfCL7Ew5lh8Y46mq9IaczTfGGMVGWOs+qxE5Y8xvjxjTgwrUaoNjKkZfnVMjKkZD2NOxDfGl1cd/5rmGePjZczR8Od4GHNyPGOOlhnji/8cr+rKxNKqy/7lPKmPzEJYvnMiw1t+iX5tsXx1OE8+34D7Hkxk104nXbtn8fLya+je4h/0biyHEF6PMPYeBZ125GhCrP1oXtV0deWnmid8dAnpkkOUG3v1ZFP+BFbmNQHj5os54XIA4yTnsJf8QhfRYSX0SfoP01etAmqmEmMMxcXF7Nq1i23btsmFud4Huk9wAmF85DXG4PF4yMnJseh27NghVw4HyM/Pp6Ki4hjakpISi7/b7bbojTFoXOvU9lmZ8qNpBS2TpMW/rKyMoqIiGdRU55p7FIwxVj2lpaWkp6dbcmio9RnjKzuKXX3MGB9eeXk5hw4dsnjs37/fqtMYX9nxlCqzyqn1qnwaKr2Gmq96OZ7mVNPG+OpUvgcPHrTkOXDggKU/Y3xl1fHSNqsMWmaMD88YX6h5KrPKpTjaP5pXE6iZRR3D2TBj7Qr6J7+GvdxQUergggtyOKtPGaMvKqdNm2wmrbmQdo2vp3v8FbgP98OTd7bAWUchv0o8r5p4deWnmlfJz324P/aC3lzbcSHLDk1g9b763HLVQQb0T6NLr0Pk5dtYtiSBHo23UFT4AhszSizjO6ap1SSMMZaxv/fee1x99dU89thjPPzww1x22WVcf/31LF++/AQ+xhjLiebNm8ett97KlVdeyd///ncLrrrqKsaMGWPx+vjjjy1aYwwTJ07khhtusGDcuHHccccd3HLLLRZNdnb2EbypU6dy8803c+2111rhjTfeaPF69NFHKSgosPD8zTDGsHv3bsaPH8/YsWO55557+Mc//sFNN93EpZdearVlw4YNFo0xxk92TGiMQR3rjTfe4IorrrDk+uc//4nKqO24//77WbZsmUVjjI+HMb7BRevVerTN11xzDQoqh9Kqkxrjw7eIT/HHGGMNVC+99JLVprvuugttu+pK5dG+WbVqlcXNGB9/Y4w1AD3//POWDIqrdKqP//u//+P2228/okuV8fLLL+f111+39GIxOsWf/8rJRDa2y31YYcFrtE/ayfqtMSxbkYDxODhNjuyjovJYnN2W0Ih/0a9pBO6Sb7BVfCswD5tb45WgcYWKynTVUPMVquZpXPMUNK6gcT9ouipofsU8TNkPBLmXc1X3PszcfR/ucJv1tcmLz9Xhg49CyS9wUZTrYmDTT/h647enqDp47bXXLFAj08599dVXufDCC1m5ciU//vjjMXyMMRw+fJhHHnmE++67D3WQv/3tb7z88su88sorPPHEE7Rq1Yp169bx2WefoaOxMlDeSqMz0uLFi1Hj9ztnbGysZSQ60o4ePRo1bJ0NV6xYwebNmy2HeeCBB4iIiLDwjDGWgXzyySfWQDBjxgyGDRvGc889h8qvxn/GGWcwc+ZMy7jUwXUEN8aoKEfAGMP333/Pddddx5tvvknv3r0th33xxRctXspz4cKFluM99dRTR2YSldMup05qzEqr+tBZXOGCCy6wdJOYmGjJeqSyU4gYY5gzZ441wHzwwQece+65PPvss0yYMMGSZ+DAgXzzzTfcdtttqEOpbo3xOZjNZkMHJHWiTZs2sWDBAlavXk2PHj0YPnw46lg6cI0aNYrCwkIUhxo+/5WTgTRq4xLObfwJeA31E8vYc8DG/Y/WwuMuw0QHsy7rAS5qmyxpXSI6lERAO0tAGogCElfQ+PGg+Qq/lK84fqgO18oDN3aiQ2Bg68v4cP0lFJaVUyvBzoVD3YSGedi6w0XD+BzCeYu16cUYo7JR7WOMYZcsD3X26NatG2eddRYOh4OwsDBrdurevTs6IvuJjTGW0+hs9/XXX1OrVi1rlO3SpQvh4eGWE7Rp0wadCa6QWWH79u2o4Sl9aGgoDRs2JD4+Xk5F7RZ+SkoKUVFRx8ioxtu4cWMUVw1H6ZSnyqR8/DB9+nSeeeYZ8vLyLKMbMWIE0dHRhISE0KBBA2s205lTDVGd7K233vKTWqExxhpAdObTNvqNUOVTHnXr1rVmZB1AVCZ1aDV4JTbGaGC198wzz5R9eyOrDcHBwXTq1Ik6deqgsltIp/hjjOGrr77i8ccfJysry3J8XU3oABQibUpKSrL6RGcmdfIpU6ZYA4qfveZpH7Rt29bSg8qsbVHH7NmzJ507d6Z9+/aovDoj6qqguoHHz6+60FZd5s/lGSMGllOBu+x9mtXOYMYXdXjo8TiZxSq48apMmjQpYNqG0Qxtex52i7sq1or8HNs/pMwrtbSt68Llup1sVz2aNCgmyFlGl46HOO20IjwlTvolz+XbzYsF8+ffnTt3WiP03r17rc6tiq3LIHW+qnk6O/3www84nU60A5s0aWKN2NrJfrDJqKoj6k033WQZvdJrmYZVQTu5alrjfjzl74/7Qy03xpCWlmYtPzVfHfVcGfG1TNN+0PTQoUNJTk62Bo4pYpSbZIQ3xlgOoc6ps57uoXSwGDJkiJIc0xbN6N+/P61bt7Z4zJ4925r5NF9B69JQByaNq2FrXPNqAsYYdMmqKwG32406uOpWeShfP2h6wIABaJtVP59++ilLly612qNlCiqDlvlpNNR8Df2gvHW1YIyx2qvlvwBW8X9l/Ut3b6VbnTkg92OdOhRz/RUFNGroIDS4gtWHGhMXdS1N4pwiiNYhl1IY6HoDOgAAEABJREFUjfzPwGDp/B/2XkbTFnnUSSiTJZqLF16O58dFsSTLbBbk/pi9hysw5uRy6+gXFBTEnj17rOWfLg91SaeNbNeunexPL5D2ey0eulnW5YwakoKO2op3PGhnakfr0kRnJE37cYw5Kos6o+YbYyz+xvhCzavOATVfQZd4etiicTW4EBnpq9ah+ZrWtunorby0TTpAaJnCokWLLGc1xtC0aVN09tH8qqA8jDHWkkvjCjNkaao4xhyVVR1D87RcQeM1BdW7HnIonS63Y2JiLL1r2g/KW/WqA5+2Sfvjiy++8Bdbod/JNGGMOTKjGuOTVwcKpdHVAjV8bDXBN4JcWgE7Mr6mTa1dYOwk1i3gtFa5xMaWERzm4bs9F3Fuy1bIOlJAX/F6lFLjfz6owmNc0CjhItYeTmHlaidTpsdSVh7K3v0hMnDYaJ0wl+V79v6ssDpKq5Fpp23cuNFyNJ3B/vOf/1injFWJ1RF1FlHn0P1R/fr1qxafEFcZT8iszNAyXcppvWqkGiqo4ShomTE+fSuukhnjS+teTY1J8xMTE7XopKDOo3g6KGzZssU6sFFk5aGhlulSzB/X8Hho1KiRZazKQ09edR/qx1F6ldcYn2ya9pfVJFR5jDHWaapfnpPRq4MYY6zZdf369daS2Rhf/cYYjDEWqcqle1s9ddTloQ5MusfUPaSFUMOfGjmZSMH2rCKSI+YSHOLhi1kJ3PdQA/72cCLrN0CGN57aMcNJCBMXs47afdIYjC/yP/TbL6Uxy/ZdKKNtPnVrVYiEJcTEyJ2E3UubWjvZfWgR3pPIqwYRIrOAnhAmJCRYBmiMsfZhuufRPc0777yDMb52q3Gp8Ss7l8uF7pc0XlNQJ9WO1nr18EOXlgq6MVcH172IGo+O2sfz1uPn3Nxcy+i1TOXQ8GSgg4ExxmqDLhH1eF1xdWbTUHXwSzx0RlQHU3ytX41W435QHhrXdvnxNF0TULmMMRbJL8mjfWaMsdqk8vj7RIlVFgUdhDIzM61DGz2g0ZNiPQnVvXRkZKSi1hhq5mTC/qe0naRErxYvgu7dCmiVauf8c6F/vzyW7OlF54apgqXmaSTU14bXnFiNXvpaIEZt5C7LOL0cAU0r2CRPSL1yd+UROAFPaRRPecglssUPr1b6s6DK1NksNnIA+0tiaN6smDtvz6BDu2IOHQwlwlWG1z2f/Xke6ZDqWSmPdrIs1P2JdoKOojqjqMFoB74uR726PKueuua5Wp+CHmSoY/mP6/X6QB1OT+sU1Ol1hju+BjUeXd4qDy073uA1rypoO/xppfM7gT/fGENNeCidyuDnaYxB81QeY3xx/ovHGL+dge4Tf46F1le13JijtFqmbdQ+1AHm7rvv5mG5ktEDnieffNLaX6pDV6U/1bjtVBH9eEXFG2kal8HB/eEyIlcwclgaFeVl5Jc4yK04h2bxQbIm9mNrqFUYjESNOo06hQNK3S7Si2qz/EBLPt7Yj2cXD+e+eVcx7qvbGPv5PYyc/ncGTXuEMz94nPvnj+Hjzb24ZPp93DRnHHfPvZZHvx/DxBVDmLW1J6sONmd/UR0Ky8Pw2uw+Z9V61Pm0Tq37BOfz0ioplVWZ7WmZUsS6tVE8/3IsC5fEg9z7nZawnF3ZmRal/Jz01c22zlzqVNohevSryGroeh+mcTX8YDlB07gaZnFxsUZPCsYYjDHHlBtjRK9elI+eeOm+TvcYepKpdSr06dOH2rVro4ZSlVgNWY0oOTnZKjPGN+tWxTk+rrOX0mk7lKd/lqhXr54lhzG/zEOXXErv8Xis01A1Xn89ylvBnzbm2Pb68zU05uRlKo+215hflkdnYa1TZdI+OX5mMsanYx1UVFc6cOoSs2XLlowcOZLo6GgVp8agHnBKRFI/OWIbXs9PRIaUyCgWwo7t8aJwOz26ZbO/NJbYsA7YzHHsJO2wGwrKQ1m6/zReXzmESz+7m25vP0u7iS/TffJ4hn/8ELeL8zz+45U8t2gkb68czNT15/LF+vPYkdmIS9ss4IKWSymtCOWlH0bx1I+X8eB3N3D1F3cy8MN/0lV4tX/zJTpNepFzpvyLm2bfwivLhzBvZxe25DSgyCOOJzIcK5mXlPhwcso6Y3PY2bg5iPg4L/WT5JRRriUSw/ewKX3PsSSVKWMM2mG6V9EO1o7TGaZv3778+9//ZuzYsWhH6oymJGoI2lmap8a7a9cuza4WjDHoRl6Po40R5R2HpXVpnZqtcT9oWkHTGioYcyy9OqaWq8PtlstolceYY3GUTkGP540xllP26tVLsyxQx1YjtMt9l56w6n7FmOp5bN269Yge9Dhcl8lavzLSsGr9xpzIwxhjneCuWbPGkkPpjgeVR2VR0LtB3UMZcyIvpdN9odare67TTz/dOunVtJYZY44MbCqXguZruYKelg4ePFjs/ZdXSkpXFU7ZyZToQH4JQWY7GMjIsvPxTCd3/r0Oi5eEc6C0ES0TG1D1EbkpdYdwx9yb6DzpOXq+8wzXfn4X764ezKqDLTlYGEe5NxhkxsFZDs6ySpC4zDxNEjbx+SUPszs3gReXDOCFAa8wuPXXoIwV31EhtIYydygZBfFsymzK19t68dLSi7lh1l2c9cETdHprAh3enMAziy/AcPTxiiNFStVOR1ds4YYOrQu45vLDNJOlY3FpCLVDcykpSztKcFxMDUy/CNAjfGOMpXztDEXTDtGRX/ckmlaj1gtajavj+Wc4Y6pKBMYYy8F0z6UXz1R5/LyrZFUbVQPyFxxPo7Oeniqqk6oD6P7Nj+sPjTHW5176tYYaWvPmzTnnnHP8xeio3lnujrQdenyuX7YcKayMGGOsfaqe/GldeogydOjQylJfoPn+PZE6iOrIV3Ls7/z58607MMU35lh9Kaaeguodl7ZbB4a1a9dq9jFgjJFJoQQ9vFA+enI7aNCgE3D8MijO8bpTZGNOrF/zfwlsv4RwtNxQUFpCUkQ6lNvk8tbOsPNzePCuTFq2KGBfbir1o6OOolfG3F4XX2w+g00ZzakgCNQ51Jns4iA2j2B5K0EC/+t20DAqjc9GPipOamPIR49wx8x7eGHpubx/wb85s/FCkcFZie0FI3xsblCefv4OcVSbjfyySDYfSBWnbkZ1T7irAQeK4ljyU7Ac40fy+DMxbN7mIja0BKfZKQ4MhhMfPVzIzc1FDzi0Q4wxGGMsxHXr1llG5r+H0kx1vIsvvthyRj3Onzt3rmZbNMYYK9y3bx8PPvigdUSuF8OKYIzPgavuN4wxWnQCqHHoctQYX7kxvlARVUZ1+rvuusu62NalnF4064xsjLHqN8ZX16RJk6zLcF0K695EZ2mlV1CH0C8n9ORQZZo8eTIZGRlH6I0xWh0ffvghq1atsi6e77zzTvQ0U+mtQvkxxlg0ErX2ZspX48b48o0x6CCgy3A9sPA7gOL4QfnprHrHHXegqwVdhmub/LOrMT5eiq/9pKfAesSvOoiLi7P6QssUjDEaWKAOq2AlfoMfW0145BbnEhdyEMQ5Ro0+RKvWRWRlOwiSk8bc0nqEiQ8hM9BRnl5cTgfxkeIItnLJllB+f/atcJIcuZsZFz8se6atYuRO7EpghLPHEBaSx4fDH6d38hIotyrU0pOA1KcOaC8nPqx6lLpRcZYj9u1VyHVX5XDvbTkk1y+VypB691FYJnRVOkBS1qsGGx8fb30CpUaks5POPvopj34poR3fsWNHqyPVGJRI926aHymnVI888gj6yZPev3z77bfWVwh6Sqgzw2mnnYYuL5VGZxS9bNWvQNSJ9ORLD1v00ye/Qyl/5fH0009bzqEzkC5L9VMtPe1UgzHG50A6E+mnTjob6Z2XXnx//vnn1qdgs2bNsr6L1G8ndYmoG/4WLVpYbVBZFLSupKQktC79CkLl0s+SPvroI/Q4XfVw7733ojJrO3T5rPtFpTPGWDOKOqB+/aLLZpVVT0z1G0il0bZpvXqyp4c7+uWLft2iTqg8VIaqoHnq8CqPLgF1JtM2abv187avvvoK7Z+3336bDh06oG3XUOmUj+pUda71a1tUnuzsbOurGJVT48YYRf2voUZOll+ST0RQHp5yO7NmxvDgo3X5YFos+UVBhLoSCJHJxes9KovG7cYmR/pacDT/pDG3k3qRe3l2wBuk5SSwL7Mu3RPX8snIh3hl8D/5W8+PKCl28dOeFO7s/jnt666DcudJ2R0t8JAYFXI0WSUW4wrhcHEUdesUElurlFI59FixJhT97+rstsPiZFUaVEmnHaSGpg6lBqXOpke8X375JWoM2pH6LZ7iVZJYhmqks4YPH259daGf+aiz6ZJKHU2/FtfPs/RES43MP3vo7KanXmpw6pRqQHEyCuvSyL/cUkNRY9DZ706ZNZSHfuSqSymdbf14KovK1KxZM/Q+T0FPSNWR9RMxDVNTU63v+9Ro9R5Q8ZWuKmieLgH1A9wXXniBfv36Wd9UTps2DV3eaZk6uOpH+Su+n15lUafSmUfbol9Q6CdY6vx6wKJfkahudYDSmV8/ZRo4cKCfvNpQ+deXu0etU7/DVKfW7w+1TfotoupF26plWo/iKyNjjLXiUCdTPV166aXWIKODoTqubgV0sFLcXwO2mhCXVRQT4iiVTaiNXJnBEmu5GDaoHGeIeLqJ5ISzhUrmiZEOxMoqUycJxMHqhKfzztBneWvFmQx672ku+uReSj1OmselyanlPqIjDvPUYrnsfvc/3DDrOh7pO4XTam0Emf1OwtWXLa1sGle9k4UGu2T1G8nUTyN5+B9JjJ8QK5eU0h47eNxFlLg9Ph7H/WpHqaEMGzYMNRLtYDVuvVdp2LChNPdE51QWSqcnW7pH0aXYv/71L9Sp1GB1j3f++eejSxrFU3zF0yN73XSrsamTXn311dZX4+qkiqeOrR8mq1HqEvXss89G+eh3hXq8Hxoaeow8ShMsp516GKFLPz0V1ZnloYcesr5d1JFeeSqeylAdaJku4RRXZ7KHH37Y+npfZ+hx48ahvLUOxfPTa1xl1hlbv9HUgUjbpHs+3SNpWtunHzuPHTvW+g5RByNdaiutn091oZbrYNSlSxfr42aVQ9ukoe5xu3btii4tFY/KR+Oap/LoElL1NWrUKLR+1bnWnZycjOJVkvxXgZjfqdO5PRWyjgZHcDmjLjvI5WP2yt2EGGKp5NmCTsqoa4MoMLJn4iSPx0Gt0INMGfY43ZNWs/lQPZADkUOFUaw5lMKF0x5m4AePMnvT6WQWyTGqO4gDebVICsvgo+FP0Ch6N8g+rlruYutBThtNYmV2qgbBbrNTLsvOrh3LuPrSbEaPLMTpEETxLY+01+0RBpKs7lXlnwyqw/fnnYymav6p4PpxNKxKe3xcy4+H43GqSx9PU126Orqqef8NTVV6f7w6Psfn+XF/LjyeRtM1xVeamoCtRsh2pzWLIaP83Dkx/OOxGDIyISrKbU27J+PVpX4MrmAhqs5eZQar5fkvSQIAABAASURBVMrk9UET6NNgFcH2Yl4aMIGru77HuO4zuX7mzaw80IqSiihGf3onKbX2c3ufSTx3zgTa1NpMavxOJg5+kXoRB0B4gcxCVHlkzZoY4aRBTGiVzKPRCpmpvJTSsHkR9ZILaNK0gLZtZNSQMcEmDmi3HcfvKGkgFtDAKWmgRk4WYg+l3BNEfnYw2TlB3H93DvGxDg5n69Cfh7s6JxIxGsks0jQ2GI6fFawZ7BDXdZrDI/NHcvZ7j7Mvry59U5bxwOlTeWP5WazY15q4iBzaJe4lR04BH/r2YgamLOfmXh+TK3upQVMeZdxXY7m83bfUDpdDGc9xTRIn6t4wghhXULXTfnF5EaGOAjL3RJC+P5z3Pohh4yaRVZpks4XJ8vg4fgSegAZqpoEaWVBEcBj5FeEYuxe37INmfhnOrHkO8vM8cmCQTkk5mOMGfp2KXU4n57XQZZ6swQD0kQvi6KBc3rvgSUpKbazY1Zmv5ah/VUYzdmcmyfLwQVaknwamjFu7/CR4s4gKPUxWUW0umnYv32/vwIbshnyxsS9r0jqTWxDKO0OeIcJ5WJxZPITKRxz/nJQ4SVTf1NziYmJd+Xz1XTjPvJhIZLjT+rxK7huo8EYR6jyuQcIp8AY0UBMNVG95J+EQHRrNocLahIeX4wopJymxjJFDC6mbUC7GvV+OwpWweqMclFoLh1PKvQIyg0U788Vx/s1ZqYs4u8lPNKi1gTOafU+ww82gDx9m/aFUsFVQKyqfrvUycdjc9G+yX4jLySqO5+Kp98lldm1x3u9Jit/EOc0W07/FAiaroznyxNFkeeqBxGgHZ6fEC131776cHMIcmYwakc4/799Lk2SDXUYKb4Ww8NYjLAhkCpSfY19jjAwopwCVZMYci1uZfUxgzM/jGHNsuTFH0yLkEV7GHM03xhfXQmN8cWN8oeYdD8b4yoypDAVBoqfUVkG1XmMqaX8htJDlR9B+nr/gVH2NOZG/lhtzbD5Gc48FYwzGHIVjS8EAxphqgf/yqYGTeQkPCmZvfl0wXoYMzuD0fjm0apVNTFwptV0b5EI6j2ofr5fuyXH0Sg5DvwuMECd47My3+Wl/U/497xJ61l/P5uuu45n+k2TpdyVr97cGRxkYD9nFoQyeMojTXrqcmVuTJV88x15OekFdxn15lRzlz2DrDdcysOky3lh0Pgv3NufWrjNx2YukLji3eTR1I13iJ+rdnPAUlOwiMeIQ2LwERRTRsmU64WHFZJeGUEay7BGrmi/WI33At9vSeXtZGp+uP8j0tem8v3wv7/y0l8nL9/GWhBOX7eX9lXs5kF9EcXk5UyT+1k8HeGflAb7cnC63iR7pSIud9WNEp98LzzeX7WPiT/t4/sdtZBSUCI6Rcq8V5paUMnXNfu6YsZ5rPlrJLZ+u47kfd7L6QK7gYOEczC/hP99t4dUlaXywKp1XFqcxadlOcmTG/tCSYb/IsJ85W2RpLXUqdyofbdf8HRm8KbJPFDlUhnSRf/amA0z+KY3P1h3k4zXpvCttnVwJbwnum4I7ZdVeMgtLhZOXz9bu5b0V+/hMdDNN5FX8d0Qvk0Uvb1bif7puv6x8KkRm+GlPDsrnw1UHeHfFfsbP387fv9zCk9/tYO62Q7JF8bVf5SsqK2fCgm1MWLiL96V9yu+FH7Zbupq54YDIvo93V+1n+voDso93C/+jLVT6VXuzmbh0L5N+8tWzNTP/CI4xhhJ3hfTPQf42eyNXiY5vmr6WJ77dxoLdmbg90mfSwpq+tpoQ1BZjraCxZXVlRYaF38WQnxtspRtEbGfDgeo/Q/JKJXqKd1WXJDm5O8zbMtvklDp56OubuferW5izvRP7C+MZ9cldrD/YnBZ19mEXM0T0UyHLSpcsTxtG51NcptOKZMq+q0XtdLJL4rj00zvYlN2AdZkNuXHWOJ769hoyCsP5z9mv4goq49pu9aR2oZHfqq/ok3yxibLSn6gdWkRpiZOFP8bKSSMEucpIL4wmxNmgKskx8WiXkwJxnkvfX8+FE9cyd0c2ES6H0NixS3WbM/IY/c46ftydK3k2QoOxHPGyyesZOHGdZUDII6jyq6+x6Jfuyea+LzYTF+okLMiOPkbuGudty6DbC8u4+qONxIY5GdamDm0Sw5m4ZA8dxi/hi03iNIIcIsvbpgmhPDd/D6NErlmbMmkiN/FBDrvowxyV4fV1PPWd7xM5jgjhJTLYwbI9uTwweyvx4UGESzpO2ppVUsEl729g+FtrWZ2eT0SIU9plx2aD5SLzJZKvdMbYiA8LZt3BAoa+uY6Rk9ex93Ax4YIfJDLoYPLlpkOMkvx9ecWAEV4O1qUf5uJJa7n1k80kRAZRLzaINxbvo//Lq7h62lqKK8rQRw+iWtQKY6o42OiJa6Sdu0mOdRHmtEkdNlRPl76zngvfXM+4TzdQVlGB9rXSKoQF29hzuJBbp28QC/OibdN8Y4zY3mHOem05g0VvxWUe0XEivZrE8JXosNdzP/Hiot0cw4xTe0RFp4YokxHSFrB1pKAiiH3pIdx2Twzrt4RLHjSOziArfzknO/zQWga0qMdnF3/OBS3nkRAis56zgKjwTA4U1WHwh49Yn161qZvG3Mum0iUxTU4LxcgqDNd3XM77F84iNKgIxOniQvL5eOQMxrRZxf6cRDniv49NWU1Iik4HRwm1wjK5ocMnfDJ6Me0SZT+mwqsAx4BhS2Yh0UGL0a+99h8MZ9y9sazfEApOZAaqT2qd+sdQ+BPKrn1SHGM7N6ROVAiIYfVoGMPQVnUYKcZ/Wcd6PDkwlcu61Kas3IPNOBjcsh4vDEslLNyORwaJ+2al8c95W4RWXoPMtNAhKZ4buzegU1Ioozs0FAMXQYDFaVkMf3s9u3NKmX5Fax44M0WWyXW5pksyP9zcje71I/hp92HBhOiQYIa0qicDlQudnQe2iOf0RrXECIMY3CqJ8UNScLlsuD2Ge2em8di3WzFCaeTH4zW0S4rlOhmYujUIZVS7BoQHBdGlYQJjOyQRG+ZAR5CzmsZyQava0ta6XC5tfWHYaQxoHUNxuVs4Qc/GCYxqXwdnkLEu5we2qCX4tbi4XV2u6FSfN0a2pFPDcJk1sJ7mCZGckxKLKIpwGagGCf51XZJ546IW2Jx2Ji/OYNoaHUQMwU4HZzarKzJFo4K3rx/OoFaJhAUH0adxbSZc0JJGCUEIM15blMGNn6yj1O3GGCM69tIsIZpbeiZLO12MFVniwl2C62VPbhEXiJMv2JrPhOFNeXZIKwa2qM0lbevx9XWdGdOpDgu2ZwtuzV9bTUlCQ1qxObMOjRvk89Gkg3RofRhvuY3wkDKiHF+zLbPcatDxfPUAJMZlOKdlP7ylhrGt57Bo7Die6v8245cMlD1YCuogQ1vsQm6BuaT1dpC7tZiIAvo22kuCq5CzGu+DcjvnNN1FmDjTkBZpRITnszOnEffPu4xHz5jCN8Lz3m4f4KkI4ewWfQhygJfqn7X71tI1canwhAZJ+Xz45kHaty2w0uszO5AcG1c9YWWukdBukx+pQdunMYXswhLm7zgkjtacfk2P8ggTgzldjPfCttF4PfDgl3t5bO5WIfGKzrwSIsZiIyTIhkc9WXLcsnx5ePZ2cg97xKBrc2aTWmhdfogS43rrktPE6Xz1+Lgg9EKMwV3JR1MKDpudvk0iGN4uFq8bHpi1R5ZDW7RIbVxCL065tjCylAQRUnLQ9kncz9stzmhly88+mRV+Ssvh9ZFt6JkcIzm+V2wam6UbU4USthzKIy27iLcubk0DHaCEt1L45ZSqJamahfqRLsJEF0h96Xm+mYxKIXySqZ4E3Z8pYYjDRqvaoVzRLR5pKhMXZXHT9PWUiR6NUb5eawYOF76lFW4ltuBJWRJu3VdMr6YRXNVZVzDeI3q2C6OnBjXnuh5JFm5Nfyw11ISoY4NGbM1pD3Zo1LhAln8qqLRc3s515rNs94afZxc0kjL7UKErI1Ic5+kFg9kqJ4o4yjA2L08t6kjD56/h3rk90VPM/LJghn40lJQJV/H1zoYQXMYnm1No+uJVXPTxORTLxTSOcrZlNebR7y6W/VeWOHwxFfYr8Tr6qH2cII8xyB4Fsg5/SdPoTNTgbXKw0qhxPsFB5eQXBwltb+pG2VFjPoGBleEVo/SiS0NNSvM1kG72MG97Fm8t3kvtiFDqRriO8NB6Y0JsvCMGdl33BMvI7/9SZpNvtgmtCCXUIQ47QXa7OIkHxEk2ZxUwPy0fnB56JUdR9TFGaaBZfCTdkhOqFklcJJJiu80m8aOvMbI8k2XoO6NO46ru4rBSzd9m7jniaIrpksGgQma6co/w0AwBjRmRT6KVv6paL7Nk6fexzDKJkaHUqdJWp9RrN1K3OKt/wPCKot+Q5e23W7NoEhdBRLBTdKMcj4LNZiyndMsI8NnGDPIL3dSKtcsgEnsUSWJecTyVwG6kAaInyTryOiT92Lkp/HNAQ2xOmLjwEDdajua2cILtNlxOm7XX04zDpWXM3nIY7czejaOlX21H5DLGKIrVtrNkBrUSNfwRLdSAwuulcXwoafn9ZRkkpBVVaKVTWsbvYX/Wx3ICCcb4hOOYxyv5doIiHmLxvjM4571HZKbx0K3BSnA7pPNsVEg4pMVSPLKk8nolXeGgjiubMxutprjEhT7FZS7Oa7KSCGcRFR6H0Nppn7TOcq5z332Y5elnSx3/h08Cr5IcB4Z5W3fSIeETjF2LKjFlaapEazIayZKjB9JCLfx5UFLptMmysb9x2hrGTlnJ/30us5ND5BLKqrUraoXoMFjKJsgS67YzaoMYy/2ydPzXPHU0CHHYcIsQssoUakjLKaO4XKKSXy86RCK+V0f+fXlFZBWVUlBaLoNGKXklMlBpJYJS7q6MSLzqa4yhRNoZYnfwyoUtuel0lQH+NnMvj3/jm9FCguyUV3gpd4v0x7ORUf35+bu44ePVXPb+Cu6fvVNOjcWSpRLBll/fqzOhgttr59Gvt3Ld9NVc/N4KXl6YTkiwD9+HWeVXHCyzyM01H66l3fiF3D5jF90bh/Pt9R04rY7M/qI7P3ap7IdFTVStU8uMsYlNeMR+vPztjGY8M6gRjiB1tEyu+3idLB0rcEg9wU4nHnyN2yd7xn15omTJbxTnszHlpZCeXyyn2CWyfy8nt7jM0rPm1wROyY78DLVBLjHKRrX6sTojmapWqGU24da3/vt8uXGdn+TEUBRl7G3ZUPCGXDzH8ux5E3hp4HMyqskeTfZ65zZZxLQR/2B46regX3AI/r2nv8ukIU/QIDoNBCc1fgvvDXuM27tNlbRdHLWI/5z9Mq8NGk9mQQy7it8Q2RojFixw7GuMEUXBroNT6FFfZl33seWaWpPVl44N6mv0F8EohtvDsNZ1eHJwS14c1pbHBzbC6/ExluoUwwLVkUeMQEd2u83Gfwa15LY+dURMwwOz0/jn3C2WAXhkaeP2KDYyq2kNAl4jxuOF5MbXAAAQAElEQVTLM8ZQKhv6J+ZupNeEJbQZv5juLyxm5sb9Uo/giun56UV9klfllYxykVed3SEO89wQcbTe4mgi7n2z94ijbSVMZjKH9GW57GWwDFF5grBFrJexXerx5KBWvDy8DQ+e3YDy8jIpBGMq8cAyDZXWJkS3nN6Ip85vxcSL2nFt99rWoCAox+B7MQgqsbJffGpICy5sLTNzuZtCgTrhOrgYJTkCFTLTacKiU0JNKIiePALSTE1xW6/GPD2oMUZWApMWi6NNWy8zmEfszSGDiMfCccog6bAJfyEq83itPElJ6JXDlx2c9cpi0fFSOjy7iFcWbadKMwXnl19R5S8jHY/RpWEKS9PPPT5bDMvQOXE7mbmvsz27QoTxiXoiopfLOjXhifMq2J4Zx1Y5GWwWt0eU7KZpbBYz1vewQmMro1Z4LsYbzMLdp9Gq1l5k+KF1rXTmbutAeFAFYa7DNIzOZH9eHdYcqMP4wWUMbV0fRGEn1FuZMWPdOnomvi3H8xXSPUdl1JF31+FYym0jqRdpFxY+hVeSnRCoshW0IEpOrcJlAxghcHazWrJ30qWdl4NyglYmRq04XqlNHcziKvLZhfjp81O5tbc6Gjw0Zy8Pi6OVyyzkd5LkOBeRISJjhYf16QXKxpIr1OmQg5SOnCUX7Tv3FtOxXhSXtJeBT+pQJK/w19CmxgMatUDrLhcntsoFR2V4VhzmZpXBbbOc/Qk5OrfJYFBRaXAWof6IvBrEuBxoO8ODnAxonkDneqGazf7DBWK44q2SMkJvQ+SW5Vycy0mk6CVcZL6sYyItEtRpvIJfWCmtEFR5E0KDuatPE9rUc7FmVxGPfq2zvEp+FMkvm7E4SD2VRZaORW5vpaxiCOJojXhmcDI2OXl9e8khbrCWjjJTi06VLCnKRaOYYJDV2Kq9+ZplcdXIA/1bcXXXBuzaX0iMtOOOPs01u0ZgqxG2IGvnNIyxY4IvYUt2bdQwJfuYd1iz9/hs1SwZecGnBI55VF0OqfnqHv2YtOYfXDTlPlamN8c4Kxi/ZKjswR7l4fmjUd6HiqK57ovbGDb1Ub7c3hmCS5i6qaekH+Hm2TdTJAcc23ISGfPhPby++nFGdBiI3aaqPqZKK2GMEUcspijvGbonbcYrSrUK/D8i07zdZ9G3eTd/zs+GNows421wpEskioeEsBAu7dyY9PwSrpm6hgK529ESvAa9SvKIEQgpYuMyc9lkSZPKuD618Uj5s98dkpPSErTtyrdxTChDUmOQEwymr8uUDbxbygz6T3lGhjjQU8RQMSBNo8rViIbCzy5t1qQftP/yytw+ZzBSg+A5bIbxMnvcIjOaRxztibkH2JBRhhFH8dF5ZWYSZF8CY/xxL41lbzWiXbKc1OZz/cdrZZYQhoJnFxSjwkiIguRpg9smxnJeahLfbs/i4TlbsVXyUi2KNIj68Hg8cuDh5Kae9RAF88rSA/ywKxNjjHLxgVYjYPeljvx6pc4yAR3MNFN1LEnG9WoqK4eGyEqdiYsP8fnGbNG9YkCow8lFbeIl4eYr2ZvpEtEYg/6TTKKCpRYjeDKoBMusp/w0/1TB17ZTxa6Cd3aLrszZORiqcBC5REdOGsZk0SLyMaatlL3JkY6qQixR7exYl4vJo1NpWhs5BFD1SIHNA+JsSOiRZnpl44zDAw6ZdYyUyz7Nl+cGu0faK11Z4SW5jodJlzRHj7AtxQpq1VdlyymGL1ZPZmTLD6XCqqWgRr0zN5YC71ha13GJPXj5padQNk4lcp8imyj25pVSLEu4AknnlVawKTNP9gAbyS22ERcqmwLRTEF5hVzYl8gFe7mw9vFXPdhtNjGAltzRpxZyLCp7JqR+QcHIj43HBqTQvlEY8zce5u4vNpJfVgbaIGTZmy2NEnaqJkmCkOTI3iyjQHBkT5Vjbei0LgVkf+cmXfYfWUfyfXXp0lEd7VaVQWbeImuUVxoFQ6GkKwR05NydUyQyVsjg4Sa3pII1csd1zUfrCXWGWM6BPLmigzLpF3e5kW1BiejGTUG5mxzZ1yzcncX1UzcSIzOWoFqv8qfcK8tgN3v1AlN6dmTbuqTWCaak0MPdn2/jUJEOPoZyTwWHCqTR0r78Ug/lXrUDXzuKpU/S5SQyXS7yJcfirS0Qdj5HG9IIm9iW9pNYlVWueLf1TmZQuxh2Hyjgxo83YtFX6njn4VKQfazNKzZXSVGTwFYTZD+uGkbTOCfh4dez8kAyaqDGGBllQ/hgagKLltZhQIsl5Oc9JCNWjpRLz/uJq4Q+PhHiaC2pHSYFJ22DqklBcI5/PV6iXV4mXZRKSnyUGOeJeCIapbIEe3PxHM5v/C8x+iLBO04mSc7cdgFnp/Y7voYT0sYY3lyynetklgoNgo5NIvl+WxbXfLSK6+Xw4/L3V3HZe2tYJkuP83QWkpFowvwdPDR7k3SwkU5cx4Qfth3Ri+pBR/Snzm/JrX2SsHkrZOLymYCW1YsKZfbV7bm9fxJfbMxi0BvLufT95Qyf/BNrxSiGdEvgyq5JlpxbM/K4edoqolw2ereKYvbGdO6ftQEdmF7+cQtPzN1OpBw83CJLplcW7jhGBruxybIqlRtlRrNTgVd0qwb47PcbGScXu4mRDjo1iuCjVfvlUnwV11a29YoP1rI1u4RzUuNEBi//+nojD87aQvNaIXSSK4sX5qdxrejq+qmrRe6VXC9GXCyOfHrjaMFHZpZtvLVkH92bR5EcG8x1H67h7aU7pF+DubdvfVLrhaFjxo0frWHFnkPicOvJEyfu0zqKQ4Xlgr8S62uY1Tu5RWZTp7TjkTnbpN3rZUzwSBu1FVKVjL639mzK+MFN0LMFEUEypcyLbD2cvH9JW54Y1oSNmUUMeXM5o9/7iVHvLmfm+izObBfFHWc0EHyDoEt46u9/5WQ+9l7OP609c3ZfS4mcIOXlu5jwWjyZ2S6W/hRKQV4oYzt8xMrtf2dxWp40VKzYR3jMrxpR9wYJvCMzWkyIB7GuY8p/NiFG4LJV8MaI5nIRWQvldTy++IMo2vDGwsV0iLuTNgl7cLtDMMEGvSJQfA0X7G1GWMTNpNYKFj4ihxacBLSeEW0b8Orw1iy8uQuLb+nMnGu68PqIdrx8YWvevqQd39zQja339OD/+jay+F3WpSGvjWzHklu7yQFAW0Z1aij5R7tL+h+bGMeTA5sLr45WpwuCJYHWVzvcZS0r1/xfTyaPasf9ZzWT2S+VRTd35ZPL2tOtYbyge2kYG8arI9rz3fVd+P6GTsy6qhP3nNlMLMkwpnMyr13UmiW3dbFkuKh9AzGYY2VQR3t6UAu+vrY9kSFO4QlXdG0sOm7Dolu6CHRmlrT1tRHteE3a+o7I8v1N3aStvRjTIQmP9MnNpzfh3dHtWXZLVxbd3JlPr+yI6koPSj4Y3VHyurPp7h6cK5fOXpmFRravz5RL2/PjTZ1ZcGNXZgv/4e0aoJWP6VCPVeO6skJg4sXtSK0dxaPnpjLvuq5WG7+6tjPjh7QmUpZy57Wsx4si06Jbu/De6HaMk9NFuzHKxqdH/RVF39QjmaW3dqaR9XWFr/2Sben8nr7NWHV7d6aP7cDf+6fw6IDmUlcnvrq6E0NaJQovH76yOlWwnSri8XhekSohzNC58TVM3XAOkRGF9OjqxcjaqXePPDZujiQrPYQbOr3Kjxsf4IcdORhjjmdjpZVX/2Z1eOeSFkQHy3QmywCr4Od+vBBs3GLUKXISlVRt47W6YpnmX/pxISnhN9C36Tr2p0fyzLN1+fSTOHbuiEDsmqziEL7fdxcXtm0nNQpjqpdTCo+8EWKA0a5gOXJ3yNreoCdULqcdvfuJDHFIhznklM6J09iFxhAhedEhTrmfcRArBwcxQisFx7yqhyC5I0tJiMQpS0iVxI+gZaJyWZI5aBDtokWtSFmWhxEmBwpGkLRcApxCHy4zFVYbDMEOO5FyYW0kHSFhVKUMca4gYmQjL15G1UfrcAmP5rWipV02KTJEhQQRLfjBsndxiFxBAqHS1vBgh+WI4UEOaasDhyjTGCP4Tis/yGGzeATJPkbxVTeqhzC5CA51OmW7ZQNLrmDRl1NmcCMDjSFc5A8Tntp+IzyDpA1Ou7F4hgQFWeU2qUdld4osUa4g7DYbEeJoMdIml/BWXesBijGGqo/yVNpmomOXbNC0vf5yLVM96r4rKdKn4yax4VZ7bKizKoYf+9RD26mjHo/pq/TMZvEUmgdZtD+FLu33ceGQXORuj89nh7BjdwLlRQ5u6/Yi63fdxrQ1O2VnYjDGHM/McpKBqYm8LzNanOsXHM0DIeLMLw1ryuUyIwjxCfyMMRzI9/LidzPoGHs1/ZNXkbY9hsTEclqk2sjMiWTfARfSs7y79jIGthkjxkh1rE7grRnaOdohPvDRHc3TtOwxNUORBTTqw9V8X7lkV/sqXrUFkqllx4Lwkvyqr68uyReb8MUlIgg+On++Tw7JPuFVbMX1F/h5aJ4v7uehofLxwYn4Wl4VfHg+HlqLj8LHV8okqbm+cklUvv60htpBGlog5VaoP0fiWp/wkjzlK9nVvj9fdiwPxVW5qmV0Cpm/wsn83L2yDOnKd/seZbfcUcVFF7NydQSDz/ESHlrG/gOR5GWGcn3nd3AWj+H57+eyP99jOZr4gZ+JFWpjzmuRxEdjWpMQ6sG3dDRW2ZEfmeVC7W5eG9GUK7skqzZ0QDtSbIzgC3y/PZNJC/7NsKbX0LPRRgpLw/lgegzrNrjo0imbXl0L6dU3gw/W9qdx4t/RP6mk9R9hFIgENPAbaeBXO5kMGIQHwdjuI3hv/YPkex2MHpFJboGb1NTDrFoTwlffR4jDBDEkZSHnNxjDewsfZPraNArLzAnOpober1ltpl/emsRIg2yopKkSyq86XXSwR5aVzbm0Y0MZ1GTE0nwBY4zFS/8C6HPffSPOfTm3d36QBmGH+WG+LA9nRHDpxbl8/mUE+QWGFi3TmbW+C0WOpxnUqp7lrMIm8AY08Jtr4Fc7mUqkjlE3wnBx1xvlrupBSpxe+vU+wPKVMTROdlNaYmfp8rpk5UbSLPYQ47o+QVTFBbw8/z98LEvIjEIsBzHG5yjIZrhXo1p8fkUbmsXbxdFk+SjHx0mRyIa0NcNa10O84giNG8PqA0W8vOB75qy+gaHJF3FJ61nYK4J4/6PahLq8xES7Wb7Kzq3XZ9Gofg5fbW3HrpLnGNu5jcXr1ywHhEHgDWjgOA0cTdqORn9dTB2tSayTizrfzhur/sGe/Ejaph4ipWkee/Y5qZVQysw54cz6qh5pOyI5s+kKbu1wDwmcz0dL7mbC/DnM23qAbVkVcifjE6tDUixfXtORzvVD6ZAUytzrOtO3SS2d0MgsMqyUW/hpqzfy3Lw3Wbd9DOckjeDGThNpEJlNSWkY6zYmcHb/PL78xkF4WDDNG5cRFl3AzB3d2Vn8Gtf06CYbZpkNvb+u7QHqgAZ+TgO2nyusaZnlm/fEggAABNtJREFUaHJ/dlnP23h/4/NszK9HdHQ+V47JJjunnOISL726F3E4zwFuB/mHQzm9wSZu7vw0FzW9EFNwPl+vuYa3FjzBawum8sHyhSzfvY3hrWSWbG1j4/6tTFo6l1d/eIMpi+9hw46LaB5yLje0uZbRrT8h3hSSnR3Fa28lMumdKH5aa5d0EP3PKCM+IZ9GzQt5c+kwChxvioN1xqlfhgQcrKbdHMCvoQZ+UyfTutXR6kXauOmMMSw89DZTNvSjTlK+LBsLOS3VyQdTXSTWK2XlmjhefDUBT0Uwa1bHElxRQb8mK7ihyyRuavs3Lmk2mt61zqNt1NkMbjCcwcnDaBPZn4H1BnNF6nXc3OFJRredSeukNDnWdkvVTr6cF8/6TU4GnFNK69Z2mjXKEyeroEv3DCISbYxfeDeN67/KqA7N5VDRg+4nhTDwBjTwu2rgN3cylVYdLTLYy42n9yQ29j3+s+ABDlZE063jPi4clEXWQRdpaZF4ZO+lE8kXX4bi9jgpLgxnxoy6ZGbGUpgdRgxl1LUdpnncfpJDM6jvyscmVwIOjx28hoLDwWzaFCWXyw5JV9Dn9CwWL3URF1Mm90NuevfJpVuvXD5d05OPtrzFRd0e5ozG8eJcXrwYAk9AA3+EBn4XJ1PBdZYw8nN28zqM6fkQ8w5MZdKGEZSHOmje7BA9u2bQvnUJW7aFExYG0XIwkZ1jY1eaIcTloagkjGmzInhjSn3m/pDA3PkJrFwXTdq+KErKnCAXmj8ujuKKGxI4lC3Hm8ZLQlwpXTpUiPuU0qHjARbvbsyzi/9FcNQUbj1jMA2jnZaDqXwB+IM0EKiG383J/LrVWS0x0saNvXrROWUi07a9z9ubRpLrCGHo4AxqxebLnqmUhUtiZK/mJDTEzqHMEKKiiigqNOzdAxFyZxYU7OZwvkcOMMqxvqkr99CjSx6vjj9ErbgSmcnAZtelYTbLslJ4dtnDpJV/ytW97+G8FvVwiBOqLASegAb+YA3Y/oj6ZEJDDbxNnVBu6j2QXqlv8c2BGTy/7AGWFnQgsr6bzp3SaZmaxXlnZcmBRClxMQXUr2vn/HPyyc5x0ya1iMJ8EVcuoyMiSkGcJjK6hDbtD1NUYWf5/ka8u3YEL6x8lXzHF1zR80Eubp9KTLD4nwpA4Alo4M/RgFjtH1exOpqR3VDzhBCu7dGFy3o+IkfqM5h34DPGr3iKV1eOZbO7DTlhEWzNiqJLn0I6ds+RvVUBodGlnNG/gJDEUjblJLBkbyqfbBzA0z/exVub3mZn+Ww6przD7f0u5/yW9Ylx+ZzL+8c1L1BTQAPVauAPdTK/BOpsCtEyy/RpHMflnXtxS987OK/d64TFzGJb8dd8LY43ddsUpm3/kA+3T2Hqjg+ZtnMKn27/mEVZszjsnENK8lTG9vo3N/a+hOFtm6Nf0PuXhcrfX18gDGjgz9TAn+Jk/gbrGZ86g4L+B6YNoh10rR/DsNNSZA/XQ5znPK7sNpSrelzAld2Hyt3WIG4540yu7NKBs1Pq06p2KPFhRjaWwkmWhMqH/9EnINZfVwN/qpNVVbtXEuok/w0IaeANaOB/VgP/M072P6uhgGABDfxKDQSc7FcqMEAe0MAvaSDgZL+koUB5QAO/UgN/tJP9SnED5AEN/P+ngf8HAAD//6BbM8oAAAAGSURBVAMAoiLzoxqHaEIAAAAASUVORK5CYII="/>
          <p:cNvSpPr>
            <a:spLocks noChangeAspect="1" noChangeArrowheads="1"/>
          </p:cNvSpPr>
          <p:nvPr/>
        </p:nvSpPr>
        <p:spPr bwMode="auto">
          <a:xfrm>
            <a:off x="3389105" y="54796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8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memory allocation is the process of allocating memory during a program's execution (runtime), as opposed to at compile time.</a:t>
            </a:r>
          </a:p>
          <a:p>
            <a:r>
              <a:rPr lang="en-US" dirty="0"/>
              <a:t>This approach is used when the amount of memory needed isn't known until the program is running, allowing data structures to grow or shrink as needed</a:t>
            </a:r>
          </a:p>
          <a:p>
            <a:r>
              <a:rPr lang="en-US" dirty="0"/>
              <a:t>Key functions in C like </a:t>
            </a:r>
            <a:r>
              <a:rPr lang="en-US" dirty="0" err="1"/>
              <a:t>malloc</a:t>
            </a:r>
            <a:r>
              <a:rPr lang="en-US" dirty="0"/>
              <a:t>(), </a:t>
            </a:r>
            <a:r>
              <a:rPr lang="en-US" dirty="0" err="1"/>
              <a:t>calloc</a:t>
            </a:r>
            <a:r>
              <a:rPr lang="en-US" dirty="0"/>
              <a:t>(), </a:t>
            </a:r>
            <a:r>
              <a:rPr lang="en-US" dirty="0" err="1"/>
              <a:t>realloc</a:t>
            </a:r>
            <a:r>
              <a:rPr lang="en-US" dirty="0"/>
              <a:t>(), and free() are used for allocation and deallocation from a memory area called the heap.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44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aspects of dynamic memory allocation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Timing: </a:t>
            </a:r>
            <a:r>
              <a:rPr lang="en-US" dirty="0"/>
              <a:t>Memory is allocated during runtime, providing flexibility that static allocation cannot.</a:t>
            </a:r>
          </a:p>
          <a:p>
            <a:r>
              <a:rPr lang="en-US" sz="2000" b="1" dirty="0"/>
              <a:t>Data size: </a:t>
            </a:r>
            <a:r>
              <a:rPr lang="en-US" dirty="0"/>
              <a:t>It's essential when the exact size of the data or the number of elements is not known before the program runs.</a:t>
            </a:r>
          </a:p>
          <a:p>
            <a:r>
              <a:rPr lang="en-US" sz="2000" b="1" dirty="0"/>
              <a:t>Memory area: </a:t>
            </a:r>
            <a:r>
              <a:rPr lang="en-US" dirty="0"/>
              <a:t>Dynamically allocated memory comes from the heap, which is a separate memory area from the stack where static variables are stored.</a:t>
            </a:r>
          </a:p>
          <a:p>
            <a:r>
              <a:rPr lang="en-US" sz="2000" b="1" dirty="0"/>
              <a:t>Management: </a:t>
            </a:r>
            <a:r>
              <a:rPr lang="en-US" dirty="0"/>
              <a:t>The programmer is responsible for managing this memory, which includes both allocating it and releasing it when it's no longer needed.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934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66952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Memory allocation –Why do we need it?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44110"/>
            <a:ext cx="8596668" cy="3897252"/>
          </a:xfrm>
        </p:spPr>
        <p:txBody>
          <a:bodyPr>
            <a:noAutofit/>
          </a:bodyPr>
          <a:lstStyle/>
          <a:p>
            <a:pPr fontAlgn="base"/>
            <a:r>
              <a:rPr lang="en-US" altLang="en-US" dirty="0"/>
              <a:t>Memory requirement is not known at compile time.</a:t>
            </a:r>
          </a:p>
          <a:p>
            <a:pPr fontAlgn="base"/>
            <a:r>
              <a:rPr lang="en-US" altLang="en-US" dirty="0"/>
              <a:t>Allows allocating memory at runtime based on user input.</a:t>
            </a:r>
          </a:p>
          <a:p>
            <a:pPr fontAlgn="base"/>
            <a:r>
              <a:rPr lang="en-US" altLang="en-US" dirty="0"/>
              <a:t>Efficient use of memory — allocate only what is needed.</a:t>
            </a:r>
          </a:p>
          <a:p>
            <a:pPr fontAlgn="base"/>
            <a:r>
              <a:rPr lang="en-US" altLang="en-US" dirty="0"/>
              <a:t>Prevents memory wastage caused by fixed-size static arrays.</a:t>
            </a:r>
          </a:p>
          <a:p>
            <a:pPr fontAlgn="base"/>
            <a:r>
              <a:rPr lang="en-US" altLang="en-US" dirty="0"/>
              <a:t>Allows resizing memory using </a:t>
            </a:r>
            <a:r>
              <a:rPr lang="en-US" altLang="en-US" dirty="0" err="1"/>
              <a:t>realloc</a:t>
            </a:r>
            <a:r>
              <a:rPr lang="en-US" altLang="en-US" dirty="0"/>
              <a:t>() when data grows.</a:t>
            </a:r>
          </a:p>
          <a:p>
            <a:pPr fontAlgn="base"/>
            <a:r>
              <a:rPr lang="en-US" altLang="en-US" dirty="0"/>
              <a:t>Allows freeing unused memory using free().</a:t>
            </a:r>
          </a:p>
          <a:p>
            <a:pPr fontAlgn="base"/>
            <a:r>
              <a:rPr lang="en-US" altLang="en-US" dirty="0"/>
              <a:t>Essential for creating flexible data structures like linked lists, trees, queues, graphs, etc.</a:t>
            </a:r>
          </a:p>
          <a:p>
            <a:pPr fontAlgn="base"/>
            <a:r>
              <a:rPr lang="en-US" altLang="en-US" dirty="0"/>
              <a:t>Supports handling variable-sized data (e.g., unknown file size).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903" y="384653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4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1"/>
            <a:ext cx="8596668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calls for Dynamic memory management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08083"/>
            <a:ext cx="9396833" cy="4682358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2400" b="1" dirty="0"/>
              <a:t>void *</a:t>
            </a:r>
            <a:r>
              <a:rPr lang="en-US" sz="2400" b="1" dirty="0" err="1"/>
              <a:t>malloc</a:t>
            </a:r>
            <a:r>
              <a:rPr lang="en-US" sz="2400" b="1" dirty="0"/>
              <a:t>(</a:t>
            </a:r>
            <a:r>
              <a:rPr lang="en-US" sz="2400" b="1" dirty="0" err="1"/>
              <a:t>size_t</a:t>
            </a:r>
            <a:r>
              <a:rPr lang="en-US" sz="2400" b="1" dirty="0"/>
              <a:t> size)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2000" b="1" dirty="0"/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This is the basic call to allocate a memory block of ‘size’ bytes.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The call returns a ‘void *’ pointer which can be cast to the appropriate data type and utilized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Need to always check if the </a:t>
            </a:r>
            <a:r>
              <a:rPr lang="en-US" sz="2000" dirty="0" err="1"/>
              <a:t>malloc</a:t>
            </a:r>
            <a:r>
              <a:rPr lang="en-US" sz="2000" dirty="0"/>
              <a:t>() call is successful in allocating the size required.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If </a:t>
            </a:r>
            <a:r>
              <a:rPr lang="en-US" sz="2000" dirty="0" err="1"/>
              <a:t>malloc</a:t>
            </a:r>
            <a:r>
              <a:rPr lang="en-US" sz="2000" dirty="0"/>
              <a:t>() cannot allocate the required memory, it will return ‘NULL’ which can be used to understand the failure and handle it appropriately</a:t>
            </a:r>
            <a:r>
              <a:rPr lang="en-US" sz="2000" b="1" dirty="0"/>
              <a:t>.</a:t>
            </a: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400" b="1" dirty="0"/>
              <a:t>void free(void *</a:t>
            </a:r>
            <a:r>
              <a:rPr lang="en-US" sz="2400" b="1" dirty="0" err="1"/>
              <a:t>ptr</a:t>
            </a:r>
            <a:r>
              <a:rPr lang="en-US" sz="2400" b="1" dirty="0"/>
              <a:t>)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free() frees the chunk of memory that is pointed to by ‘</a:t>
            </a:r>
            <a:r>
              <a:rPr lang="en-US" sz="2000" dirty="0" err="1"/>
              <a:t>ptr</a:t>
            </a:r>
            <a:r>
              <a:rPr lang="en-US" sz="2000" dirty="0"/>
              <a:t>’. It is important to make sure that ‘</a:t>
            </a:r>
            <a:r>
              <a:rPr lang="en-US" sz="2000" dirty="0" err="1"/>
              <a:t>ptr</a:t>
            </a:r>
            <a:r>
              <a:rPr lang="en-US" sz="2000" dirty="0"/>
              <a:t>’ is a value returned by a previous call to ‘</a:t>
            </a:r>
            <a:r>
              <a:rPr lang="en-US" sz="2000" dirty="0" err="1"/>
              <a:t>malloc</a:t>
            </a:r>
            <a:r>
              <a:rPr lang="en-US" sz="2000" dirty="0"/>
              <a:t>()’.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 err="1"/>
              <a:t>Behaviour</a:t>
            </a:r>
            <a:r>
              <a:rPr lang="en-US" sz="2000" dirty="0"/>
              <a:t> is undefined and can cause errors if ‘</a:t>
            </a:r>
            <a:r>
              <a:rPr lang="en-US" sz="2000" dirty="0" err="1"/>
              <a:t>ptr</a:t>
            </a:r>
            <a:r>
              <a:rPr lang="en-US" sz="2000" dirty="0"/>
              <a:t>’ is not a value that was returned earlier by ‘</a:t>
            </a:r>
            <a:r>
              <a:rPr lang="en-US" sz="2000" dirty="0" err="1"/>
              <a:t>malloc</a:t>
            </a:r>
            <a:r>
              <a:rPr lang="en-US" sz="2000" dirty="0"/>
              <a:t>()’.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1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1"/>
            <a:ext cx="8596668" cy="762000"/>
          </a:xfrm>
        </p:spPr>
        <p:txBody>
          <a:bodyPr>
            <a:normAutofit/>
          </a:bodyPr>
          <a:lstStyle/>
          <a:p>
            <a:r>
              <a:rPr lang="en-US" dirty="0"/>
              <a:t>Additional calls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08083"/>
            <a:ext cx="9396833" cy="4682358"/>
          </a:xfrm>
        </p:spPr>
        <p:txBody>
          <a:bodyPr>
            <a:noAutofit/>
          </a:bodyPr>
          <a:lstStyle/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2400" b="1" dirty="0"/>
              <a:t>void *</a:t>
            </a:r>
            <a:r>
              <a:rPr lang="en-US" sz="2400" b="1" dirty="0" err="1"/>
              <a:t>calloc</a:t>
            </a:r>
            <a:r>
              <a:rPr lang="en-US" sz="2400" b="1" dirty="0"/>
              <a:t>(</a:t>
            </a:r>
            <a:r>
              <a:rPr lang="en-US" sz="2400" b="1" dirty="0" err="1"/>
              <a:t>size_t</a:t>
            </a:r>
            <a:r>
              <a:rPr lang="en-US" sz="2400" b="1" dirty="0"/>
              <a:t> </a:t>
            </a:r>
            <a:r>
              <a:rPr lang="en-US" sz="2400" b="1" dirty="0" err="1"/>
              <a:t>nmemb</a:t>
            </a:r>
            <a:r>
              <a:rPr lang="en-US" sz="2400" b="1" dirty="0"/>
              <a:t>, </a:t>
            </a:r>
            <a:r>
              <a:rPr lang="en-US" sz="2400" b="1" dirty="0" err="1"/>
              <a:t>size_t</a:t>
            </a:r>
            <a:r>
              <a:rPr lang="en-US" sz="2400" b="1" dirty="0"/>
              <a:t> size)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2400" b="1" dirty="0"/>
          </a:p>
          <a:p>
            <a:pPr marL="342900" lvl="1" indent="-3429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This allocates space for ‘</a:t>
            </a:r>
            <a:r>
              <a:rPr lang="en-US" sz="2000" dirty="0" err="1"/>
              <a:t>nmemb</a:t>
            </a:r>
            <a:r>
              <a:rPr lang="en-US" sz="2000" dirty="0"/>
              <a:t>’ items of size ‘size’.</a:t>
            </a:r>
          </a:p>
          <a:p>
            <a:pPr marL="342900" lvl="1" indent="-3429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Additionally, this call also ensures that the allocated memory is initialized to the value 0 (binary 0x0).</a:t>
            </a:r>
          </a:p>
          <a:p>
            <a:pPr marL="342900" lvl="1" indent="-3429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Memory allocated by ‘</a:t>
            </a:r>
            <a:r>
              <a:rPr lang="en-US" sz="2000" dirty="0" err="1"/>
              <a:t>calloc</a:t>
            </a:r>
            <a:r>
              <a:rPr lang="en-US" sz="2000" dirty="0"/>
              <a:t>()’ is also freed using ‘free()’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2400" b="1" dirty="0"/>
              <a:t>void *</a:t>
            </a:r>
            <a:r>
              <a:rPr lang="en-US" sz="2400" b="1" dirty="0" err="1"/>
              <a:t>realloc</a:t>
            </a:r>
            <a:r>
              <a:rPr lang="en-US" sz="2400" b="1" dirty="0"/>
              <a:t>(void *</a:t>
            </a:r>
            <a:r>
              <a:rPr lang="en-US" sz="2400" b="1" dirty="0" err="1"/>
              <a:t>ptr</a:t>
            </a:r>
            <a:r>
              <a:rPr lang="en-US" sz="2400" b="1" dirty="0"/>
              <a:t>, </a:t>
            </a:r>
            <a:r>
              <a:rPr lang="en-US" sz="2400" b="1" dirty="0" err="1"/>
              <a:t>size_t</a:t>
            </a:r>
            <a:r>
              <a:rPr lang="en-US" sz="2400" b="1" dirty="0"/>
              <a:t> size)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2400" b="1" dirty="0"/>
          </a:p>
          <a:p>
            <a:pPr marL="342900" lvl="1" indent="-3429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This is used to either expand or reduce the amount of memory allocated by a previous call to </a:t>
            </a:r>
            <a:r>
              <a:rPr lang="en-US" sz="2000" dirty="0" err="1"/>
              <a:t>malloc</a:t>
            </a:r>
            <a:r>
              <a:rPr lang="en-US" sz="2000" dirty="0"/>
              <a:t>() or </a:t>
            </a:r>
            <a:r>
              <a:rPr lang="en-US" sz="2000" dirty="0" err="1"/>
              <a:t>calloc</a:t>
            </a:r>
            <a:r>
              <a:rPr lang="en-US" sz="2000" dirty="0"/>
              <a:t>().</a:t>
            </a:r>
          </a:p>
          <a:p>
            <a:pPr marL="342900" lvl="1" indent="-3429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‘</a:t>
            </a:r>
            <a:r>
              <a:rPr lang="en-US" sz="2000" dirty="0" err="1"/>
              <a:t>ptr</a:t>
            </a:r>
            <a:r>
              <a:rPr lang="en-US" sz="2000" dirty="0"/>
              <a:t>’ should be a value allocated by one of the previous allocation calls.</a:t>
            </a:r>
          </a:p>
          <a:p>
            <a:pPr marL="342900" lvl="1" indent="-3429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‘size’ is the new size that is desired.</a:t>
            </a:r>
          </a:p>
          <a:p>
            <a:pPr marL="342900" lvl="1" indent="-34290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The returned pointer points to a chunk of memory which is of the new size. If the memory contents have to be moved, the returned pointer may be different than the ‘</a:t>
            </a:r>
            <a:r>
              <a:rPr lang="en-US" sz="2000" dirty="0" err="1"/>
              <a:t>ptr</a:t>
            </a:r>
            <a:r>
              <a:rPr lang="en-US" sz="2000" dirty="0"/>
              <a:t>’ value passed as the first parameter.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985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78372"/>
            <a:ext cx="8596668" cy="709449"/>
          </a:xfrm>
        </p:spPr>
        <p:txBody>
          <a:bodyPr/>
          <a:lstStyle/>
          <a:p>
            <a:r>
              <a:rPr lang="en-US" dirty="0"/>
              <a:t>Using Dynamic memory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229710"/>
            <a:ext cx="9081522" cy="5391807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stdio.h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stdlib.h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&gt;   </a:t>
            </a:r>
            <a:r>
              <a:rPr lang="en-US" sz="1900" dirty="0">
                <a:latin typeface="Droid Sans Mono"/>
                <a:ea typeface="Droid Sans Mono"/>
                <a:cs typeface="Droid Sans Mono"/>
                <a:sym typeface="Droid Sans Mono"/>
              </a:rPr>
              <a:t>// Required for </a:t>
            </a:r>
            <a:r>
              <a:rPr lang="en-US" sz="1900" dirty="0" err="1">
                <a:latin typeface="Droid Sans Mono"/>
                <a:ea typeface="Droid Sans Mono"/>
                <a:cs typeface="Droid Sans Mono"/>
                <a:sym typeface="Droid Sans Mono"/>
              </a:rPr>
              <a:t>malloc</a:t>
            </a:r>
            <a:r>
              <a:rPr lang="en-US" sz="1900" dirty="0">
                <a:latin typeface="Droid Sans Mono"/>
                <a:ea typeface="Droid Sans Mono"/>
                <a:cs typeface="Droid Sans Mono"/>
                <a:sym typeface="Droid Sans Mono"/>
              </a:rPr>
              <a:t>() and free()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9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main() {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char *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cp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;   </a:t>
            </a:r>
            <a:r>
              <a:rPr lang="en-US" sz="1900" dirty="0">
                <a:latin typeface="Droid Sans Mono"/>
                <a:ea typeface="Droid Sans Mono"/>
                <a:cs typeface="Droid Sans Mono"/>
                <a:sym typeface="Droid Sans Mono"/>
              </a:rPr>
              <a:t>// Pointer to a character array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9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900" dirty="0">
                <a:latin typeface="Droid Sans Mono"/>
                <a:ea typeface="Droid Sans Mono"/>
                <a:cs typeface="Droid Sans Mono"/>
                <a:sym typeface="Droid Sans Mono"/>
              </a:rPr>
              <a:t>// Allocate memory for 100 characters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cp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= (char *) 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malloc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(100 * 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sizeof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(char));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9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dirty="0">
                <a:latin typeface="Droid Sans Mono"/>
                <a:ea typeface="Droid Sans Mono"/>
                <a:cs typeface="Droid Sans Mono"/>
                <a:sym typeface="Droid Sans Mono"/>
              </a:rPr>
              <a:t>    // Check if memory allocation was successful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if (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cp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== NULL) {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    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("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malloc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() failed\n");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    exit(-1);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9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// Store characters using pointer arithmetic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*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cp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   = 'H';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*(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cp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+ 1) = 'E';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*(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cp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+ 2) = '\0';   </a:t>
            </a:r>
            <a:r>
              <a:rPr lang="en-US" sz="1900" dirty="0">
                <a:latin typeface="Droid Sans Mono"/>
                <a:ea typeface="Droid Sans Mono"/>
                <a:cs typeface="Droid Sans Mono"/>
                <a:sym typeface="Droid Sans Mono"/>
              </a:rPr>
              <a:t>// Null-terminate string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9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// Print the string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("%s", 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cp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9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// Free allocated memory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free(</a:t>
            </a:r>
            <a:r>
              <a:rPr lang="en-US" sz="1900" b="1" dirty="0" err="1">
                <a:latin typeface="Droid Sans Mono"/>
                <a:ea typeface="Droid Sans Mono"/>
                <a:cs typeface="Droid Sans Mono"/>
                <a:sym typeface="Droid Sans Mono"/>
              </a:rPr>
              <a:t>cp</a:t>
            </a: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9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    return 0;</a:t>
            </a:r>
          </a:p>
          <a:p>
            <a:pPr marL="457200" lvl="1" indent="0"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900" b="1" dirty="0"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787" y="3311164"/>
            <a:ext cx="2972215" cy="25595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23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7766"/>
          </a:xfrm>
        </p:spPr>
        <p:txBody>
          <a:bodyPr/>
          <a:lstStyle/>
          <a:p>
            <a:r>
              <a:rPr lang="en-US" dirty="0"/>
              <a:t>Using Dynamic memory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76551"/>
            <a:ext cx="8596668" cy="5044965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stdio.h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stdlib.h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8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main() {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*p;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8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p = (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*) 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malloc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sizeof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));   </a:t>
            </a:r>
            <a:r>
              <a:rPr lang="en-US" sz="1800" dirty="0">
                <a:latin typeface="Droid Sans Mono"/>
                <a:ea typeface="Droid Sans Mono"/>
                <a:cs typeface="Droid Sans Mono"/>
                <a:sym typeface="Droid Sans Mono"/>
              </a:rPr>
              <a:t>// allocate memory for 1 </a:t>
            </a:r>
            <a:r>
              <a:rPr lang="en-US" sz="1800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endParaRPr lang="en-US" sz="1800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8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if (p == NULL) {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    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("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malloc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failed\n");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    exit(-1);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8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*p = 50;   </a:t>
            </a:r>
            <a:r>
              <a:rPr lang="en-US" sz="1800" dirty="0">
                <a:latin typeface="Droid Sans Mono"/>
                <a:ea typeface="Droid Sans Mono"/>
                <a:cs typeface="Droid Sans Mono"/>
                <a:sym typeface="Droid Sans Mono"/>
              </a:rPr>
              <a:t>// store value in allocated memory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800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("Value = %d\n", *p);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endParaRPr lang="en-US" sz="18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free(p);   // free memory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    return 0;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sz="1800" b="1" dirty="0"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524" y="3947401"/>
            <a:ext cx="4237716" cy="20293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36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061252"/>
            <a:ext cx="8596668" cy="1470990"/>
          </a:xfrm>
        </p:spPr>
        <p:txBody>
          <a:bodyPr/>
          <a:lstStyle/>
          <a:p>
            <a:r>
              <a:rPr lang="en-US" dirty="0"/>
              <a:t>						</a:t>
            </a:r>
            <a:r>
              <a:rPr lang="en-US" sz="4000" b="1" dirty="0"/>
              <a:t>File Operations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48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are files?</a:t>
            </a:r>
            <a:endParaRPr/>
          </a:p>
        </p:txBody>
      </p:sp>
      <p:sp>
        <p:nvSpPr>
          <p:cNvPr id="185" name="Google Shape;185;p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31296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A file is an abstraction provided by the Operating System to store information, typically on a permanent storage device like a hard disk and be able to retrieve the same later.</a:t>
            </a:r>
            <a:endParaRPr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From a programmer’s perspective, a ‘file’ is just a stream of bytes.</a:t>
            </a:r>
            <a:endParaRPr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Need to get access to read or write to a file by using some calls to ‘open’ a file.</a:t>
            </a:r>
            <a:endParaRPr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Once the task is done, we need to delink the file from the program by using the ‘close’ call.</a:t>
            </a:r>
            <a:endParaRPr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Text files can be read and written using a few simple calls.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72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Opening a file – </a:t>
            </a:r>
            <a:r>
              <a:rPr lang="en-US" dirty="0" err="1"/>
              <a:t>fopen</a:t>
            </a:r>
            <a:r>
              <a:rPr lang="en-US" dirty="0"/>
              <a:t>()</a:t>
            </a:r>
            <a:endParaRPr dirty="0"/>
          </a:p>
        </p:txBody>
      </p:sp>
      <p:sp>
        <p:nvSpPr>
          <p:cNvPr id="191" name="Google Shape;191;p8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dirty="0"/>
              <a:t>In C, before we can read from or write to a file, we must open it.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dirty="0"/>
              <a:t>This is done using the </a:t>
            </a:r>
            <a:r>
              <a:rPr lang="en-US" dirty="0" err="1"/>
              <a:t>fopen</a:t>
            </a:r>
            <a:r>
              <a:rPr lang="en-US" dirty="0"/>
              <a:t>() function.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endParaRPr lang="en-US" dirty="0"/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Syntax 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dirty="0"/>
              <a:t>		</a:t>
            </a:r>
            <a:r>
              <a:rPr lang="fr-FR" b="1" dirty="0"/>
              <a:t>FILE *</a:t>
            </a:r>
            <a:r>
              <a:rPr lang="fr-FR" b="1" dirty="0" err="1"/>
              <a:t>fopen</a:t>
            </a:r>
            <a:r>
              <a:rPr lang="fr-FR" b="1" dirty="0"/>
              <a:t>(</a:t>
            </a:r>
            <a:r>
              <a:rPr lang="fr-FR" b="1" dirty="0" err="1"/>
              <a:t>const</a:t>
            </a:r>
            <a:r>
              <a:rPr lang="fr-FR" b="1" dirty="0"/>
              <a:t> char *</a:t>
            </a:r>
            <a:r>
              <a:rPr lang="fr-FR" b="1" dirty="0" err="1"/>
              <a:t>filename</a:t>
            </a:r>
            <a:r>
              <a:rPr lang="fr-FR" b="1" dirty="0"/>
              <a:t>, </a:t>
            </a:r>
            <a:r>
              <a:rPr lang="fr-FR" b="1" dirty="0" err="1"/>
              <a:t>const</a:t>
            </a:r>
            <a:r>
              <a:rPr lang="fr-FR" b="1" dirty="0"/>
              <a:t> char *mode);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endParaRPr lang="en-US" b="1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sz="2400" dirty="0"/>
              <a:t>Parameters: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b="1" dirty="0"/>
              <a:t>filename: </a:t>
            </a:r>
            <a:r>
              <a:rPr lang="en-US" dirty="0"/>
              <a:t>A string representing the path and name of the file to be opened</a:t>
            </a:r>
            <a:r>
              <a:rPr lang="en-US" b="1" dirty="0"/>
              <a:t>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b="1" dirty="0"/>
              <a:t>mode: </a:t>
            </a:r>
            <a:r>
              <a:rPr lang="en-US" dirty="0"/>
              <a:t>A string indicating the type of access requested for the file</a:t>
            </a:r>
            <a:r>
              <a:rPr lang="en-US" b="1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7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Writing to a text  file</a:t>
            </a:r>
            <a:endParaRPr dirty="0"/>
          </a:p>
        </p:txBody>
      </p:sp>
      <p:sp>
        <p:nvSpPr>
          <p:cNvPr id="197" name="Google Shape;197;p8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8226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fputc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c, FILE *stream)</a:t>
            </a:r>
            <a:endParaRPr dirty="0"/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 err="1"/>
              <a:t>fputc</a:t>
            </a:r>
            <a:r>
              <a:rPr lang="en-US" dirty="0"/>
              <a:t>() is used to write one character to a file.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c → the character you want to write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stream → the file where you want to write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Before using </a:t>
            </a:r>
            <a:r>
              <a:rPr lang="en-US" dirty="0" err="1"/>
              <a:t>fputc</a:t>
            </a:r>
            <a:r>
              <a:rPr lang="en-US" dirty="0"/>
              <a:t>(), you must open the file using </a:t>
            </a:r>
            <a:r>
              <a:rPr lang="en-US" dirty="0" err="1"/>
              <a:t>fopen</a:t>
            </a:r>
            <a:r>
              <a:rPr lang="en-US" dirty="0"/>
              <a:t>().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None/>
            </a:pPr>
            <a:endParaRPr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fputs</a:t>
            </a:r>
            <a:r>
              <a:rPr lang="en-US" dirty="0"/>
              <a:t>(</a:t>
            </a:r>
            <a:r>
              <a:rPr lang="en-US" dirty="0" err="1"/>
              <a:t>const</a:t>
            </a:r>
            <a:r>
              <a:rPr lang="en-US" dirty="0"/>
              <a:t> char *s, FILE *stream)</a:t>
            </a:r>
            <a:endParaRPr dirty="0"/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 err="1"/>
              <a:t>fputs</a:t>
            </a:r>
            <a:r>
              <a:rPr lang="en-US" dirty="0"/>
              <a:t>() is used to write a whole string to a file.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s → the string you want to write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stream → the file where you want to write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None/>
            </a:pPr>
            <a:r>
              <a:rPr lang="en-US" dirty="0"/>
              <a:t>The string must end with '\0' (null character), but this null character is not written to the file.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70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Reading from a text file</a:t>
            </a:r>
            <a:endParaRPr/>
          </a:p>
        </p:txBody>
      </p:sp>
      <p:sp>
        <p:nvSpPr>
          <p:cNvPr id="203" name="Google Shape;203;p1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23345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fgetc</a:t>
            </a:r>
            <a:r>
              <a:rPr lang="en-US" b="1" dirty="0"/>
              <a:t>(FILE *stream)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 err="1"/>
              <a:t>fgetc</a:t>
            </a:r>
            <a:r>
              <a:rPr lang="en-US" dirty="0"/>
              <a:t>()  reads  the next character from stream and returns it as unsigned char (cast to </a:t>
            </a:r>
            <a:r>
              <a:rPr lang="en-US" dirty="0" err="1"/>
              <a:t>int</a:t>
            </a:r>
            <a:r>
              <a:rPr lang="en-US" dirty="0"/>
              <a:t>), or EOF on end of file or error.</a:t>
            </a:r>
            <a:endParaRPr dirty="0"/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‘stream’ should be initialized by using the </a:t>
            </a:r>
            <a:r>
              <a:rPr lang="en-US" dirty="0" err="1"/>
              <a:t>fopen</a:t>
            </a:r>
            <a:r>
              <a:rPr lang="en-US" dirty="0"/>
              <a:t>() call.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char *</a:t>
            </a:r>
            <a:r>
              <a:rPr lang="en-US" b="1" dirty="0" err="1"/>
              <a:t>fgets</a:t>
            </a:r>
            <a:r>
              <a:rPr lang="en-US" b="1" dirty="0"/>
              <a:t>(char *s, </a:t>
            </a:r>
            <a:r>
              <a:rPr lang="en-US" b="1" dirty="0" err="1"/>
              <a:t>int</a:t>
            </a:r>
            <a:r>
              <a:rPr lang="en-US" b="1" dirty="0"/>
              <a:t> size, FILE *stream)</a:t>
            </a:r>
            <a:endParaRPr b="1" dirty="0"/>
          </a:p>
          <a:p>
            <a: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fgets</a:t>
            </a:r>
            <a:r>
              <a:rPr lang="en-US" dirty="0"/>
              <a:t>()  reads in at most one less than size characters from stream and stores them into the buffer pointed to by s.</a:t>
            </a:r>
            <a:endParaRPr dirty="0"/>
          </a:p>
          <a:p>
            <a: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Reading  stops  after  an EOF  or a newline.  If a newline is read, it is stored into the buffer.</a:t>
            </a:r>
            <a:endParaRPr dirty="0"/>
          </a:p>
          <a:p>
            <a: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/>
              <a:t>A terminating null byte ('\0') is stored after the last character in the buffer.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23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1ffb817594_0_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Closing a file – fclose()</a:t>
            </a:r>
            <a:endParaRPr/>
          </a:p>
        </p:txBody>
      </p:sp>
      <p:sp>
        <p:nvSpPr>
          <p:cNvPr id="209" name="Google Shape;209;g21ffb817594_0_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915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 dirty="0"/>
              <a:t>After finishing the task of either reading/writing to the file, it is good practice to close the file – this detaches the file from the program and the Operating system ensures that all the contents are properly saved on to the permanent medium like hard disk.</a:t>
            </a:r>
            <a:endParaRPr sz="1600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 dirty="0"/>
              <a:t>Typically, at the end the program, this happens automatically even if there is no call to </a:t>
            </a:r>
            <a:r>
              <a:rPr lang="en-US" sz="1600" dirty="0" err="1"/>
              <a:t>fclose</a:t>
            </a:r>
            <a:r>
              <a:rPr lang="en-US" sz="1600" dirty="0"/>
              <a:t>()</a:t>
            </a:r>
            <a:endParaRPr sz="1600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fclose</a:t>
            </a:r>
            <a:r>
              <a:rPr lang="en-US" b="1" dirty="0"/>
              <a:t>(FILE *stream)</a:t>
            </a:r>
            <a:endParaRPr b="1" dirty="0"/>
          </a:p>
          <a:p>
            <a:pPr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The  </a:t>
            </a:r>
            <a:r>
              <a:rPr lang="en-US" dirty="0" err="1"/>
              <a:t>fclose</a:t>
            </a:r>
            <a:r>
              <a:rPr lang="en-US" dirty="0"/>
              <a:t>() function flushes the stream pointed to by stream (writing any buffered output data using </a:t>
            </a:r>
            <a:r>
              <a:rPr lang="en-US" dirty="0" err="1"/>
              <a:t>fflush</a:t>
            </a:r>
            <a:r>
              <a:rPr lang="en-US" dirty="0"/>
              <a:t>(3))  and  closes  the  underlying  file descriptor.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65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Example –Open/create a file and write 2 lines</a:t>
            </a:r>
            <a:endParaRPr dirty="0"/>
          </a:p>
        </p:txBody>
      </p:sp>
      <p:sp>
        <p:nvSpPr>
          <p:cNvPr id="215" name="Google Shape;215;p113"/>
          <p:cNvSpPr txBox="1">
            <a:spLocks noGrp="1"/>
          </p:cNvSpPr>
          <p:nvPr>
            <p:ph type="body" idx="1"/>
          </p:nvPr>
        </p:nvSpPr>
        <p:spPr>
          <a:xfrm>
            <a:off x="838200" y="947058"/>
            <a:ext cx="10515600" cy="5769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stdio.h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stdlib.h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main()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FILE *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char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buf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[100];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=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("a10a11.txt","w");   /* </a:t>
            </a:r>
            <a:r>
              <a:rPr lang="en-US" dirty="0">
                <a:latin typeface="Droid Sans Mono"/>
                <a:ea typeface="Droid Sans Mono"/>
                <a:cs typeface="Droid Sans Mono"/>
                <a:sym typeface="Droid Sans Mono"/>
              </a:rPr>
              <a:t>Open for writing at the start, file is created if it does not exist */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if(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== NULL) 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("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failed\n");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  exit(-1);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fputs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("This is the first line\n",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fputs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("This is the second line\n",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fclose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97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3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– Open a file and append 2 lines</a:t>
            </a:r>
            <a:endParaRPr/>
          </a:p>
        </p:txBody>
      </p:sp>
      <p:sp>
        <p:nvSpPr>
          <p:cNvPr id="221" name="Google Shape;221;p87"/>
          <p:cNvSpPr txBox="1">
            <a:spLocks noGrp="1"/>
          </p:cNvSpPr>
          <p:nvPr>
            <p:ph type="body" idx="1"/>
          </p:nvPr>
        </p:nvSpPr>
        <p:spPr>
          <a:xfrm>
            <a:off x="838200" y="903514"/>
            <a:ext cx="10515600" cy="558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stdio.h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stdlib.h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main()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FILE *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char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buf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[100];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=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("a10a11.txt","a"); /* Open for appending, writes go to the end of the 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                                                   existing file */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if(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== NULL) 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("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failed\n");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  exit(-1);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fputs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("This is the third line\n",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fputs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("This is the fourth line\n",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fclose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96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8"/>
          <p:cNvSpPr txBox="1">
            <a:spLocks noGrp="1"/>
          </p:cNvSpPr>
          <p:nvPr>
            <p:ph type="title"/>
          </p:nvPr>
        </p:nvSpPr>
        <p:spPr>
          <a:xfrm>
            <a:off x="315310" y="365126"/>
            <a:ext cx="11038490" cy="58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US" sz="3100" dirty="0"/>
              <a:t>Example – Open/create file and write 26characters</a:t>
            </a:r>
            <a:endParaRPr dirty="0"/>
          </a:p>
        </p:txBody>
      </p:sp>
      <p:sp>
        <p:nvSpPr>
          <p:cNvPr id="227" name="Google Shape;227;p88"/>
          <p:cNvSpPr txBox="1">
            <a:spLocks noGrp="1"/>
          </p:cNvSpPr>
          <p:nvPr>
            <p:ph type="body" idx="1"/>
          </p:nvPr>
        </p:nvSpPr>
        <p:spPr>
          <a:xfrm>
            <a:off x="838200" y="1088571"/>
            <a:ext cx="10515600" cy="5584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Droid Sans Mono"/>
                <a:ea typeface="Droid Sans Mono"/>
                <a:cs typeface="Droid Sans Mono"/>
                <a:sym typeface="Droid Sans Mono"/>
              </a:rPr>
              <a:t>#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include &lt;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stdio.h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stdlib.h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endParaRPr sz="22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main()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{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FILE *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;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= 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("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alpha.txt","a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");   </a:t>
            </a:r>
            <a:r>
              <a:rPr lang="en-US" sz="2200" dirty="0">
                <a:latin typeface="Droid Sans Mono"/>
                <a:ea typeface="Droid Sans Mono"/>
                <a:cs typeface="Droid Sans Mono"/>
                <a:sym typeface="Droid Sans Mono"/>
              </a:rPr>
              <a:t> /* Open file for appending */</a:t>
            </a:r>
            <a:endParaRPr sz="2200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if(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== NULL) {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  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("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failed\n");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  exit(-1);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char c = 'A’;           </a:t>
            </a:r>
            <a:r>
              <a:rPr lang="en-US" sz="2200" dirty="0">
                <a:latin typeface="Droid Sans Mono"/>
                <a:ea typeface="Droid Sans Mono"/>
                <a:cs typeface="Droid Sans Mono"/>
                <a:sym typeface="Droid Sans Mono"/>
              </a:rPr>
              <a:t> /* Write 26 characters to the file.. A to Z… */</a:t>
            </a:r>
            <a:endParaRPr sz="2200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for(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=0;i&lt;26;i++)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{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   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fputc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((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) c, 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   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c++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;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fputc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((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) '\n',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fclose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22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ct val="100000"/>
              <a:buNone/>
            </a:pPr>
            <a:r>
              <a:rPr lang="en-US" sz="2200" b="1" dirty="0"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2200" b="1" dirty="0">
              <a:latin typeface="Droid Sans Mono"/>
              <a:ea typeface="Droid Sans Mono"/>
              <a:cs typeface="Droid Sans Mon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92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6"/>
          <p:cNvSpPr txBox="1">
            <a:spLocks noGrp="1"/>
          </p:cNvSpPr>
          <p:nvPr>
            <p:ph type="title"/>
          </p:nvPr>
        </p:nvSpPr>
        <p:spPr>
          <a:xfrm>
            <a:off x="378372" y="365126"/>
            <a:ext cx="10975428" cy="658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Example – Reading a file – 1 line at a time</a:t>
            </a:r>
            <a:endParaRPr dirty="0"/>
          </a:p>
        </p:txBody>
      </p:sp>
      <p:sp>
        <p:nvSpPr>
          <p:cNvPr id="233" name="Google Shape;233;p96"/>
          <p:cNvSpPr txBox="1">
            <a:spLocks noGrp="1"/>
          </p:cNvSpPr>
          <p:nvPr>
            <p:ph type="body" idx="1"/>
          </p:nvPr>
        </p:nvSpPr>
        <p:spPr>
          <a:xfrm>
            <a:off x="598714" y="1023258"/>
            <a:ext cx="10972799" cy="555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stdio.h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stdlib.h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main()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FILE *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char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buf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[100];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char *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retval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=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("a10a11.txt","r");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if(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== NULL) 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 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("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failed\n");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  exit(-1);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while((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retval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=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fgets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(buf,100,fp)) != NULL) 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   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("%s",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buf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fclose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04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07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Reading a file – 1 character at a time</a:t>
            </a:r>
            <a:endParaRPr/>
          </a:p>
        </p:txBody>
      </p:sp>
      <p:sp>
        <p:nvSpPr>
          <p:cNvPr id="239" name="Google Shape;239;p97"/>
          <p:cNvSpPr txBox="1">
            <a:spLocks noGrp="1"/>
          </p:cNvSpPr>
          <p:nvPr>
            <p:ph type="body" idx="1"/>
          </p:nvPr>
        </p:nvSpPr>
        <p:spPr>
          <a:xfrm>
            <a:off x="696686" y="936171"/>
            <a:ext cx="10657114" cy="5556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>
              <a:buClr>
                <a:schemeClr val="dk1"/>
              </a:buClr>
              <a:buSzPct val="100000"/>
              <a:buNone/>
            </a:pPr>
            <a:r>
              <a:rPr lang="en-US" sz="1400" b="1" dirty="0">
                <a:latin typeface="Droid Sans Mono"/>
                <a:ea typeface="Droid Sans Mono"/>
                <a:cs typeface="Droid Sans Mono"/>
                <a:sym typeface="Droid Sans Mono"/>
              </a:rPr>
              <a:t>#</a:t>
            </a:r>
            <a:r>
              <a:rPr lang="en-US" sz="1500" b="1" dirty="0">
                <a:latin typeface="Droid Sans Mono"/>
                <a:ea typeface="Droid Sans Mono"/>
                <a:cs typeface="Droid Sans Mono"/>
                <a:sym typeface="Droid Sans Mono"/>
              </a:rPr>
              <a:t>include &lt;</a:t>
            </a:r>
            <a:r>
              <a:rPr lang="en-US" sz="15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stdio.h</a:t>
            </a:r>
            <a:r>
              <a:rPr lang="en-US" sz="1500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sz="1500" b="1" dirty="0">
              <a:latin typeface="Droid Sans Mono"/>
              <a:ea typeface="Droid Sans Mono"/>
              <a:cs typeface="Droid Sans Mono"/>
            </a:endParaRPr>
          </a:p>
          <a:p>
            <a:pPr marL="0" lvl="0" indent="0">
              <a:buClr>
                <a:schemeClr val="dk1"/>
              </a:buClr>
              <a:buSzPct val="100000"/>
              <a:buNone/>
            </a:pPr>
            <a:r>
              <a:rPr lang="en-US" sz="1500" b="1" dirty="0">
                <a:latin typeface="Droid Sans Mono"/>
                <a:ea typeface="Droid Sans Mono"/>
                <a:cs typeface="Droid Sans Mono"/>
                <a:sym typeface="Droid Sans Mono"/>
              </a:rPr>
              <a:t>#include &lt;</a:t>
            </a:r>
            <a:r>
              <a:rPr lang="en-US" sz="1500" b="1" dirty="0" err="1">
                <a:latin typeface="Droid Sans Mono"/>
                <a:ea typeface="Droid Sans Mono"/>
                <a:cs typeface="Droid Sans Mono"/>
                <a:sym typeface="Droid Sans Mono"/>
              </a:rPr>
              <a:t>stdlib.h</a:t>
            </a:r>
            <a:r>
              <a:rPr lang="en-US" sz="1500" b="1" dirty="0">
                <a:latin typeface="Droid Sans Mono"/>
                <a:ea typeface="Droid Sans Mono"/>
                <a:cs typeface="Droid Sans Mono"/>
                <a:sym typeface="Droid Sans Mono"/>
              </a:rPr>
              <a:t>&gt;</a:t>
            </a:r>
            <a:endParaRPr sz="16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main()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{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FILE *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;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char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buf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[100];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int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c1;</a:t>
            </a:r>
            <a:endParaRPr sz="16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=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("a10a11.txt","r");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if(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== NULL) {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 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("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fopen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failed\n");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  exit(-1);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  <a:endParaRPr sz="1600" b="1" dirty="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while((c1 =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fgetc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)) != EOF) {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   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printf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("%c",c1);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}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    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fclose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(</a:t>
            </a:r>
            <a:r>
              <a:rPr lang="en-US" sz="1600" b="1" dirty="0" err="1">
                <a:latin typeface="Droid Sans Mono"/>
                <a:ea typeface="Droid Sans Mono"/>
                <a:cs typeface="Droid Sans Mono"/>
                <a:sym typeface="Droid Sans Mono"/>
              </a:rPr>
              <a:t>fp</a:t>
            </a: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);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  <a:p>
            <a:pPr marL="0" indent="0">
              <a:buClr>
                <a:schemeClr val="dk1"/>
              </a:buClr>
              <a:buSzPct val="100000"/>
              <a:buNone/>
            </a:pPr>
            <a:r>
              <a:rPr lang="en-US" sz="1600" b="1" dirty="0"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1600" b="1" dirty="0">
              <a:latin typeface="Droid Sans Mono"/>
              <a:ea typeface="Droid Sans Mono"/>
              <a:cs typeface="Droid Sans Mon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61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623930"/>
            <a:ext cx="8596668" cy="3458818"/>
          </a:xfrm>
        </p:spPr>
        <p:txBody>
          <a:bodyPr/>
          <a:lstStyle/>
          <a:p>
            <a:r>
              <a:rPr lang="en-IN" dirty="0"/>
              <a:t>				         </a:t>
            </a:r>
            <a:br>
              <a:rPr lang="en-IN" dirty="0"/>
            </a:br>
            <a:r>
              <a:rPr lang="en-IN" dirty="0"/>
              <a:t>							</a:t>
            </a:r>
            <a:r>
              <a:rPr lang="en-IN" sz="4400" dirty="0"/>
              <a:t>THE END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903" y="376489"/>
            <a:ext cx="1970689" cy="5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567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528</TotalTime>
  <Words>2052</Words>
  <Application>Microsoft Office PowerPoint</Application>
  <PresentationFormat>Widescreen</PresentationFormat>
  <Paragraphs>230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Droid Sans Mono</vt:lpstr>
      <vt:lpstr>Trebuchet MS</vt:lpstr>
      <vt:lpstr>Wingdings</vt:lpstr>
      <vt:lpstr>Wingdings 3</vt:lpstr>
      <vt:lpstr>Facet</vt:lpstr>
      <vt:lpstr>UNIT 5 - Memory allocation in C programs:</vt:lpstr>
      <vt:lpstr>Dynamic memory allocation</vt:lpstr>
      <vt:lpstr>Key aspects of dynamic memory allocation</vt:lpstr>
      <vt:lpstr>Dynamic Memory allocation –Why do we need it?</vt:lpstr>
      <vt:lpstr>Basic calls for Dynamic memory management</vt:lpstr>
      <vt:lpstr>Additional calls</vt:lpstr>
      <vt:lpstr>Using Dynamic memory</vt:lpstr>
      <vt:lpstr>Using Dynamic memory</vt:lpstr>
      <vt:lpstr>      File Operations</vt:lpstr>
      <vt:lpstr>What are files?</vt:lpstr>
      <vt:lpstr>Opening a file – fopen()</vt:lpstr>
      <vt:lpstr>Writing to a text  file</vt:lpstr>
      <vt:lpstr>Reading from a text file</vt:lpstr>
      <vt:lpstr>Closing a file – fclose()</vt:lpstr>
      <vt:lpstr>Example –Open/create a file and write 2 lines</vt:lpstr>
      <vt:lpstr>Example – Open a file and append 2 lines</vt:lpstr>
      <vt:lpstr>Example – Open/create file and write 26characters</vt:lpstr>
      <vt:lpstr>Example – Reading a file – 1 line at a time</vt:lpstr>
      <vt:lpstr>Reading a file – 1 character at a time</vt:lpstr>
      <vt:lpstr>                     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allocation in C programs:</dc:title>
  <dc:creator>Anurag Gupta</dc:creator>
  <cp:lastModifiedBy>Mayur M</cp:lastModifiedBy>
  <cp:revision>25</cp:revision>
  <dcterms:created xsi:type="dcterms:W3CDTF">2025-11-28T09:36:20Z</dcterms:created>
  <dcterms:modified xsi:type="dcterms:W3CDTF">2026-05-24T17:40:48Z</dcterms:modified>
</cp:coreProperties>
</file>