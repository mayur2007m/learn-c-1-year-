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7" r:id="rId5"/>
    <p:sldId id="288" r:id="rId6"/>
    <p:sldId id="259" r:id="rId7"/>
    <p:sldId id="289" r:id="rId8"/>
    <p:sldId id="290" r:id="rId9"/>
    <p:sldId id="263" r:id="rId10"/>
    <p:sldId id="293" r:id="rId11"/>
    <p:sldId id="294" r:id="rId12"/>
    <p:sldId id="292" r:id="rId13"/>
    <p:sldId id="295" r:id="rId14"/>
    <p:sldId id="296" r:id="rId15"/>
    <p:sldId id="270" r:id="rId16"/>
    <p:sldId id="298" r:id="rId17"/>
    <p:sldId id="303" r:id="rId18"/>
    <p:sldId id="300" r:id="rId19"/>
    <p:sldId id="269" r:id="rId20"/>
    <p:sldId id="304" r:id="rId21"/>
    <p:sldId id="305" r:id="rId22"/>
    <p:sldId id="286" r:id="rId23"/>
    <p:sldId id="306" r:id="rId24"/>
    <p:sldId id="285" r:id="rId25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SyFAtMpI7sFvu0MZt2NVyHuIS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8D5242-BB3E-4BB6-B6C0-E8975E3CC7C3}">
  <a:tblStyle styleId="{7E8D5242-BB3E-4BB6-B6C0-E8975E3CC7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54"/>
      </p:cViewPr>
      <p:guideLst>
        <p:guide orient="horz" pos="2160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1315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4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4"/>
          <p:cNvSpPr txBox="1"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34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5"/>
          <p:cNvSpPr txBox="1"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35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body" idx="1"/>
          </p:nvPr>
        </p:nvSpPr>
        <p:spPr>
          <a:xfrm>
            <a:off x="1645919" y="2768601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body" idx="2"/>
          </p:nvPr>
        </p:nvSpPr>
        <p:spPr>
          <a:xfrm>
            <a:off x="9326880" y="2768603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sz="3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body" idx="2"/>
          </p:nvPr>
        </p:nvSpPr>
        <p:spPr>
          <a:xfrm>
            <a:off x="164592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body" idx="3"/>
          </p:nvPr>
        </p:nvSpPr>
        <p:spPr>
          <a:xfrm>
            <a:off x="932688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sz="3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4"/>
          </p:nvPr>
        </p:nvSpPr>
        <p:spPr>
          <a:xfrm>
            <a:off x="932688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8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8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8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9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9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7200900" y="1097280"/>
            <a:ext cx="973836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body" idx="2"/>
          </p:nvPr>
        </p:nvSpPr>
        <p:spPr>
          <a:xfrm>
            <a:off x="685800" y="4389120"/>
            <a:ext cx="4800600" cy="506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dt" idx="10"/>
          </p:nvPr>
        </p:nvSpPr>
        <p:spPr>
          <a:xfrm>
            <a:off x="698268" y="9689678"/>
            <a:ext cx="3927765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ftr" idx="11"/>
          </p:nvPr>
        </p:nvSpPr>
        <p:spPr>
          <a:xfrm>
            <a:off x="7200900" y="9689678"/>
            <a:ext cx="69723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0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>
            <a:spLocks noGrp="1"/>
          </p:cNvSpPr>
          <p:nvPr>
            <p:ph type="pic" idx="2"/>
          </p:nvPr>
        </p:nvSpPr>
        <p:spPr>
          <a:xfrm>
            <a:off x="23" y="0"/>
            <a:ext cx="18287978" cy="7372614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>
            <a:off x="1645920" y="8860535"/>
            <a:ext cx="15169896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1"/>
          <p:cNvSpPr txBox="1">
            <a:spLocks noGrp="1"/>
          </p:cNvSpPr>
          <p:nvPr>
            <p:ph type="body" idx="1"/>
          </p:nvPr>
        </p:nvSpPr>
        <p:spPr>
          <a:xfrm rot="5400000">
            <a:off x="6172200" y="-1757679"/>
            <a:ext cx="6035040" cy="150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41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1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1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2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2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2"/>
          <p:cNvSpPr txBox="1">
            <a:spLocks noGrp="1"/>
          </p:cNvSpPr>
          <p:nvPr>
            <p:ph type="title"/>
          </p:nvPr>
        </p:nvSpPr>
        <p:spPr>
          <a:xfrm rot="5400000">
            <a:off x="10740959" y="2968559"/>
            <a:ext cx="8636132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2"/>
          <p:cNvSpPr txBox="1">
            <a:spLocks noGrp="1"/>
          </p:cNvSpPr>
          <p:nvPr>
            <p:ph type="body" idx="1"/>
          </p:nvPr>
        </p:nvSpPr>
        <p:spPr>
          <a:xfrm rot="5400000">
            <a:off x="2739959" y="-860492"/>
            <a:ext cx="8636133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42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2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2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1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 sz="7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4191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Char char=" "/>
              <a:defRPr sz="3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00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◦"/>
              <a:defRPr sz="27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100"/>
              <a:buFont typeface="Calibri"/>
              <a:buChar char="◦"/>
              <a:defRPr sz="2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31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sz="157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31"/>
          <p:cNvCxnSpPr/>
          <p:nvPr/>
        </p:nvCxnSpPr>
        <p:spPr>
          <a:xfrm>
            <a:off x="1790298" y="2606768"/>
            <a:ext cx="149504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3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517929" y="229056"/>
            <a:ext cx="2438400" cy="1171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9880" y="190501"/>
            <a:ext cx="3491457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     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2418184" y="1994611"/>
            <a:ext cx="12581729" cy="140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lang="en-US" sz="54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 PROGRAMMING FOR PROBLEM SOLVING</a:t>
            </a:r>
            <a:endParaRPr lang="en-IN" sz="5400" b="1" i="0" u="none" strike="noStrike" cap="none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lang="en-IN" sz="54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(24EN1202)</a:t>
            </a:r>
          </a:p>
        </p:txBody>
      </p:sp>
      <p:sp>
        <p:nvSpPr>
          <p:cNvPr id="113" name="Google Shape;113;p1"/>
          <p:cNvSpPr txBox="1"/>
          <p:nvPr/>
        </p:nvSpPr>
        <p:spPr>
          <a:xfrm>
            <a:off x="1645921" y="3943430"/>
            <a:ext cx="14889479" cy="184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lnSpc>
                <a:spcPct val="85000"/>
              </a:lnSpc>
              <a:buClr>
                <a:schemeClr val="dk1"/>
              </a:buClr>
              <a:buSzPts val="5400"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UNIT-2: </a:t>
            </a:r>
            <a:r>
              <a:rPr lang="en-GB" sz="54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Strings</a:t>
            </a:r>
            <a:endParaRPr sz="5400" b="1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CB7EC-B44A-6583-6F31-45B1FFA3E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" y="447869"/>
            <a:ext cx="1392594" cy="1392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b="1" dirty="0"/>
              <a:t>                           CONTENT</a:t>
            </a:r>
            <a:endParaRPr b="1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6DC1DF-D384-4F9E-862B-071FD3A73433}"/>
              </a:ext>
            </a:extLst>
          </p:cNvPr>
          <p:cNvSpPr/>
          <p:nvPr/>
        </p:nvSpPr>
        <p:spPr>
          <a:xfrm>
            <a:off x="1645920" y="2888673"/>
            <a:ext cx="14563898" cy="2682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85000"/>
              </a:lnSpc>
              <a:buClr>
                <a:schemeClr val="dk1"/>
              </a:buClr>
              <a:buSzPts val="5400"/>
            </a:pPr>
            <a:r>
              <a:rPr lang="en-GB" sz="66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String handling functions </a:t>
            </a:r>
          </a:p>
          <a:p>
            <a:pPr lvl="0" algn="ctr">
              <a:lnSpc>
                <a:spcPct val="85000"/>
              </a:lnSpc>
              <a:buClr>
                <a:schemeClr val="dk1"/>
              </a:buClr>
              <a:buSzPts val="5400"/>
            </a:pPr>
            <a:r>
              <a:rPr lang="en-GB" sz="66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and</a:t>
            </a:r>
          </a:p>
          <a:p>
            <a:pPr lvl="0" algn="ctr">
              <a:lnSpc>
                <a:spcPct val="85000"/>
              </a:lnSpc>
              <a:buClr>
                <a:schemeClr val="dk1"/>
              </a:buClr>
              <a:buSzPts val="5400"/>
            </a:pPr>
            <a:r>
              <a:rPr lang="en-GB" sz="66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character handling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1645921" y="-103709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0"/>
              <a:buFont typeface="Times New Roman"/>
              <a:buNone/>
            </a:pPr>
            <a:r>
              <a:rPr lang="en-US" sz="8000" b="1" u="sng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80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838200" y="2597727"/>
            <a:ext cx="16535400" cy="694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575945" lvl="2" indent="0">
              <a:spcBef>
                <a:spcPts val="900"/>
              </a:spcBef>
              <a:buSzPts val="3900"/>
              <a:buNone/>
            </a:pPr>
            <a:r>
              <a:rPr lang="en-IN" sz="3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What are String Handling Functions?</a:t>
            </a:r>
          </a:p>
          <a:p>
            <a:pPr marL="575945" lvl="2" indent="0">
              <a:spcBef>
                <a:spcPts val="900"/>
              </a:spcBef>
              <a:buSzPts val="3900"/>
              <a:buNone/>
            </a:pPr>
            <a:endParaRPr lang="en-IN" sz="36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8895" lvl="2" indent="-742950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Pre-defined blocks of code</a:t>
            </a:r>
          </a:p>
          <a:p>
            <a:pPr marL="1318895" lvl="2" indent="-742950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Manipulate and manage strings</a:t>
            </a:r>
          </a:p>
          <a:p>
            <a:pPr marL="1318895" lvl="2" indent="-742950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 various text-related tasks</a:t>
            </a:r>
          </a:p>
          <a:p>
            <a:pPr marL="1318895" lvl="2" indent="-742950">
              <a:spcBef>
                <a:spcPts val="900"/>
              </a:spcBef>
              <a:buSzPts val="3900"/>
              <a:buFont typeface="+mj-lt"/>
              <a:buAutoNum type="arabicPeriod"/>
            </a:pPr>
            <a:endParaRPr lang="en-IN" sz="36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945" lvl="2" indent="0">
              <a:spcBef>
                <a:spcPts val="900"/>
              </a:spcBef>
              <a:buSzPts val="3900"/>
              <a:buNone/>
            </a:pPr>
            <a:r>
              <a:rPr lang="en-IN" sz="3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What are </a:t>
            </a:r>
            <a:r>
              <a:rPr lang="en-GB" sz="3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</a:t>
            </a:r>
            <a:r>
              <a:rPr lang="en-IN" sz="3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Handling Functions?</a:t>
            </a:r>
          </a:p>
          <a:p>
            <a:pPr marL="575945" lvl="2" indent="0">
              <a:spcBef>
                <a:spcPts val="900"/>
              </a:spcBef>
              <a:buSzPts val="3900"/>
              <a:buNone/>
            </a:pPr>
            <a:endParaRPr lang="en-GB" sz="36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8895" lvl="2" indent="-742950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GB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handling functions are pre-defined functions in programming languages that perform operations on individual characters or sets of characters</a:t>
            </a:r>
            <a:endParaRPr lang="en-IN" sz="36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945" lvl="2" indent="0" algn="just">
              <a:spcBef>
                <a:spcPts val="900"/>
              </a:spcBef>
              <a:buSzPts val="3900"/>
              <a:buNone/>
            </a:pPr>
            <a:endParaRPr lang="en-IN" sz="36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3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				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E4412-24D6-422A-982F-A80E54B10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ACCB9E-0199-446F-8A66-2AC47DDA08A7}"/>
              </a:ext>
            </a:extLst>
          </p:cNvPr>
          <p:cNvSpPr/>
          <p:nvPr/>
        </p:nvSpPr>
        <p:spPr>
          <a:xfrm>
            <a:off x="1643206" y="272138"/>
            <a:ext cx="1201044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u="sng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IN" sz="8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3E99A-E0D3-4D22-BB21-560F7E428A27}"/>
              </a:ext>
            </a:extLst>
          </p:cNvPr>
          <p:cNvSpPr/>
          <p:nvPr/>
        </p:nvSpPr>
        <p:spPr>
          <a:xfrm>
            <a:off x="789709" y="2406068"/>
            <a:ext cx="15792739" cy="7340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5945" lvl="2" indent="0" algn="just">
              <a:spcBef>
                <a:spcPts val="900"/>
              </a:spcBef>
              <a:buSzPts val="3900"/>
              <a:buNone/>
            </a:pPr>
            <a:endParaRPr lang="en-IN" sz="36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945" lvl="2" indent="0" algn="just">
              <a:spcBef>
                <a:spcPts val="900"/>
              </a:spcBef>
              <a:buSzPts val="3900"/>
              <a:buNone/>
            </a:pPr>
            <a:r>
              <a:rPr lang="en-IN" sz="3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Why to Use String Handling Functions?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text processing tasks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code readability and maintainability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program efficiency and performance Common Operations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 string length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strings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strings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strings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Search for substrings-</a:t>
            </a:r>
          </a:p>
          <a:p>
            <a:pPr marL="1318895" lvl="2" indent="-742950" algn="just">
              <a:spcBef>
                <a:spcPts val="900"/>
              </a:spcBef>
              <a:buSzPts val="3900"/>
              <a:buFont typeface="+mj-lt"/>
              <a:buAutoNum type="arabicPeriod"/>
            </a:pPr>
            <a:r>
              <a:rPr lang="en-IN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Reverse strings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24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0A38-D5AD-468F-9861-97BB1055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 to Use Character Handling Functions?</a:t>
            </a:r>
            <a:br>
              <a:rPr lang="en-IN" sz="54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D72DB-CF71-499A-9E29-CCA87AD6B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125" y="2773123"/>
            <a:ext cx="15087600" cy="6749472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Input Validation: Validate user input to ensure it meets specific requirements.</a:t>
            </a:r>
          </a:p>
          <a:p>
            <a:r>
              <a:rPr lang="en-GB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Cleaning: Clean and process data by removing unwanted characters.</a:t>
            </a:r>
          </a:p>
          <a:p>
            <a:r>
              <a:rPr lang="en-GB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Text Processing: Perform text processing tasks, such as searching and sorting.</a:t>
            </a:r>
          </a:p>
          <a:p>
            <a:r>
              <a:rPr lang="en-GB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Password Validation: Enforce strong password policies.</a:t>
            </a:r>
          </a:p>
          <a:p>
            <a:r>
              <a:rPr lang="en-GB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Improved Code Readability: Make code more readable and maintainable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ECBC5-4167-482D-8803-B03AB1DE2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47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body" idx="1"/>
          </p:nvPr>
        </p:nvSpPr>
        <p:spPr>
          <a:xfrm>
            <a:off x="861646" y="2705100"/>
            <a:ext cx="16535400" cy="658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dt" idx="10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ftr" idx="11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				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55916-A3BE-4913-B797-73031577492A}"/>
              </a:ext>
            </a:extLst>
          </p:cNvPr>
          <p:cNvSpPr/>
          <p:nvPr/>
        </p:nvSpPr>
        <p:spPr>
          <a:xfrm>
            <a:off x="1645921" y="2646639"/>
            <a:ext cx="15727679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Handling Functions</a:t>
            </a:r>
          </a:p>
          <a:p>
            <a:pPr marL="514350" indent="-514350">
              <a:buAutoNum type="arabicPeriod"/>
            </a:pP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Copy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Stringchar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*s, char *t);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 string t to string s.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Concatenate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Stringschar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*s, char *t);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Concatenates string t to the end of string s.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Compare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Stringsint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*s, char *t);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strings s and t lexicographically.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Get String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Lengthint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*s);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length of string s.</a:t>
            </a:r>
          </a:p>
          <a:p>
            <a:endParaRPr lang="en-IN" sz="28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8FC49C-5999-4CC3-935F-1BC4D554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430213"/>
            <a:ext cx="15087600" cy="2176462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for String </a:t>
            </a:r>
            <a: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Functions</a:t>
            </a:r>
            <a:b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691B-2850-4575-84E8-8A6CCBE2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for String </a:t>
            </a:r>
            <a: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Functions</a:t>
            </a:r>
            <a:b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C5931-1ABF-47A6-B63E-AB7AF605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2218" y="2768601"/>
            <a:ext cx="15611302" cy="603504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strchr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- Find Character in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Stringchar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strchr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(char *s, int c);</a:t>
            </a:r>
          </a:p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 pointer to the first occurrence of character c in string s.</a:t>
            </a:r>
          </a:p>
          <a:p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strrchr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- Find Last Occurrence of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Characterchar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strrchr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(char *s, int c);</a:t>
            </a:r>
          </a:p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 pointer to the last occurrence of character c in string s.</a:t>
            </a:r>
          </a:p>
          <a:p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- Find 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Substringchar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(char *s, char *t);</a:t>
            </a:r>
          </a:p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 pointer to the first occurrence of string t in string 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8D525-27C0-42F3-9B37-CE79B133DC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E452-41F0-4E7E-A733-BDFDE612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for  </a:t>
            </a:r>
            <a: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Handling Functions</a:t>
            </a:r>
            <a:br>
              <a:rPr lang="en-IN" sz="6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IN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F97BC-CE6A-423E-AF07-0CDE6B05E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Checks if a character is alphanumeric.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Checks if a character is alphabetic.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Checks if a character is a digit.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Checks if a character is lowercase.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Checks if a character is uppercase.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Converts a character to lowercase.</a:t>
            </a:r>
          </a:p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GB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Converts a character to uppercase.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4A26-81DD-4D9C-B48E-6BD06B373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2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0" y="429905"/>
            <a:ext cx="1673352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11111"/>
              <a:buFont typeface="Calibri"/>
              <a:buNone/>
            </a:pPr>
            <a:r>
              <a:rPr lang="en-US" b="1" dirty="0"/>
              <a:t>Programming example:</a:t>
            </a:r>
            <a:endParaRPr b="1" dirty="0"/>
          </a:p>
        </p:txBody>
      </p:sp>
      <p:sp>
        <p:nvSpPr>
          <p:cNvPr id="167" name="Google Shape;167;p8"/>
          <p:cNvSpPr txBox="1">
            <a:spLocks noGrp="1"/>
          </p:cNvSpPr>
          <p:nvPr>
            <p:ph type="body" idx="1"/>
          </p:nvPr>
        </p:nvSpPr>
        <p:spPr>
          <a:xfrm>
            <a:off x="0" y="2951018"/>
            <a:ext cx="18288000" cy="673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s1[] = "hello";   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s2[] = "world";   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 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"new string"); 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("%s\n", s1);    </a:t>
            </a:r>
          </a:p>
        </p:txBody>
      </p:sp>
      <p:sp>
        <p:nvSpPr>
          <p:cNvPr id="168" name="Google Shape;168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064A48-4444-4778-BAE9-2D82DE3767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BD00CD-7F8B-49F9-8360-EF5E923E28C8}"/>
              </a:ext>
            </a:extLst>
          </p:cNvPr>
          <p:cNvSpPr/>
          <p:nvPr/>
        </p:nvSpPr>
        <p:spPr>
          <a:xfrm>
            <a:off x="0" y="0"/>
            <a:ext cx="18288000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" and ");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s2);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("%s\n", s1);   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s2) == 0)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("strings are equal\n");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("strings are not equal\n");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</a:p>
        </p:txBody>
      </p:sp>
    </p:spTree>
    <p:extLst>
      <p:ext uri="{BB962C8B-B14F-4D97-AF65-F5344CB8AC3E}">
        <p14:creationId xmlns:p14="http://schemas.microsoft.com/office/powerpoint/2010/main" val="3162773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EC914-D31D-4F6D-8E23-BE9F6A655F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A96C5-CA5E-465E-9A03-C720E304F638}"/>
              </a:ext>
            </a:extLst>
          </p:cNvPr>
          <p:cNvSpPr/>
          <p:nvPr/>
        </p:nvSpPr>
        <p:spPr>
          <a:xfrm>
            <a:off x="0" y="517708"/>
            <a:ext cx="18288000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of '%s' is %d\n", s1,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(s1)); 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strchr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 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*p =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strchr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'w');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(p != NULL)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("found 'w' at index %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\n", p - s1);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("'w' not found\n");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997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DF289-40EA-4CEA-8DF1-D00C0B06A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76944"/>
            <a:ext cx="17810017" cy="7112733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ctype.h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 c = 'A’;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alphanumeric\n", c);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82AA3-C3A5-45D0-9834-95689D1749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Google Shape;166;p8">
            <a:extLst>
              <a:ext uri="{FF2B5EF4-FFF2-40B4-BE49-F238E27FC236}">
                <a16:creationId xmlns:a16="http://schemas.microsoft.com/office/drawing/2014/main" id="{D467A49E-8BB3-412C-A1AF-4B555D9CA1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29905"/>
            <a:ext cx="1673352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11111"/>
              <a:buFont typeface="Calibri"/>
              <a:buNone/>
            </a:pPr>
            <a:r>
              <a:rPr lang="en-US" b="1" dirty="0"/>
              <a:t>Programming example: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763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557F8A-B6FE-47A5-BFD0-89BF104D69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F47EA-CB3E-49A1-BA21-87D4450F1850}"/>
              </a:ext>
            </a:extLst>
          </p:cNvPr>
          <p:cNvSpPr/>
          <p:nvPr/>
        </p:nvSpPr>
        <p:spPr>
          <a:xfrm>
            <a:off x="394854" y="298452"/>
            <a:ext cx="17456728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alphabetic\n", c);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'1';    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a digit\n", c);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 = 'a';    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lowercase\n", c);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7945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6B22EE-B656-4A5D-9FBE-85C40AE6EE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41617-A96D-4927-8456-0EE5381B64CA}"/>
              </a:ext>
            </a:extLst>
          </p:cNvPr>
          <p:cNvSpPr/>
          <p:nvPr/>
        </p:nvSpPr>
        <p:spPr>
          <a:xfrm>
            <a:off x="706582" y="597022"/>
            <a:ext cx="17082654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'A';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uppercase\n", c); 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 = 'A';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in lowercase is %c\n", c,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(c));    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example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 = 'a';   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in uppercase is %c\n", c,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(c));  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0;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46222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>
            <a:spLocks noGrp="1"/>
          </p:cNvSpPr>
          <p:nvPr>
            <p:ph type="title"/>
          </p:nvPr>
        </p:nvSpPr>
        <p:spPr>
          <a:xfrm>
            <a:off x="1757887" y="1250989"/>
            <a:ext cx="15087600" cy="113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ct val="111111"/>
            </a:pPr>
            <a:r>
              <a:rPr lang="en-US" b="1" dirty="0"/>
              <a:t>String Handling MCQs</a:t>
            </a:r>
            <a:endParaRPr b="1" dirty="0"/>
          </a:p>
        </p:txBody>
      </p:sp>
      <p:sp>
        <p:nvSpPr>
          <p:cNvPr id="215" name="Google Shape;215;p15"/>
          <p:cNvSpPr txBox="1">
            <a:spLocks noGrp="1"/>
          </p:cNvSpPr>
          <p:nvPr>
            <p:ph type="body" idx="1"/>
          </p:nvPr>
        </p:nvSpPr>
        <p:spPr>
          <a:xfrm>
            <a:off x="156117" y="2631232"/>
            <a:ext cx="18131883" cy="675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5000"/>
          </a:bodyPr>
          <a:lstStyle/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1)What is the purpose of the </a:t>
            </a:r>
            <a:r>
              <a:rPr lang="en-GB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strcpy</a:t>
            </a: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() function in C?</a:t>
            </a:r>
          </a:p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a) To copy a string to another string</a:t>
            </a:r>
          </a:p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b) To concatenate two strings</a:t>
            </a:r>
          </a:p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c) To compare two strings</a:t>
            </a:r>
          </a:p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d) To find the length of a string</a:t>
            </a:r>
          </a:p>
          <a:p>
            <a:pPr marL="114300" lvl="0" indent="0" algn="just">
              <a:buSzPct val="46875"/>
              <a:buNone/>
            </a:pPr>
            <a:r>
              <a:rPr lang="en-GB" sz="4000" dirty="0">
                <a:latin typeface="Times New Roman"/>
                <a:ea typeface="Times New Roman"/>
                <a:cs typeface="Times New Roman"/>
                <a:sym typeface="Times New Roman"/>
              </a:rPr>
              <a:t>Answer: a) To copy a string to another string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5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E7174-12A8-4634-9671-4F2676911D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83ADF-8FCB-46D2-BE79-EC3DA87A3F47}"/>
              </a:ext>
            </a:extLst>
          </p:cNvPr>
          <p:cNvSpPr/>
          <p:nvPr/>
        </p:nvSpPr>
        <p:spPr>
          <a:xfrm>
            <a:off x="189570" y="269076"/>
            <a:ext cx="17908859" cy="8894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2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Which function is used to concatenate two strings in C?</a:t>
            </a:r>
          </a:p>
          <a:p>
            <a:pPr marL="914400" indent="-914400" algn="just">
              <a:buAutoNum type="alphaLcParenR"/>
            </a:pP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914400" indent="-914400" algn="just">
              <a:buAutoNum type="alphaLcParenR"/>
            </a:pP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 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return value of the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if the two strings are equal?</a:t>
            </a: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0</a:t>
            </a: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1</a:t>
            </a: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-1</a:t>
            </a: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None of the above</a:t>
            </a:r>
          </a:p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 0</a:t>
            </a:r>
          </a:p>
        </p:txBody>
      </p:sp>
    </p:spTree>
    <p:extLst>
      <p:ext uri="{BB962C8B-B14F-4D97-AF65-F5344CB8AC3E}">
        <p14:creationId xmlns:p14="http://schemas.microsoft.com/office/powerpoint/2010/main" val="2015978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6CF55-7186-4B72-8ADE-E3F2EB37DA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Google Shape;214;p15">
            <a:extLst>
              <a:ext uri="{FF2B5EF4-FFF2-40B4-BE49-F238E27FC236}">
                <a16:creationId xmlns:a16="http://schemas.microsoft.com/office/drawing/2014/main" id="{6ED7B4EF-0BD6-4B5E-AB42-9B2E662BA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6238" y="430213"/>
            <a:ext cx="15087600" cy="217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ct val="111111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Handling MCQs</a:t>
            </a:r>
            <a:endParaRPr b="1" dirty="0"/>
          </a:p>
        </p:txBody>
      </p:sp>
      <p:sp>
        <p:nvSpPr>
          <p:cNvPr id="6" name="Google Shape;214;p15">
            <a:extLst>
              <a:ext uri="{FF2B5EF4-FFF2-40B4-BE49-F238E27FC236}">
                <a16:creationId xmlns:a16="http://schemas.microsoft.com/office/drawing/2014/main" id="{AC569CB8-0CC0-4751-9BA2-A30F42DB63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77888" y="5349874"/>
            <a:ext cx="15087600" cy="33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14300" lvl="0" indent="0">
              <a:buSzPct val="111111"/>
              <a:buNone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purpose of the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in C?</a:t>
            </a:r>
          </a:p>
          <a:p>
            <a:pPr marL="628650" lvl="0" indent="-514350">
              <a:buSzPct val="111111"/>
              <a:buAutoNum type="alphaLcParenR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if a character is alphanumeric</a:t>
            </a:r>
          </a:p>
          <a:p>
            <a:pPr marL="114300" lvl="0" indent="0">
              <a:buSzPct val="111111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To check if a character is alphabetic</a:t>
            </a:r>
          </a:p>
          <a:p>
            <a:pPr marL="114300" lvl="0" indent="0">
              <a:buSzPct val="111111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To check if a character is a digit</a:t>
            </a:r>
          </a:p>
          <a:p>
            <a:pPr marL="114300" lvl="0" indent="0">
              <a:buSzPct val="111111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To check if a character is a whitespace</a:t>
            </a:r>
          </a:p>
          <a:p>
            <a:pPr marL="114300" lvl="0" indent="0">
              <a:buSzPct val="111111"/>
              <a:buNone/>
            </a:pP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>
              <a:buSzPct val="111111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 To check if a character is alphanumeric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39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2634F6-072C-4C78-AA2A-792C93163A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507240-3432-4686-8189-D45F2187612E}"/>
              </a:ext>
            </a:extLst>
          </p:cNvPr>
          <p:cNvSpPr/>
          <p:nvPr/>
        </p:nvSpPr>
        <p:spPr>
          <a:xfrm>
            <a:off x="312234" y="780585"/>
            <a:ext cx="17975766" cy="809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function is used to convert a character to uppercase in C?</a:t>
            </a:r>
          </a:p>
          <a:p>
            <a:pPr marL="742950" indent="-742950">
              <a:buAutoNum type="alphaLcParenR"/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indent="-742950">
              <a:buAutoNum type="alphaLcParenR"/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742950" indent="-742950">
              <a:buAutoNum type="alphaLcParenR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purpose of the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in C?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if a character is alphabetic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if a character is a digit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if a character is a whitespace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if a character is alphanumeric</a:t>
            </a:r>
          </a:p>
          <a:p>
            <a:pPr marL="742950" indent="-742950">
              <a:buAutoNum type="alphaLcParenR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 To check if a character is a digit</a:t>
            </a:r>
          </a:p>
        </p:txBody>
      </p:sp>
    </p:spTree>
    <p:extLst>
      <p:ext uri="{BB962C8B-B14F-4D97-AF65-F5344CB8AC3E}">
        <p14:creationId xmlns:p14="http://schemas.microsoft.com/office/powerpoint/2010/main" val="1741921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9905-588C-F729-6BA7-A8696783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PREDICT THE OUTPUT/ERROR:</a:t>
            </a:r>
            <a:endParaRPr lang="en-IN" b="1" dirty="0"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156117" y="2768601"/>
            <a:ext cx="8896442" cy="708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lvl="0">
              <a:buSzPct val="66666"/>
            </a:pPr>
            <a:r>
              <a:rPr lang="en-IN" sz="3200" dirty="0"/>
              <a:t>Example 1: String Copy</a:t>
            </a:r>
          </a:p>
          <a:p>
            <a:pPr lvl="0">
              <a:buSzPct val="66666"/>
            </a:pPr>
            <a:r>
              <a:rPr lang="en-IN" sz="3200" dirty="0"/>
              <a:t>#include &lt;</a:t>
            </a:r>
            <a:r>
              <a:rPr lang="en-IN" sz="3200" dirty="0" err="1"/>
              <a:t>stdio.h</a:t>
            </a:r>
            <a:r>
              <a:rPr lang="en-IN" sz="3200" dirty="0"/>
              <a:t>&gt;</a:t>
            </a:r>
          </a:p>
          <a:p>
            <a:pPr lvl="0">
              <a:buSzPct val="66666"/>
            </a:pPr>
            <a:r>
              <a:rPr lang="en-IN" sz="3200" dirty="0"/>
              <a:t>#include &lt;</a:t>
            </a:r>
            <a:r>
              <a:rPr lang="en-IN" sz="3200" dirty="0" err="1"/>
              <a:t>string.h</a:t>
            </a:r>
            <a:r>
              <a:rPr lang="en-IN" sz="3200" dirty="0"/>
              <a:t>&gt;</a:t>
            </a:r>
          </a:p>
          <a:p>
            <a:pPr lvl="0">
              <a:buSzPct val="66666"/>
            </a:pPr>
            <a:r>
              <a:rPr lang="en-IN" sz="3200" dirty="0"/>
              <a:t>int main()</a:t>
            </a:r>
          </a:p>
          <a:p>
            <a:pPr lvl="0">
              <a:buSzPct val="66666"/>
            </a:pPr>
            <a:r>
              <a:rPr lang="en-IN" sz="3200" dirty="0"/>
              <a:t> {   </a:t>
            </a:r>
          </a:p>
          <a:p>
            <a:pPr lvl="0">
              <a:buSzPct val="66666"/>
            </a:pPr>
            <a:r>
              <a:rPr lang="en-IN" sz="3200" dirty="0"/>
              <a:t> char </a:t>
            </a:r>
            <a:r>
              <a:rPr lang="en-IN" sz="3200" dirty="0" err="1"/>
              <a:t>src</a:t>
            </a:r>
            <a:r>
              <a:rPr lang="en-IN" sz="3200" dirty="0"/>
              <a:t>[10] = "Hello";   </a:t>
            </a:r>
          </a:p>
          <a:p>
            <a:pPr lvl="0">
              <a:buSzPct val="66666"/>
            </a:pPr>
            <a:r>
              <a:rPr lang="en-IN" sz="3200" dirty="0"/>
              <a:t> char </a:t>
            </a:r>
            <a:r>
              <a:rPr lang="en-IN" sz="3200" dirty="0" err="1"/>
              <a:t>dest</a:t>
            </a:r>
            <a:r>
              <a:rPr lang="en-IN" sz="3200" dirty="0"/>
              <a:t>[5];    </a:t>
            </a:r>
          </a:p>
          <a:p>
            <a:pPr lvl="0">
              <a:buSzPct val="66666"/>
            </a:pPr>
            <a:r>
              <a:rPr lang="en-IN" sz="3200" dirty="0" err="1"/>
              <a:t>strcpy</a:t>
            </a:r>
            <a:r>
              <a:rPr lang="en-IN" sz="3200" dirty="0"/>
              <a:t>(</a:t>
            </a:r>
            <a:r>
              <a:rPr lang="en-IN" sz="3200" dirty="0" err="1"/>
              <a:t>dest</a:t>
            </a:r>
            <a:r>
              <a:rPr lang="en-IN" sz="3200" dirty="0"/>
              <a:t>, </a:t>
            </a:r>
            <a:r>
              <a:rPr lang="en-IN" sz="3200" dirty="0" err="1"/>
              <a:t>src</a:t>
            </a:r>
            <a:r>
              <a:rPr lang="en-IN" sz="3200" dirty="0"/>
              <a:t>);  </a:t>
            </a:r>
          </a:p>
          <a:p>
            <a:pPr lvl="0">
              <a:buSzPct val="66666"/>
            </a:pPr>
            <a:r>
              <a:rPr lang="en-IN" sz="3200" dirty="0"/>
              <a:t>  </a:t>
            </a:r>
            <a:r>
              <a:rPr lang="en-IN" sz="3200" dirty="0" err="1"/>
              <a:t>printf</a:t>
            </a:r>
            <a:r>
              <a:rPr lang="en-IN" sz="3200" dirty="0"/>
              <a:t>("Destination string: %s\n", </a:t>
            </a:r>
            <a:r>
              <a:rPr lang="en-IN" sz="3200" dirty="0" err="1"/>
              <a:t>dest</a:t>
            </a:r>
            <a:r>
              <a:rPr lang="en-IN" sz="3200" dirty="0"/>
              <a:t>);    return 0;</a:t>
            </a:r>
          </a:p>
          <a:p>
            <a:pPr lvl="0">
              <a:buSzPct val="66666"/>
            </a:pPr>
            <a:r>
              <a:rPr lang="en-IN" sz="3200" dirty="0"/>
              <a:t>}</a:t>
            </a:r>
            <a:endParaRPr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CCA7F-A847-9D1B-AD1D-CE14007CCB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386596" y="2768603"/>
            <a:ext cx="7346924" cy="6035040"/>
          </a:xfrm>
        </p:spPr>
        <p:txBody>
          <a:bodyPr>
            <a:normAutofit/>
          </a:bodyPr>
          <a:lstStyle/>
          <a:p>
            <a:r>
              <a:rPr lang="en-GB" sz="3200" dirty="0"/>
              <a:t>Predicted Error: </a:t>
            </a:r>
          </a:p>
          <a:p>
            <a:r>
              <a:rPr lang="en-GB" sz="3200" dirty="0"/>
              <a:t>Buffer overflow error. The </a:t>
            </a:r>
            <a:r>
              <a:rPr lang="en-GB" sz="3200" dirty="0" err="1"/>
              <a:t>dest</a:t>
            </a:r>
            <a:r>
              <a:rPr lang="en-GB" sz="3200" dirty="0"/>
              <a:t> array is too small to hold the entire </a:t>
            </a:r>
            <a:r>
              <a:rPr lang="en-GB" sz="3200" dirty="0" err="1"/>
              <a:t>src</a:t>
            </a:r>
            <a:r>
              <a:rPr lang="en-GB" sz="3200" dirty="0"/>
              <a:t> string, leading to undefined </a:t>
            </a:r>
            <a:r>
              <a:rPr lang="en-GB" sz="3200" dirty="0" err="1"/>
              <a:t>behavior</a:t>
            </a:r>
            <a:r>
              <a:rPr lang="en-GB" sz="3200" dirty="0"/>
              <a:t>.</a:t>
            </a:r>
            <a:endParaRPr lang="en-IN" sz="3200" dirty="0"/>
          </a:p>
        </p:txBody>
      </p:sp>
      <p:sp>
        <p:nvSpPr>
          <p:cNvPr id="209" name="Google Shape;209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1648-3A4C-4C13-8DC8-4B193957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PREDICT THE OUTPUT/ERROR: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81A69-046D-43A5-895F-533676E4C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341756"/>
            <a:ext cx="9052559" cy="6461885"/>
          </a:xfrm>
        </p:spPr>
        <p:txBody>
          <a:bodyPr>
            <a:noAutofit/>
          </a:bodyPr>
          <a:lstStyle/>
          <a:p>
            <a:r>
              <a:rPr lang="en-IN" sz="3600" dirty="0"/>
              <a:t>Example 2: String Concatenation</a:t>
            </a:r>
          </a:p>
          <a:p>
            <a:r>
              <a:rPr lang="en-IN" sz="3600" dirty="0"/>
              <a:t>#include &lt;</a:t>
            </a:r>
            <a:r>
              <a:rPr lang="en-IN" sz="3600" dirty="0" err="1"/>
              <a:t>stdio.h</a:t>
            </a:r>
            <a:r>
              <a:rPr lang="en-IN" sz="3600" dirty="0"/>
              <a:t>&gt;</a:t>
            </a:r>
          </a:p>
          <a:p>
            <a:r>
              <a:rPr lang="en-IN" sz="3600" dirty="0"/>
              <a:t>#include &lt;</a:t>
            </a:r>
            <a:r>
              <a:rPr lang="en-IN" sz="3600" dirty="0" err="1"/>
              <a:t>string.h</a:t>
            </a:r>
            <a:r>
              <a:rPr lang="en-IN" sz="3600" dirty="0"/>
              <a:t>&gt;</a:t>
            </a:r>
          </a:p>
          <a:p>
            <a:r>
              <a:rPr lang="en-IN" sz="3600" dirty="0"/>
              <a:t>int main() </a:t>
            </a:r>
          </a:p>
          <a:p>
            <a:r>
              <a:rPr lang="en-IN" sz="3600" dirty="0"/>
              <a:t>{   </a:t>
            </a:r>
          </a:p>
          <a:p>
            <a:r>
              <a:rPr lang="en-IN" sz="3600" dirty="0"/>
              <a:t> char str1[10] = "Hello";   </a:t>
            </a:r>
          </a:p>
          <a:p>
            <a:r>
              <a:rPr lang="en-IN" sz="3600" dirty="0"/>
              <a:t> char str2[10] = "World"; </a:t>
            </a:r>
          </a:p>
          <a:p>
            <a:r>
              <a:rPr lang="en-IN" sz="3600" dirty="0"/>
              <a:t>   </a:t>
            </a:r>
            <a:r>
              <a:rPr lang="en-IN" sz="3600" dirty="0" err="1"/>
              <a:t>strcat</a:t>
            </a:r>
            <a:r>
              <a:rPr lang="en-IN" sz="3600" dirty="0"/>
              <a:t>(str1, str2); </a:t>
            </a:r>
          </a:p>
          <a:p>
            <a:r>
              <a:rPr lang="en-IN" sz="3600" dirty="0"/>
              <a:t>   </a:t>
            </a:r>
            <a:r>
              <a:rPr lang="en-IN" sz="3600" dirty="0" err="1"/>
              <a:t>printf</a:t>
            </a:r>
            <a:r>
              <a:rPr lang="en-IN" sz="3600" dirty="0"/>
              <a:t>("Concatenated string: %s\n", str1);       return 0;</a:t>
            </a:r>
          </a:p>
          <a:p>
            <a:r>
              <a:rPr lang="en-IN" sz="3600" dirty="0"/>
              <a:t>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63BD4-EF50-467B-B77C-9A4633CF9CB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Predicted Error:</a:t>
            </a:r>
          </a:p>
          <a:p>
            <a:r>
              <a:rPr lang="en-GB" sz="3600" dirty="0"/>
              <a:t>Buffer overflow error. The str1 array is too small to hold the concatenated string, leading to undefined </a:t>
            </a:r>
            <a:r>
              <a:rPr lang="en-GB" sz="3600" dirty="0" err="1"/>
              <a:t>behavior</a:t>
            </a:r>
            <a:r>
              <a:rPr lang="en-GB" sz="3600" dirty="0"/>
              <a:t>.</a:t>
            </a:r>
            <a:endParaRPr lang="en-IN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C87AD-6587-4F32-956C-6C58F6B974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1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8BB9-02F8-436F-BF7C-2279A9DE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PREDICT THE OUTPUT/ERROR: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C29FE-EB18-4188-8F77-099E295F0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768601"/>
            <a:ext cx="16733520" cy="6035040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Character Classification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ctype.h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char c = 'A’;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(c))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 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 is lowercase\n", c);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  return 0;}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Error: Logical error. 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will return 0 (false) for the character 'A', which is uppercase.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70E1-F334-4928-A181-012884E259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72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EXCERCISE</a:t>
            </a:r>
            <a:endParaRPr dirty="0"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lvl="0">
              <a:buFont typeface="Noto Sans Symbols"/>
              <a:buChar char="⮚"/>
            </a:pP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copy one string to another using </a:t>
            </a:r>
            <a:r>
              <a:rPr lang="en-GB" sz="4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strcpy</a:t>
            </a: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function.</a:t>
            </a:r>
          </a:p>
          <a:p>
            <a:pPr lvl="0">
              <a:buFont typeface="Noto Sans Symbols"/>
              <a:buChar char="⮚"/>
            </a:pP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concatenate two strings using </a:t>
            </a:r>
            <a:r>
              <a:rPr lang="en-GB" sz="4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strcat</a:t>
            </a: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function.</a:t>
            </a:r>
          </a:p>
          <a:p>
            <a:pPr lvl="0">
              <a:buFont typeface="Noto Sans Symbols"/>
              <a:buChar char="⮚"/>
            </a:pP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Write a program to compare two strings using </a:t>
            </a:r>
            <a:r>
              <a:rPr lang="en-GB" sz="4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strcmp</a:t>
            </a: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function.</a:t>
            </a:r>
          </a:p>
          <a:p>
            <a:pPr lvl="0">
              <a:buFont typeface="Noto Sans Symbols"/>
              <a:buChar char="⮚"/>
            </a:pP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find the length of a string using </a:t>
            </a:r>
            <a:r>
              <a:rPr lang="en-GB" sz="4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strlen</a:t>
            </a: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function.</a:t>
            </a:r>
          </a:p>
          <a:p>
            <a:pPr lvl="0">
              <a:buFont typeface="Noto Sans Symbols"/>
              <a:buChar char="⮚"/>
            </a:pPr>
            <a:r>
              <a:rPr lang="en-GB" sz="4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reverse a string.</a:t>
            </a:r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4222730" y="3166745"/>
            <a:ext cx="609600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310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97F8-2B4C-4EE5-A47A-25116827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EXCERCISE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00923-59D5-44CF-AF94-4603F3D43BFF}"/>
              </a:ext>
            </a:extLst>
          </p:cNvPr>
          <p:cNvSpPr/>
          <p:nvPr/>
        </p:nvSpPr>
        <p:spPr>
          <a:xfrm>
            <a:off x="1074740" y="2575375"/>
            <a:ext cx="15087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check whether a character is uppercase or lowercase using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check whether a character is a digit using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check whether a character is an alphabet using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count the number of vowels in a string.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check whether a string is a palindrome.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279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ctr" rtl="0">
              <a:lnSpc>
                <a:spcPct val="28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sldNum" idx="12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1637</Words>
  <Application>Microsoft Office PowerPoint</Application>
  <PresentationFormat>Custom</PresentationFormat>
  <Paragraphs>272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Noto Sans Symbols</vt:lpstr>
      <vt:lpstr>Times New Roman</vt:lpstr>
      <vt:lpstr>Wingdings</vt:lpstr>
      <vt:lpstr>Retrospect</vt:lpstr>
      <vt:lpstr>PowerPoint Presentation</vt:lpstr>
      <vt:lpstr>                           CONTENT</vt:lpstr>
      <vt:lpstr>Introduction</vt:lpstr>
      <vt:lpstr>PowerPoint Presentation</vt:lpstr>
      <vt:lpstr>Why  to Use Character Handling Functions? </vt:lpstr>
      <vt:lpstr>Syntax for String Handling Functions </vt:lpstr>
      <vt:lpstr>Syntax for String Handling Functions </vt:lpstr>
      <vt:lpstr>Syntax for  Character Handling Functions  </vt:lpstr>
      <vt:lpstr>Programming example:</vt:lpstr>
      <vt:lpstr>PowerPoint Presentation</vt:lpstr>
      <vt:lpstr>PowerPoint Presentation</vt:lpstr>
      <vt:lpstr>Programming example:</vt:lpstr>
      <vt:lpstr>PowerPoint Presentation</vt:lpstr>
      <vt:lpstr>PowerPoint Presentation</vt:lpstr>
      <vt:lpstr>String Handling MCQs</vt:lpstr>
      <vt:lpstr>PowerPoint Presentation</vt:lpstr>
      <vt:lpstr>Character Handling MCQs</vt:lpstr>
      <vt:lpstr>PowerPoint Presentation</vt:lpstr>
      <vt:lpstr>PREDICT THE OUTPUT/ERROR:</vt:lpstr>
      <vt:lpstr>PREDICT THE OUTPUT/ERROR:</vt:lpstr>
      <vt:lpstr>PREDICT THE OUTPUT/ERROR:</vt:lpstr>
      <vt:lpstr>EXCERCISE</vt:lpstr>
      <vt:lpstr>EXCERCISE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Manojkumar N</dc:creator>
  <cp:lastModifiedBy>Admin</cp:lastModifiedBy>
  <cp:revision>25</cp:revision>
  <dcterms:created xsi:type="dcterms:W3CDTF">2024-04-29T17:39:00Z</dcterms:created>
  <dcterms:modified xsi:type="dcterms:W3CDTF">2025-02-25T08:49:13Z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89EE99F6503E471885A3EECA3BCDD05F_13</vt:lpwstr>
  </property>
  <property fmtid="{D5CDD505-2E9C-101B-9397-08002B2CF9AE}" pid="3" name="KSOProductBuildVer">
    <vt:lpwstr>1033-12.2.0.16731</vt:lpwstr>
  </property>
</Properties>
</file>