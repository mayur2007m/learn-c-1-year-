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h5CaxbEwLRbbOzg0Yvm56XtX54qw=="/>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3FBC2B39-A801-4669-B20D-D6CF5779721A}">
  <a:tblStyle styleId="{3FBC2B39-A801-4669-B20D-D6CF5779721A}"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91" d="100"/>
          <a:sy n="91" d="100"/>
        </p:scale>
        <p:origin x="-162" y="-9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2" name="Google Shape;1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8" name="Google Shape;1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62" name="Google Shape;16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68" name="Google Shape;1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74" name="Google Shape;17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86" name="Google Shape;18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359" name="Google Shape;35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8"/>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40"/>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0"/>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3" name="Google Shape;33;p4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4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9" name="Google Shape;39;p41"/>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4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4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6" name="Google Shape;46;p42"/>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7" name="Google Shape;47;p42"/>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42"/>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4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44"/>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4"/>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5" name="Google Shape;55;p44"/>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6" name="Google Shape;56;p4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4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45"/>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45"/>
          <p:cNvSpPr>
            <a:spLocks noGrp="1"/>
          </p:cNvSpPr>
          <p:nvPr>
            <p:ph type="pic" idx="2"/>
          </p:nvPr>
        </p:nvSpPr>
        <p:spPr>
          <a:xfrm>
            <a:off x="1792288" y="459581"/>
            <a:ext cx="5486400" cy="3086100"/>
          </a:xfrm>
          <a:prstGeom prst="rect">
            <a:avLst/>
          </a:prstGeom>
          <a:noFill/>
          <a:ln>
            <a:noFill/>
          </a:ln>
        </p:spPr>
      </p:sp>
      <p:sp>
        <p:nvSpPr>
          <p:cNvPr id="62" name="Google Shape;62;p45"/>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3" name="Google Shape;63;p4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6"/>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9" name="Google Shape;69;p4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7"/>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6"/>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
          <p:cNvSpPr txBox="1"/>
          <p:nvPr/>
        </p:nvSpPr>
        <p:spPr>
          <a:xfrm>
            <a:off x="1830418" y="715766"/>
            <a:ext cx="5951700" cy="1979365"/>
          </a:xfrm>
          <a:prstGeom prst="rect">
            <a:avLst/>
          </a:prstGeom>
          <a:noFill/>
          <a:ln>
            <a:noFill/>
          </a:ln>
        </p:spPr>
        <p:txBody>
          <a:bodyPr spcFirstLastPara="1" wrap="square" lIns="51400" tIns="25700" rIns="51400" bIns="25700" anchor="t" anchorCtr="0">
            <a:spAutoFit/>
          </a:bodyPr>
          <a:lstStyle/>
          <a:p>
            <a:pPr marL="2400300" marR="0" lvl="0" indent="342900" algn="l" rtl="0">
              <a:lnSpc>
                <a:spcPct val="100000"/>
              </a:lnSpc>
              <a:spcBef>
                <a:spcPts val="0"/>
              </a:spcBef>
              <a:spcAft>
                <a:spcPts val="0"/>
              </a:spcAft>
              <a:buClr>
                <a:srgbClr val="000000"/>
              </a:buClr>
              <a:buSzPts val="4875"/>
              <a:buFont typeface="Arial"/>
              <a:buNone/>
            </a:pPr>
            <a:r>
              <a:rPr lang="en-US" sz="4875" b="1" i="0" u="none" strike="noStrike" cap="none" dirty="0">
                <a:solidFill>
                  <a:srgbClr val="FF0000"/>
                </a:solidFill>
                <a:latin typeface="Calibri"/>
                <a:ea typeface="Calibri"/>
                <a:cs typeface="Calibri"/>
                <a:sym typeface="Calibri"/>
              </a:rPr>
              <a:t>C </a:t>
            </a:r>
            <a:endParaRPr sz="4875" b="1"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PROGRAMMING FOR PROBLEM SOLVING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Unit 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dirty="0">
                <a:solidFill>
                  <a:srgbClr val="000000"/>
                </a:solidFill>
                <a:latin typeface="Calibri"/>
                <a:ea typeface="Calibri"/>
                <a:cs typeface="Calibri"/>
                <a:sym typeface="Calibri"/>
              </a:rPr>
              <a:t>Arrays</a:t>
            </a:r>
            <a:endParaRPr sz="2100" b="0" i="0" u="none" strike="noStrike" cap="none">
              <a:solidFill>
                <a:srgbClr val="000000"/>
              </a:solidFill>
              <a:latin typeface="Calibri"/>
              <a:ea typeface="Calibri"/>
              <a:cs typeface="Calibri"/>
              <a:sym typeface="Calibri"/>
            </a:endParaRPr>
          </a:p>
        </p:txBody>
      </p:sp>
      <p:sp>
        <p:nvSpPr>
          <p:cNvPr id="83" name="Google Shape;83;p1"/>
          <p:cNvSpPr txBox="1"/>
          <p:nvPr/>
        </p:nvSpPr>
        <p:spPr>
          <a:xfrm>
            <a:off x="1177159" y="3006090"/>
            <a:ext cx="6779681" cy="1713895"/>
          </a:xfrm>
          <a:prstGeom prst="rect">
            <a:avLst/>
          </a:prstGeom>
          <a:noFill/>
          <a:ln>
            <a:noFill/>
          </a:ln>
        </p:spPr>
        <p:txBody>
          <a:bodyPr spcFirstLastPara="1" wrap="square" lIns="51400" tIns="25700" rIns="51400" bIns="2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B0F0"/>
                </a:solidFill>
                <a:latin typeface="Calibri"/>
                <a:ea typeface="Calibri"/>
                <a:cs typeface="Calibri"/>
                <a:sym typeface="Calibri"/>
              </a:rPr>
              <a:t>Course Code</a:t>
            </a:r>
            <a:r>
              <a:rPr lang="en-US" sz="1800" b="1" i="0" u="none" strike="noStrike" cap="none">
                <a:solidFill>
                  <a:srgbClr val="00B0F0"/>
                </a:solidFill>
                <a:latin typeface="Calibri"/>
                <a:ea typeface="Calibri"/>
                <a:cs typeface="Calibri"/>
                <a:sym typeface="Calibri"/>
              </a:rPr>
              <a:t>: </a:t>
            </a:r>
            <a:r>
              <a:rPr lang="en-US" sz="1800" b="1" i="0" u="none" strike="noStrike" cap="none" smtClean="0">
                <a:solidFill>
                  <a:srgbClr val="00B0F0"/>
                </a:solidFill>
                <a:latin typeface="Calibri"/>
                <a:ea typeface="Calibri"/>
                <a:cs typeface="Calibri"/>
                <a:sym typeface="Calibri"/>
              </a:rPr>
              <a:t>2</a:t>
            </a:r>
            <a:r>
              <a:rPr lang="en-US" sz="1800" b="1" smtClean="0">
                <a:solidFill>
                  <a:srgbClr val="00B0F0"/>
                </a:solidFill>
                <a:latin typeface="Calibri"/>
                <a:ea typeface="Calibri"/>
                <a:cs typeface="Calibri"/>
                <a:sym typeface="Calibri"/>
              </a:rPr>
              <a:t>5EN1114</a:t>
            </a:r>
            <a:endParaRPr sz="788"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Calibri"/>
                <a:ea typeface="Calibri"/>
                <a:cs typeface="Calibri"/>
                <a:sym typeface="Calibri"/>
              </a:rPr>
              <a:t>Course </a:t>
            </a:r>
            <a:r>
              <a:rPr lang="en-US" sz="1800" b="1" i="0" u="none" strike="noStrike" cap="none" dirty="0" err="1">
                <a:solidFill>
                  <a:srgbClr val="000000"/>
                </a:solidFill>
                <a:latin typeface="Calibri"/>
                <a:ea typeface="Calibri"/>
                <a:cs typeface="Calibri"/>
                <a:sym typeface="Calibri"/>
              </a:rPr>
              <a:t>Course</a:t>
            </a:r>
            <a:r>
              <a:rPr lang="en-US" sz="1800" b="1" i="0" u="none" strike="noStrike" cap="none" dirty="0">
                <a:solidFill>
                  <a:srgbClr val="000000"/>
                </a:solidFill>
                <a:latin typeface="Calibri"/>
                <a:ea typeface="Calibri"/>
                <a:cs typeface="Calibri"/>
                <a:sym typeface="Calibri"/>
              </a:rPr>
              <a:t> Coordinator(s) : </a:t>
            </a:r>
            <a:r>
              <a:rPr lang="en-US" sz="1800" b="0" i="0" u="none" strike="noStrike" cap="none" dirty="0">
                <a:solidFill>
                  <a:srgbClr val="000000"/>
                </a:solidFill>
                <a:latin typeface="Calibri"/>
                <a:ea typeface="Calibri"/>
                <a:cs typeface="Calibri"/>
                <a:sym typeface="Calibri"/>
              </a:rPr>
              <a:t>Dr. </a:t>
            </a:r>
            <a:r>
              <a:rPr lang="en-US" sz="1800" b="0" i="0" u="none" strike="noStrike" cap="none" dirty="0" smtClean="0">
                <a:solidFill>
                  <a:srgbClr val="000000"/>
                </a:solidFill>
                <a:latin typeface="Calibri"/>
                <a:ea typeface="Calibri"/>
                <a:cs typeface="Calibri"/>
                <a:sym typeface="Calibri"/>
              </a:rPr>
              <a:t>SR</a:t>
            </a:r>
            <a:r>
              <a:rPr lang="en-US" sz="1800" dirty="0" smtClean="0">
                <a:latin typeface="Calibri"/>
                <a:ea typeface="Calibri"/>
                <a:cs typeface="Calibri"/>
                <a:sym typeface="Calibri"/>
              </a:rPr>
              <a:t>IKANTH</a:t>
            </a:r>
            <a:r>
              <a:rPr lang="en-US" sz="1800" b="0" i="0" u="none" strike="noStrike" cap="none" dirty="0" smtClean="0">
                <a:solidFill>
                  <a:srgbClr val="000000"/>
                </a:solidFill>
                <a:latin typeface="Calibri"/>
                <a:ea typeface="Calibri"/>
                <a:cs typeface="Calibri"/>
                <a:sym typeface="Calibri"/>
              </a:rPr>
              <a:t>/TANAYA BALA BEHERA</a:t>
            </a:r>
            <a:r>
              <a:rPr lang="en-US" sz="1800" b="1" i="0" u="none" strike="noStrike" cap="none" dirty="0" smtClean="0">
                <a:solidFill>
                  <a:srgbClr val="000000"/>
                </a:solidFill>
                <a:latin typeface="Calibri"/>
                <a:ea typeface="Calibri"/>
                <a:cs typeface="Calibri"/>
                <a:sym typeface="Calibri"/>
              </a:rPr>
              <a:t> </a:t>
            </a:r>
          </a:p>
          <a:p>
            <a:pPr marL="0" marR="0" lvl="0" indent="0" algn="l" rtl="0">
              <a:lnSpc>
                <a:spcPct val="100000"/>
              </a:lnSpc>
              <a:spcBef>
                <a:spcPts val="0"/>
              </a:spcBef>
              <a:spcAft>
                <a:spcPts val="0"/>
              </a:spcAft>
              <a:buNone/>
            </a:pPr>
            <a:r>
              <a:rPr lang="en-US" sz="1800" b="1" i="0" u="none" strike="noStrike" cap="none" dirty="0" smtClean="0">
                <a:solidFill>
                  <a:srgbClr val="000000"/>
                </a:solidFill>
                <a:latin typeface="Calibri"/>
                <a:ea typeface="Calibri"/>
                <a:cs typeface="Calibri"/>
                <a:sym typeface="Calibri"/>
              </a:rPr>
              <a:t>Course </a:t>
            </a:r>
            <a:r>
              <a:rPr lang="en-US" sz="1800" b="1" i="0" u="none" strike="noStrike" cap="none" dirty="0">
                <a:solidFill>
                  <a:srgbClr val="000000"/>
                </a:solidFill>
                <a:latin typeface="Calibri"/>
                <a:ea typeface="Calibri"/>
                <a:cs typeface="Calibri"/>
                <a:sym typeface="Calibri"/>
              </a:rPr>
              <a:t>Instructor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Calibri"/>
                <a:ea typeface="Calibri"/>
                <a:cs typeface="Calibri"/>
                <a:sym typeface="Calibri"/>
              </a:rPr>
              <a:t>Academic Year: 2025–2026</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libri"/>
                <a:ea typeface="Calibri"/>
                <a:cs typeface="Calibri"/>
                <a:sym typeface="Calibri"/>
              </a:rPr>
              <a:t>Year </a:t>
            </a:r>
            <a:r>
              <a:rPr lang="en-US" sz="1800" b="0" i="0" u="none" strike="noStrike" cap="none" dirty="0">
                <a:solidFill>
                  <a:schemeClr val="dk1"/>
                </a:solidFill>
                <a:latin typeface="Calibri"/>
                <a:ea typeface="Calibri"/>
                <a:cs typeface="Calibri"/>
                <a:sym typeface="Calibri"/>
              </a:rPr>
              <a:t>:</a:t>
            </a:r>
            <a:r>
              <a:rPr lang="en-US" sz="1800" b="0" i="0" u="none" strike="noStrike" cap="none" dirty="0">
                <a:solidFill>
                  <a:srgbClr val="000000"/>
                </a:solidFill>
                <a:latin typeface="Calibri"/>
                <a:ea typeface="Calibri"/>
                <a:cs typeface="Calibri"/>
                <a:sym typeface="Calibri"/>
              </a:rPr>
              <a:t>1st  </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libri"/>
                <a:ea typeface="Calibri"/>
                <a:cs typeface="Calibri"/>
                <a:sym typeface="Calibri"/>
              </a:rPr>
              <a:t>Semester : II</a:t>
            </a:r>
            <a:endParaRPr sz="788" b="0" i="0" u="none" strike="noStrike" cap="none">
              <a:solidFill>
                <a:srgbClr val="000000"/>
              </a:solidFill>
              <a:latin typeface="Arial"/>
              <a:ea typeface="Arial"/>
              <a:cs typeface="Arial"/>
              <a:sym typeface="Arial"/>
            </a:endParaRPr>
          </a:p>
        </p:txBody>
      </p:sp>
      <p:pic>
        <p:nvPicPr>
          <p:cNvPr id="84" name="Google Shape;84;p1"/>
          <p:cNvPicPr preferRelativeResize="0"/>
          <p:nvPr/>
        </p:nvPicPr>
        <p:blipFill rotWithShape="1">
          <a:blip r:embed="rId3">
            <a:alphaModFix/>
          </a:blip>
          <a:srcRect/>
          <a:stretch/>
        </p:blipFill>
        <p:spPr>
          <a:xfrm>
            <a:off x="7239000" y="7783"/>
            <a:ext cx="1653683" cy="6172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Array</a:t>
            </a:r>
            <a:endParaRPr/>
          </a:p>
        </p:txBody>
      </p:sp>
      <p:sp>
        <p:nvSpPr>
          <p:cNvPr id="90" name="Google Shape;90;p2"/>
          <p:cNvSpPr txBox="1">
            <a:spLocks noGrp="1"/>
          </p:cNvSpPr>
          <p:nvPr>
            <p:ph type="body" idx="1"/>
          </p:nvPr>
        </p:nvSpPr>
        <p:spPr>
          <a:xfrm>
            <a:off x="457200" y="742950"/>
            <a:ext cx="8229600" cy="12894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dirty="0">
                <a:latin typeface="Times New Roman"/>
                <a:ea typeface="Times New Roman"/>
                <a:cs typeface="Times New Roman"/>
                <a:sym typeface="Times New Roman"/>
              </a:rPr>
              <a:t>Array provide a mechanism for declaring and accessing several data items with only one identifier, thereby simplifying the task of data management. Array is beneficial if you have to store similar elements.</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91" name="Google Shape;91;p2"/>
          <p:cNvSpPr/>
          <p:nvPr/>
        </p:nvSpPr>
        <p:spPr>
          <a:xfrm>
            <a:off x="1752600" y="2246474"/>
            <a:ext cx="1219200" cy="304800"/>
          </a:xfrm>
          <a:prstGeom prst="can">
            <a:avLst>
              <a:gd name="adj" fmla="val 25000"/>
            </a:avLst>
          </a:prstGeom>
          <a:gradFill>
            <a:gsLst>
              <a:gs pos="0">
                <a:srgbClr val="BABABA"/>
              </a:gs>
              <a:gs pos="35000">
                <a:srgbClr val="CFCFCF"/>
              </a:gs>
              <a:gs pos="100000">
                <a:srgbClr val="EDEDED"/>
              </a:gs>
            </a:gsLst>
            <a:lin ang="16200000" scaled="0"/>
          </a:gradFill>
          <a:ln w="9525" cap="flat" cmpd="sng">
            <a:solidFill>
              <a:schemeClr val="dk1"/>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2" name="Google Shape;92;p2"/>
          <p:cNvSpPr/>
          <p:nvPr/>
        </p:nvSpPr>
        <p:spPr>
          <a:xfrm>
            <a:off x="1752600" y="2642042"/>
            <a:ext cx="1219200" cy="304800"/>
          </a:xfrm>
          <a:prstGeom prst="can">
            <a:avLst>
              <a:gd name="adj" fmla="val 25000"/>
            </a:avLst>
          </a:prstGeom>
          <a:gradFill>
            <a:gsLst>
              <a:gs pos="0">
                <a:srgbClr val="9FC3FF"/>
              </a:gs>
              <a:gs pos="35000">
                <a:srgbClr val="BDD5FF"/>
              </a:gs>
              <a:gs pos="100000">
                <a:srgbClr val="E4EEFF"/>
              </a:gs>
            </a:gsLst>
            <a:lin ang="16200000" scaled="0"/>
          </a:gradFill>
          <a:ln w="9525" cap="flat" cmpd="sng">
            <a:solidFill>
              <a:srgbClr val="4A7DBA"/>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3" name="Google Shape;93;p2"/>
          <p:cNvSpPr/>
          <p:nvPr/>
        </p:nvSpPr>
        <p:spPr>
          <a:xfrm>
            <a:off x="1752600" y="3023042"/>
            <a:ext cx="1219200" cy="304800"/>
          </a:xfrm>
          <a:prstGeom prst="can">
            <a:avLst>
              <a:gd name="adj" fmla="val 25000"/>
            </a:avLst>
          </a:prstGeom>
          <a:gradFill>
            <a:gsLst>
              <a:gs pos="0">
                <a:srgbClr val="FFA09D"/>
              </a:gs>
              <a:gs pos="35000">
                <a:srgbClr val="FFBCBC"/>
              </a:gs>
              <a:gs pos="100000">
                <a:srgbClr val="FFE2E2"/>
              </a:gs>
            </a:gsLst>
            <a:lin ang="16200000" scaled="0"/>
          </a:gradFill>
          <a:ln w="9525" cap="flat" cmpd="sng">
            <a:solidFill>
              <a:srgbClr val="BD4B48"/>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4" name="Google Shape;94;p2"/>
          <p:cNvSpPr/>
          <p:nvPr/>
        </p:nvSpPr>
        <p:spPr>
          <a:xfrm>
            <a:off x="1752600" y="3404042"/>
            <a:ext cx="1219200" cy="304800"/>
          </a:xfrm>
          <a:prstGeom prst="can">
            <a:avLst>
              <a:gd name="adj" fmla="val 25000"/>
            </a:avLst>
          </a:prstGeom>
          <a:gradFill>
            <a:gsLst>
              <a:gs pos="0">
                <a:srgbClr val="DAFEA4"/>
              </a:gs>
              <a:gs pos="35000">
                <a:srgbClr val="E3FEBF"/>
              </a:gs>
              <a:gs pos="100000">
                <a:srgbClr val="F4FEE6"/>
              </a:gs>
            </a:gsLst>
            <a:lin ang="16200000" scaled="0"/>
          </a:gradFill>
          <a:ln w="9525" cap="flat" cmpd="sng">
            <a:solidFill>
              <a:srgbClr val="97B853"/>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 name="Google Shape;95;p2"/>
          <p:cNvSpPr/>
          <p:nvPr/>
        </p:nvSpPr>
        <p:spPr>
          <a:xfrm>
            <a:off x="1752600" y="3785042"/>
            <a:ext cx="1219200" cy="304800"/>
          </a:xfrm>
          <a:prstGeom prst="can">
            <a:avLst>
              <a:gd name="adj" fmla="val 25000"/>
            </a:avLst>
          </a:prstGeom>
          <a:gradFill>
            <a:gsLst>
              <a:gs pos="0">
                <a:srgbClr val="FFBB82"/>
              </a:gs>
              <a:gs pos="35000">
                <a:srgbClr val="FFCFA8"/>
              </a:gs>
              <a:gs pos="100000">
                <a:srgbClr val="FFEBD9"/>
              </a:gs>
            </a:gsLst>
            <a:lin ang="16200000" scaled="0"/>
          </a:gradFill>
          <a:ln w="9525" cap="flat" cmpd="sng">
            <a:solidFill>
              <a:srgbClr val="F5913F"/>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96" name="Google Shape;96;p2"/>
          <p:cNvGrpSpPr/>
          <p:nvPr/>
        </p:nvGrpSpPr>
        <p:grpSpPr>
          <a:xfrm>
            <a:off x="1752600" y="2032442"/>
            <a:ext cx="1219200" cy="2063308"/>
            <a:chOff x="1752600" y="1809750"/>
            <a:chExt cx="1219200" cy="2063308"/>
          </a:xfrm>
        </p:grpSpPr>
        <p:cxnSp>
          <p:nvCxnSpPr>
            <p:cNvPr id="97" name="Google Shape;97;p2"/>
            <p:cNvCxnSpPr/>
            <p:nvPr/>
          </p:nvCxnSpPr>
          <p:spPr>
            <a:xfrm>
              <a:off x="1752600" y="1809750"/>
              <a:ext cx="0" cy="205740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254"/>
                </a:srgbClr>
              </a:outerShdw>
            </a:effectLst>
          </p:spPr>
        </p:cxnSp>
        <p:cxnSp>
          <p:nvCxnSpPr>
            <p:cNvPr id="98" name="Google Shape;98;p2"/>
            <p:cNvCxnSpPr/>
            <p:nvPr/>
          </p:nvCxnSpPr>
          <p:spPr>
            <a:xfrm>
              <a:off x="2971800" y="1815658"/>
              <a:ext cx="0" cy="205740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254"/>
                </a:srgbClr>
              </a:outerShdw>
            </a:effectLst>
          </p:spPr>
        </p:cxnSp>
        <p:cxnSp>
          <p:nvCxnSpPr>
            <p:cNvPr id="99" name="Google Shape;99;p2"/>
            <p:cNvCxnSpPr/>
            <p:nvPr/>
          </p:nvCxnSpPr>
          <p:spPr>
            <a:xfrm>
              <a:off x="1752600" y="3867150"/>
              <a:ext cx="1219200"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254"/>
                </a:srgbClr>
              </a:outerShdw>
            </a:effectLst>
          </p:spPr>
        </p:cxnSp>
      </p:grpSp>
      <p:sp>
        <p:nvSpPr>
          <p:cNvPr id="100" name="Google Shape;100;p2"/>
          <p:cNvSpPr txBox="1"/>
          <p:nvPr/>
        </p:nvSpPr>
        <p:spPr>
          <a:xfrm>
            <a:off x="855741" y="2799635"/>
            <a:ext cx="287258" cy="369332"/>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2224181" y="2266950"/>
            <a:ext cx="276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0</a:t>
            </a:r>
            <a:endParaRPr sz="1800" b="0" i="0" u="none" strike="noStrike" cap="none">
              <a:solidFill>
                <a:schemeClr val="dk1"/>
              </a:solidFill>
              <a:latin typeface="Times New Roman"/>
              <a:ea typeface="Times New Roman"/>
              <a:cs typeface="Times New Roman"/>
              <a:sym typeface="Times New Roman"/>
            </a:endParaRPr>
          </a:p>
        </p:txBody>
      </p:sp>
      <p:sp>
        <p:nvSpPr>
          <p:cNvPr id="102" name="Google Shape;102;p2"/>
          <p:cNvSpPr txBox="1"/>
          <p:nvPr/>
        </p:nvSpPr>
        <p:spPr>
          <a:xfrm>
            <a:off x="2238562" y="2671331"/>
            <a:ext cx="276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1</a:t>
            </a:r>
            <a:endParaRPr sz="1800" b="0" i="0" u="none" strike="noStrike" cap="none">
              <a:solidFill>
                <a:schemeClr val="dk1"/>
              </a:solidFill>
              <a:latin typeface="Times New Roman"/>
              <a:ea typeface="Times New Roman"/>
              <a:cs typeface="Times New Roman"/>
              <a:sym typeface="Times New Roman"/>
            </a:endParaRPr>
          </a:p>
        </p:txBody>
      </p:sp>
      <p:sp>
        <p:nvSpPr>
          <p:cNvPr id="103" name="Google Shape;103;p2"/>
          <p:cNvSpPr txBox="1"/>
          <p:nvPr/>
        </p:nvSpPr>
        <p:spPr>
          <a:xfrm>
            <a:off x="2223366" y="3061142"/>
            <a:ext cx="276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2</a:t>
            </a:r>
            <a:endParaRPr sz="1800" b="0" i="0" u="none" strike="noStrike" cap="none">
              <a:solidFill>
                <a:schemeClr val="dk1"/>
              </a:solidFill>
              <a:latin typeface="Times New Roman"/>
              <a:ea typeface="Times New Roman"/>
              <a:cs typeface="Times New Roman"/>
              <a:sym typeface="Times New Roman"/>
            </a:endParaRPr>
          </a:p>
        </p:txBody>
      </p:sp>
      <p:sp>
        <p:nvSpPr>
          <p:cNvPr id="104" name="Google Shape;104;p2"/>
          <p:cNvSpPr txBox="1"/>
          <p:nvPr/>
        </p:nvSpPr>
        <p:spPr>
          <a:xfrm>
            <a:off x="2222551" y="3437989"/>
            <a:ext cx="276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3</a:t>
            </a:r>
            <a:endParaRPr sz="1800" b="0" i="0" u="none" strike="noStrike" cap="none">
              <a:solidFill>
                <a:schemeClr val="dk1"/>
              </a:solidFill>
              <a:latin typeface="Times New Roman"/>
              <a:ea typeface="Times New Roman"/>
              <a:cs typeface="Times New Roman"/>
              <a:sym typeface="Times New Roman"/>
            </a:endParaRPr>
          </a:p>
        </p:txBody>
      </p:sp>
      <p:sp>
        <p:nvSpPr>
          <p:cNvPr id="105" name="Google Shape;105;p2"/>
          <p:cNvSpPr txBox="1"/>
          <p:nvPr/>
        </p:nvSpPr>
        <p:spPr>
          <a:xfrm>
            <a:off x="2238562" y="3808732"/>
            <a:ext cx="27603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4</a:t>
            </a:r>
            <a:endParaRPr sz="1800" b="0" i="0" u="none" strike="noStrike" cap="none">
              <a:solidFill>
                <a:schemeClr val="dk1"/>
              </a:solidFill>
              <a:latin typeface="Times New Roman"/>
              <a:ea typeface="Times New Roman"/>
              <a:cs typeface="Times New Roman"/>
              <a:sym typeface="Times New Roman"/>
            </a:endParaRPr>
          </a:p>
        </p:txBody>
      </p:sp>
      <p:cxnSp>
        <p:nvCxnSpPr>
          <p:cNvPr id="106" name="Google Shape;106;p2"/>
          <p:cNvCxnSpPr>
            <a:endCxn id="91" idx="2"/>
          </p:cNvCxnSpPr>
          <p:nvPr/>
        </p:nvCxnSpPr>
        <p:spPr>
          <a:xfrm rot="10800000" flipH="1">
            <a:off x="1143000" y="2398874"/>
            <a:ext cx="609600" cy="548100"/>
          </a:xfrm>
          <a:prstGeom prst="straightConnector1">
            <a:avLst/>
          </a:prstGeom>
          <a:noFill/>
          <a:ln w="9525" cap="flat" cmpd="sng">
            <a:solidFill>
              <a:srgbClr val="4A7DBA"/>
            </a:solidFill>
            <a:prstDash val="solid"/>
            <a:round/>
            <a:headEnd type="none" w="sm" len="sm"/>
            <a:tailEnd type="stealth" w="med" len="med"/>
          </a:ln>
        </p:spPr>
      </p:cxnSp>
      <p:cxnSp>
        <p:nvCxnSpPr>
          <p:cNvPr id="107" name="Google Shape;107;p2"/>
          <p:cNvCxnSpPr>
            <a:endCxn id="92" idx="2"/>
          </p:cNvCxnSpPr>
          <p:nvPr/>
        </p:nvCxnSpPr>
        <p:spPr>
          <a:xfrm rot="10800000" flipH="1">
            <a:off x="1143000" y="2794442"/>
            <a:ext cx="609600" cy="184800"/>
          </a:xfrm>
          <a:prstGeom prst="straightConnector1">
            <a:avLst/>
          </a:prstGeom>
          <a:noFill/>
          <a:ln w="9525" cap="flat" cmpd="sng">
            <a:solidFill>
              <a:srgbClr val="4A7DBA"/>
            </a:solidFill>
            <a:prstDash val="solid"/>
            <a:round/>
            <a:headEnd type="none" w="sm" len="sm"/>
            <a:tailEnd type="stealth" w="med" len="med"/>
          </a:ln>
        </p:spPr>
      </p:cxnSp>
      <p:cxnSp>
        <p:nvCxnSpPr>
          <p:cNvPr id="108" name="Google Shape;108;p2"/>
          <p:cNvCxnSpPr>
            <a:endCxn id="93" idx="2"/>
          </p:cNvCxnSpPr>
          <p:nvPr/>
        </p:nvCxnSpPr>
        <p:spPr>
          <a:xfrm>
            <a:off x="1143000" y="2979242"/>
            <a:ext cx="609600" cy="196200"/>
          </a:xfrm>
          <a:prstGeom prst="straightConnector1">
            <a:avLst/>
          </a:prstGeom>
          <a:noFill/>
          <a:ln w="9525" cap="flat" cmpd="sng">
            <a:solidFill>
              <a:srgbClr val="4A7DBA"/>
            </a:solidFill>
            <a:prstDash val="solid"/>
            <a:round/>
            <a:headEnd type="none" w="sm" len="sm"/>
            <a:tailEnd type="stealth" w="med" len="med"/>
          </a:ln>
        </p:spPr>
      </p:cxnSp>
      <p:cxnSp>
        <p:nvCxnSpPr>
          <p:cNvPr id="109" name="Google Shape;109;p2"/>
          <p:cNvCxnSpPr>
            <a:endCxn id="94" idx="2"/>
          </p:cNvCxnSpPr>
          <p:nvPr/>
        </p:nvCxnSpPr>
        <p:spPr>
          <a:xfrm>
            <a:off x="1143000" y="2979242"/>
            <a:ext cx="609600" cy="577200"/>
          </a:xfrm>
          <a:prstGeom prst="straightConnector1">
            <a:avLst/>
          </a:prstGeom>
          <a:noFill/>
          <a:ln w="9525" cap="flat" cmpd="sng">
            <a:solidFill>
              <a:srgbClr val="4A7DBA"/>
            </a:solidFill>
            <a:prstDash val="solid"/>
            <a:round/>
            <a:headEnd type="none" w="sm" len="sm"/>
            <a:tailEnd type="stealth" w="med" len="med"/>
          </a:ln>
        </p:spPr>
      </p:cxnSp>
      <p:cxnSp>
        <p:nvCxnSpPr>
          <p:cNvPr id="110" name="Google Shape;110;p2"/>
          <p:cNvCxnSpPr>
            <a:endCxn id="95" idx="2"/>
          </p:cNvCxnSpPr>
          <p:nvPr/>
        </p:nvCxnSpPr>
        <p:spPr>
          <a:xfrm>
            <a:off x="1143000" y="3023042"/>
            <a:ext cx="609600" cy="914400"/>
          </a:xfrm>
          <a:prstGeom prst="straightConnector1">
            <a:avLst/>
          </a:prstGeom>
          <a:noFill/>
          <a:ln w="9525" cap="flat" cmpd="sng">
            <a:solidFill>
              <a:srgbClr val="4A7DBA"/>
            </a:solidFill>
            <a:prstDash val="solid"/>
            <a:round/>
            <a:headEnd type="none" w="sm" len="sm"/>
            <a:tailEnd type="stealth" w="med" len="med"/>
          </a:ln>
        </p:spPr>
      </p:cxnSp>
      <p:pic>
        <p:nvPicPr>
          <p:cNvPr id="111" name="Google Shape;111;p2"/>
          <p:cNvPicPr preferRelativeResize="0"/>
          <p:nvPr/>
        </p:nvPicPr>
        <p:blipFill rotWithShape="1">
          <a:blip r:embed="rId3">
            <a:alphaModFix/>
          </a:blip>
          <a:srcRect/>
          <a:stretch/>
        </p:blipFill>
        <p:spPr>
          <a:xfrm>
            <a:off x="3505200" y="2296478"/>
            <a:ext cx="2404621" cy="1591182"/>
          </a:xfrm>
          <a:prstGeom prst="rect">
            <a:avLst/>
          </a:prstGeom>
          <a:noFill/>
          <a:ln>
            <a:noFill/>
          </a:ln>
        </p:spPr>
      </p:pic>
      <p:pic>
        <p:nvPicPr>
          <p:cNvPr id="112" name="Google Shape;112;p2"/>
          <p:cNvPicPr preferRelativeResize="0"/>
          <p:nvPr/>
        </p:nvPicPr>
        <p:blipFill rotWithShape="1">
          <a:blip r:embed="rId4">
            <a:alphaModFix/>
          </a:blip>
          <a:srcRect/>
          <a:stretch/>
        </p:blipFill>
        <p:spPr>
          <a:xfrm>
            <a:off x="6172200" y="2264724"/>
            <a:ext cx="2407919" cy="160465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xEl>
                                              <p:pRg st="0" end="0"/>
                                            </p:txEl>
                                          </p:spTgt>
                                        </p:tgtEl>
                                        <p:attrNameLst>
                                          <p:attrName>style.visibility</p:attrName>
                                        </p:attrNameLst>
                                      </p:cBhvr>
                                      <p:to>
                                        <p:strVal val="visible"/>
                                      </p:to>
                                    </p:set>
                                    <p:animEffect transition="in" filter="fade">
                                      <p:cBhvr>
                                        <p:cTn id="7" dur="500"/>
                                        <p:tgtEl>
                                          <p:spTgt spid="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
                                            <p:txEl>
                                              <p:pRg st="1" end="1"/>
                                            </p:txEl>
                                          </p:spTgt>
                                        </p:tgtEl>
                                        <p:attrNameLst>
                                          <p:attrName>style.visibility</p:attrName>
                                        </p:attrNameLst>
                                      </p:cBhvr>
                                      <p:to>
                                        <p:strVal val="visible"/>
                                      </p:to>
                                    </p:set>
                                    <p:animEffect transition="in" filter="fade">
                                      <p:cBhvr>
                                        <p:cTn id="12" dur="500"/>
                                        <p:tgtEl>
                                          <p:spTgt spid="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par>
                                <p:cTn id="18" presetID="10" presetClass="entr" presetSubtype="0" fill="hold" nodeType="withEffect">
                                  <p:stCondLst>
                                    <p:cond delay="0"/>
                                  </p:stCondLst>
                                  <p:childTnLst>
                                    <p:set>
                                      <p:cBhvr>
                                        <p:cTn id="19" dur="1" fill="hold">
                                          <p:stCondLst>
                                            <p:cond delay="0"/>
                                          </p:stCondLst>
                                        </p:cTn>
                                        <p:tgtEl>
                                          <p:spTgt spid="92"/>
                                        </p:tgtEl>
                                        <p:attrNameLst>
                                          <p:attrName>style.visibility</p:attrName>
                                        </p:attrNameLst>
                                      </p:cBhvr>
                                      <p:to>
                                        <p:strVal val="visible"/>
                                      </p:to>
                                    </p:set>
                                    <p:animEffect transition="in" filter="fade">
                                      <p:cBhvr>
                                        <p:cTn id="20" dur="500"/>
                                        <p:tgtEl>
                                          <p:spTgt spid="92"/>
                                        </p:tgtEl>
                                      </p:cBhvr>
                                    </p:animEffect>
                                  </p:childTnLst>
                                </p:cTn>
                              </p:par>
                              <p:par>
                                <p:cTn id="21" presetID="10" presetClass="entr" presetSubtype="0"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animEffect transition="in" filter="fade">
                                      <p:cBhvr>
                                        <p:cTn id="23" dur="500"/>
                                        <p:tgtEl>
                                          <p:spTgt spid="93"/>
                                        </p:tgtEl>
                                      </p:cBhvr>
                                    </p:animEffect>
                                  </p:childTnLst>
                                </p:cTn>
                              </p:par>
                              <p:par>
                                <p:cTn id="24" presetID="10" presetClass="entr" presetSubtype="0" fill="hold" nodeType="withEffect">
                                  <p:stCondLst>
                                    <p:cond delay="0"/>
                                  </p:stCondLst>
                                  <p:childTnLst>
                                    <p:set>
                                      <p:cBhvr>
                                        <p:cTn id="25" dur="1" fill="hold">
                                          <p:stCondLst>
                                            <p:cond delay="0"/>
                                          </p:stCondLst>
                                        </p:cTn>
                                        <p:tgtEl>
                                          <p:spTgt spid="94"/>
                                        </p:tgtEl>
                                        <p:attrNameLst>
                                          <p:attrName>style.visibility</p:attrName>
                                        </p:attrNameLst>
                                      </p:cBhvr>
                                      <p:to>
                                        <p:strVal val="visible"/>
                                      </p:to>
                                    </p:set>
                                    <p:animEffect transition="in" filter="fade">
                                      <p:cBhvr>
                                        <p:cTn id="26" dur="500"/>
                                        <p:tgtEl>
                                          <p:spTgt spid="94"/>
                                        </p:tgtEl>
                                      </p:cBhvr>
                                    </p:animEffect>
                                  </p:childTnLst>
                                </p:cTn>
                              </p:par>
                              <p:par>
                                <p:cTn id="27" presetID="10"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animEffect transition="in" filter="fade">
                                      <p:cBhvr>
                                        <p:cTn id="29" dur="500"/>
                                        <p:tgtEl>
                                          <p:spTgt spid="95"/>
                                        </p:tgtEl>
                                      </p:cBhvr>
                                    </p:animEffect>
                                  </p:childTnLst>
                                </p:cTn>
                              </p:par>
                              <p:par>
                                <p:cTn id="30" presetID="10" presetClass="entr" presetSubtype="0" fill="hold" nodeType="with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fade">
                                      <p:cBhvr>
                                        <p:cTn id="32" dur="500"/>
                                        <p:tgtEl>
                                          <p:spTgt spid="96"/>
                                        </p:tgtEl>
                                      </p:cBhvr>
                                    </p:animEffect>
                                  </p:childTnLst>
                                </p:cTn>
                              </p:par>
                              <p:par>
                                <p:cTn id="33" presetID="10" presetClass="entr" presetSubtype="0" fill="hold" nodeType="withEffect">
                                  <p:stCondLst>
                                    <p:cond delay="0"/>
                                  </p:stCondLst>
                                  <p:childTnLst>
                                    <p:set>
                                      <p:cBhvr>
                                        <p:cTn id="34" dur="1" fill="hold">
                                          <p:stCondLst>
                                            <p:cond delay="0"/>
                                          </p:stCondLst>
                                        </p:cTn>
                                        <p:tgtEl>
                                          <p:spTgt spid="100"/>
                                        </p:tgtEl>
                                        <p:attrNameLst>
                                          <p:attrName>style.visibility</p:attrName>
                                        </p:attrNameLst>
                                      </p:cBhvr>
                                      <p:to>
                                        <p:strVal val="visible"/>
                                      </p:to>
                                    </p:set>
                                    <p:animEffect transition="in" filter="fade">
                                      <p:cBhvr>
                                        <p:cTn id="35" dur="500"/>
                                        <p:tgtEl>
                                          <p:spTgt spid="100"/>
                                        </p:tgtEl>
                                      </p:cBhvr>
                                    </p:animEffect>
                                  </p:childTnLst>
                                </p:cTn>
                              </p:par>
                              <p:par>
                                <p:cTn id="36" presetID="10" presetClass="entr" presetSubtype="0" fill="hold" nodeType="withEffect">
                                  <p:stCondLst>
                                    <p:cond delay="0"/>
                                  </p:stCondLst>
                                  <p:childTnLst>
                                    <p:set>
                                      <p:cBhvr>
                                        <p:cTn id="37" dur="1" fill="hold">
                                          <p:stCondLst>
                                            <p:cond delay="0"/>
                                          </p:stCondLst>
                                        </p:cTn>
                                        <p:tgtEl>
                                          <p:spTgt spid="101"/>
                                        </p:tgtEl>
                                        <p:attrNameLst>
                                          <p:attrName>style.visibility</p:attrName>
                                        </p:attrNameLst>
                                      </p:cBhvr>
                                      <p:to>
                                        <p:strVal val="visible"/>
                                      </p:to>
                                    </p:set>
                                    <p:animEffect transition="in" filter="fade">
                                      <p:cBhvr>
                                        <p:cTn id="38" dur="500"/>
                                        <p:tgtEl>
                                          <p:spTgt spid="101"/>
                                        </p:tgtEl>
                                      </p:cBhvr>
                                    </p:animEffect>
                                  </p:childTnLst>
                                </p:cTn>
                              </p:par>
                              <p:par>
                                <p:cTn id="39" presetID="10" presetClass="entr" presetSubtype="0" fill="hold" nodeType="withEffect">
                                  <p:stCondLst>
                                    <p:cond delay="0"/>
                                  </p:stCondLst>
                                  <p:childTnLst>
                                    <p:set>
                                      <p:cBhvr>
                                        <p:cTn id="40" dur="1" fill="hold">
                                          <p:stCondLst>
                                            <p:cond delay="0"/>
                                          </p:stCondLst>
                                        </p:cTn>
                                        <p:tgtEl>
                                          <p:spTgt spid="102"/>
                                        </p:tgtEl>
                                        <p:attrNameLst>
                                          <p:attrName>style.visibility</p:attrName>
                                        </p:attrNameLst>
                                      </p:cBhvr>
                                      <p:to>
                                        <p:strVal val="visible"/>
                                      </p:to>
                                    </p:set>
                                    <p:animEffect transition="in" filter="fade">
                                      <p:cBhvr>
                                        <p:cTn id="41" dur="500"/>
                                        <p:tgtEl>
                                          <p:spTgt spid="102"/>
                                        </p:tgtEl>
                                      </p:cBhvr>
                                    </p:animEffect>
                                  </p:childTnLst>
                                </p:cTn>
                              </p:par>
                              <p:par>
                                <p:cTn id="42" presetID="10" presetClass="entr" presetSubtype="0" fill="hold" nodeType="withEffect">
                                  <p:stCondLst>
                                    <p:cond delay="0"/>
                                  </p:stCondLst>
                                  <p:childTnLst>
                                    <p:set>
                                      <p:cBhvr>
                                        <p:cTn id="43" dur="1" fill="hold">
                                          <p:stCondLst>
                                            <p:cond delay="0"/>
                                          </p:stCondLst>
                                        </p:cTn>
                                        <p:tgtEl>
                                          <p:spTgt spid="103"/>
                                        </p:tgtEl>
                                        <p:attrNameLst>
                                          <p:attrName>style.visibility</p:attrName>
                                        </p:attrNameLst>
                                      </p:cBhvr>
                                      <p:to>
                                        <p:strVal val="visible"/>
                                      </p:to>
                                    </p:set>
                                    <p:animEffect transition="in" filter="fade">
                                      <p:cBhvr>
                                        <p:cTn id="44" dur="500"/>
                                        <p:tgtEl>
                                          <p:spTgt spid="103"/>
                                        </p:tgtEl>
                                      </p:cBhvr>
                                    </p:animEffect>
                                  </p:childTnLst>
                                </p:cTn>
                              </p:par>
                              <p:par>
                                <p:cTn id="45" presetID="10" presetClass="entr" presetSubtype="0" fill="hold" nodeType="withEffect">
                                  <p:stCondLst>
                                    <p:cond delay="0"/>
                                  </p:stCondLst>
                                  <p:childTnLst>
                                    <p:set>
                                      <p:cBhvr>
                                        <p:cTn id="46" dur="1" fill="hold">
                                          <p:stCondLst>
                                            <p:cond delay="0"/>
                                          </p:stCondLst>
                                        </p:cTn>
                                        <p:tgtEl>
                                          <p:spTgt spid="104"/>
                                        </p:tgtEl>
                                        <p:attrNameLst>
                                          <p:attrName>style.visibility</p:attrName>
                                        </p:attrNameLst>
                                      </p:cBhvr>
                                      <p:to>
                                        <p:strVal val="visible"/>
                                      </p:to>
                                    </p:set>
                                    <p:animEffect transition="in" filter="fade">
                                      <p:cBhvr>
                                        <p:cTn id="47" dur="500"/>
                                        <p:tgtEl>
                                          <p:spTgt spid="104"/>
                                        </p:tgtEl>
                                      </p:cBhvr>
                                    </p:animEffect>
                                  </p:childTnLst>
                                </p:cTn>
                              </p:par>
                              <p:par>
                                <p:cTn id="48" presetID="10" presetClass="entr" presetSubtype="0" fill="hold" nodeType="withEffect">
                                  <p:stCondLst>
                                    <p:cond delay="0"/>
                                  </p:stCondLst>
                                  <p:childTnLst>
                                    <p:set>
                                      <p:cBhvr>
                                        <p:cTn id="49" dur="1" fill="hold">
                                          <p:stCondLst>
                                            <p:cond delay="0"/>
                                          </p:stCondLst>
                                        </p:cTn>
                                        <p:tgtEl>
                                          <p:spTgt spid="105"/>
                                        </p:tgtEl>
                                        <p:attrNameLst>
                                          <p:attrName>style.visibility</p:attrName>
                                        </p:attrNameLst>
                                      </p:cBhvr>
                                      <p:to>
                                        <p:strVal val="visible"/>
                                      </p:to>
                                    </p:set>
                                    <p:animEffect transition="in" filter="fade">
                                      <p:cBhvr>
                                        <p:cTn id="50" dur="500"/>
                                        <p:tgtEl>
                                          <p:spTgt spid="105"/>
                                        </p:tgtEl>
                                      </p:cBhvr>
                                    </p:animEffect>
                                  </p:childTnLst>
                                </p:cTn>
                              </p:par>
                              <p:par>
                                <p:cTn id="51" presetID="10" presetClass="entr" presetSubtype="0" fill="hold" nodeType="withEffect">
                                  <p:stCondLst>
                                    <p:cond delay="0"/>
                                  </p:stCondLst>
                                  <p:childTnLst>
                                    <p:set>
                                      <p:cBhvr>
                                        <p:cTn id="52" dur="1" fill="hold">
                                          <p:stCondLst>
                                            <p:cond delay="0"/>
                                          </p:stCondLst>
                                        </p:cTn>
                                        <p:tgtEl>
                                          <p:spTgt spid="106"/>
                                        </p:tgtEl>
                                        <p:attrNameLst>
                                          <p:attrName>style.visibility</p:attrName>
                                        </p:attrNameLst>
                                      </p:cBhvr>
                                      <p:to>
                                        <p:strVal val="visible"/>
                                      </p:to>
                                    </p:set>
                                    <p:animEffect transition="in" filter="fade">
                                      <p:cBhvr>
                                        <p:cTn id="53" dur="500"/>
                                        <p:tgtEl>
                                          <p:spTgt spid="106"/>
                                        </p:tgtEl>
                                      </p:cBhvr>
                                    </p:animEffect>
                                  </p:childTnLst>
                                </p:cTn>
                              </p:par>
                              <p:par>
                                <p:cTn id="54" presetID="10" presetClass="entr" presetSubtype="0" fill="hold" nodeType="withEffect">
                                  <p:stCondLst>
                                    <p:cond delay="0"/>
                                  </p:stCondLst>
                                  <p:childTnLst>
                                    <p:set>
                                      <p:cBhvr>
                                        <p:cTn id="55" dur="1" fill="hold">
                                          <p:stCondLst>
                                            <p:cond delay="0"/>
                                          </p:stCondLst>
                                        </p:cTn>
                                        <p:tgtEl>
                                          <p:spTgt spid="107"/>
                                        </p:tgtEl>
                                        <p:attrNameLst>
                                          <p:attrName>style.visibility</p:attrName>
                                        </p:attrNameLst>
                                      </p:cBhvr>
                                      <p:to>
                                        <p:strVal val="visible"/>
                                      </p:to>
                                    </p:set>
                                    <p:animEffect transition="in" filter="fade">
                                      <p:cBhvr>
                                        <p:cTn id="56" dur="500"/>
                                        <p:tgtEl>
                                          <p:spTgt spid="107"/>
                                        </p:tgtEl>
                                      </p:cBhvr>
                                    </p:animEffect>
                                  </p:childTnLst>
                                </p:cTn>
                              </p:par>
                              <p:par>
                                <p:cTn id="57" presetID="10" presetClass="entr" presetSubtype="0" fill="hold" nodeType="withEffect">
                                  <p:stCondLst>
                                    <p:cond delay="0"/>
                                  </p:stCondLst>
                                  <p:childTnLst>
                                    <p:set>
                                      <p:cBhvr>
                                        <p:cTn id="58" dur="1" fill="hold">
                                          <p:stCondLst>
                                            <p:cond delay="0"/>
                                          </p:stCondLst>
                                        </p:cTn>
                                        <p:tgtEl>
                                          <p:spTgt spid="108"/>
                                        </p:tgtEl>
                                        <p:attrNameLst>
                                          <p:attrName>style.visibility</p:attrName>
                                        </p:attrNameLst>
                                      </p:cBhvr>
                                      <p:to>
                                        <p:strVal val="visible"/>
                                      </p:to>
                                    </p:set>
                                    <p:animEffect transition="in" filter="fade">
                                      <p:cBhvr>
                                        <p:cTn id="59" dur="500"/>
                                        <p:tgtEl>
                                          <p:spTgt spid="108"/>
                                        </p:tgtEl>
                                      </p:cBhvr>
                                    </p:animEffect>
                                  </p:childTnLst>
                                </p:cTn>
                              </p:par>
                              <p:par>
                                <p:cTn id="60" presetID="10" presetClass="entr" presetSubtype="0" fill="hold" nodeType="withEffect">
                                  <p:stCondLst>
                                    <p:cond delay="0"/>
                                  </p:stCondLst>
                                  <p:childTnLst>
                                    <p:set>
                                      <p:cBhvr>
                                        <p:cTn id="61" dur="1" fill="hold">
                                          <p:stCondLst>
                                            <p:cond delay="0"/>
                                          </p:stCondLst>
                                        </p:cTn>
                                        <p:tgtEl>
                                          <p:spTgt spid="109"/>
                                        </p:tgtEl>
                                        <p:attrNameLst>
                                          <p:attrName>style.visibility</p:attrName>
                                        </p:attrNameLst>
                                      </p:cBhvr>
                                      <p:to>
                                        <p:strVal val="visible"/>
                                      </p:to>
                                    </p:set>
                                    <p:animEffect transition="in" filter="fade">
                                      <p:cBhvr>
                                        <p:cTn id="62" dur="500"/>
                                        <p:tgtEl>
                                          <p:spTgt spid="109"/>
                                        </p:tgtEl>
                                      </p:cBhvr>
                                    </p:animEffect>
                                  </p:childTnLst>
                                </p:cTn>
                              </p:par>
                              <p:par>
                                <p:cTn id="63" presetID="10" presetClass="entr" presetSubtype="0" fill="hold" nodeType="withEffect">
                                  <p:stCondLst>
                                    <p:cond delay="0"/>
                                  </p:stCondLst>
                                  <p:childTnLst>
                                    <p:set>
                                      <p:cBhvr>
                                        <p:cTn id="64" dur="1" fill="hold">
                                          <p:stCondLst>
                                            <p:cond delay="0"/>
                                          </p:stCondLst>
                                        </p:cTn>
                                        <p:tgtEl>
                                          <p:spTgt spid="110"/>
                                        </p:tgtEl>
                                        <p:attrNameLst>
                                          <p:attrName>style.visibility</p:attrName>
                                        </p:attrNameLst>
                                      </p:cBhvr>
                                      <p:to>
                                        <p:strVal val="visible"/>
                                      </p:to>
                                    </p:set>
                                    <p:animEffect transition="in" filter="fade">
                                      <p:cBhvr>
                                        <p:cTn id="65" dur="500"/>
                                        <p:tgtEl>
                                          <p:spTgt spid="11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11"/>
                                        </p:tgtEl>
                                        <p:attrNameLst>
                                          <p:attrName>style.visibility</p:attrName>
                                        </p:attrNameLst>
                                      </p:cBhvr>
                                      <p:to>
                                        <p:strVal val="visible"/>
                                      </p:to>
                                    </p:set>
                                    <p:animEffect transition="in" filter="fade">
                                      <p:cBhvr>
                                        <p:cTn id="70" dur="500"/>
                                        <p:tgtEl>
                                          <p:spTgt spid="111"/>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12"/>
                                        </p:tgtEl>
                                        <p:attrNameLst>
                                          <p:attrName>style.visibility</p:attrName>
                                        </p:attrNameLst>
                                      </p:cBhvr>
                                      <p:to>
                                        <p:strVal val="visible"/>
                                      </p:to>
                                    </p:set>
                                    <p:animEffect transition="in" filter="fade">
                                      <p:cBhvr>
                                        <p:cTn id="75"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p:nvPr/>
        </p:nvSpPr>
        <p:spPr>
          <a:xfrm>
            <a:off x="152400" y="209550"/>
            <a:ext cx="8839200" cy="5539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sng" strike="noStrike" cap="none">
                <a:solidFill>
                  <a:schemeClr val="dk1"/>
                </a:solidFill>
                <a:latin typeface="Calibri"/>
                <a:ea typeface="Calibri"/>
                <a:cs typeface="Calibri"/>
                <a:sym typeface="Calibri"/>
              </a:rPr>
              <a:t>Real Time Scenarios for Arrays: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1. </a:t>
            </a:r>
            <a:r>
              <a:rPr lang="en-US" sz="2000" b="1" i="0" u="none" strike="noStrike" cap="none">
                <a:solidFill>
                  <a:schemeClr val="dk1"/>
                </a:solidFill>
                <a:latin typeface="Calibri"/>
                <a:ea typeface="Calibri"/>
                <a:cs typeface="Calibri"/>
                <a:sym typeface="Calibri"/>
              </a:rPr>
              <a:t>Managing Student Records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 school can use an array to store student names, roll numbers, or grades.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Example: students[] = {"John", "Emma", "Liam", "Sophia"}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2. </a:t>
            </a:r>
            <a:r>
              <a:rPr lang="en-US" sz="2000" b="1" i="0" u="none" strike="noStrike" cap="none">
                <a:solidFill>
                  <a:schemeClr val="dk1"/>
                </a:solidFill>
                <a:latin typeface="Calibri"/>
                <a:ea typeface="Calibri"/>
                <a:cs typeface="Calibri"/>
                <a:sym typeface="Calibri"/>
              </a:rPr>
              <a:t>Online Ticket Booking System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An airline or movie ticket booking system can use arrays to store seat availability.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Example: seats[] = {0, 1, 1, 0, 0, 1} (0 = Available, 1 = Booked)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3. </a:t>
            </a:r>
            <a:r>
              <a:rPr lang="en-US" sz="2000" b="1" i="0" u="none" strike="noStrike" cap="none">
                <a:solidFill>
                  <a:schemeClr val="dk1"/>
                </a:solidFill>
                <a:latin typeface="Calibri"/>
                <a:ea typeface="Calibri"/>
                <a:cs typeface="Calibri"/>
                <a:sym typeface="Calibri"/>
              </a:rPr>
              <a:t>Game Development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In games, arrays are used to store player scores, levels, or inventories.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Example: playerScores[] = {100, 200, 150, 300}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sng"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000"/>
              <a:buFont typeface="Calibri"/>
              <a:buNone/>
            </a:pPr>
            <a:r>
              <a:rPr lang="en-US" sz="2000"/>
              <a:t>CONTINUE</a:t>
            </a:r>
            <a:endParaRPr/>
          </a:p>
        </p:txBody>
      </p:sp>
      <p:sp>
        <p:nvSpPr>
          <p:cNvPr id="123" name="Google Shape;123;p4"/>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00000"/>
              </a:lnSpc>
              <a:spcBef>
                <a:spcPts val="0"/>
              </a:spcBef>
              <a:spcAft>
                <a:spcPts val="0"/>
              </a:spcAft>
              <a:buClr>
                <a:schemeClr val="dk1"/>
              </a:buClr>
              <a:buSzPct val="100000"/>
              <a:buNone/>
            </a:pPr>
            <a:r>
              <a:rPr lang="en-US" sz="7200"/>
              <a:t>4. </a:t>
            </a:r>
            <a:r>
              <a:rPr lang="en-US" sz="7200" b="1"/>
              <a:t>Traffic Management Systems</a:t>
            </a:r>
            <a:endParaRPr/>
          </a:p>
          <a:p>
            <a:pPr marL="0" lvl="0" indent="0" algn="l" rtl="0">
              <a:lnSpc>
                <a:spcPct val="100000"/>
              </a:lnSpc>
              <a:spcBef>
                <a:spcPts val="360"/>
              </a:spcBef>
              <a:spcAft>
                <a:spcPts val="0"/>
              </a:spcAft>
              <a:buClr>
                <a:schemeClr val="dk1"/>
              </a:buClr>
              <a:buSzPct val="100000"/>
              <a:buNone/>
            </a:pPr>
            <a:r>
              <a:rPr lang="en-US" sz="7200"/>
              <a:t>Arrays can store vehicle numbers, traffic light statuses, or congestion levels.</a:t>
            </a:r>
            <a:endParaRPr/>
          </a:p>
          <a:p>
            <a:pPr marL="0" lvl="0" indent="0" algn="l" rtl="0">
              <a:lnSpc>
                <a:spcPct val="100000"/>
              </a:lnSpc>
              <a:spcBef>
                <a:spcPts val="360"/>
              </a:spcBef>
              <a:spcAft>
                <a:spcPts val="0"/>
              </a:spcAft>
              <a:buClr>
                <a:schemeClr val="dk1"/>
              </a:buClr>
              <a:buSzPct val="100000"/>
              <a:buNone/>
            </a:pPr>
            <a:endParaRPr sz="7200"/>
          </a:p>
          <a:p>
            <a:pPr marL="0" lvl="0" indent="0" algn="l" rtl="0">
              <a:lnSpc>
                <a:spcPct val="100000"/>
              </a:lnSpc>
              <a:spcBef>
                <a:spcPts val="360"/>
              </a:spcBef>
              <a:spcAft>
                <a:spcPts val="0"/>
              </a:spcAft>
              <a:buClr>
                <a:schemeClr val="dk1"/>
              </a:buClr>
              <a:buSzPct val="100000"/>
              <a:buNone/>
            </a:pPr>
            <a:r>
              <a:rPr lang="en-US" sz="7200"/>
              <a:t>Example: trafficLights[] = {"Red", "Green", "Yellow"}</a:t>
            </a:r>
            <a:endParaRPr/>
          </a:p>
          <a:p>
            <a:pPr marL="0" lvl="0" indent="0" algn="l" rtl="0">
              <a:lnSpc>
                <a:spcPct val="100000"/>
              </a:lnSpc>
              <a:spcBef>
                <a:spcPts val="360"/>
              </a:spcBef>
              <a:spcAft>
                <a:spcPts val="0"/>
              </a:spcAft>
              <a:buClr>
                <a:schemeClr val="dk1"/>
              </a:buClr>
              <a:buSzPct val="100000"/>
              <a:buNone/>
            </a:pPr>
            <a:endParaRPr sz="7200"/>
          </a:p>
          <a:p>
            <a:pPr marL="0" lvl="0" indent="0" algn="l" rtl="0">
              <a:lnSpc>
                <a:spcPct val="100000"/>
              </a:lnSpc>
              <a:spcBef>
                <a:spcPts val="360"/>
              </a:spcBef>
              <a:spcAft>
                <a:spcPts val="0"/>
              </a:spcAft>
              <a:buClr>
                <a:schemeClr val="dk1"/>
              </a:buClr>
              <a:buSzPct val="100000"/>
              <a:buNone/>
            </a:pPr>
            <a:r>
              <a:rPr lang="en-US" sz="7200"/>
              <a:t>5. </a:t>
            </a:r>
            <a:r>
              <a:rPr lang="en-US" sz="7200" b="1"/>
              <a:t>Hospital Management System</a:t>
            </a:r>
            <a:endParaRPr/>
          </a:p>
          <a:p>
            <a:pPr marL="0" lvl="0" indent="0" algn="l" rtl="0">
              <a:lnSpc>
                <a:spcPct val="100000"/>
              </a:lnSpc>
              <a:spcBef>
                <a:spcPts val="360"/>
              </a:spcBef>
              <a:spcAft>
                <a:spcPts val="0"/>
              </a:spcAft>
              <a:buClr>
                <a:schemeClr val="dk1"/>
              </a:buClr>
              <a:buSzPct val="100000"/>
              <a:buNone/>
            </a:pPr>
            <a:r>
              <a:rPr lang="en-US" sz="7200"/>
              <a:t>Arrays store patient names, ID numbers, or room allocations.</a:t>
            </a:r>
            <a:endParaRPr/>
          </a:p>
          <a:p>
            <a:pPr marL="0" lvl="0" indent="0" algn="l" rtl="0">
              <a:lnSpc>
                <a:spcPct val="100000"/>
              </a:lnSpc>
              <a:spcBef>
                <a:spcPts val="360"/>
              </a:spcBef>
              <a:spcAft>
                <a:spcPts val="0"/>
              </a:spcAft>
              <a:buClr>
                <a:schemeClr val="dk1"/>
              </a:buClr>
              <a:buSzPct val="100000"/>
              <a:buNone/>
            </a:pPr>
            <a:endParaRPr sz="7200"/>
          </a:p>
          <a:p>
            <a:pPr marL="0" lvl="0" indent="0" algn="l" rtl="0">
              <a:lnSpc>
                <a:spcPct val="100000"/>
              </a:lnSpc>
              <a:spcBef>
                <a:spcPts val="360"/>
              </a:spcBef>
              <a:spcAft>
                <a:spcPts val="0"/>
              </a:spcAft>
              <a:buClr>
                <a:schemeClr val="dk1"/>
              </a:buClr>
              <a:buSzPct val="100000"/>
              <a:buNone/>
            </a:pPr>
            <a:r>
              <a:rPr lang="en-US" sz="7200"/>
              <a:t>Example: patients[] = {"Alice", "Bob", "Charlie", "David"}</a:t>
            </a:r>
            <a:endParaRPr/>
          </a:p>
          <a:p>
            <a:pPr marL="0" lvl="0" indent="0" algn="l" rtl="0">
              <a:lnSpc>
                <a:spcPct val="100000"/>
              </a:lnSpc>
              <a:spcBef>
                <a:spcPts val="360"/>
              </a:spcBef>
              <a:spcAft>
                <a:spcPts val="0"/>
              </a:spcAft>
              <a:buClr>
                <a:schemeClr val="dk1"/>
              </a:buClr>
              <a:buSzPct val="100000"/>
              <a:buNone/>
            </a:pPr>
            <a:endParaRPr sz="7200"/>
          </a:p>
          <a:p>
            <a:pPr marL="0" lvl="0" indent="0" algn="l" rtl="0">
              <a:lnSpc>
                <a:spcPct val="100000"/>
              </a:lnSpc>
              <a:spcBef>
                <a:spcPts val="360"/>
              </a:spcBef>
              <a:spcAft>
                <a:spcPts val="0"/>
              </a:spcAft>
              <a:buClr>
                <a:schemeClr val="dk1"/>
              </a:buClr>
              <a:buSzPct val="100000"/>
              <a:buNone/>
            </a:pPr>
            <a:r>
              <a:rPr lang="en-US" sz="7200"/>
              <a:t>6. </a:t>
            </a:r>
            <a:r>
              <a:rPr lang="en-US" sz="7200" b="1"/>
              <a:t>Stock Market Data</a:t>
            </a:r>
            <a:endParaRPr/>
          </a:p>
          <a:p>
            <a:pPr marL="0" lvl="0" indent="0" algn="l" rtl="0">
              <a:lnSpc>
                <a:spcPct val="100000"/>
              </a:lnSpc>
              <a:spcBef>
                <a:spcPts val="360"/>
              </a:spcBef>
              <a:spcAft>
                <a:spcPts val="0"/>
              </a:spcAft>
              <a:buClr>
                <a:schemeClr val="dk1"/>
              </a:buClr>
              <a:buSzPct val="100000"/>
              <a:buNone/>
            </a:pPr>
            <a:r>
              <a:rPr lang="en-US" sz="7200"/>
              <a:t>Stock prices are stored in arrays for real-time analysis.</a:t>
            </a:r>
            <a:endParaRPr/>
          </a:p>
          <a:p>
            <a:pPr marL="0" lvl="0" indent="0" algn="l" rtl="0">
              <a:lnSpc>
                <a:spcPct val="100000"/>
              </a:lnSpc>
              <a:spcBef>
                <a:spcPts val="360"/>
              </a:spcBef>
              <a:spcAft>
                <a:spcPts val="0"/>
              </a:spcAft>
              <a:buClr>
                <a:schemeClr val="dk1"/>
              </a:buClr>
              <a:buSzPct val="100000"/>
              <a:buNone/>
            </a:pPr>
            <a:endParaRPr sz="7200"/>
          </a:p>
          <a:p>
            <a:pPr marL="0" lvl="0" indent="0" algn="l" rtl="0">
              <a:lnSpc>
                <a:spcPct val="100000"/>
              </a:lnSpc>
              <a:spcBef>
                <a:spcPts val="360"/>
              </a:spcBef>
              <a:spcAft>
                <a:spcPts val="0"/>
              </a:spcAft>
              <a:buClr>
                <a:schemeClr val="dk1"/>
              </a:buClr>
              <a:buSzPct val="100000"/>
              <a:buNone/>
            </a:pPr>
            <a:r>
              <a:rPr lang="en-US" sz="7200"/>
              <a:t>Example: stockPrices[] = {120.5, 121.8, 119.6, 122.3}</a:t>
            </a:r>
            <a:endParaRPr/>
          </a:p>
          <a:p>
            <a:pPr marL="0" lvl="0" indent="0" algn="l" rtl="0">
              <a:lnSpc>
                <a:spcPct val="100000"/>
              </a:lnSpc>
              <a:spcBef>
                <a:spcPts val="360"/>
              </a:spcBef>
              <a:spcAft>
                <a:spcPts val="0"/>
              </a:spcAft>
              <a:buClr>
                <a:schemeClr val="dk1"/>
              </a:buClr>
              <a:buSzPct val="100000"/>
              <a:buNone/>
            </a:pPr>
            <a:endParaRPr sz="7200" u="sn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Why do we need arrays?</a:t>
            </a:r>
            <a:endParaRPr sz="4000"/>
          </a:p>
        </p:txBody>
      </p:sp>
      <p:sp>
        <p:nvSpPr>
          <p:cNvPr id="129" name="Google Shape;129;p5"/>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Autofit/>
          </a:bodyPr>
          <a:lstStyle/>
          <a:p>
            <a:pPr marL="171450" lvl="0" indent="-171450" algn="just" rtl="0">
              <a:lnSpc>
                <a:spcPct val="100000"/>
              </a:lnSpc>
              <a:spcBef>
                <a:spcPts val="0"/>
              </a:spcBef>
              <a:spcAft>
                <a:spcPts val="0"/>
              </a:spcAft>
              <a:buClr>
                <a:schemeClr val="dk1"/>
              </a:buClr>
              <a:buSzPts val="2800"/>
              <a:buChar char="•"/>
            </a:pPr>
            <a:r>
              <a:rPr lang="en-US" sz="2000"/>
              <a:t>Arrays allow you to group multiple values of the </a:t>
            </a:r>
            <a:r>
              <a:rPr lang="en-US" sz="2000" b="1"/>
              <a:t>same data type under a single name. </a:t>
            </a:r>
            <a:endParaRPr sz="2000"/>
          </a:p>
          <a:p>
            <a:pPr marL="171450" lvl="0" indent="-171450" algn="just" rtl="0">
              <a:lnSpc>
                <a:spcPct val="100000"/>
              </a:lnSpc>
              <a:spcBef>
                <a:spcPts val="750"/>
              </a:spcBef>
              <a:spcAft>
                <a:spcPts val="0"/>
              </a:spcAft>
              <a:buClr>
                <a:schemeClr val="dk1"/>
              </a:buClr>
              <a:buSzPts val="2800"/>
              <a:buChar char="•"/>
            </a:pPr>
            <a:r>
              <a:rPr lang="en-US" sz="2000"/>
              <a:t>This makes it easier to organize and manage related data. For example, you can use an array to store a list of student's marks.</a:t>
            </a:r>
            <a:endParaRPr sz="2000"/>
          </a:p>
          <a:p>
            <a:pPr marL="171450" lvl="0" indent="-171450" algn="just" rtl="0">
              <a:lnSpc>
                <a:spcPct val="100000"/>
              </a:lnSpc>
              <a:spcBef>
                <a:spcPts val="750"/>
              </a:spcBef>
              <a:spcAft>
                <a:spcPts val="0"/>
              </a:spcAft>
              <a:buClr>
                <a:schemeClr val="dk1"/>
              </a:buClr>
              <a:buSzPts val="2800"/>
              <a:buChar char="•"/>
            </a:pPr>
            <a:r>
              <a:rPr lang="en-US" sz="2000"/>
              <a:t>Since arrays store elements in contiguous memory locations, it allows for efficient sequential access to the elements of an array. </a:t>
            </a:r>
            <a:endParaRPr sz="2000"/>
          </a:p>
          <a:p>
            <a:pPr marL="171450" lvl="0" indent="-171450" algn="just" rtl="0">
              <a:lnSpc>
                <a:spcPct val="100000"/>
              </a:lnSpc>
              <a:spcBef>
                <a:spcPts val="750"/>
              </a:spcBef>
              <a:spcAft>
                <a:spcPts val="0"/>
              </a:spcAft>
              <a:buClr>
                <a:schemeClr val="dk1"/>
              </a:buClr>
              <a:buSzPts val="2800"/>
              <a:buChar char="•"/>
            </a:pPr>
            <a:r>
              <a:rPr lang="en-US" sz="2000"/>
              <a:t>You can easily iterate through the elements of an array using loops like for or while.</a:t>
            </a:r>
            <a:endParaRPr sz="2000"/>
          </a:p>
          <a:p>
            <a:pPr marL="171450" lvl="0" indent="-38100" algn="just" rtl="0">
              <a:lnSpc>
                <a:spcPct val="100000"/>
              </a:lnSpc>
              <a:spcBef>
                <a:spcPts val="750"/>
              </a:spcBef>
              <a:spcAft>
                <a:spcPts val="0"/>
              </a:spcAft>
              <a:buClr>
                <a:schemeClr val="dk1"/>
              </a:buClr>
              <a:buSzPts val="28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 calcmode="lin" valueType="num">
                                      <p:cBhvr additive="base">
                                        <p:cTn id="7" dur="500"/>
                                        <p:tgtEl>
                                          <p:spTgt spid="12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
                                            <p:txEl>
                                              <p:pRg st="0" end="0"/>
                                            </p:txEl>
                                          </p:spTgt>
                                        </p:tgtEl>
                                        <p:attrNameLst>
                                          <p:attrName>style.visibility</p:attrName>
                                        </p:attrNameLst>
                                      </p:cBhvr>
                                      <p:to>
                                        <p:strVal val="visible"/>
                                      </p:to>
                                    </p:set>
                                    <p:animEffect transition="in" filter="fade">
                                      <p:cBhvr>
                                        <p:cTn id="12" dur="1000"/>
                                        <p:tgtEl>
                                          <p:spTgt spid="12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
                                            <p:txEl>
                                              <p:pRg st="1" end="1"/>
                                            </p:txEl>
                                          </p:spTgt>
                                        </p:tgtEl>
                                        <p:attrNameLst>
                                          <p:attrName>style.visibility</p:attrName>
                                        </p:attrNameLst>
                                      </p:cBhvr>
                                      <p:to>
                                        <p:strVal val="visible"/>
                                      </p:to>
                                    </p:set>
                                    <p:animEffect transition="in" filter="fade">
                                      <p:cBhvr>
                                        <p:cTn id="17" dur="1000"/>
                                        <p:tgtEl>
                                          <p:spTgt spid="12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9">
                                            <p:txEl>
                                              <p:pRg st="2" end="2"/>
                                            </p:txEl>
                                          </p:spTgt>
                                        </p:tgtEl>
                                        <p:attrNameLst>
                                          <p:attrName>style.visibility</p:attrName>
                                        </p:attrNameLst>
                                      </p:cBhvr>
                                      <p:to>
                                        <p:strVal val="visible"/>
                                      </p:to>
                                    </p:set>
                                    <p:animEffect transition="in" filter="fade">
                                      <p:cBhvr>
                                        <p:cTn id="22" dur="1000"/>
                                        <p:tgtEl>
                                          <p:spTgt spid="12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9">
                                            <p:txEl>
                                              <p:pRg st="3" end="3"/>
                                            </p:txEl>
                                          </p:spTgt>
                                        </p:tgtEl>
                                        <p:attrNameLst>
                                          <p:attrName>style.visibility</p:attrName>
                                        </p:attrNameLst>
                                      </p:cBhvr>
                                      <p:to>
                                        <p:strVal val="visible"/>
                                      </p:to>
                                    </p:set>
                                    <p:animEffect transition="in" filter="fade">
                                      <p:cBhvr>
                                        <p:cTn id="27" dur="1000"/>
                                        <p:tgtEl>
                                          <p:spTgt spid="12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9">
                                            <p:txEl>
                                              <p:pRg st="4" end="4"/>
                                            </p:txEl>
                                          </p:spTgt>
                                        </p:tgtEl>
                                        <p:attrNameLst>
                                          <p:attrName>style.visibility</p:attrName>
                                        </p:attrNameLst>
                                      </p:cBhvr>
                                      <p:to>
                                        <p:strVal val="visible"/>
                                      </p:to>
                                    </p:set>
                                    <p:animEffect transition="in" filter="fade">
                                      <p:cBhvr>
                                        <p:cTn id="32" dur="1000"/>
                                        <p:tgtEl>
                                          <p:spTgt spid="12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6"/>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Array Representation</a:t>
            </a:r>
            <a:endParaRPr sz="4000"/>
          </a:p>
        </p:txBody>
      </p:sp>
      <p:sp>
        <p:nvSpPr>
          <p:cNvPr id="135" name="Google Shape;135;p6"/>
          <p:cNvSpPr txBox="1">
            <a:spLocks noGrp="1"/>
          </p:cNvSpPr>
          <p:nvPr>
            <p:ph type="body" idx="1"/>
          </p:nvPr>
        </p:nvSpPr>
        <p:spPr>
          <a:xfrm>
            <a:off x="628650" y="1123950"/>
            <a:ext cx="7886700" cy="3508773"/>
          </a:xfrm>
          <a:prstGeom prst="rect">
            <a:avLst/>
          </a:prstGeom>
          <a:noFill/>
          <a:ln>
            <a:noFill/>
          </a:ln>
        </p:spPr>
        <p:txBody>
          <a:bodyPr spcFirstLastPara="1" wrap="square" lIns="68550" tIns="34275" rIns="68550" bIns="34275" anchor="t" anchorCtr="0">
            <a:noAutofit/>
          </a:bodyPr>
          <a:lstStyle/>
          <a:p>
            <a:pPr marL="171450" lvl="0" indent="-171450" algn="just" rtl="0">
              <a:lnSpc>
                <a:spcPct val="90000"/>
              </a:lnSpc>
              <a:spcBef>
                <a:spcPts val="0"/>
              </a:spcBef>
              <a:spcAft>
                <a:spcPts val="0"/>
              </a:spcAft>
              <a:buClr>
                <a:schemeClr val="dk1"/>
              </a:buClr>
              <a:buSzPts val="2000"/>
              <a:buChar char="•"/>
            </a:pPr>
            <a:r>
              <a:rPr lang="en-US" sz="2000"/>
              <a:t>One dimensional Array: Finite ordered set of homogeneous elements.</a:t>
            </a:r>
            <a:endParaRPr sz="2000"/>
          </a:p>
          <a:p>
            <a:pPr marL="171450" lvl="0" indent="-171450" algn="just" rtl="0">
              <a:lnSpc>
                <a:spcPct val="90000"/>
              </a:lnSpc>
              <a:spcBef>
                <a:spcPts val="750"/>
              </a:spcBef>
              <a:spcAft>
                <a:spcPts val="0"/>
              </a:spcAft>
              <a:buClr>
                <a:schemeClr val="dk1"/>
              </a:buClr>
              <a:buSzPts val="2000"/>
              <a:buChar char="•"/>
            </a:pPr>
            <a:r>
              <a:rPr lang="en-US" sz="2000"/>
              <a:t>Finite means the number of elements in the array is fixed when you declare the array </a:t>
            </a:r>
            <a:endParaRPr sz="2000"/>
          </a:p>
          <a:p>
            <a:pPr marL="171450" lvl="0" indent="-171450" algn="just" rtl="0">
              <a:lnSpc>
                <a:spcPct val="90000"/>
              </a:lnSpc>
              <a:spcBef>
                <a:spcPts val="750"/>
              </a:spcBef>
              <a:spcAft>
                <a:spcPts val="0"/>
              </a:spcAft>
              <a:buClr>
                <a:schemeClr val="dk1"/>
              </a:buClr>
              <a:buSzPts val="2000"/>
              <a:buChar char="•"/>
            </a:pPr>
            <a:r>
              <a:rPr lang="en-US" sz="2000"/>
              <a:t>Ordered means each elements in the array are arranged and can be retrieved using it index. Index starts from </a:t>
            </a:r>
            <a:r>
              <a:rPr lang="en-US" sz="2000" b="1"/>
              <a:t>zero</a:t>
            </a:r>
            <a:r>
              <a:rPr lang="en-US" sz="2000"/>
              <a:t>.</a:t>
            </a:r>
            <a:endParaRPr sz="2000"/>
          </a:p>
          <a:p>
            <a:pPr marL="171450" lvl="0" indent="-171450" algn="just" rtl="0">
              <a:lnSpc>
                <a:spcPct val="90000"/>
              </a:lnSpc>
              <a:spcBef>
                <a:spcPts val="750"/>
              </a:spcBef>
              <a:spcAft>
                <a:spcPts val="0"/>
              </a:spcAft>
              <a:buClr>
                <a:schemeClr val="dk1"/>
              </a:buClr>
              <a:buSzPts val="2000"/>
              <a:buChar char="•"/>
            </a:pPr>
            <a:r>
              <a:rPr lang="en-US" sz="2000"/>
              <a:t>Homogeneous means all the elements in the array must be of the same data type.</a:t>
            </a:r>
            <a:endParaRPr sz="2000"/>
          </a:p>
          <a:p>
            <a:pPr marL="171450" lvl="0" indent="-171450" algn="just" rtl="0">
              <a:lnSpc>
                <a:spcPct val="90000"/>
              </a:lnSpc>
              <a:spcBef>
                <a:spcPts val="750"/>
              </a:spcBef>
              <a:spcAft>
                <a:spcPts val="0"/>
              </a:spcAft>
              <a:buClr>
                <a:schemeClr val="dk1"/>
              </a:buClr>
              <a:buSzPts val="2800"/>
              <a:buChar char="•"/>
            </a:pPr>
            <a:r>
              <a:rPr lang="en-US" sz="2000"/>
              <a:t>To declare an array, you specify the </a:t>
            </a:r>
            <a:r>
              <a:rPr lang="en-US" sz="2000" b="1"/>
              <a:t>data type</a:t>
            </a:r>
            <a:r>
              <a:rPr lang="en-US" sz="2000"/>
              <a:t> of its elements, followed by the </a:t>
            </a:r>
            <a:r>
              <a:rPr lang="en-US" sz="2000" b="1"/>
              <a:t>array name </a:t>
            </a:r>
            <a:r>
              <a:rPr lang="en-US" sz="2000"/>
              <a:t>and the </a:t>
            </a:r>
            <a:r>
              <a:rPr lang="en-US" sz="2000" b="1"/>
              <a:t>number of elements </a:t>
            </a:r>
            <a:r>
              <a:rPr lang="en-US" sz="2000"/>
              <a:t>it can hold (the size of the array).</a:t>
            </a:r>
            <a:endParaRPr sz="2000">
              <a:solidFill>
                <a:srgbClr val="808000"/>
              </a:solidFill>
            </a:endParaRPr>
          </a:p>
          <a:p>
            <a:pPr marL="0" lvl="0" indent="0" algn="just" rtl="0">
              <a:lnSpc>
                <a:spcPct val="90000"/>
              </a:lnSpc>
              <a:spcBef>
                <a:spcPts val="750"/>
              </a:spcBef>
              <a:spcAft>
                <a:spcPts val="0"/>
              </a:spcAft>
              <a:buClr>
                <a:srgbClr val="808000"/>
              </a:buClr>
              <a:buSzPts val="2000"/>
              <a:buNone/>
            </a:pPr>
            <a:r>
              <a:rPr lang="en-US" sz="2000">
                <a:solidFill>
                  <a:srgbClr val="808000"/>
                </a:solidFill>
              </a:rPr>
              <a:t>				</a:t>
            </a:r>
            <a:endParaRPr sz="2000"/>
          </a:p>
          <a:p>
            <a:pPr marL="171450" lvl="0" indent="-58102" algn="just" rtl="0">
              <a:lnSpc>
                <a:spcPct val="90000"/>
              </a:lnSpc>
              <a:spcBef>
                <a:spcPts val="750"/>
              </a:spcBef>
              <a:spcAft>
                <a:spcPts val="0"/>
              </a:spcAft>
              <a:buClr>
                <a:schemeClr val="dk1"/>
              </a:buClr>
              <a:buSzPts val="20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500"/>
                                        <p:tgtEl>
                                          <p:spTgt spid="13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5">
                                            <p:txEl>
                                              <p:pRg st="0" end="0"/>
                                            </p:txEl>
                                          </p:spTgt>
                                        </p:tgtEl>
                                        <p:attrNameLst>
                                          <p:attrName>style.visibility</p:attrName>
                                        </p:attrNameLst>
                                      </p:cBhvr>
                                      <p:to>
                                        <p:strVal val="visible"/>
                                      </p:to>
                                    </p:set>
                                    <p:anim calcmode="lin" valueType="num">
                                      <p:cBhvr additive="base">
                                        <p:cTn id="12" dur="500"/>
                                        <p:tgtEl>
                                          <p:spTgt spid="1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5">
                                            <p:txEl>
                                              <p:pRg st="1" end="1"/>
                                            </p:txEl>
                                          </p:spTgt>
                                        </p:tgtEl>
                                        <p:attrNameLst>
                                          <p:attrName>style.visibility</p:attrName>
                                        </p:attrNameLst>
                                      </p:cBhvr>
                                      <p:to>
                                        <p:strVal val="visible"/>
                                      </p:to>
                                    </p:set>
                                    <p:anim calcmode="lin" valueType="num">
                                      <p:cBhvr additive="base">
                                        <p:cTn id="17" dur="500"/>
                                        <p:tgtEl>
                                          <p:spTgt spid="1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5">
                                            <p:txEl>
                                              <p:pRg st="2" end="2"/>
                                            </p:txEl>
                                          </p:spTgt>
                                        </p:tgtEl>
                                        <p:attrNameLst>
                                          <p:attrName>style.visibility</p:attrName>
                                        </p:attrNameLst>
                                      </p:cBhvr>
                                      <p:to>
                                        <p:strVal val="visible"/>
                                      </p:to>
                                    </p:set>
                                    <p:anim calcmode="lin" valueType="num">
                                      <p:cBhvr additive="base">
                                        <p:cTn id="22" dur="500"/>
                                        <p:tgtEl>
                                          <p:spTgt spid="1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5">
                                            <p:txEl>
                                              <p:pRg st="3" end="3"/>
                                            </p:txEl>
                                          </p:spTgt>
                                        </p:tgtEl>
                                        <p:attrNameLst>
                                          <p:attrName>style.visibility</p:attrName>
                                        </p:attrNameLst>
                                      </p:cBhvr>
                                      <p:to>
                                        <p:strVal val="visible"/>
                                      </p:to>
                                    </p:set>
                                    <p:anim calcmode="lin" valueType="num">
                                      <p:cBhvr additive="base">
                                        <p:cTn id="27" dur="500"/>
                                        <p:tgtEl>
                                          <p:spTgt spid="1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35">
                                            <p:txEl>
                                              <p:pRg st="4" end="4"/>
                                            </p:txEl>
                                          </p:spTgt>
                                        </p:tgtEl>
                                        <p:attrNameLst>
                                          <p:attrName>style.visibility</p:attrName>
                                        </p:attrNameLst>
                                      </p:cBhvr>
                                      <p:to>
                                        <p:strVal val="visible"/>
                                      </p:to>
                                    </p:set>
                                    <p:anim calcmode="lin" valueType="num">
                                      <p:cBhvr additive="base">
                                        <p:cTn id="32" dur="500"/>
                                        <p:tgtEl>
                                          <p:spTgt spid="13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5">
                                            <p:txEl>
                                              <p:pRg st="5" end="5"/>
                                            </p:txEl>
                                          </p:spTgt>
                                        </p:tgtEl>
                                        <p:attrNameLst>
                                          <p:attrName>style.visibility</p:attrName>
                                        </p:attrNameLst>
                                      </p:cBhvr>
                                      <p:to>
                                        <p:strVal val="visible"/>
                                      </p:to>
                                    </p:set>
                                    <p:anim calcmode="lin" valueType="num">
                                      <p:cBhvr additive="base">
                                        <p:cTn id="37" dur="500"/>
                                        <p:tgtEl>
                                          <p:spTgt spid="13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35">
                                            <p:txEl>
                                              <p:pRg st="6" end="6"/>
                                            </p:txEl>
                                          </p:spTgt>
                                        </p:tgtEl>
                                        <p:attrNameLst>
                                          <p:attrName>style.visibility</p:attrName>
                                        </p:attrNameLst>
                                      </p:cBhvr>
                                      <p:to>
                                        <p:strVal val="visible"/>
                                      </p:to>
                                    </p:set>
                                    <p:anim calcmode="lin" valueType="num">
                                      <p:cBhvr additive="base">
                                        <p:cTn id="42" dur="500"/>
                                        <p:tgtEl>
                                          <p:spTgt spid="13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More on Array representation</a:t>
            </a:r>
            <a:endParaRPr sz="4000"/>
          </a:p>
        </p:txBody>
      </p:sp>
      <p:sp>
        <p:nvSpPr>
          <p:cNvPr id="141" name="Google Shape;141;p7"/>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90000"/>
              </a:lnSpc>
              <a:spcBef>
                <a:spcPts val="0"/>
              </a:spcBef>
              <a:spcAft>
                <a:spcPts val="0"/>
              </a:spcAft>
              <a:buClr>
                <a:schemeClr val="dk1"/>
              </a:buClr>
              <a:buSzPts val="2800"/>
              <a:buChar char="•"/>
            </a:pPr>
            <a:r>
              <a:rPr lang="en-US" sz="2000" b="1"/>
              <a:t>Memory Allocation</a:t>
            </a:r>
            <a:r>
              <a:rPr lang="en-US" sz="2000"/>
              <a:t>: The size of this memory required for an array is determined by the data type of the elements and the number of elements in the array. </a:t>
            </a:r>
            <a:endParaRPr sz="2000"/>
          </a:p>
          <a:p>
            <a:pPr marL="514350" lvl="1" indent="-171450" algn="just" rtl="0">
              <a:lnSpc>
                <a:spcPct val="90000"/>
              </a:lnSpc>
              <a:spcBef>
                <a:spcPts val="375"/>
              </a:spcBef>
              <a:spcAft>
                <a:spcPts val="0"/>
              </a:spcAft>
              <a:buClr>
                <a:schemeClr val="dk1"/>
              </a:buClr>
              <a:buSzPts val="2400"/>
              <a:buChar char="•"/>
            </a:pPr>
            <a:r>
              <a:rPr lang="en-US" sz="2000"/>
              <a:t>For example, an array of 5 integers (int data type) will occupy </a:t>
            </a:r>
            <a:endParaRPr sz="2000"/>
          </a:p>
          <a:p>
            <a:pPr marL="0" lvl="0" indent="0" algn="just" rtl="0">
              <a:lnSpc>
                <a:spcPct val="90000"/>
              </a:lnSpc>
              <a:spcBef>
                <a:spcPts val="750"/>
              </a:spcBef>
              <a:spcAft>
                <a:spcPts val="0"/>
              </a:spcAft>
              <a:buClr>
                <a:schemeClr val="dk1"/>
              </a:buClr>
              <a:buSzPts val="2800"/>
              <a:buNone/>
            </a:pPr>
            <a:r>
              <a:rPr lang="en-US" sz="2000"/>
              <a:t>5 * sizeof(int) bytes of memory.</a:t>
            </a:r>
            <a:endParaRPr sz="2000"/>
          </a:p>
          <a:p>
            <a:pPr marL="0" lvl="0" indent="0" algn="just" rtl="0">
              <a:lnSpc>
                <a:spcPct val="90000"/>
              </a:lnSpc>
              <a:spcBef>
                <a:spcPts val="750"/>
              </a:spcBef>
              <a:spcAft>
                <a:spcPts val="0"/>
              </a:spcAft>
              <a:buClr>
                <a:schemeClr val="dk1"/>
              </a:buClr>
              <a:buSzPts val="2800"/>
              <a:buNone/>
            </a:pPr>
            <a:endParaRPr sz="2000"/>
          </a:p>
          <a:p>
            <a:pPr marL="171450" lvl="0" indent="-171450" algn="just" rtl="0">
              <a:lnSpc>
                <a:spcPct val="90000"/>
              </a:lnSpc>
              <a:spcBef>
                <a:spcPts val="750"/>
              </a:spcBef>
              <a:spcAft>
                <a:spcPts val="0"/>
              </a:spcAft>
              <a:buClr>
                <a:schemeClr val="dk1"/>
              </a:buClr>
              <a:buSzPts val="2800"/>
              <a:buChar char="•"/>
            </a:pPr>
            <a:r>
              <a:rPr lang="en-US" sz="2000" b="1"/>
              <a:t>Indexing</a:t>
            </a:r>
            <a:r>
              <a:rPr lang="en-US" sz="2000"/>
              <a:t>: Each element in array is assigned an index or position, starting from 0.</a:t>
            </a:r>
            <a:endParaRPr sz="2000"/>
          </a:p>
          <a:p>
            <a:pPr marL="171450" lvl="0" indent="-38100" algn="just" rtl="0">
              <a:lnSpc>
                <a:spcPct val="90000"/>
              </a:lnSpc>
              <a:spcBef>
                <a:spcPts val="750"/>
              </a:spcBef>
              <a:spcAft>
                <a:spcPts val="0"/>
              </a:spcAft>
              <a:buClr>
                <a:schemeClr val="dk1"/>
              </a:buClr>
              <a:buSzPts val="28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 calcmode="lin" valueType="num">
                                      <p:cBhvr additive="base">
                                        <p:cTn id="7" dur="500"/>
                                        <p:tgtEl>
                                          <p:spTgt spid="14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1">
                                            <p:txEl>
                                              <p:pRg st="0" end="0"/>
                                            </p:txEl>
                                          </p:spTgt>
                                        </p:tgtEl>
                                        <p:attrNameLst>
                                          <p:attrName>style.visibility</p:attrName>
                                        </p:attrNameLst>
                                      </p:cBhvr>
                                      <p:to>
                                        <p:strVal val="visible"/>
                                      </p:to>
                                    </p:set>
                                    <p:anim calcmode="lin" valueType="num">
                                      <p:cBhvr additive="base">
                                        <p:cTn id="12" dur="500"/>
                                        <p:tgtEl>
                                          <p:spTgt spid="1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1">
                                            <p:txEl>
                                              <p:pRg st="1" end="1"/>
                                            </p:txEl>
                                          </p:spTgt>
                                        </p:tgtEl>
                                        <p:attrNameLst>
                                          <p:attrName>style.visibility</p:attrName>
                                        </p:attrNameLst>
                                      </p:cBhvr>
                                      <p:to>
                                        <p:strVal val="visible"/>
                                      </p:to>
                                    </p:set>
                                    <p:anim calcmode="lin" valueType="num">
                                      <p:cBhvr additive="base">
                                        <p:cTn id="17" dur="500"/>
                                        <p:tgtEl>
                                          <p:spTgt spid="14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1">
                                            <p:txEl>
                                              <p:pRg st="2" end="2"/>
                                            </p:txEl>
                                          </p:spTgt>
                                        </p:tgtEl>
                                        <p:attrNameLst>
                                          <p:attrName>style.visibility</p:attrName>
                                        </p:attrNameLst>
                                      </p:cBhvr>
                                      <p:to>
                                        <p:strVal val="visible"/>
                                      </p:to>
                                    </p:set>
                                    <p:anim calcmode="lin" valueType="num">
                                      <p:cBhvr additive="base">
                                        <p:cTn id="22" dur="500"/>
                                        <p:tgtEl>
                                          <p:spTgt spid="14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1">
                                            <p:txEl>
                                              <p:pRg st="3" end="3"/>
                                            </p:txEl>
                                          </p:spTgt>
                                        </p:tgtEl>
                                        <p:attrNameLst>
                                          <p:attrName>style.visibility</p:attrName>
                                        </p:attrNameLst>
                                      </p:cBhvr>
                                      <p:to>
                                        <p:strVal val="visible"/>
                                      </p:to>
                                    </p:set>
                                    <p:anim calcmode="lin" valueType="num">
                                      <p:cBhvr additive="base">
                                        <p:cTn id="27" dur="500"/>
                                        <p:tgtEl>
                                          <p:spTgt spid="14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1">
                                            <p:txEl>
                                              <p:pRg st="4" end="4"/>
                                            </p:txEl>
                                          </p:spTgt>
                                        </p:tgtEl>
                                        <p:attrNameLst>
                                          <p:attrName>style.visibility</p:attrName>
                                        </p:attrNameLst>
                                      </p:cBhvr>
                                      <p:to>
                                        <p:strVal val="visible"/>
                                      </p:to>
                                    </p:set>
                                    <p:anim calcmode="lin" valueType="num">
                                      <p:cBhvr additive="base">
                                        <p:cTn id="32" dur="500"/>
                                        <p:tgtEl>
                                          <p:spTgt spid="14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1">
                                            <p:txEl>
                                              <p:pRg st="5" end="5"/>
                                            </p:txEl>
                                          </p:spTgt>
                                        </p:tgtEl>
                                        <p:attrNameLst>
                                          <p:attrName>style.visibility</p:attrName>
                                        </p:attrNameLst>
                                      </p:cBhvr>
                                      <p:to>
                                        <p:strVal val="visible"/>
                                      </p:to>
                                    </p:set>
                                    <p:anim calcmode="lin" valueType="num">
                                      <p:cBhvr additive="base">
                                        <p:cTn id="37" dur="500"/>
                                        <p:tgtEl>
                                          <p:spTgt spid="14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Array Initialization</a:t>
            </a:r>
            <a:endParaRPr sz="4000"/>
          </a:p>
        </p:txBody>
      </p:sp>
      <p:sp>
        <p:nvSpPr>
          <p:cNvPr id="147" name="Google Shape;147;p8"/>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Autofit/>
          </a:bodyPr>
          <a:lstStyle/>
          <a:p>
            <a:pPr marL="0" lvl="0" indent="0" algn="l" rtl="0">
              <a:lnSpc>
                <a:spcPct val="90000"/>
              </a:lnSpc>
              <a:spcBef>
                <a:spcPts val="0"/>
              </a:spcBef>
              <a:spcAft>
                <a:spcPts val="0"/>
              </a:spcAft>
              <a:buClr>
                <a:schemeClr val="dk1"/>
              </a:buClr>
              <a:buSzPts val="2800"/>
              <a:buNone/>
            </a:pPr>
            <a:r>
              <a:rPr lang="en-US" sz="2000"/>
              <a:t>1. Initializing at Declaration (Explicit Initialization):</a:t>
            </a:r>
            <a:endParaRPr sz="2000"/>
          </a:p>
          <a:p>
            <a:pPr marL="0" lvl="0" indent="0" algn="l" rtl="0">
              <a:lnSpc>
                <a:spcPct val="90000"/>
              </a:lnSpc>
              <a:spcBef>
                <a:spcPts val="750"/>
              </a:spcBef>
              <a:spcAft>
                <a:spcPts val="0"/>
              </a:spcAft>
              <a:buClr>
                <a:srgbClr val="DF3079"/>
              </a:buClr>
              <a:buSzPts val="2800"/>
              <a:buNone/>
            </a:pPr>
            <a:r>
              <a:rPr lang="en-US" sz="2000" b="0" i="0" u="none" strike="noStrike">
                <a:solidFill>
                  <a:srgbClr val="DF3079"/>
                </a:solidFill>
              </a:rPr>
              <a:t>int</a:t>
            </a:r>
            <a:r>
              <a:rPr lang="en-US" sz="2000" b="0" i="0" u="none" strike="noStrike"/>
              <a:t> numbers[] = {</a:t>
            </a:r>
            <a:r>
              <a:rPr lang="en-US" sz="2000" b="0" i="0" u="none" strike="noStrike">
                <a:solidFill>
                  <a:srgbClr val="DF3079"/>
                </a:solidFill>
              </a:rPr>
              <a:t>1</a:t>
            </a:r>
            <a:r>
              <a:rPr lang="en-US" sz="2000" b="0" i="0" u="none" strike="noStrike">
                <a:solidFill>
                  <a:srgbClr val="FFFFFF"/>
                </a:solidFill>
              </a:rPr>
              <a:t>, </a:t>
            </a:r>
            <a:r>
              <a:rPr lang="en-US" sz="2000" b="0" i="0" u="none" strike="noStrike">
                <a:solidFill>
                  <a:srgbClr val="DF3079"/>
                </a:solidFill>
              </a:rPr>
              <a:t>2</a:t>
            </a:r>
            <a:r>
              <a:rPr lang="en-US" sz="2000" b="0" i="0" u="none" strike="noStrike">
                <a:solidFill>
                  <a:srgbClr val="FFFFFF"/>
                </a:solidFill>
              </a:rPr>
              <a:t>, </a:t>
            </a:r>
            <a:r>
              <a:rPr lang="en-US" sz="2000" b="0" i="0" u="none" strike="noStrike">
                <a:solidFill>
                  <a:srgbClr val="DF3079"/>
                </a:solidFill>
              </a:rPr>
              <a:t>3</a:t>
            </a:r>
            <a:r>
              <a:rPr lang="en-US" sz="2000" b="0" i="0" u="none" strike="noStrike">
                <a:solidFill>
                  <a:srgbClr val="FFFFFF"/>
                </a:solidFill>
              </a:rPr>
              <a:t>, </a:t>
            </a:r>
            <a:r>
              <a:rPr lang="en-US" sz="2000" b="0" i="0" u="none" strike="noStrike">
                <a:solidFill>
                  <a:srgbClr val="DF3079"/>
                </a:solidFill>
              </a:rPr>
              <a:t>4</a:t>
            </a:r>
            <a:r>
              <a:rPr lang="en-US" sz="2000" b="0" i="0" u="none" strike="noStrike">
                <a:solidFill>
                  <a:srgbClr val="FFFFFF"/>
                </a:solidFill>
              </a:rPr>
              <a:t>, </a:t>
            </a:r>
            <a:r>
              <a:rPr lang="en-US" sz="2000" b="0" i="0" u="none" strike="noStrike">
                <a:solidFill>
                  <a:srgbClr val="DF3079"/>
                </a:solidFill>
              </a:rPr>
              <a:t>5</a:t>
            </a:r>
            <a:r>
              <a:rPr lang="en-US" sz="2000" b="0" i="0" u="none" strike="noStrike"/>
              <a:t>};</a:t>
            </a:r>
            <a:endParaRPr sz="2000"/>
          </a:p>
          <a:p>
            <a:pPr marL="0" lvl="0" indent="0" algn="l" rtl="0">
              <a:lnSpc>
                <a:spcPct val="90000"/>
              </a:lnSpc>
              <a:spcBef>
                <a:spcPts val="750"/>
              </a:spcBef>
              <a:spcAft>
                <a:spcPts val="0"/>
              </a:spcAft>
              <a:buClr>
                <a:schemeClr val="dk1"/>
              </a:buClr>
              <a:buSzPts val="2800"/>
              <a:buNone/>
            </a:pPr>
            <a:endParaRPr sz="2000" b="0" i="0" u="none" strike="noStrike"/>
          </a:p>
          <a:p>
            <a:pPr marL="0" lvl="0" indent="0" algn="l" rtl="0">
              <a:lnSpc>
                <a:spcPct val="90000"/>
              </a:lnSpc>
              <a:spcBef>
                <a:spcPts val="750"/>
              </a:spcBef>
              <a:spcAft>
                <a:spcPts val="0"/>
              </a:spcAft>
              <a:buClr>
                <a:schemeClr val="dk1"/>
              </a:buClr>
              <a:buSzPts val="2800"/>
              <a:buNone/>
            </a:pPr>
            <a:r>
              <a:rPr lang="en-US" sz="2000"/>
              <a:t>2. Initializing at Declaration (Partial Initialization):</a:t>
            </a:r>
            <a:endParaRPr sz="2000"/>
          </a:p>
          <a:p>
            <a:pPr marL="0" lvl="0" indent="0" algn="l" rtl="0">
              <a:lnSpc>
                <a:spcPct val="90000"/>
              </a:lnSpc>
              <a:spcBef>
                <a:spcPts val="750"/>
              </a:spcBef>
              <a:spcAft>
                <a:spcPts val="0"/>
              </a:spcAft>
              <a:buClr>
                <a:schemeClr val="dk1"/>
              </a:buClr>
              <a:buSzPts val="2800"/>
              <a:buNone/>
            </a:pPr>
            <a:r>
              <a:rPr lang="en-US" sz="2000"/>
              <a:t>// Initializes the first two elements, rest are set to 0</a:t>
            </a:r>
            <a:endParaRPr sz="2000"/>
          </a:p>
          <a:p>
            <a:pPr marL="0" lvl="0" indent="0" algn="l" rtl="0">
              <a:lnSpc>
                <a:spcPct val="90000"/>
              </a:lnSpc>
              <a:spcBef>
                <a:spcPts val="750"/>
              </a:spcBef>
              <a:spcAft>
                <a:spcPts val="0"/>
              </a:spcAft>
              <a:buClr>
                <a:srgbClr val="DF3079"/>
              </a:buClr>
              <a:buSzPts val="2800"/>
              <a:buNone/>
            </a:pPr>
            <a:r>
              <a:rPr lang="en-US" sz="2000" b="0" i="0" u="none" strike="noStrike">
                <a:solidFill>
                  <a:srgbClr val="DF3079"/>
                </a:solidFill>
              </a:rPr>
              <a:t>int</a:t>
            </a:r>
            <a:r>
              <a:rPr lang="en-US" sz="2000" b="0" i="0" u="none" strike="noStrike">
                <a:solidFill>
                  <a:srgbClr val="FFFFFF"/>
                </a:solidFill>
              </a:rPr>
              <a:t> </a:t>
            </a:r>
            <a:r>
              <a:rPr lang="en-US" sz="2000" b="0" i="0" u="none" strike="noStrike"/>
              <a:t>numbers[5] = {1, 2};</a:t>
            </a:r>
            <a:endParaRPr sz="2000"/>
          </a:p>
          <a:p>
            <a:pPr marL="0" lvl="0" indent="0" algn="l" rtl="0">
              <a:lnSpc>
                <a:spcPct val="100000"/>
              </a:lnSpc>
              <a:spcBef>
                <a:spcPts val="750"/>
              </a:spcBef>
              <a:spcAft>
                <a:spcPts val="0"/>
              </a:spcAft>
              <a:buClr>
                <a:schemeClr val="dk1"/>
              </a:buClr>
              <a:buSzPts val="2800"/>
              <a:buNone/>
            </a:pPr>
            <a:endParaRPr sz="2000"/>
          </a:p>
          <a:p>
            <a:pPr marL="0" lvl="0" indent="0" algn="l" rtl="0">
              <a:lnSpc>
                <a:spcPct val="100000"/>
              </a:lnSpc>
              <a:spcBef>
                <a:spcPts val="750"/>
              </a:spcBef>
              <a:spcAft>
                <a:spcPts val="0"/>
              </a:spcAft>
              <a:buClr>
                <a:schemeClr val="dk1"/>
              </a:buClr>
              <a:buSzPts val="2800"/>
              <a:buNone/>
            </a:pPr>
            <a:r>
              <a:rPr lang="en-US" sz="2000"/>
              <a:t>3. Initializing at Declaration (Designated Initializers):</a:t>
            </a:r>
            <a:endParaRPr sz="2000"/>
          </a:p>
          <a:p>
            <a:pPr marL="0" lvl="0" indent="0" algn="l" rtl="0">
              <a:lnSpc>
                <a:spcPct val="90000"/>
              </a:lnSpc>
              <a:spcBef>
                <a:spcPts val="750"/>
              </a:spcBef>
              <a:spcAft>
                <a:spcPts val="0"/>
              </a:spcAft>
              <a:buClr>
                <a:srgbClr val="DF3079"/>
              </a:buClr>
              <a:buSzPts val="2800"/>
              <a:buNone/>
            </a:pPr>
            <a:r>
              <a:rPr lang="en-US" sz="2000" b="0" i="0" u="none" strike="noStrike">
                <a:solidFill>
                  <a:srgbClr val="DF3079"/>
                </a:solidFill>
              </a:rPr>
              <a:t>int</a:t>
            </a:r>
            <a:r>
              <a:rPr lang="en-US" sz="2000" b="0" i="0" u="none" strike="noStrike">
                <a:solidFill>
                  <a:srgbClr val="FFFFFF"/>
                </a:solidFill>
              </a:rPr>
              <a:t> </a:t>
            </a:r>
            <a:r>
              <a:rPr lang="en-US" sz="2000" b="0" i="0" u="none" strike="noStrike"/>
              <a:t>numbers[5] = {[2] = 42, [4] = 10};</a:t>
            </a:r>
            <a:endParaRPr sz="2000"/>
          </a:p>
          <a:p>
            <a:pPr marL="171450" lvl="0" indent="-38100" algn="l" rtl="0">
              <a:lnSpc>
                <a:spcPct val="90000"/>
              </a:lnSpc>
              <a:spcBef>
                <a:spcPts val="750"/>
              </a:spcBef>
              <a:spcAft>
                <a:spcPts val="0"/>
              </a:spcAft>
              <a:buClr>
                <a:schemeClr val="dk1"/>
              </a:buClr>
              <a:buSzPts val="28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 calcmode="lin" valueType="num">
                                      <p:cBhvr additive="base">
                                        <p:cTn id="7" dur="500"/>
                                        <p:tgtEl>
                                          <p:spTgt spid="14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7">
                                            <p:txEl>
                                              <p:pRg st="0" end="0"/>
                                            </p:txEl>
                                          </p:spTgt>
                                        </p:tgtEl>
                                        <p:attrNameLst>
                                          <p:attrName>style.visibility</p:attrName>
                                        </p:attrNameLst>
                                      </p:cBhvr>
                                      <p:to>
                                        <p:strVal val="visible"/>
                                      </p:to>
                                    </p:set>
                                    <p:anim calcmode="lin" valueType="num">
                                      <p:cBhvr additive="base">
                                        <p:cTn id="12" dur="500"/>
                                        <p:tgtEl>
                                          <p:spTgt spid="1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7">
                                            <p:txEl>
                                              <p:pRg st="1" end="1"/>
                                            </p:txEl>
                                          </p:spTgt>
                                        </p:tgtEl>
                                        <p:attrNameLst>
                                          <p:attrName>style.visibility</p:attrName>
                                        </p:attrNameLst>
                                      </p:cBhvr>
                                      <p:to>
                                        <p:strVal val="visible"/>
                                      </p:to>
                                    </p:set>
                                    <p:anim calcmode="lin" valueType="num">
                                      <p:cBhvr additive="base">
                                        <p:cTn id="17" dur="500"/>
                                        <p:tgtEl>
                                          <p:spTgt spid="14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7">
                                            <p:txEl>
                                              <p:pRg st="2" end="2"/>
                                            </p:txEl>
                                          </p:spTgt>
                                        </p:tgtEl>
                                        <p:attrNameLst>
                                          <p:attrName>style.visibility</p:attrName>
                                        </p:attrNameLst>
                                      </p:cBhvr>
                                      <p:to>
                                        <p:strVal val="visible"/>
                                      </p:to>
                                    </p:set>
                                    <p:anim calcmode="lin" valueType="num">
                                      <p:cBhvr additive="base">
                                        <p:cTn id="22" dur="500"/>
                                        <p:tgtEl>
                                          <p:spTgt spid="14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7">
                                            <p:txEl>
                                              <p:pRg st="3" end="3"/>
                                            </p:txEl>
                                          </p:spTgt>
                                        </p:tgtEl>
                                        <p:attrNameLst>
                                          <p:attrName>style.visibility</p:attrName>
                                        </p:attrNameLst>
                                      </p:cBhvr>
                                      <p:to>
                                        <p:strVal val="visible"/>
                                      </p:to>
                                    </p:set>
                                    <p:anim calcmode="lin" valueType="num">
                                      <p:cBhvr additive="base">
                                        <p:cTn id="27" dur="500"/>
                                        <p:tgtEl>
                                          <p:spTgt spid="14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7">
                                            <p:txEl>
                                              <p:pRg st="4" end="4"/>
                                            </p:txEl>
                                          </p:spTgt>
                                        </p:tgtEl>
                                        <p:attrNameLst>
                                          <p:attrName>style.visibility</p:attrName>
                                        </p:attrNameLst>
                                      </p:cBhvr>
                                      <p:to>
                                        <p:strVal val="visible"/>
                                      </p:to>
                                    </p:set>
                                    <p:anim calcmode="lin" valueType="num">
                                      <p:cBhvr additive="base">
                                        <p:cTn id="32" dur="500"/>
                                        <p:tgtEl>
                                          <p:spTgt spid="14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7">
                                            <p:txEl>
                                              <p:pRg st="5" end="5"/>
                                            </p:txEl>
                                          </p:spTgt>
                                        </p:tgtEl>
                                        <p:attrNameLst>
                                          <p:attrName>style.visibility</p:attrName>
                                        </p:attrNameLst>
                                      </p:cBhvr>
                                      <p:to>
                                        <p:strVal val="visible"/>
                                      </p:to>
                                    </p:set>
                                    <p:anim calcmode="lin" valueType="num">
                                      <p:cBhvr additive="base">
                                        <p:cTn id="37" dur="500"/>
                                        <p:tgtEl>
                                          <p:spTgt spid="14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47">
                                            <p:txEl>
                                              <p:pRg st="6" end="6"/>
                                            </p:txEl>
                                          </p:spTgt>
                                        </p:tgtEl>
                                        <p:attrNameLst>
                                          <p:attrName>style.visibility</p:attrName>
                                        </p:attrNameLst>
                                      </p:cBhvr>
                                      <p:to>
                                        <p:strVal val="visible"/>
                                      </p:to>
                                    </p:set>
                                    <p:anim calcmode="lin" valueType="num">
                                      <p:cBhvr additive="base">
                                        <p:cTn id="42" dur="500"/>
                                        <p:tgtEl>
                                          <p:spTgt spid="14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47">
                                            <p:txEl>
                                              <p:pRg st="7" end="7"/>
                                            </p:txEl>
                                          </p:spTgt>
                                        </p:tgtEl>
                                        <p:attrNameLst>
                                          <p:attrName>style.visibility</p:attrName>
                                        </p:attrNameLst>
                                      </p:cBhvr>
                                      <p:to>
                                        <p:strVal val="visible"/>
                                      </p:to>
                                    </p:set>
                                    <p:anim calcmode="lin" valueType="num">
                                      <p:cBhvr additive="base">
                                        <p:cTn id="47" dur="500"/>
                                        <p:tgtEl>
                                          <p:spTgt spid="14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47">
                                            <p:txEl>
                                              <p:pRg st="8" end="8"/>
                                            </p:txEl>
                                          </p:spTgt>
                                        </p:tgtEl>
                                        <p:attrNameLst>
                                          <p:attrName>style.visibility</p:attrName>
                                        </p:attrNameLst>
                                      </p:cBhvr>
                                      <p:to>
                                        <p:strVal val="visible"/>
                                      </p:to>
                                    </p:set>
                                    <p:anim calcmode="lin" valueType="num">
                                      <p:cBhvr additive="base">
                                        <p:cTn id="52" dur="500"/>
                                        <p:tgtEl>
                                          <p:spTgt spid="14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47">
                                            <p:txEl>
                                              <p:pRg st="9" end="9"/>
                                            </p:txEl>
                                          </p:spTgt>
                                        </p:tgtEl>
                                        <p:attrNameLst>
                                          <p:attrName>style.visibility</p:attrName>
                                        </p:attrNameLst>
                                      </p:cBhvr>
                                      <p:to>
                                        <p:strVal val="visible"/>
                                      </p:to>
                                    </p:set>
                                    <p:anim calcmode="lin" valueType="num">
                                      <p:cBhvr additive="base">
                                        <p:cTn id="57" dur="500"/>
                                        <p:tgtEl>
                                          <p:spTgt spid="147">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Accessing array elements</a:t>
            </a:r>
            <a:endParaRPr sz="4000"/>
          </a:p>
        </p:txBody>
      </p:sp>
      <p:sp>
        <p:nvSpPr>
          <p:cNvPr id="153" name="Google Shape;153;p9"/>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Autofit/>
          </a:bodyPr>
          <a:lstStyle/>
          <a:p>
            <a:pPr marL="171450" lvl="0" indent="-171450" algn="l" rtl="0">
              <a:lnSpc>
                <a:spcPct val="90000"/>
              </a:lnSpc>
              <a:spcBef>
                <a:spcPts val="0"/>
              </a:spcBef>
              <a:spcAft>
                <a:spcPts val="0"/>
              </a:spcAft>
              <a:buClr>
                <a:schemeClr val="dk1"/>
              </a:buClr>
              <a:buSzPts val="2000"/>
              <a:buChar char="•"/>
            </a:pPr>
            <a:r>
              <a:rPr lang="en-US" sz="2000"/>
              <a:t>The syntax to access an element of an array is:</a:t>
            </a:r>
            <a:endParaRPr sz="2000"/>
          </a:p>
          <a:p>
            <a:pPr marL="342900" lvl="1" indent="0" algn="l" rtl="0">
              <a:lnSpc>
                <a:spcPct val="90000"/>
              </a:lnSpc>
              <a:spcBef>
                <a:spcPts val="375"/>
              </a:spcBef>
              <a:spcAft>
                <a:spcPts val="0"/>
              </a:spcAft>
              <a:buClr>
                <a:schemeClr val="dk1"/>
              </a:buClr>
              <a:buSzPts val="2000"/>
              <a:buNone/>
            </a:pPr>
            <a:r>
              <a:rPr lang="en-US" sz="2000"/>
              <a:t>&lt;array_name&gt;[&lt;index&gt;]</a:t>
            </a:r>
            <a:endParaRPr sz="2000"/>
          </a:p>
          <a:p>
            <a:pPr marL="342900" lvl="1" indent="0" algn="l" rtl="0">
              <a:lnSpc>
                <a:spcPct val="90000"/>
              </a:lnSpc>
              <a:spcBef>
                <a:spcPts val="375"/>
              </a:spcBef>
              <a:spcAft>
                <a:spcPts val="0"/>
              </a:spcAft>
              <a:buClr>
                <a:schemeClr val="dk1"/>
              </a:buClr>
              <a:buSzPts val="2000"/>
              <a:buNone/>
            </a:pPr>
            <a:r>
              <a:rPr lang="en-US" sz="2000"/>
              <a:t>For example:</a:t>
            </a:r>
            <a:endParaRPr sz="2000"/>
          </a:p>
          <a:p>
            <a:pPr marL="342900" lvl="1" indent="0" algn="l" rtl="0">
              <a:lnSpc>
                <a:spcPct val="90000"/>
              </a:lnSpc>
              <a:spcBef>
                <a:spcPts val="375"/>
              </a:spcBef>
              <a:spcAft>
                <a:spcPts val="0"/>
              </a:spcAft>
              <a:buClr>
                <a:schemeClr val="dk1"/>
              </a:buClr>
              <a:buSzPts val="2000"/>
              <a:buNone/>
            </a:pPr>
            <a:r>
              <a:rPr lang="en-US" sz="2000"/>
              <a:t>	int arr1[100];</a:t>
            </a:r>
            <a:endParaRPr sz="2000"/>
          </a:p>
          <a:p>
            <a:pPr marL="342900" lvl="1" indent="0" algn="l" rtl="0">
              <a:lnSpc>
                <a:spcPct val="90000"/>
              </a:lnSpc>
              <a:spcBef>
                <a:spcPts val="375"/>
              </a:spcBef>
              <a:spcAft>
                <a:spcPts val="0"/>
              </a:spcAft>
              <a:buClr>
                <a:schemeClr val="dk1"/>
              </a:buClr>
              <a:buSzPts val="2000"/>
              <a:buNone/>
            </a:pPr>
            <a:r>
              <a:rPr lang="en-US" sz="2000"/>
              <a:t>       int a, b;</a:t>
            </a:r>
            <a:endParaRPr sz="2000"/>
          </a:p>
          <a:p>
            <a:pPr marL="342900" lvl="1" indent="0" algn="l" rtl="0">
              <a:lnSpc>
                <a:spcPct val="90000"/>
              </a:lnSpc>
              <a:spcBef>
                <a:spcPts val="375"/>
              </a:spcBef>
              <a:spcAft>
                <a:spcPts val="0"/>
              </a:spcAft>
              <a:buClr>
                <a:schemeClr val="dk1"/>
              </a:buClr>
              <a:buSzPts val="2000"/>
              <a:buNone/>
            </a:pPr>
            <a:r>
              <a:rPr lang="en-US" sz="2000"/>
              <a:t>       a = 5;</a:t>
            </a:r>
            <a:endParaRPr sz="2000"/>
          </a:p>
          <a:p>
            <a:pPr marL="342900" lvl="1" indent="0" algn="l" rtl="0">
              <a:lnSpc>
                <a:spcPct val="90000"/>
              </a:lnSpc>
              <a:spcBef>
                <a:spcPts val="375"/>
              </a:spcBef>
              <a:spcAft>
                <a:spcPts val="0"/>
              </a:spcAft>
              <a:buClr>
                <a:schemeClr val="dk1"/>
              </a:buClr>
              <a:buSzPts val="2000"/>
              <a:buNone/>
            </a:pPr>
            <a:r>
              <a:rPr lang="en-US" sz="2000"/>
              <a:t>       b = 6;</a:t>
            </a:r>
            <a:endParaRPr sz="2000"/>
          </a:p>
          <a:p>
            <a:pPr marL="342900" lvl="1" indent="0" algn="l" rtl="0">
              <a:lnSpc>
                <a:spcPct val="90000"/>
              </a:lnSpc>
              <a:spcBef>
                <a:spcPts val="375"/>
              </a:spcBef>
              <a:spcAft>
                <a:spcPts val="0"/>
              </a:spcAft>
              <a:buClr>
                <a:schemeClr val="dk1"/>
              </a:buClr>
              <a:buSzPts val="2000"/>
              <a:buNone/>
            </a:pPr>
            <a:r>
              <a:rPr lang="en-US" sz="2000"/>
              <a:t>       arr1[0] = 23;</a:t>
            </a:r>
            <a:endParaRPr sz="2000"/>
          </a:p>
          <a:p>
            <a:pPr marL="342900" lvl="1" indent="0" algn="l" rtl="0">
              <a:lnSpc>
                <a:spcPct val="90000"/>
              </a:lnSpc>
              <a:spcBef>
                <a:spcPts val="375"/>
              </a:spcBef>
              <a:spcAft>
                <a:spcPts val="0"/>
              </a:spcAft>
              <a:buClr>
                <a:schemeClr val="dk1"/>
              </a:buClr>
              <a:buSzPts val="2000"/>
              <a:buNone/>
            </a:pPr>
            <a:r>
              <a:rPr lang="en-US" sz="2000"/>
              <a:t>       a = arr1[12];</a:t>
            </a:r>
            <a:endParaRPr sz="2000"/>
          </a:p>
          <a:p>
            <a:pPr marL="342900" lvl="1" indent="0" algn="l" rtl="0">
              <a:lnSpc>
                <a:spcPct val="90000"/>
              </a:lnSpc>
              <a:spcBef>
                <a:spcPts val="375"/>
              </a:spcBef>
              <a:spcAft>
                <a:spcPts val="0"/>
              </a:spcAft>
              <a:buClr>
                <a:schemeClr val="dk1"/>
              </a:buClr>
              <a:buSzPts val="2000"/>
              <a:buNone/>
            </a:pPr>
            <a:r>
              <a:rPr lang="en-US" sz="2000"/>
              <a:t>       c = b + arr1[20];</a:t>
            </a:r>
            <a:endParaRPr sz="2000"/>
          </a:p>
          <a:p>
            <a:pPr marL="342900" lvl="1" indent="0" algn="l" rtl="0">
              <a:lnSpc>
                <a:spcPct val="90000"/>
              </a:lnSpc>
              <a:spcBef>
                <a:spcPts val="375"/>
              </a:spcBef>
              <a:spcAft>
                <a:spcPts val="0"/>
              </a:spcAft>
              <a:buClr>
                <a:schemeClr val="dk1"/>
              </a:buClr>
              <a:buSzPts val="2000"/>
              <a:buNone/>
            </a:pPr>
            <a:r>
              <a:rPr lang="en-US" sz="2000"/>
              <a:t>       arr1[99] = a + arr1[90];</a:t>
            </a:r>
            <a:endParaRPr sz="2000"/>
          </a:p>
          <a:p>
            <a:pPr marL="342900" lvl="1" indent="0" algn="l" rtl="0">
              <a:lnSpc>
                <a:spcPct val="90000"/>
              </a:lnSpc>
              <a:spcBef>
                <a:spcPts val="375"/>
              </a:spcBef>
              <a:spcAft>
                <a:spcPts val="0"/>
              </a:spcAft>
              <a:buClr>
                <a:schemeClr val="dk1"/>
              </a:buClr>
              <a:buSzPts val="2000"/>
              <a:buNone/>
            </a:pPr>
            <a:endParaRPr sz="2000"/>
          </a:p>
          <a:p>
            <a:pPr marL="342900" lvl="1" indent="0" algn="l" rtl="0">
              <a:lnSpc>
                <a:spcPct val="90000"/>
              </a:lnSpc>
              <a:spcBef>
                <a:spcPts val="375"/>
              </a:spcBef>
              <a:spcAft>
                <a:spcPts val="0"/>
              </a:spcAft>
              <a:buClr>
                <a:schemeClr val="dk1"/>
              </a:buClr>
              <a:buSzPts val="20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 calcmode="lin" valueType="num">
                                      <p:cBhvr additive="base">
                                        <p:cTn id="7" dur="500"/>
                                        <p:tgtEl>
                                          <p:spTgt spid="15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xEl>
                                              <p:pRg st="0" end="0"/>
                                            </p:txEl>
                                          </p:spTgt>
                                        </p:tgtEl>
                                        <p:attrNameLst>
                                          <p:attrName>style.visibility</p:attrName>
                                        </p:attrNameLst>
                                      </p:cBhvr>
                                      <p:to>
                                        <p:strVal val="visible"/>
                                      </p:to>
                                    </p:set>
                                    <p:animEffect transition="in" filter="fade">
                                      <p:cBhvr>
                                        <p:cTn id="12" dur="1000"/>
                                        <p:tgtEl>
                                          <p:spTgt spid="1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
                                            <p:txEl>
                                              <p:pRg st="1" end="1"/>
                                            </p:txEl>
                                          </p:spTgt>
                                        </p:tgtEl>
                                        <p:attrNameLst>
                                          <p:attrName>style.visibility</p:attrName>
                                        </p:attrNameLst>
                                      </p:cBhvr>
                                      <p:to>
                                        <p:strVal val="visible"/>
                                      </p:to>
                                    </p:set>
                                    <p:animEffect transition="in" filter="fade">
                                      <p:cBhvr>
                                        <p:cTn id="17" dur="1000"/>
                                        <p:tgtEl>
                                          <p:spTgt spid="1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
                                            <p:txEl>
                                              <p:pRg st="2" end="2"/>
                                            </p:txEl>
                                          </p:spTgt>
                                        </p:tgtEl>
                                        <p:attrNameLst>
                                          <p:attrName>style.visibility</p:attrName>
                                        </p:attrNameLst>
                                      </p:cBhvr>
                                      <p:to>
                                        <p:strVal val="visible"/>
                                      </p:to>
                                    </p:set>
                                    <p:animEffect transition="in" filter="fade">
                                      <p:cBhvr>
                                        <p:cTn id="22" dur="1000"/>
                                        <p:tgtEl>
                                          <p:spTgt spid="1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3">
                                            <p:txEl>
                                              <p:pRg st="3" end="3"/>
                                            </p:txEl>
                                          </p:spTgt>
                                        </p:tgtEl>
                                        <p:attrNameLst>
                                          <p:attrName>style.visibility</p:attrName>
                                        </p:attrNameLst>
                                      </p:cBhvr>
                                      <p:to>
                                        <p:strVal val="visible"/>
                                      </p:to>
                                    </p:set>
                                    <p:animEffect transition="in" filter="fade">
                                      <p:cBhvr>
                                        <p:cTn id="27" dur="1000"/>
                                        <p:tgtEl>
                                          <p:spTgt spid="15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3">
                                            <p:txEl>
                                              <p:pRg st="4" end="4"/>
                                            </p:txEl>
                                          </p:spTgt>
                                        </p:tgtEl>
                                        <p:attrNameLst>
                                          <p:attrName>style.visibility</p:attrName>
                                        </p:attrNameLst>
                                      </p:cBhvr>
                                      <p:to>
                                        <p:strVal val="visible"/>
                                      </p:to>
                                    </p:set>
                                    <p:animEffect transition="in" filter="fade">
                                      <p:cBhvr>
                                        <p:cTn id="32" dur="1000"/>
                                        <p:tgtEl>
                                          <p:spTgt spid="15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3">
                                            <p:txEl>
                                              <p:pRg st="5" end="5"/>
                                            </p:txEl>
                                          </p:spTgt>
                                        </p:tgtEl>
                                        <p:attrNameLst>
                                          <p:attrName>style.visibility</p:attrName>
                                        </p:attrNameLst>
                                      </p:cBhvr>
                                      <p:to>
                                        <p:strVal val="visible"/>
                                      </p:to>
                                    </p:set>
                                    <p:animEffect transition="in" filter="fade">
                                      <p:cBhvr>
                                        <p:cTn id="37" dur="1000"/>
                                        <p:tgtEl>
                                          <p:spTgt spid="15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3">
                                            <p:txEl>
                                              <p:pRg st="6" end="6"/>
                                            </p:txEl>
                                          </p:spTgt>
                                        </p:tgtEl>
                                        <p:attrNameLst>
                                          <p:attrName>style.visibility</p:attrName>
                                        </p:attrNameLst>
                                      </p:cBhvr>
                                      <p:to>
                                        <p:strVal val="visible"/>
                                      </p:to>
                                    </p:set>
                                    <p:animEffect transition="in" filter="fade">
                                      <p:cBhvr>
                                        <p:cTn id="42" dur="1000"/>
                                        <p:tgtEl>
                                          <p:spTgt spid="15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3">
                                            <p:txEl>
                                              <p:pRg st="7" end="7"/>
                                            </p:txEl>
                                          </p:spTgt>
                                        </p:tgtEl>
                                        <p:attrNameLst>
                                          <p:attrName>style.visibility</p:attrName>
                                        </p:attrNameLst>
                                      </p:cBhvr>
                                      <p:to>
                                        <p:strVal val="visible"/>
                                      </p:to>
                                    </p:set>
                                    <p:animEffect transition="in" filter="fade">
                                      <p:cBhvr>
                                        <p:cTn id="47" dur="1000"/>
                                        <p:tgtEl>
                                          <p:spTgt spid="15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3">
                                            <p:txEl>
                                              <p:pRg st="8" end="8"/>
                                            </p:txEl>
                                          </p:spTgt>
                                        </p:tgtEl>
                                        <p:attrNameLst>
                                          <p:attrName>style.visibility</p:attrName>
                                        </p:attrNameLst>
                                      </p:cBhvr>
                                      <p:to>
                                        <p:strVal val="visible"/>
                                      </p:to>
                                    </p:set>
                                    <p:animEffect transition="in" filter="fade">
                                      <p:cBhvr>
                                        <p:cTn id="52" dur="1000"/>
                                        <p:tgtEl>
                                          <p:spTgt spid="15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3">
                                            <p:txEl>
                                              <p:pRg st="9" end="9"/>
                                            </p:txEl>
                                          </p:spTgt>
                                        </p:tgtEl>
                                        <p:attrNameLst>
                                          <p:attrName>style.visibility</p:attrName>
                                        </p:attrNameLst>
                                      </p:cBhvr>
                                      <p:to>
                                        <p:strVal val="visible"/>
                                      </p:to>
                                    </p:set>
                                    <p:animEffect transition="in" filter="fade">
                                      <p:cBhvr>
                                        <p:cTn id="57" dur="1000"/>
                                        <p:tgtEl>
                                          <p:spTgt spid="15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53">
                                            <p:txEl>
                                              <p:pRg st="10" end="10"/>
                                            </p:txEl>
                                          </p:spTgt>
                                        </p:tgtEl>
                                        <p:attrNameLst>
                                          <p:attrName>style.visibility</p:attrName>
                                        </p:attrNameLst>
                                      </p:cBhvr>
                                      <p:to>
                                        <p:strVal val="visible"/>
                                      </p:to>
                                    </p:set>
                                    <p:animEffect transition="in" filter="fade">
                                      <p:cBhvr>
                                        <p:cTn id="62" dur="1000"/>
                                        <p:tgtEl>
                                          <p:spTgt spid="15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53">
                                            <p:txEl>
                                              <p:pRg st="11" end="11"/>
                                            </p:txEl>
                                          </p:spTgt>
                                        </p:tgtEl>
                                        <p:attrNameLst>
                                          <p:attrName>style.visibility</p:attrName>
                                        </p:attrNameLst>
                                      </p:cBhvr>
                                      <p:to>
                                        <p:strVal val="visible"/>
                                      </p:to>
                                    </p:set>
                                    <p:animEffect transition="in" filter="fade">
                                      <p:cBhvr>
                                        <p:cTn id="67" dur="1000"/>
                                        <p:tgtEl>
                                          <p:spTgt spid="15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53">
                                            <p:txEl>
                                              <p:pRg st="12" end="12"/>
                                            </p:txEl>
                                          </p:spTgt>
                                        </p:tgtEl>
                                        <p:attrNameLst>
                                          <p:attrName>style.visibility</p:attrName>
                                        </p:attrNameLst>
                                      </p:cBhvr>
                                      <p:to>
                                        <p:strVal val="visible"/>
                                      </p:to>
                                    </p:set>
                                    <p:animEffect transition="in" filter="fade">
                                      <p:cBhvr>
                                        <p:cTn id="72" dur="1000"/>
                                        <p:tgtEl>
                                          <p:spTgt spid="15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Arrays and Loops</a:t>
            </a:r>
            <a:endParaRPr sz="4000"/>
          </a:p>
        </p:txBody>
      </p:sp>
      <p:sp>
        <p:nvSpPr>
          <p:cNvPr id="159" name="Google Shape;159;p10"/>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55000" lnSpcReduction="20000"/>
          </a:bodyPr>
          <a:lstStyle/>
          <a:p>
            <a:pPr marL="171450" lvl="0" indent="-171450" algn="l" rtl="0">
              <a:lnSpc>
                <a:spcPct val="90000"/>
              </a:lnSpc>
              <a:spcBef>
                <a:spcPts val="0"/>
              </a:spcBef>
              <a:spcAft>
                <a:spcPts val="0"/>
              </a:spcAft>
              <a:buClr>
                <a:schemeClr val="dk1"/>
              </a:buClr>
              <a:buSzPct val="100000"/>
              <a:buChar char="•"/>
            </a:pPr>
            <a:r>
              <a:rPr lang="en-US"/>
              <a:t>It is convenient to use loops with a variable to act as the index and access every element of an array</a:t>
            </a:r>
            <a:endParaRPr/>
          </a:p>
          <a:p>
            <a:pPr marL="171450" lvl="0" indent="-171450" algn="l" rtl="0">
              <a:lnSpc>
                <a:spcPct val="90000"/>
              </a:lnSpc>
              <a:spcBef>
                <a:spcPts val="750"/>
              </a:spcBef>
              <a:spcAft>
                <a:spcPts val="0"/>
              </a:spcAft>
              <a:buClr>
                <a:schemeClr val="dk1"/>
              </a:buClr>
              <a:buSzPct val="100000"/>
              <a:buChar char="•"/>
            </a:pPr>
            <a:r>
              <a:rPr lang="en-US"/>
              <a:t>For example:</a:t>
            </a:r>
            <a:endParaRPr/>
          </a:p>
          <a:p>
            <a:pPr marL="0" lvl="0" indent="0" algn="l" rtl="0">
              <a:lnSpc>
                <a:spcPct val="90000"/>
              </a:lnSpc>
              <a:spcBef>
                <a:spcPts val="750"/>
              </a:spcBef>
              <a:spcAft>
                <a:spcPts val="0"/>
              </a:spcAft>
              <a:buClr>
                <a:schemeClr val="dk1"/>
              </a:buClr>
              <a:buSzPct val="100000"/>
              <a:buNone/>
            </a:pPr>
            <a:r>
              <a:rPr lang="en-US"/>
              <a:t>    {</a:t>
            </a:r>
            <a:endParaRPr/>
          </a:p>
          <a:p>
            <a:pPr marL="0" lvl="0" indent="0" algn="l" rtl="0">
              <a:lnSpc>
                <a:spcPct val="90000"/>
              </a:lnSpc>
              <a:spcBef>
                <a:spcPts val="750"/>
              </a:spcBef>
              <a:spcAft>
                <a:spcPts val="0"/>
              </a:spcAft>
              <a:buClr>
                <a:schemeClr val="dk1"/>
              </a:buClr>
              <a:buSzPct val="100000"/>
              <a:buNone/>
            </a:pPr>
            <a:r>
              <a:rPr lang="en-US"/>
              <a:t>         int nums[20];</a:t>
            </a:r>
            <a:endParaRPr/>
          </a:p>
          <a:p>
            <a:pPr marL="0" lvl="0" indent="0" algn="l" rtl="0">
              <a:lnSpc>
                <a:spcPct val="90000"/>
              </a:lnSpc>
              <a:spcBef>
                <a:spcPts val="750"/>
              </a:spcBef>
              <a:spcAft>
                <a:spcPts val="0"/>
              </a:spcAft>
              <a:buClr>
                <a:schemeClr val="dk1"/>
              </a:buClr>
              <a:buSzPct val="100000"/>
              <a:buNone/>
            </a:pPr>
            <a:r>
              <a:rPr lang="en-US"/>
              <a:t>         int i;</a:t>
            </a:r>
            <a:endParaRPr/>
          </a:p>
          <a:p>
            <a:pPr marL="0" lvl="0" indent="0" algn="l" rtl="0">
              <a:lnSpc>
                <a:spcPct val="90000"/>
              </a:lnSpc>
              <a:spcBef>
                <a:spcPts val="750"/>
              </a:spcBef>
              <a:spcAft>
                <a:spcPts val="0"/>
              </a:spcAft>
              <a:buClr>
                <a:schemeClr val="dk1"/>
              </a:buClr>
              <a:buSzPct val="100000"/>
              <a:buNone/>
            </a:pPr>
            <a:r>
              <a:rPr lang="en-US"/>
              <a:t>         for(i=0;i&lt;20;i++) {</a:t>
            </a:r>
            <a:endParaRPr/>
          </a:p>
          <a:p>
            <a:pPr marL="0" lvl="0" indent="0" algn="l" rtl="0">
              <a:lnSpc>
                <a:spcPct val="90000"/>
              </a:lnSpc>
              <a:spcBef>
                <a:spcPts val="750"/>
              </a:spcBef>
              <a:spcAft>
                <a:spcPts val="0"/>
              </a:spcAft>
              <a:buClr>
                <a:schemeClr val="dk1"/>
              </a:buClr>
              <a:buSzPct val="100000"/>
              <a:buNone/>
            </a:pPr>
            <a:r>
              <a:rPr lang="en-US"/>
              <a:t>             nums[i] = 100 + i;</a:t>
            </a:r>
            <a:endParaRPr/>
          </a:p>
          <a:p>
            <a:pPr marL="0" lvl="0" indent="0" algn="l" rtl="0">
              <a:lnSpc>
                <a:spcPct val="90000"/>
              </a:lnSpc>
              <a:spcBef>
                <a:spcPts val="750"/>
              </a:spcBef>
              <a:spcAft>
                <a:spcPts val="0"/>
              </a:spcAft>
              <a:buClr>
                <a:schemeClr val="dk1"/>
              </a:buClr>
              <a:buSzPct val="100000"/>
              <a:buNone/>
            </a:pPr>
            <a:r>
              <a:rPr lang="en-US"/>
              <a:t>         }</a:t>
            </a:r>
            <a:endParaRPr/>
          </a:p>
          <a:p>
            <a:pPr marL="0" lvl="0" indent="0" algn="l" rtl="0">
              <a:lnSpc>
                <a:spcPct val="90000"/>
              </a:lnSpc>
              <a:spcBef>
                <a:spcPts val="750"/>
              </a:spcBef>
              <a:spcAft>
                <a:spcPts val="0"/>
              </a:spcAft>
              <a:buClr>
                <a:schemeClr val="dk1"/>
              </a:buClr>
              <a:buSzPct val="100000"/>
              <a:buNone/>
            </a:pPr>
            <a:r>
              <a:rPr lang="en-US"/>
              <a:t>     }</a:t>
            </a:r>
            <a:endParaRPr/>
          </a:p>
          <a:p>
            <a:pPr marL="0" lvl="0" indent="0" algn="l" rtl="0">
              <a:lnSpc>
                <a:spcPct val="90000"/>
              </a:lnSpc>
              <a:spcBef>
                <a:spcPts val="750"/>
              </a:spcBef>
              <a:spcAft>
                <a:spcPts val="0"/>
              </a:spcAft>
              <a:buClr>
                <a:schemeClr val="dk1"/>
              </a:buClr>
              <a:buSzPct val="100000"/>
              <a:buNone/>
            </a:pPr>
            <a:r>
              <a:rPr lang="en-US"/>
              <a:t>            What does the above code 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anim calcmode="lin" valueType="num">
                                      <p:cBhvr additive="base">
                                        <p:cTn id="7" dur="500"/>
                                        <p:tgtEl>
                                          <p:spTgt spid="15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
                                            <p:txEl>
                                              <p:pRg st="0" end="0"/>
                                            </p:txEl>
                                          </p:spTgt>
                                        </p:tgtEl>
                                        <p:attrNameLst>
                                          <p:attrName>style.visibility</p:attrName>
                                        </p:attrNameLst>
                                      </p:cBhvr>
                                      <p:to>
                                        <p:strVal val="visible"/>
                                      </p:to>
                                    </p:set>
                                    <p:animEffect transition="in" filter="fade">
                                      <p:cBhvr>
                                        <p:cTn id="12" dur="1000"/>
                                        <p:tgtEl>
                                          <p:spTgt spid="1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9">
                                            <p:txEl>
                                              <p:pRg st="1" end="1"/>
                                            </p:txEl>
                                          </p:spTgt>
                                        </p:tgtEl>
                                        <p:attrNameLst>
                                          <p:attrName>style.visibility</p:attrName>
                                        </p:attrNameLst>
                                      </p:cBhvr>
                                      <p:to>
                                        <p:strVal val="visible"/>
                                      </p:to>
                                    </p:set>
                                    <p:animEffect transition="in" filter="fade">
                                      <p:cBhvr>
                                        <p:cTn id="17" dur="1000"/>
                                        <p:tgtEl>
                                          <p:spTgt spid="1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9">
                                            <p:txEl>
                                              <p:pRg st="2" end="2"/>
                                            </p:txEl>
                                          </p:spTgt>
                                        </p:tgtEl>
                                        <p:attrNameLst>
                                          <p:attrName>style.visibility</p:attrName>
                                        </p:attrNameLst>
                                      </p:cBhvr>
                                      <p:to>
                                        <p:strVal val="visible"/>
                                      </p:to>
                                    </p:set>
                                    <p:animEffect transition="in" filter="fade">
                                      <p:cBhvr>
                                        <p:cTn id="22" dur="1000"/>
                                        <p:tgtEl>
                                          <p:spTgt spid="1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9">
                                            <p:txEl>
                                              <p:pRg st="3" end="3"/>
                                            </p:txEl>
                                          </p:spTgt>
                                        </p:tgtEl>
                                        <p:attrNameLst>
                                          <p:attrName>style.visibility</p:attrName>
                                        </p:attrNameLst>
                                      </p:cBhvr>
                                      <p:to>
                                        <p:strVal val="visible"/>
                                      </p:to>
                                    </p:set>
                                    <p:animEffect transition="in" filter="fade">
                                      <p:cBhvr>
                                        <p:cTn id="27" dur="1000"/>
                                        <p:tgtEl>
                                          <p:spTgt spid="15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9">
                                            <p:txEl>
                                              <p:pRg st="4" end="4"/>
                                            </p:txEl>
                                          </p:spTgt>
                                        </p:tgtEl>
                                        <p:attrNameLst>
                                          <p:attrName>style.visibility</p:attrName>
                                        </p:attrNameLst>
                                      </p:cBhvr>
                                      <p:to>
                                        <p:strVal val="visible"/>
                                      </p:to>
                                    </p:set>
                                    <p:animEffect transition="in" filter="fade">
                                      <p:cBhvr>
                                        <p:cTn id="32" dur="1000"/>
                                        <p:tgtEl>
                                          <p:spTgt spid="15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9">
                                            <p:txEl>
                                              <p:pRg st="5" end="5"/>
                                            </p:txEl>
                                          </p:spTgt>
                                        </p:tgtEl>
                                        <p:attrNameLst>
                                          <p:attrName>style.visibility</p:attrName>
                                        </p:attrNameLst>
                                      </p:cBhvr>
                                      <p:to>
                                        <p:strVal val="visible"/>
                                      </p:to>
                                    </p:set>
                                    <p:animEffect transition="in" filter="fade">
                                      <p:cBhvr>
                                        <p:cTn id="37" dur="1000"/>
                                        <p:tgtEl>
                                          <p:spTgt spid="15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9">
                                            <p:txEl>
                                              <p:pRg st="6" end="6"/>
                                            </p:txEl>
                                          </p:spTgt>
                                        </p:tgtEl>
                                        <p:attrNameLst>
                                          <p:attrName>style.visibility</p:attrName>
                                        </p:attrNameLst>
                                      </p:cBhvr>
                                      <p:to>
                                        <p:strVal val="visible"/>
                                      </p:to>
                                    </p:set>
                                    <p:animEffect transition="in" filter="fade">
                                      <p:cBhvr>
                                        <p:cTn id="42" dur="1000"/>
                                        <p:tgtEl>
                                          <p:spTgt spid="159">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9">
                                            <p:txEl>
                                              <p:pRg st="7" end="7"/>
                                            </p:txEl>
                                          </p:spTgt>
                                        </p:tgtEl>
                                        <p:attrNameLst>
                                          <p:attrName>style.visibility</p:attrName>
                                        </p:attrNameLst>
                                      </p:cBhvr>
                                      <p:to>
                                        <p:strVal val="visible"/>
                                      </p:to>
                                    </p:set>
                                    <p:animEffect transition="in" filter="fade">
                                      <p:cBhvr>
                                        <p:cTn id="47" dur="1000"/>
                                        <p:tgtEl>
                                          <p:spTgt spid="159">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9">
                                            <p:txEl>
                                              <p:pRg st="8" end="8"/>
                                            </p:txEl>
                                          </p:spTgt>
                                        </p:tgtEl>
                                        <p:attrNameLst>
                                          <p:attrName>style.visibility</p:attrName>
                                        </p:attrNameLst>
                                      </p:cBhvr>
                                      <p:to>
                                        <p:strVal val="visible"/>
                                      </p:to>
                                    </p:set>
                                    <p:animEffect transition="in" filter="fade">
                                      <p:cBhvr>
                                        <p:cTn id="52" dur="1000"/>
                                        <p:tgtEl>
                                          <p:spTgt spid="159">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59">
                                            <p:txEl>
                                              <p:pRg st="9" end="9"/>
                                            </p:txEl>
                                          </p:spTgt>
                                        </p:tgtEl>
                                        <p:attrNameLst>
                                          <p:attrName>style.visibility</p:attrName>
                                        </p:attrNameLst>
                                      </p:cBhvr>
                                      <p:to>
                                        <p:strVal val="visible"/>
                                      </p:to>
                                    </p:set>
                                    <p:animEffect transition="in" filter="fade">
                                      <p:cBhvr>
                                        <p:cTn id="57" dur="1000"/>
                                        <p:tgtEl>
                                          <p:spTgt spid="1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More on accessing arrays</a:t>
            </a:r>
            <a:endParaRPr sz="4000"/>
          </a:p>
        </p:txBody>
      </p:sp>
      <p:sp>
        <p:nvSpPr>
          <p:cNvPr id="165" name="Google Shape;165;p11"/>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l" rtl="0">
              <a:lnSpc>
                <a:spcPct val="90000"/>
              </a:lnSpc>
              <a:spcBef>
                <a:spcPts val="0"/>
              </a:spcBef>
              <a:spcAft>
                <a:spcPts val="0"/>
              </a:spcAft>
              <a:buClr>
                <a:schemeClr val="dk1"/>
              </a:buClr>
              <a:buSzPts val="2800"/>
              <a:buChar char="•"/>
            </a:pPr>
            <a:r>
              <a:rPr lang="en-US" sz="2000"/>
              <a:t>We can use functions like scanf to write data into a specific array element</a:t>
            </a:r>
            <a:endParaRPr sz="2000"/>
          </a:p>
          <a:p>
            <a:pPr marL="171450" lvl="0" indent="-171450" algn="l" rtl="0">
              <a:lnSpc>
                <a:spcPct val="90000"/>
              </a:lnSpc>
              <a:spcBef>
                <a:spcPts val="750"/>
              </a:spcBef>
              <a:spcAft>
                <a:spcPts val="0"/>
              </a:spcAft>
              <a:buClr>
                <a:schemeClr val="dk1"/>
              </a:buClr>
              <a:buSzPts val="2800"/>
              <a:buChar char="•"/>
            </a:pPr>
            <a:r>
              <a:rPr lang="en-US" sz="2000"/>
              <a:t>For example:</a:t>
            </a:r>
            <a:endParaRPr sz="2000"/>
          </a:p>
          <a:p>
            <a:pPr marL="0" lvl="0" indent="0" algn="l" rtl="0">
              <a:lnSpc>
                <a:spcPct val="90000"/>
              </a:lnSpc>
              <a:spcBef>
                <a:spcPts val="750"/>
              </a:spcBef>
              <a:spcAft>
                <a:spcPts val="0"/>
              </a:spcAft>
              <a:buClr>
                <a:schemeClr val="dk1"/>
              </a:buClr>
              <a:buSzPts val="2800"/>
              <a:buNone/>
            </a:pPr>
            <a:r>
              <a:rPr lang="en-US" sz="2000"/>
              <a:t>	{</a:t>
            </a:r>
            <a:endParaRPr sz="2000"/>
          </a:p>
          <a:p>
            <a:pPr marL="0" lvl="0" indent="0" algn="l" rtl="0">
              <a:lnSpc>
                <a:spcPct val="90000"/>
              </a:lnSpc>
              <a:spcBef>
                <a:spcPts val="750"/>
              </a:spcBef>
              <a:spcAft>
                <a:spcPts val="0"/>
              </a:spcAft>
              <a:buClr>
                <a:schemeClr val="dk1"/>
              </a:buClr>
              <a:buSzPts val="2800"/>
              <a:buNone/>
            </a:pPr>
            <a:r>
              <a:rPr lang="en-US" sz="2000"/>
              <a:t>               int nums[5], i;</a:t>
            </a:r>
            <a:endParaRPr sz="2000"/>
          </a:p>
          <a:p>
            <a:pPr marL="0" lvl="0" indent="0" algn="l" rtl="0">
              <a:lnSpc>
                <a:spcPct val="90000"/>
              </a:lnSpc>
              <a:spcBef>
                <a:spcPts val="750"/>
              </a:spcBef>
              <a:spcAft>
                <a:spcPts val="0"/>
              </a:spcAft>
              <a:buClr>
                <a:schemeClr val="dk1"/>
              </a:buClr>
              <a:buSzPts val="2800"/>
              <a:buNone/>
            </a:pPr>
            <a:r>
              <a:rPr lang="en-US" sz="2000"/>
              <a:t>               for(i=0;i&lt;5;i++) {</a:t>
            </a:r>
            <a:endParaRPr sz="2000"/>
          </a:p>
          <a:p>
            <a:pPr marL="0" lvl="0" indent="0" algn="l" rtl="0">
              <a:lnSpc>
                <a:spcPct val="90000"/>
              </a:lnSpc>
              <a:spcBef>
                <a:spcPts val="750"/>
              </a:spcBef>
              <a:spcAft>
                <a:spcPts val="0"/>
              </a:spcAft>
              <a:buClr>
                <a:schemeClr val="dk1"/>
              </a:buClr>
              <a:buSzPts val="2800"/>
              <a:buNone/>
            </a:pPr>
            <a:r>
              <a:rPr lang="en-US" sz="2000"/>
              <a:t>                    scanf(“%d”,&amp;nums[i]);</a:t>
            </a:r>
            <a:endParaRPr sz="2000"/>
          </a:p>
          <a:p>
            <a:pPr marL="0" lvl="0" indent="0" algn="l" rtl="0">
              <a:lnSpc>
                <a:spcPct val="90000"/>
              </a:lnSpc>
              <a:spcBef>
                <a:spcPts val="750"/>
              </a:spcBef>
              <a:spcAft>
                <a:spcPts val="0"/>
              </a:spcAft>
              <a:buClr>
                <a:schemeClr val="dk1"/>
              </a:buClr>
              <a:buSzPts val="2800"/>
              <a:buNone/>
            </a:pPr>
            <a:r>
              <a:rPr lang="en-US" sz="2000"/>
              <a:t>               }</a:t>
            </a:r>
            <a:endParaRPr sz="2000"/>
          </a:p>
          <a:p>
            <a:pPr marL="0" lvl="0" indent="0" algn="l" rtl="0">
              <a:lnSpc>
                <a:spcPct val="90000"/>
              </a:lnSpc>
              <a:spcBef>
                <a:spcPts val="750"/>
              </a:spcBef>
              <a:spcAft>
                <a:spcPts val="0"/>
              </a:spcAft>
              <a:buClr>
                <a:schemeClr val="dk1"/>
              </a:buClr>
              <a:buSzPts val="2800"/>
              <a:buNone/>
            </a:pPr>
            <a:r>
              <a:rPr lang="en-US" sz="2000"/>
              <a:t>             }</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5">
                                            <p:txEl>
                                              <p:pRg st="0" end="0"/>
                                            </p:txEl>
                                          </p:spTgt>
                                        </p:tgtEl>
                                        <p:attrNameLst>
                                          <p:attrName>style.visibility</p:attrName>
                                        </p:attrNameLst>
                                      </p:cBhvr>
                                      <p:to>
                                        <p:strVal val="visible"/>
                                      </p:to>
                                    </p:set>
                                    <p:animEffect transition="in" filter="fade">
                                      <p:cBhvr>
                                        <p:cTn id="12" dur="1000"/>
                                        <p:tgtEl>
                                          <p:spTgt spid="16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5">
                                            <p:txEl>
                                              <p:pRg st="1" end="1"/>
                                            </p:txEl>
                                          </p:spTgt>
                                        </p:tgtEl>
                                        <p:attrNameLst>
                                          <p:attrName>style.visibility</p:attrName>
                                        </p:attrNameLst>
                                      </p:cBhvr>
                                      <p:to>
                                        <p:strVal val="visible"/>
                                      </p:to>
                                    </p:set>
                                    <p:animEffect transition="in" filter="fade">
                                      <p:cBhvr>
                                        <p:cTn id="17" dur="1000"/>
                                        <p:tgtEl>
                                          <p:spTgt spid="16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5">
                                            <p:txEl>
                                              <p:pRg st="2" end="2"/>
                                            </p:txEl>
                                          </p:spTgt>
                                        </p:tgtEl>
                                        <p:attrNameLst>
                                          <p:attrName>style.visibility</p:attrName>
                                        </p:attrNameLst>
                                      </p:cBhvr>
                                      <p:to>
                                        <p:strVal val="visible"/>
                                      </p:to>
                                    </p:set>
                                    <p:animEffect transition="in" filter="fade">
                                      <p:cBhvr>
                                        <p:cTn id="22" dur="1000"/>
                                        <p:tgtEl>
                                          <p:spTgt spid="16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5">
                                            <p:txEl>
                                              <p:pRg st="3" end="3"/>
                                            </p:txEl>
                                          </p:spTgt>
                                        </p:tgtEl>
                                        <p:attrNameLst>
                                          <p:attrName>style.visibility</p:attrName>
                                        </p:attrNameLst>
                                      </p:cBhvr>
                                      <p:to>
                                        <p:strVal val="visible"/>
                                      </p:to>
                                    </p:set>
                                    <p:animEffect transition="in" filter="fade">
                                      <p:cBhvr>
                                        <p:cTn id="27" dur="1000"/>
                                        <p:tgtEl>
                                          <p:spTgt spid="16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5">
                                            <p:txEl>
                                              <p:pRg st="4" end="4"/>
                                            </p:txEl>
                                          </p:spTgt>
                                        </p:tgtEl>
                                        <p:attrNameLst>
                                          <p:attrName>style.visibility</p:attrName>
                                        </p:attrNameLst>
                                      </p:cBhvr>
                                      <p:to>
                                        <p:strVal val="visible"/>
                                      </p:to>
                                    </p:set>
                                    <p:animEffect transition="in" filter="fade">
                                      <p:cBhvr>
                                        <p:cTn id="32" dur="1000"/>
                                        <p:tgtEl>
                                          <p:spTgt spid="16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5">
                                            <p:txEl>
                                              <p:pRg st="5" end="5"/>
                                            </p:txEl>
                                          </p:spTgt>
                                        </p:tgtEl>
                                        <p:attrNameLst>
                                          <p:attrName>style.visibility</p:attrName>
                                        </p:attrNameLst>
                                      </p:cBhvr>
                                      <p:to>
                                        <p:strVal val="visible"/>
                                      </p:to>
                                    </p:set>
                                    <p:animEffect transition="in" filter="fade">
                                      <p:cBhvr>
                                        <p:cTn id="37" dur="1000"/>
                                        <p:tgtEl>
                                          <p:spTgt spid="16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5">
                                            <p:txEl>
                                              <p:pRg st="6" end="6"/>
                                            </p:txEl>
                                          </p:spTgt>
                                        </p:tgtEl>
                                        <p:attrNameLst>
                                          <p:attrName>style.visibility</p:attrName>
                                        </p:attrNameLst>
                                      </p:cBhvr>
                                      <p:to>
                                        <p:strVal val="visible"/>
                                      </p:to>
                                    </p:set>
                                    <p:animEffect transition="in" filter="fade">
                                      <p:cBhvr>
                                        <p:cTn id="42" dur="1000"/>
                                        <p:tgtEl>
                                          <p:spTgt spid="16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5">
                                            <p:txEl>
                                              <p:pRg st="7" end="7"/>
                                            </p:txEl>
                                          </p:spTgt>
                                        </p:tgtEl>
                                        <p:attrNameLst>
                                          <p:attrName>style.visibility</p:attrName>
                                        </p:attrNameLst>
                                      </p:cBhvr>
                                      <p:to>
                                        <p:strVal val="visible"/>
                                      </p:to>
                                    </p:set>
                                    <p:animEffect transition="in" filter="fade">
                                      <p:cBhvr>
                                        <p:cTn id="47" dur="1000"/>
                                        <p:tgtEl>
                                          <p:spTgt spid="1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Traversing an array</a:t>
            </a:r>
            <a:endParaRPr sz="4000"/>
          </a:p>
        </p:txBody>
      </p:sp>
      <p:sp>
        <p:nvSpPr>
          <p:cNvPr id="171" name="Google Shape;171;p12"/>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fontScale="62500" lnSpcReduction="20000"/>
          </a:bodyPr>
          <a:lstStyle/>
          <a:p>
            <a:pPr marL="171450" lvl="0" indent="-171450" algn="l" rtl="0">
              <a:lnSpc>
                <a:spcPct val="90000"/>
              </a:lnSpc>
              <a:spcBef>
                <a:spcPts val="0"/>
              </a:spcBef>
              <a:spcAft>
                <a:spcPts val="0"/>
              </a:spcAft>
              <a:buClr>
                <a:schemeClr val="dk1"/>
              </a:buClr>
              <a:buSzPct val="100000"/>
              <a:buChar char="•"/>
            </a:pPr>
            <a:r>
              <a:rPr lang="en-US"/>
              <a:t>Traversing an array just means that you are accessing all the elements of the array in some sequence:</a:t>
            </a:r>
            <a:endParaRPr/>
          </a:p>
          <a:p>
            <a:pPr marL="171450" lvl="0" indent="-171450" algn="l" rtl="0">
              <a:lnSpc>
                <a:spcPct val="90000"/>
              </a:lnSpc>
              <a:spcBef>
                <a:spcPts val="750"/>
              </a:spcBef>
              <a:spcAft>
                <a:spcPts val="0"/>
              </a:spcAft>
              <a:buClr>
                <a:schemeClr val="dk1"/>
              </a:buClr>
              <a:buSzPct val="100000"/>
              <a:buChar char="•"/>
            </a:pPr>
            <a:r>
              <a:rPr lang="en-US"/>
              <a:t>For example, the below code prints all the elements in an array by “traversing” it:</a:t>
            </a:r>
            <a:endParaRPr/>
          </a:p>
          <a:p>
            <a:pPr marL="0" lvl="0" indent="0" algn="l" rtl="0">
              <a:lnSpc>
                <a:spcPct val="90000"/>
              </a:lnSpc>
              <a:spcBef>
                <a:spcPts val="750"/>
              </a:spcBef>
              <a:spcAft>
                <a:spcPts val="0"/>
              </a:spcAft>
              <a:buClr>
                <a:schemeClr val="dk1"/>
              </a:buClr>
              <a:buSzPct val="100000"/>
              <a:buNone/>
            </a:pPr>
            <a:r>
              <a:rPr lang="en-US"/>
              <a:t>    {</a:t>
            </a:r>
            <a:endParaRPr/>
          </a:p>
          <a:p>
            <a:pPr marL="0" lvl="0" indent="0" algn="l" rtl="0">
              <a:lnSpc>
                <a:spcPct val="90000"/>
              </a:lnSpc>
              <a:spcBef>
                <a:spcPts val="750"/>
              </a:spcBef>
              <a:spcAft>
                <a:spcPts val="0"/>
              </a:spcAft>
              <a:buClr>
                <a:schemeClr val="dk1"/>
              </a:buClr>
              <a:buSzPct val="100000"/>
              <a:buNone/>
            </a:pPr>
            <a:r>
              <a:rPr lang="en-US"/>
              <a:t>           int i;</a:t>
            </a:r>
            <a:endParaRPr/>
          </a:p>
          <a:p>
            <a:pPr marL="0" lvl="0" indent="0" algn="l" rtl="0">
              <a:lnSpc>
                <a:spcPct val="90000"/>
              </a:lnSpc>
              <a:spcBef>
                <a:spcPts val="750"/>
              </a:spcBef>
              <a:spcAft>
                <a:spcPts val="0"/>
              </a:spcAft>
              <a:buClr>
                <a:schemeClr val="dk1"/>
              </a:buClr>
              <a:buSzPct val="100000"/>
              <a:buNone/>
            </a:pPr>
            <a:r>
              <a:rPr lang="en-US"/>
              <a:t>           int nums[]={10,11,12,13,14};</a:t>
            </a:r>
            <a:endParaRPr/>
          </a:p>
          <a:p>
            <a:pPr marL="0" lvl="0" indent="0" algn="l" rtl="0">
              <a:lnSpc>
                <a:spcPct val="90000"/>
              </a:lnSpc>
              <a:spcBef>
                <a:spcPts val="750"/>
              </a:spcBef>
              <a:spcAft>
                <a:spcPts val="0"/>
              </a:spcAft>
              <a:buClr>
                <a:schemeClr val="dk1"/>
              </a:buClr>
              <a:buSzPct val="100000"/>
              <a:buNone/>
            </a:pPr>
            <a:r>
              <a:rPr lang="en-US"/>
              <a:t>           for(i=0;i&lt;5;i++) {</a:t>
            </a:r>
            <a:endParaRPr/>
          </a:p>
          <a:p>
            <a:pPr marL="0" lvl="0" indent="0" algn="l" rtl="0">
              <a:lnSpc>
                <a:spcPct val="90000"/>
              </a:lnSpc>
              <a:spcBef>
                <a:spcPts val="750"/>
              </a:spcBef>
              <a:spcAft>
                <a:spcPts val="0"/>
              </a:spcAft>
              <a:buClr>
                <a:schemeClr val="dk1"/>
              </a:buClr>
              <a:buSzPct val="100000"/>
              <a:buNone/>
            </a:pPr>
            <a:r>
              <a:rPr lang="en-US"/>
              <a:t>                 printf(“At index %d, value is %d\n”,i,nums[i]);</a:t>
            </a:r>
            <a:endParaRPr/>
          </a:p>
          <a:p>
            <a:pPr marL="0" lvl="0" indent="0" algn="l" rtl="0">
              <a:lnSpc>
                <a:spcPct val="90000"/>
              </a:lnSpc>
              <a:spcBef>
                <a:spcPts val="750"/>
              </a:spcBef>
              <a:spcAft>
                <a:spcPts val="0"/>
              </a:spcAft>
              <a:buClr>
                <a:schemeClr val="dk1"/>
              </a:buClr>
              <a:buSzPct val="100000"/>
              <a:buNone/>
            </a:pPr>
            <a:r>
              <a:rPr lang="en-US"/>
              <a:t>           }</a:t>
            </a:r>
            <a:endParaRPr/>
          </a:p>
          <a:p>
            <a:pPr marL="0" lvl="0" indent="0" algn="l" rtl="0">
              <a:lnSpc>
                <a:spcPct val="90000"/>
              </a:lnSpc>
              <a:spcBef>
                <a:spcPts val="750"/>
              </a:spcBef>
              <a:spcAft>
                <a:spcPts val="0"/>
              </a:spcAft>
              <a:buClr>
                <a:schemeClr val="dk1"/>
              </a:buClr>
              <a:buSzPct val="100000"/>
              <a:buNone/>
            </a:pPr>
            <a:r>
              <a:rPr lang="en-US"/>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1">
                                            <p:txEl>
                                              <p:pRg st="0" end="0"/>
                                            </p:txEl>
                                          </p:spTgt>
                                        </p:tgtEl>
                                        <p:attrNameLst>
                                          <p:attrName>style.visibility</p:attrName>
                                        </p:attrNameLst>
                                      </p:cBhvr>
                                      <p:to>
                                        <p:strVal val="visible"/>
                                      </p:to>
                                    </p:set>
                                    <p:animEffect transition="in" filter="fade">
                                      <p:cBhvr>
                                        <p:cTn id="12" dur="500"/>
                                        <p:tgtEl>
                                          <p:spTgt spid="1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1">
                                            <p:txEl>
                                              <p:pRg st="1" end="1"/>
                                            </p:txEl>
                                          </p:spTgt>
                                        </p:tgtEl>
                                        <p:attrNameLst>
                                          <p:attrName>style.visibility</p:attrName>
                                        </p:attrNameLst>
                                      </p:cBhvr>
                                      <p:to>
                                        <p:strVal val="visible"/>
                                      </p:to>
                                    </p:set>
                                    <p:animEffect transition="in" filter="fade">
                                      <p:cBhvr>
                                        <p:cTn id="17" dur="500"/>
                                        <p:tgtEl>
                                          <p:spTgt spid="1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1">
                                            <p:txEl>
                                              <p:pRg st="2" end="2"/>
                                            </p:txEl>
                                          </p:spTgt>
                                        </p:tgtEl>
                                        <p:attrNameLst>
                                          <p:attrName>style.visibility</p:attrName>
                                        </p:attrNameLst>
                                      </p:cBhvr>
                                      <p:to>
                                        <p:strVal val="visible"/>
                                      </p:to>
                                    </p:set>
                                    <p:animEffect transition="in" filter="fade">
                                      <p:cBhvr>
                                        <p:cTn id="22" dur="500"/>
                                        <p:tgtEl>
                                          <p:spTgt spid="1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1">
                                            <p:txEl>
                                              <p:pRg st="3" end="3"/>
                                            </p:txEl>
                                          </p:spTgt>
                                        </p:tgtEl>
                                        <p:attrNameLst>
                                          <p:attrName>style.visibility</p:attrName>
                                        </p:attrNameLst>
                                      </p:cBhvr>
                                      <p:to>
                                        <p:strVal val="visible"/>
                                      </p:to>
                                    </p:set>
                                    <p:animEffect transition="in" filter="fade">
                                      <p:cBhvr>
                                        <p:cTn id="27" dur="500"/>
                                        <p:tgtEl>
                                          <p:spTgt spid="17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1">
                                            <p:txEl>
                                              <p:pRg st="4" end="4"/>
                                            </p:txEl>
                                          </p:spTgt>
                                        </p:tgtEl>
                                        <p:attrNameLst>
                                          <p:attrName>style.visibility</p:attrName>
                                        </p:attrNameLst>
                                      </p:cBhvr>
                                      <p:to>
                                        <p:strVal val="visible"/>
                                      </p:to>
                                    </p:set>
                                    <p:animEffect transition="in" filter="fade">
                                      <p:cBhvr>
                                        <p:cTn id="32" dur="500"/>
                                        <p:tgtEl>
                                          <p:spTgt spid="17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1">
                                            <p:txEl>
                                              <p:pRg st="5" end="5"/>
                                            </p:txEl>
                                          </p:spTgt>
                                        </p:tgtEl>
                                        <p:attrNameLst>
                                          <p:attrName>style.visibility</p:attrName>
                                        </p:attrNameLst>
                                      </p:cBhvr>
                                      <p:to>
                                        <p:strVal val="visible"/>
                                      </p:to>
                                    </p:set>
                                    <p:animEffect transition="in" filter="fade">
                                      <p:cBhvr>
                                        <p:cTn id="37" dur="500"/>
                                        <p:tgtEl>
                                          <p:spTgt spid="17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1">
                                            <p:txEl>
                                              <p:pRg st="6" end="6"/>
                                            </p:txEl>
                                          </p:spTgt>
                                        </p:tgtEl>
                                        <p:attrNameLst>
                                          <p:attrName>style.visibility</p:attrName>
                                        </p:attrNameLst>
                                      </p:cBhvr>
                                      <p:to>
                                        <p:strVal val="visible"/>
                                      </p:to>
                                    </p:set>
                                    <p:animEffect transition="in" filter="fade">
                                      <p:cBhvr>
                                        <p:cTn id="42" dur="500"/>
                                        <p:tgtEl>
                                          <p:spTgt spid="17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1">
                                            <p:txEl>
                                              <p:pRg st="7" end="7"/>
                                            </p:txEl>
                                          </p:spTgt>
                                        </p:tgtEl>
                                        <p:attrNameLst>
                                          <p:attrName>style.visibility</p:attrName>
                                        </p:attrNameLst>
                                      </p:cBhvr>
                                      <p:to>
                                        <p:strVal val="visible"/>
                                      </p:to>
                                    </p:set>
                                    <p:animEffect transition="in" filter="fade">
                                      <p:cBhvr>
                                        <p:cTn id="47" dur="500"/>
                                        <p:tgtEl>
                                          <p:spTgt spid="171">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1">
                                            <p:txEl>
                                              <p:pRg st="8" end="8"/>
                                            </p:txEl>
                                          </p:spTgt>
                                        </p:tgtEl>
                                        <p:attrNameLst>
                                          <p:attrName>style.visibility</p:attrName>
                                        </p:attrNameLst>
                                      </p:cBhvr>
                                      <p:to>
                                        <p:strVal val="visible"/>
                                      </p:to>
                                    </p:set>
                                    <p:animEffect transition="in" filter="fade">
                                      <p:cBhvr>
                                        <p:cTn id="52" dur="500"/>
                                        <p:tgtEl>
                                          <p:spTgt spid="1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3"/>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Searching for an element in an array</a:t>
            </a:r>
            <a:endParaRPr sz="4000"/>
          </a:p>
        </p:txBody>
      </p:sp>
      <p:sp>
        <p:nvSpPr>
          <p:cNvPr id="177" name="Google Shape;177;p13"/>
          <p:cNvSpPr txBox="1">
            <a:spLocks noGrp="1"/>
          </p:cNvSpPr>
          <p:nvPr>
            <p:ph type="body" idx="1"/>
          </p:nvPr>
        </p:nvSpPr>
        <p:spPr>
          <a:xfrm>
            <a:off x="628650" y="1123950"/>
            <a:ext cx="7886700" cy="3508773"/>
          </a:xfrm>
          <a:prstGeom prst="rect">
            <a:avLst/>
          </a:prstGeom>
          <a:noFill/>
          <a:ln>
            <a:noFill/>
          </a:ln>
        </p:spPr>
        <p:txBody>
          <a:bodyPr spcFirstLastPara="1" wrap="square" lIns="68550" tIns="34275" rIns="68550" bIns="34275" anchor="t" anchorCtr="0">
            <a:noAutofit/>
          </a:bodyPr>
          <a:lstStyle/>
          <a:p>
            <a:pPr marL="171450" lvl="0" indent="-171450" algn="l" rtl="0">
              <a:lnSpc>
                <a:spcPct val="90000"/>
              </a:lnSpc>
              <a:spcBef>
                <a:spcPts val="0"/>
              </a:spcBef>
              <a:spcAft>
                <a:spcPts val="0"/>
              </a:spcAft>
              <a:buClr>
                <a:schemeClr val="dk1"/>
              </a:buClr>
              <a:buSzPts val="2000"/>
              <a:buChar char="•"/>
            </a:pPr>
            <a:r>
              <a:rPr lang="en-US" sz="2000"/>
              <a:t>The following code searches for a value, given by variable ‘val’ and if it is found, prints the index where it was found:</a:t>
            </a:r>
            <a:endParaRPr sz="2000"/>
          </a:p>
          <a:p>
            <a:pPr marL="0" lvl="0" indent="0" algn="l" rtl="0">
              <a:lnSpc>
                <a:spcPct val="90000"/>
              </a:lnSpc>
              <a:spcBef>
                <a:spcPts val="750"/>
              </a:spcBef>
              <a:spcAft>
                <a:spcPts val="0"/>
              </a:spcAft>
              <a:buClr>
                <a:schemeClr val="dk1"/>
              </a:buClr>
              <a:buSzPts val="2000"/>
              <a:buNone/>
            </a:pPr>
            <a:r>
              <a:rPr lang="en-US" sz="2000"/>
              <a:t> {</a:t>
            </a:r>
            <a:endParaRPr sz="2000"/>
          </a:p>
          <a:p>
            <a:pPr marL="0" lvl="0" indent="0" algn="l" rtl="0">
              <a:lnSpc>
                <a:spcPct val="90000"/>
              </a:lnSpc>
              <a:spcBef>
                <a:spcPts val="750"/>
              </a:spcBef>
              <a:spcAft>
                <a:spcPts val="0"/>
              </a:spcAft>
              <a:buClr>
                <a:schemeClr val="dk1"/>
              </a:buClr>
              <a:buSzPts val="2000"/>
              <a:buNone/>
            </a:pPr>
            <a:r>
              <a:rPr lang="en-US" sz="2000"/>
              <a:t>        int i, val, nums[10] = {20,44,55,3,4,55,24,25,130,111};</a:t>
            </a:r>
            <a:endParaRPr sz="2000"/>
          </a:p>
          <a:p>
            <a:pPr marL="0" lvl="0" indent="0" algn="l" rtl="0">
              <a:lnSpc>
                <a:spcPct val="90000"/>
              </a:lnSpc>
              <a:spcBef>
                <a:spcPts val="750"/>
              </a:spcBef>
              <a:spcAft>
                <a:spcPts val="0"/>
              </a:spcAft>
              <a:buClr>
                <a:schemeClr val="dk1"/>
              </a:buClr>
              <a:buSzPts val="2000"/>
              <a:buNone/>
            </a:pPr>
            <a:r>
              <a:rPr lang="en-US" sz="2000"/>
              <a:t>        scanf(“%d”,&amp;val);</a:t>
            </a:r>
            <a:endParaRPr sz="2000"/>
          </a:p>
          <a:p>
            <a:pPr marL="0" lvl="0" indent="0" algn="l" rtl="0">
              <a:lnSpc>
                <a:spcPct val="90000"/>
              </a:lnSpc>
              <a:spcBef>
                <a:spcPts val="750"/>
              </a:spcBef>
              <a:spcAft>
                <a:spcPts val="0"/>
              </a:spcAft>
              <a:buClr>
                <a:schemeClr val="dk1"/>
              </a:buClr>
              <a:buSzPts val="2000"/>
              <a:buNone/>
            </a:pPr>
            <a:r>
              <a:rPr lang="en-US" sz="2000"/>
              <a:t>        for(i=0;i&lt;10;i++) {</a:t>
            </a:r>
            <a:endParaRPr sz="2000"/>
          </a:p>
          <a:p>
            <a:pPr marL="0" lvl="0" indent="0" algn="l" rtl="0">
              <a:lnSpc>
                <a:spcPct val="90000"/>
              </a:lnSpc>
              <a:spcBef>
                <a:spcPts val="750"/>
              </a:spcBef>
              <a:spcAft>
                <a:spcPts val="0"/>
              </a:spcAft>
              <a:buClr>
                <a:schemeClr val="dk1"/>
              </a:buClr>
              <a:buSzPts val="2000"/>
              <a:buNone/>
            </a:pPr>
            <a:r>
              <a:rPr lang="en-US" sz="2000"/>
              <a:t>             if(nums[i] == val) {</a:t>
            </a:r>
            <a:endParaRPr sz="2000"/>
          </a:p>
          <a:p>
            <a:pPr marL="0" lvl="0" indent="0" algn="l" rtl="0">
              <a:lnSpc>
                <a:spcPct val="90000"/>
              </a:lnSpc>
              <a:spcBef>
                <a:spcPts val="750"/>
              </a:spcBef>
              <a:spcAft>
                <a:spcPts val="0"/>
              </a:spcAft>
              <a:buClr>
                <a:schemeClr val="dk1"/>
              </a:buClr>
              <a:buSzPts val="2000"/>
              <a:buNone/>
            </a:pPr>
            <a:r>
              <a:rPr lang="en-US" sz="2000"/>
              <a:t>                 printf(“value %d found at index %d\n”,val,i);</a:t>
            </a:r>
            <a:endParaRPr sz="2000"/>
          </a:p>
          <a:p>
            <a:pPr marL="0" lvl="0" indent="0" algn="l" rtl="0">
              <a:lnSpc>
                <a:spcPct val="90000"/>
              </a:lnSpc>
              <a:spcBef>
                <a:spcPts val="750"/>
              </a:spcBef>
              <a:spcAft>
                <a:spcPts val="0"/>
              </a:spcAft>
              <a:buClr>
                <a:schemeClr val="dk1"/>
              </a:buClr>
              <a:buSzPts val="2000"/>
              <a:buNone/>
            </a:pPr>
            <a:r>
              <a:rPr lang="en-US" sz="2000"/>
              <a:t>             }</a:t>
            </a:r>
            <a:endParaRPr sz="2000"/>
          </a:p>
          <a:p>
            <a:pPr marL="0" lvl="0" indent="0" algn="l" rtl="0">
              <a:lnSpc>
                <a:spcPct val="90000"/>
              </a:lnSpc>
              <a:spcBef>
                <a:spcPts val="750"/>
              </a:spcBef>
              <a:spcAft>
                <a:spcPts val="0"/>
              </a:spcAft>
              <a:buClr>
                <a:schemeClr val="dk1"/>
              </a:buClr>
              <a:buSzPts val="2000"/>
              <a:buNone/>
            </a:pPr>
            <a:r>
              <a:rPr lang="en-US" sz="2000"/>
              <a:t>         }</a:t>
            </a:r>
            <a:endParaRPr sz="2000"/>
          </a:p>
          <a:p>
            <a:pPr marL="0" lvl="0" indent="0" algn="l" rtl="0">
              <a:lnSpc>
                <a:spcPct val="90000"/>
              </a:lnSpc>
              <a:spcBef>
                <a:spcPts val="750"/>
              </a:spcBef>
              <a:spcAft>
                <a:spcPts val="0"/>
              </a:spcAft>
              <a:buClr>
                <a:schemeClr val="dk1"/>
              </a:buClr>
              <a:buSzPts val="2000"/>
              <a:buNone/>
            </a:pPr>
            <a:r>
              <a:rPr lang="en-US" sz="2000"/>
              <a:t> }</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 calcmode="lin" valueType="num">
                                      <p:cBhvr additive="base">
                                        <p:cTn id="7" dur="500"/>
                                        <p:tgtEl>
                                          <p:spTgt spid="17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xEl>
                                              <p:pRg st="0" end="0"/>
                                            </p:txEl>
                                          </p:spTgt>
                                        </p:tgtEl>
                                        <p:attrNameLst>
                                          <p:attrName>style.visibility</p:attrName>
                                        </p:attrNameLst>
                                      </p:cBhvr>
                                      <p:to>
                                        <p:strVal val="visible"/>
                                      </p:to>
                                    </p:set>
                                    <p:animEffect transition="in" filter="fade">
                                      <p:cBhvr>
                                        <p:cTn id="12" dur="500"/>
                                        <p:tgtEl>
                                          <p:spTgt spid="17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
                                            <p:txEl>
                                              <p:pRg st="1" end="1"/>
                                            </p:txEl>
                                          </p:spTgt>
                                        </p:tgtEl>
                                        <p:attrNameLst>
                                          <p:attrName>style.visibility</p:attrName>
                                        </p:attrNameLst>
                                      </p:cBhvr>
                                      <p:to>
                                        <p:strVal val="visible"/>
                                      </p:to>
                                    </p:set>
                                    <p:animEffect transition="in" filter="fade">
                                      <p:cBhvr>
                                        <p:cTn id="17" dur="500"/>
                                        <p:tgtEl>
                                          <p:spTgt spid="17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7">
                                            <p:txEl>
                                              <p:pRg st="2" end="2"/>
                                            </p:txEl>
                                          </p:spTgt>
                                        </p:tgtEl>
                                        <p:attrNameLst>
                                          <p:attrName>style.visibility</p:attrName>
                                        </p:attrNameLst>
                                      </p:cBhvr>
                                      <p:to>
                                        <p:strVal val="visible"/>
                                      </p:to>
                                    </p:set>
                                    <p:animEffect transition="in" filter="fade">
                                      <p:cBhvr>
                                        <p:cTn id="22" dur="500"/>
                                        <p:tgtEl>
                                          <p:spTgt spid="17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7">
                                            <p:txEl>
                                              <p:pRg st="3" end="3"/>
                                            </p:txEl>
                                          </p:spTgt>
                                        </p:tgtEl>
                                        <p:attrNameLst>
                                          <p:attrName>style.visibility</p:attrName>
                                        </p:attrNameLst>
                                      </p:cBhvr>
                                      <p:to>
                                        <p:strVal val="visible"/>
                                      </p:to>
                                    </p:set>
                                    <p:animEffect transition="in" filter="fade">
                                      <p:cBhvr>
                                        <p:cTn id="27" dur="500"/>
                                        <p:tgtEl>
                                          <p:spTgt spid="17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7">
                                            <p:txEl>
                                              <p:pRg st="4" end="4"/>
                                            </p:txEl>
                                          </p:spTgt>
                                        </p:tgtEl>
                                        <p:attrNameLst>
                                          <p:attrName>style.visibility</p:attrName>
                                        </p:attrNameLst>
                                      </p:cBhvr>
                                      <p:to>
                                        <p:strVal val="visible"/>
                                      </p:to>
                                    </p:set>
                                    <p:animEffect transition="in" filter="fade">
                                      <p:cBhvr>
                                        <p:cTn id="32" dur="500"/>
                                        <p:tgtEl>
                                          <p:spTgt spid="17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7">
                                            <p:txEl>
                                              <p:pRg st="5" end="5"/>
                                            </p:txEl>
                                          </p:spTgt>
                                        </p:tgtEl>
                                        <p:attrNameLst>
                                          <p:attrName>style.visibility</p:attrName>
                                        </p:attrNameLst>
                                      </p:cBhvr>
                                      <p:to>
                                        <p:strVal val="visible"/>
                                      </p:to>
                                    </p:set>
                                    <p:animEffect transition="in" filter="fade">
                                      <p:cBhvr>
                                        <p:cTn id="37" dur="500"/>
                                        <p:tgtEl>
                                          <p:spTgt spid="17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7">
                                            <p:txEl>
                                              <p:pRg st="6" end="6"/>
                                            </p:txEl>
                                          </p:spTgt>
                                        </p:tgtEl>
                                        <p:attrNameLst>
                                          <p:attrName>style.visibility</p:attrName>
                                        </p:attrNameLst>
                                      </p:cBhvr>
                                      <p:to>
                                        <p:strVal val="visible"/>
                                      </p:to>
                                    </p:set>
                                    <p:animEffect transition="in" filter="fade">
                                      <p:cBhvr>
                                        <p:cTn id="42" dur="500"/>
                                        <p:tgtEl>
                                          <p:spTgt spid="17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7">
                                            <p:txEl>
                                              <p:pRg st="7" end="7"/>
                                            </p:txEl>
                                          </p:spTgt>
                                        </p:tgtEl>
                                        <p:attrNameLst>
                                          <p:attrName>style.visibility</p:attrName>
                                        </p:attrNameLst>
                                      </p:cBhvr>
                                      <p:to>
                                        <p:strVal val="visible"/>
                                      </p:to>
                                    </p:set>
                                    <p:animEffect transition="in" filter="fade">
                                      <p:cBhvr>
                                        <p:cTn id="47" dur="500"/>
                                        <p:tgtEl>
                                          <p:spTgt spid="17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7">
                                            <p:txEl>
                                              <p:pRg st="8" end="8"/>
                                            </p:txEl>
                                          </p:spTgt>
                                        </p:tgtEl>
                                        <p:attrNameLst>
                                          <p:attrName>style.visibility</p:attrName>
                                        </p:attrNameLst>
                                      </p:cBhvr>
                                      <p:to>
                                        <p:strVal val="visible"/>
                                      </p:to>
                                    </p:set>
                                    <p:animEffect transition="in" filter="fade">
                                      <p:cBhvr>
                                        <p:cTn id="52" dur="500"/>
                                        <p:tgtEl>
                                          <p:spTgt spid="17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77">
                                            <p:txEl>
                                              <p:pRg st="9" end="9"/>
                                            </p:txEl>
                                          </p:spTgt>
                                        </p:tgtEl>
                                        <p:attrNameLst>
                                          <p:attrName>style.visibility</p:attrName>
                                        </p:attrNameLst>
                                      </p:cBhvr>
                                      <p:to>
                                        <p:strVal val="visible"/>
                                      </p:to>
                                    </p:set>
                                    <p:animEffect transition="in" filter="fade">
                                      <p:cBhvr>
                                        <p:cTn id="57" dur="500"/>
                                        <p:tgtEl>
                                          <p:spTgt spid="17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4"/>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Variable Length Arrays</a:t>
            </a:r>
            <a:endParaRPr sz="4000"/>
          </a:p>
        </p:txBody>
      </p:sp>
      <p:sp>
        <p:nvSpPr>
          <p:cNvPr id="183" name="Google Shape;183;p14"/>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Autofit/>
          </a:bodyPr>
          <a:lstStyle/>
          <a:p>
            <a:pPr marL="171450" lvl="0" indent="-171450" algn="l" rtl="0">
              <a:lnSpc>
                <a:spcPct val="90000"/>
              </a:lnSpc>
              <a:spcBef>
                <a:spcPts val="0"/>
              </a:spcBef>
              <a:spcAft>
                <a:spcPts val="0"/>
              </a:spcAft>
              <a:buClr>
                <a:schemeClr val="dk1"/>
              </a:buClr>
              <a:buSzPts val="2800"/>
              <a:buChar char="•"/>
            </a:pPr>
            <a:r>
              <a:rPr lang="en-US" sz="2000"/>
              <a:t>Modern C allows us to declare an array in local scope (local variable) where the size can be determined at run-time.</a:t>
            </a:r>
            <a:endParaRPr sz="2000"/>
          </a:p>
          <a:p>
            <a:pPr marL="514350" lvl="1" indent="-171450" algn="l" rtl="0">
              <a:lnSpc>
                <a:spcPct val="90000"/>
              </a:lnSpc>
              <a:spcBef>
                <a:spcPts val="375"/>
              </a:spcBef>
              <a:spcAft>
                <a:spcPts val="0"/>
              </a:spcAft>
              <a:buClr>
                <a:schemeClr val="dk1"/>
              </a:buClr>
              <a:buSzPts val="2400"/>
              <a:buChar char="•"/>
            </a:pPr>
            <a:r>
              <a:rPr lang="en-US" sz="2000"/>
              <a:t>i.e, the declaration of the array size can be a variable whose value can be determined at run-time, for example, it can be an user input.</a:t>
            </a:r>
            <a:endParaRPr sz="2000"/>
          </a:p>
          <a:p>
            <a:pPr marL="342900" lvl="1" indent="0" algn="l" rtl="0">
              <a:lnSpc>
                <a:spcPct val="90000"/>
              </a:lnSpc>
              <a:spcBef>
                <a:spcPts val="375"/>
              </a:spcBef>
              <a:spcAft>
                <a:spcPts val="0"/>
              </a:spcAft>
              <a:buClr>
                <a:schemeClr val="dk1"/>
              </a:buClr>
              <a:buSzPts val="2400"/>
              <a:buNone/>
            </a:pPr>
            <a:r>
              <a:rPr lang="en-US" sz="2000"/>
              <a:t>{</a:t>
            </a:r>
            <a:endParaRPr sz="2000"/>
          </a:p>
          <a:p>
            <a:pPr marL="342900" lvl="1" indent="0" algn="l" rtl="0">
              <a:lnSpc>
                <a:spcPct val="90000"/>
              </a:lnSpc>
              <a:spcBef>
                <a:spcPts val="375"/>
              </a:spcBef>
              <a:spcAft>
                <a:spcPts val="0"/>
              </a:spcAft>
              <a:buClr>
                <a:schemeClr val="dk1"/>
              </a:buClr>
              <a:buSzPts val="2400"/>
              <a:buNone/>
            </a:pPr>
            <a:r>
              <a:rPr lang="en-US" sz="2000"/>
              <a:t>     int a;</a:t>
            </a:r>
            <a:endParaRPr sz="2000"/>
          </a:p>
          <a:p>
            <a:pPr marL="342900" lvl="1" indent="0" algn="l" rtl="0">
              <a:lnSpc>
                <a:spcPct val="90000"/>
              </a:lnSpc>
              <a:spcBef>
                <a:spcPts val="375"/>
              </a:spcBef>
              <a:spcAft>
                <a:spcPts val="0"/>
              </a:spcAft>
              <a:buClr>
                <a:schemeClr val="dk1"/>
              </a:buClr>
              <a:buSzPts val="2400"/>
              <a:buNone/>
            </a:pPr>
            <a:r>
              <a:rPr lang="en-US" sz="2000"/>
              <a:t>     scanf(“%d”,&amp;a);      /* Read a value for ‘a’ from the user */</a:t>
            </a:r>
            <a:endParaRPr sz="2000"/>
          </a:p>
          <a:p>
            <a:pPr marL="342900" lvl="1" indent="0" algn="l" rtl="0">
              <a:lnSpc>
                <a:spcPct val="90000"/>
              </a:lnSpc>
              <a:spcBef>
                <a:spcPts val="375"/>
              </a:spcBef>
              <a:spcAft>
                <a:spcPts val="0"/>
              </a:spcAft>
              <a:buClr>
                <a:schemeClr val="dk1"/>
              </a:buClr>
              <a:buSzPts val="2400"/>
              <a:buNone/>
            </a:pPr>
            <a:r>
              <a:rPr lang="en-US" sz="2000"/>
              <a:t>     int darr[a];              /* Declaration for array ‘darr’ with size as ‘a’  */</a:t>
            </a:r>
            <a:endParaRPr sz="2000"/>
          </a:p>
          <a:p>
            <a:pPr marL="342900" lvl="1" indent="0" algn="l" rtl="0">
              <a:lnSpc>
                <a:spcPct val="90000"/>
              </a:lnSpc>
              <a:spcBef>
                <a:spcPts val="375"/>
              </a:spcBef>
              <a:spcAft>
                <a:spcPts val="0"/>
              </a:spcAft>
              <a:buClr>
                <a:schemeClr val="dk1"/>
              </a:buClr>
              <a:buSzPts val="2400"/>
              <a:buNone/>
            </a:pPr>
            <a:r>
              <a:rPr lang="en-US" sz="2000"/>
              <a:t>     ….</a:t>
            </a:r>
            <a:endParaRPr sz="2000"/>
          </a:p>
          <a:p>
            <a:pPr marL="342900" lvl="1" indent="0" algn="l" rtl="0">
              <a:lnSpc>
                <a:spcPct val="90000"/>
              </a:lnSpc>
              <a:spcBef>
                <a:spcPts val="375"/>
              </a:spcBef>
              <a:spcAft>
                <a:spcPts val="0"/>
              </a:spcAft>
              <a:buClr>
                <a:schemeClr val="dk1"/>
              </a:buClr>
              <a:buSzPts val="2400"/>
              <a:buNone/>
            </a:pPr>
            <a:r>
              <a:rPr lang="en-US" sz="2000"/>
              <a:t/>
            </a:r>
            <a:br>
              <a:rPr lang="en-US" sz="2000"/>
            </a:br>
            <a:r>
              <a:rPr lang="en-US" sz="2000"/>
              <a:t>}</a:t>
            </a:r>
            <a:endParaRPr sz="2000"/>
          </a:p>
          <a:p>
            <a:pPr marL="342900" lvl="1" indent="0" algn="l" rtl="0">
              <a:lnSpc>
                <a:spcPct val="90000"/>
              </a:lnSpc>
              <a:spcBef>
                <a:spcPts val="375"/>
              </a:spcBef>
              <a:spcAft>
                <a:spcPts val="0"/>
              </a:spcAft>
              <a:buClr>
                <a:schemeClr val="dk1"/>
              </a:buClr>
              <a:buSzPts val="24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 calcmode="lin" valueType="num">
                                      <p:cBhvr additive="base">
                                        <p:cTn id="7" dur="500"/>
                                        <p:tgtEl>
                                          <p:spTgt spid="18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3">
                                            <p:txEl>
                                              <p:pRg st="0" end="0"/>
                                            </p:txEl>
                                          </p:spTgt>
                                        </p:tgtEl>
                                        <p:attrNameLst>
                                          <p:attrName>style.visibility</p:attrName>
                                        </p:attrNameLst>
                                      </p:cBhvr>
                                      <p:to>
                                        <p:strVal val="visible"/>
                                      </p:to>
                                    </p:set>
                                    <p:animEffect transition="in" filter="fade">
                                      <p:cBhvr>
                                        <p:cTn id="12" dur="1000"/>
                                        <p:tgtEl>
                                          <p:spTgt spid="1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3">
                                            <p:txEl>
                                              <p:pRg st="1" end="1"/>
                                            </p:txEl>
                                          </p:spTgt>
                                        </p:tgtEl>
                                        <p:attrNameLst>
                                          <p:attrName>style.visibility</p:attrName>
                                        </p:attrNameLst>
                                      </p:cBhvr>
                                      <p:to>
                                        <p:strVal val="visible"/>
                                      </p:to>
                                    </p:set>
                                    <p:animEffect transition="in" filter="fade">
                                      <p:cBhvr>
                                        <p:cTn id="17" dur="1000"/>
                                        <p:tgtEl>
                                          <p:spTgt spid="18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3">
                                            <p:txEl>
                                              <p:pRg st="2" end="2"/>
                                            </p:txEl>
                                          </p:spTgt>
                                        </p:tgtEl>
                                        <p:attrNameLst>
                                          <p:attrName>style.visibility</p:attrName>
                                        </p:attrNameLst>
                                      </p:cBhvr>
                                      <p:to>
                                        <p:strVal val="visible"/>
                                      </p:to>
                                    </p:set>
                                    <p:animEffect transition="in" filter="fade">
                                      <p:cBhvr>
                                        <p:cTn id="22" dur="1000"/>
                                        <p:tgtEl>
                                          <p:spTgt spid="1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3">
                                            <p:txEl>
                                              <p:pRg st="3" end="3"/>
                                            </p:txEl>
                                          </p:spTgt>
                                        </p:tgtEl>
                                        <p:attrNameLst>
                                          <p:attrName>style.visibility</p:attrName>
                                        </p:attrNameLst>
                                      </p:cBhvr>
                                      <p:to>
                                        <p:strVal val="visible"/>
                                      </p:to>
                                    </p:set>
                                    <p:animEffect transition="in" filter="fade">
                                      <p:cBhvr>
                                        <p:cTn id="27" dur="1000"/>
                                        <p:tgtEl>
                                          <p:spTgt spid="18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3">
                                            <p:txEl>
                                              <p:pRg st="4" end="4"/>
                                            </p:txEl>
                                          </p:spTgt>
                                        </p:tgtEl>
                                        <p:attrNameLst>
                                          <p:attrName>style.visibility</p:attrName>
                                        </p:attrNameLst>
                                      </p:cBhvr>
                                      <p:to>
                                        <p:strVal val="visible"/>
                                      </p:to>
                                    </p:set>
                                    <p:animEffect transition="in" filter="fade">
                                      <p:cBhvr>
                                        <p:cTn id="32" dur="1000"/>
                                        <p:tgtEl>
                                          <p:spTgt spid="18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3">
                                            <p:txEl>
                                              <p:pRg st="5" end="5"/>
                                            </p:txEl>
                                          </p:spTgt>
                                        </p:tgtEl>
                                        <p:attrNameLst>
                                          <p:attrName>style.visibility</p:attrName>
                                        </p:attrNameLst>
                                      </p:cBhvr>
                                      <p:to>
                                        <p:strVal val="visible"/>
                                      </p:to>
                                    </p:set>
                                    <p:animEffect transition="in" filter="fade">
                                      <p:cBhvr>
                                        <p:cTn id="37" dur="1000"/>
                                        <p:tgtEl>
                                          <p:spTgt spid="18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3">
                                            <p:txEl>
                                              <p:pRg st="6" end="6"/>
                                            </p:txEl>
                                          </p:spTgt>
                                        </p:tgtEl>
                                        <p:attrNameLst>
                                          <p:attrName>style.visibility</p:attrName>
                                        </p:attrNameLst>
                                      </p:cBhvr>
                                      <p:to>
                                        <p:strVal val="visible"/>
                                      </p:to>
                                    </p:set>
                                    <p:animEffect transition="in" filter="fade">
                                      <p:cBhvr>
                                        <p:cTn id="42" dur="1000"/>
                                        <p:tgtEl>
                                          <p:spTgt spid="18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3">
                                            <p:txEl>
                                              <p:pRg st="7" end="7"/>
                                            </p:txEl>
                                          </p:spTgt>
                                        </p:tgtEl>
                                        <p:attrNameLst>
                                          <p:attrName>style.visibility</p:attrName>
                                        </p:attrNameLst>
                                      </p:cBhvr>
                                      <p:to>
                                        <p:strVal val="visible"/>
                                      </p:to>
                                    </p:set>
                                    <p:animEffect transition="in" filter="fade">
                                      <p:cBhvr>
                                        <p:cTn id="47" dur="1000"/>
                                        <p:tgtEl>
                                          <p:spTgt spid="18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3">
                                            <p:txEl>
                                              <p:pRg st="8" end="8"/>
                                            </p:txEl>
                                          </p:spTgt>
                                        </p:tgtEl>
                                        <p:attrNameLst>
                                          <p:attrName>style.visibility</p:attrName>
                                        </p:attrNameLst>
                                      </p:cBhvr>
                                      <p:to>
                                        <p:strVal val="visible"/>
                                      </p:to>
                                    </p:set>
                                    <p:animEffect transition="in" filter="fade">
                                      <p:cBhvr>
                                        <p:cTn id="52" dur="1000"/>
                                        <p:tgtEl>
                                          <p:spTgt spid="1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5"/>
          <p:cNvSpPr txBox="1">
            <a:spLocks noGrp="1"/>
          </p:cNvSpPr>
          <p:nvPr>
            <p:ph type="title"/>
          </p:nvPr>
        </p:nvSpPr>
        <p:spPr>
          <a:xfrm>
            <a:off x="628650" y="273844"/>
            <a:ext cx="7886700" cy="994172"/>
          </a:xfrm>
          <a:prstGeom prst="rect">
            <a:avLst/>
          </a:prstGeom>
          <a:noFill/>
          <a:ln>
            <a:noFill/>
          </a:ln>
        </p:spPr>
        <p:txBody>
          <a:bodyPr spcFirstLastPara="1" wrap="square" lIns="68550" tIns="34275" rIns="68550"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4000"/>
              <a:t>Variable length arrays…</a:t>
            </a:r>
            <a:endParaRPr sz="4000"/>
          </a:p>
        </p:txBody>
      </p:sp>
      <p:sp>
        <p:nvSpPr>
          <p:cNvPr id="189" name="Google Shape;189;p15"/>
          <p:cNvSpPr txBox="1">
            <a:spLocks noGrp="1"/>
          </p:cNvSpPr>
          <p:nvPr>
            <p:ph type="body" idx="1"/>
          </p:nvPr>
        </p:nvSpPr>
        <p:spPr>
          <a:xfrm>
            <a:off x="628650" y="1369219"/>
            <a:ext cx="7886700" cy="3263504"/>
          </a:xfrm>
          <a:prstGeom prst="rect">
            <a:avLst/>
          </a:prstGeom>
          <a:noFill/>
          <a:ln>
            <a:noFill/>
          </a:ln>
        </p:spPr>
        <p:txBody>
          <a:bodyPr spcFirstLastPara="1" wrap="square" lIns="68550" tIns="34275" rIns="68550" bIns="34275" anchor="t" anchorCtr="0">
            <a:normAutofit/>
          </a:bodyPr>
          <a:lstStyle/>
          <a:p>
            <a:pPr marL="171450" lvl="0" indent="-171450" algn="just" rtl="0">
              <a:lnSpc>
                <a:spcPct val="100000"/>
              </a:lnSpc>
              <a:spcBef>
                <a:spcPts val="0"/>
              </a:spcBef>
              <a:spcAft>
                <a:spcPts val="0"/>
              </a:spcAft>
              <a:buClr>
                <a:schemeClr val="dk1"/>
              </a:buClr>
              <a:buSzPts val="2800"/>
              <a:buChar char="•"/>
            </a:pPr>
            <a:r>
              <a:rPr lang="en-US" sz="2000"/>
              <a:t>Variable length arrays are only possible as local variables in a C program</a:t>
            </a:r>
            <a:endParaRPr sz="2000"/>
          </a:p>
          <a:p>
            <a:pPr marL="514350" lvl="1" indent="-171450" algn="just" rtl="0">
              <a:lnSpc>
                <a:spcPct val="100000"/>
              </a:lnSpc>
              <a:spcBef>
                <a:spcPts val="375"/>
              </a:spcBef>
              <a:spcAft>
                <a:spcPts val="0"/>
              </a:spcAft>
              <a:buClr>
                <a:schemeClr val="dk1"/>
              </a:buClr>
              <a:buSzPts val="2400"/>
              <a:buChar char="•"/>
            </a:pPr>
            <a:r>
              <a:rPr lang="en-US" sz="2000"/>
              <a:t>We cannot declare a dynamically sized array which has global scope</a:t>
            </a:r>
            <a:endParaRPr sz="2000"/>
          </a:p>
          <a:p>
            <a:pPr marL="171450" lvl="0" indent="-171450" algn="just" rtl="0">
              <a:lnSpc>
                <a:spcPct val="100000"/>
              </a:lnSpc>
              <a:spcBef>
                <a:spcPts val="750"/>
              </a:spcBef>
              <a:spcAft>
                <a:spcPts val="0"/>
              </a:spcAft>
              <a:buClr>
                <a:schemeClr val="dk1"/>
              </a:buClr>
              <a:buSzPts val="2800"/>
              <a:buChar char="•"/>
            </a:pPr>
            <a:r>
              <a:rPr lang="en-US" sz="2000"/>
              <a:t>Local variables in C are allocated in the stack space and so we need to be careful about the size of the array that we declare in this manner. Default stack size may not be sufficient if we are trying to declare a very large array – Need to be aware of this</a:t>
            </a:r>
            <a:endParaRPr sz="2000"/>
          </a:p>
          <a:p>
            <a:pPr marL="171450" lvl="0" indent="-38100" algn="just" rtl="0">
              <a:lnSpc>
                <a:spcPct val="100000"/>
              </a:lnSpc>
              <a:spcBef>
                <a:spcPts val="750"/>
              </a:spcBef>
              <a:spcAft>
                <a:spcPts val="0"/>
              </a:spcAft>
              <a:buClr>
                <a:schemeClr val="dk1"/>
              </a:buClr>
              <a:buSzPts val="2800"/>
              <a:buNone/>
            </a:pP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1000"/>
                                        <p:tgtEl>
                                          <p:spTgt spid="1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xEl>
                                              <p:pRg st="0" end="0"/>
                                            </p:txEl>
                                          </p:spTgt>
                                        </p:tgtEl>
                                        <p:attrNameLst>
                                          <p:attrName>style.visibility</p:attrName>
                                        </p:attrNameLst>
                                      </p:cBhvr>
                                      <p:to>
                                        <p:strVal val="visible"/>
                                      </p:to>
                                    </p:set>
                                    <p:animEffect transition="in" filter="fade">
                                      <p:cBhvr>
                                        <p:cTn id="12" dur="1000"/>
                                        <p:tgtEl>
                                          <p:spTgt spid="18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9">
                                            <p:txEl>
                                              <p:pRg st="1" end="1"/>
                                            </p:txEl>
                                          </p:spTgt>
                                        </p:tgtEl>
                                        <p:attrNameLst>
                                          <p:attrName>style.visibility</p:attrName>
                                        </p:attrNameLst>
                                      </p:cBhvr>
                                      <p:to>
                                        <p:strVal val="visible"/>
                                      </p:to>
                                    </p:set>
                                    <p:animEffect transition="in" filter="fade">
                                      <p:cBhvr>
                                        <p:cTn id="17" dur="1000"/>
                                        <p:tgtEl>
                                          <p:spTgt spid="18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9">
                                            <p:txEl>
                                              <p:pRg st="2" end="2"/>
                                            </p:txEl>
                                          </p:spTgt>
                                        </p:tgtEl>
                                        <p:attrNameLst>
                                          <p:attrName>style.visibility</p:attrName>
                                        </p:attrNameLst>
                                      </p:cBhvr>
                                      <p:to>
                                        <p:strVal val="visible"/>
                                      </p:to>
                                    </p:set>
                                    <p:animEffect transition="in" filter="fade">
                                      <p:cBhvr>
                                        <p:cTn id="22" dur="1000"/>
                                        <p:tgtEl>
                                          <p:spTgt spid="18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9">
                                            <p:txEl>
                                              <p:pRg st="3" end="3"/>
                                            </p:txEl>
                                          </p:spTgt>
                                        </p:tgtEl>
                                        <p:attrNameLst>
                                          <p:attrName>style.visibility</p:attrName>
                                        </p:attrNameLst>
                                      </p:cBhvr>
                                      <p:to>
                                        <p:strVal val="visible"/>
                                      </p:to>
                                    </p:set>
                                    <p:animEffect transition="in" filter="fade">
                                      <p:cBhvr>
                                        <p:cTn id="27" dur="1000"/>
                                        <p:tgtEl>
                                          <p:spTgt spid="18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Basic understanding</a:t>
            </a:r>
            <a:endParaRPr/>
          </a:p>
        </p:txBody>
      </p:sp>
      <p:sp>
        <p:nvSpPr>
          <p:cNvPr id="195" name="Google Shape;195;p16"/>
          <p:cNvSpPr txBox="1">
            <a:spLocks noGrp="1"/>
          </p:cNvSpPr>
          <p:nvPr>
            <p:ph type="body" idx="1"/>
          </p:nvPr>
        </p:nvSpPr>
        <p:spPr>
          <a:xfrm>
            <a:off x="457200" y="9715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None/>
            </a:pPr>
            <a:r>
              <a:rPr lang="en-US" sz="2400">
                <a:latin typeface="Times New Roman"/>
                <a:ea typeface="Times New Roman"/>
                <a:cs typeface="Times New Roman"/>
                <a:sym typeface="Times New Roman"/>
              </a:rPr>
              <a:t>#include&lt;stdio.h&gt;</a:t>
            </a:r>
            <a:endParaRPr/>
          </a:p>
          <a:p>
            <a:pPr marL="0" lvl="0" indent="0" algn="l" rtl="0">
              <a:lnSpc>
                <a:spcPct val="100000"/>
              </a:lnSpc>
              <a:spcBef>
                <a:spcPts val="480"/>
              </a:spcBef>
              <a:spcAft>
                <a:spcPts val="0"/>
              </a:spcAft>
              <a:buClr>
                <a:schemeClr val="dk1"/>
              </a:buClr>
              <a:buSzPts val="2400"/>
              <a:buNone/>
            </a:pPr>
            <a:r>
              <a:rPr lang="en-US" sz="2400">
                <a:latin typeface="Times New Roman"/>
                <a:ea typeface="Times New Roman"/>
                <a:cs typeface="Times New Roman"/>
                <a:sym typeface="Times New Roman"/>
              </a:rPr>
              <a:t>int main( )</a:t>
            </a:r>
            <a:endParaRPr/>
          </a:p>
          <a:p>
            <a:pPr marL="0" lvl="0" indent="0" algn="l" rtl="0">
              <a:lnSpc>
                <a:spcPct val="100000"/>
              </a:lnSpc>
              <a:spcBef>
                <a:spcPts val="480"/>
              </a:spcBef>
              <a:spcAft>
                <a:spcPts val="0"/>
              </a:spcAft>
              <a:buClr>
                <a:schemeClr val="dk1"/>
              </a:buClr>
              <a:buSzPts val="2400"/>
              <a:buNone/>
            </a:pPr>
            <a:r>
              <a:rPr lang="en-US" sz="2400">
                <a:latin typeface="Times New Roman"/>
                <a:ea typeface="Times New Roman"/>
                <a:cs typeface="Times New Roman"/>
                <a:sym typeface="Times New Roman"/>
              </a:rPr>
              <a:t>{</a:t>
            </a:r>
            <a:endParaRPr/>
          </a:p>
          <a:p>
            <a:pPr marL="0" lvl="0" indent="0" algn="l" rtl="0">
              <a:lnSpc>
                <a:spcPct val="100000"/>
              </a:lnSpc>
              <a:spcBef>
                <a:spcPts val="480"/>
              </a:spcBef>
              <a:spcAft>
                <a:spcPts val="0"/>
              </a:spcAft>
              <a:buClr>
                <a:schemeClr val="dk1"/>
              </a:buClr>
              <a:buSzPts val="2400"/>
              <a:buNone/>
            </a:pPr>
            <a:r>
              <a:rPr lang="en-US" sz="2400">
                <a:latin typeface="Times New Roman"/>
                <a:ea typeface="Times New Roman"/>
                <a:cs typeface="Times New Roman"/>
                <a:sym typeface="Times New Roman"/>
              </a:rPr>
              <a:t>    int a;</a:t>
            </a:r>
            <a:endParaRPr/>
          </a:p>
          <a:p>
            <a:pPr marL="0" lvl="0" indent="0" algn="l" rtl="0">
              <a:lnSpc>
                <a:spcPct val="100000"/>
              </a:lnSpc>
              <a:spcBef>
                <a:spcPts val="48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100000"/>
              </a:lnSpc>
              <a:spcBef>
                <a:spcPts val="480"/>
              </a:spcBef>
              <a:spcAft>
                <a:spcPts val="0"/>
              </a:spcAft>
              <a:buClr>
                <a:schemeClr val="dk1"/>
              </a:buClr>
              <a:buSzPts val="2400"/>
              <a:buNone/>
            </a:pPr>
            <a:r>
              <a:rPr lang="en-US" sz="2400">
                <a:latin typeface="Times New Roman"/>
                <a:ea typeface="Times New Roman"/>
                <a:cs typeface="Times New Roman"/>
                <a:sym typeface="Times New Roman"/>
              </a:rPr>
              <a:t>}</a:t>
            </a:r>
            <a:endParaRPr/>
          </a:p>
        </p:txBody>
      </p:sp>
      <p:sp>
        <p:nvSpPr>
          <p:cNvPr id="196" name="Google Shape;196;p16"/>
          <p:cNvSpPr/>
          <p:nvPr/>
        </p:nvSpPr>
        <p:spPr>
          <a:xfrm>
            <a:off x="2906486" y="2400299"/>
            <a:ext cx="544286" cy="4572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6425" tIns="33225" rIns="66425" bIns="33225" anchor="ctr" anchorCtr="0">
            <a:noAutofit/>
          </a:bodyPr>
          <a:lstStyle/>
          <a:p>
            <a:pPr marL="0" marR="0" lvl="0" indent="0" algn="ctr"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Times New Roman"/>
              <a:ea typeface="Times New Roman"/>
              <a:cs typeface="Times New Roman"/>
              <a:sym typeface="Times New Roman"/>
            </a:endParaRPr>
          </a:p>
        </p:txBody>
      </p:sp>
      <p:sp>
        <p:nvSpPr>
          <p:cNvPr id="197" name="Google Shape;197;p16"/>
          <p:cNvSpPr txBox="1"/>
          <p:nvPr/>
        </p:nvSpPr>
        <p:spPr>
          <a:xfrm>
            <a:off x="3026890" y="1982295"/>
            <a:ext cx="240808" cy="374875"/>
          </a:xfrm>
          <a:prstGeom prst="rect">
            <a:avLst/>
          </a:prstGeom>
          <a:noFill/>
          <a:ln>
            <a:noFill/>
          </a:ln>
        </p:spPr>
        <p:txBody>
          <a:bodyPr spcFirstLastPara="1" wrap="square" lIns="66425" tIns="33225" rIns="66425" bIns="332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a</a:t>
            </a:r>
            <a:endParaRPr sz="1400" b="0" i="0" u="none" strike="noStrike" cap="none">
              <a:solidFill>
                <a:srgbClr val="000000"/>
              </a:solidFill>
              <a:latin typeface="Arial"/>
              <a:ea typeface="Arial"/>
              <a:cs typeface="Arial"/>
              <a:sym typeface="Arial"/>
            </a:endParaRPr>
          </a:p>
        </p:txBody>
      </p:sp>
      <p:grpSp>
        <p:nvGrpSpPr>
          <p:cNvPr id="198" name="Google Shape;198;p16"/>
          <p:cNvGrpSpPr/>
          <p:nvPr/>
        </p:nvGrpSpPr>
        <p:grpSpPr>
          <a:xfrm>
            <a:off x="2307770" y="2857498"/>
            <a:ext cx="928459" cy="712232"/>
            <a:chOff x="2743200" y="4114800"/>
            <a:chExt cx="1299843" cy="949643"/>
          </a:xfrm>
        </p:grpSpPr>
        <p:sp>
          <p:nvSpPr>
            <p:cNvPr id="199" name="Google Shape;199;p16"/>
            <p:cNvSpPr txBox="1"/>
            <p:nvPr/>
          </p:nvSpPr>
          <p:spPr>
            <a:xfrm>
              <a:off x="2743200" y="4572000"/>
              <a:ext cx="1299843" cy="49244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location</a:t>
              </a:r>
              <a:endParaRPr sz="1400" b="0" i="0" u="none" strike="noStrike" cap="none">
                <a:solidFill>
                  <a:srgbClr val="000000"/>
                </a:solidFill>
                <a:latin typeface="Arial"/>
                <a:ea typeface="Arial"/>
                <a:cs typeface="Arial"/>
                <a:sym typeface="Arial"/>
              </a:endParaRPr>
            </a:p>
          </p:txBody>
        </p:sp>
        <p:cxnSp>
          <p:nvCxnSpPr>
            <p:cNvPr id="200" name="Google Shape;200;p16"/>
            <p:cNvCxnSpPr>
              <a:stCxn id="199" idx="0"/>
            </p:cNvCxnSpPr>
            <p:nvPr/>
          </p:nvCxnSpPr>
          <p:spPr>
            <a:xfrm rot="10800000" flipH="1">
              <a:off x="3393121" y="4114800"/>
              <a:ext cx="287400" cy="457200"/>
            </a:xfrm>
            <a:prstGeom prst="straightConnector1">
              <a:avLst/>
            </a:prstGeom>
            <a:noFill/>
            <a:ln w="9525" cap="flat" cmpd="sng">
              <a:solidFill>
                <a:srgbClr val="4A7DBA"/>
              </a:solidFill>
              <a:prstDash val="solid"/>
              <a:round/>
              <a:headEnd type="none" w="sm" len="sm"/>
              <a:tailEnd type="stealth" w="med" len="med"/>
            </a:ln>
          </p:spPr>
        </p:cxnSp>
      </p:grpSp>
      <p:grpSp>
        <p:nvGrpSpPr>
          <p:cNvPr id="201" name="Google Shape;201;p16"/>
          <p:cNvGrpSpPr/>
          <p:nvPr/>
        </p:nvGrpSpPr>
        <p:grpSpPr>
          <a:xfrm>
            <a:off x="3267694" y="2490399"/>
            <a:ext cx="1761506" cy="386151"/>
            <a:chOff x="4087093" y="3625334"/>
            <a:chExt cx="1749600" cy="861775"/>
          </a:xfrm>
        </p:grpSpPr>
        <p:sp>
          <p:nvSpPr>
            <p:cNvPr id="202" name="Google Shape;202;p16"/>
            <p:cNvSpPr txBox="1"/>
            <p:nvPr/>
          </p:nvSpPr>
          <p:spPr>
            <a:xfrm>
              <a:off x="4617493" y="3625334"/>
              <a:ext cx="1219200" cy="86177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Value of a</a:t>
              </a:r>
              <a:endParaRPr sz="1400" b="0" i="0" u="none" strike="noStrike" cap="none">
                <a:solidFill>
                  <a:srgbClr val="000000"/>
                </a:solidFill>
                <a:latin typeface="Arial"/>
                <a:ea typeface="Arial"/>
                <a:cs typeface="Arial"/>
                <a:sym typeface="Arial"/>
              </a:endParaRPr>
            </a:p>
          </p:txBody>
        </p:sp>
        <p:cxnSp>
          <p:nvCxnSpPr>
            <p:cNvPr id="203" name="Google Shape;203;p16"/>
            <p:cNvCxnSpPr>
              <a:stCxn id="202" idx="1"/>
            </p:cNvCxnSpPr>
            <p:nvPr/>
          </p:nvCxnSpPr>
          <p:spPr>
            <a:xfrm rot="10800000">
              <a:off x="4087093" y="3809922"/>
              <a:ext cx="530400" cy="246300"/>
            </a:xfrm>
            <a:prstGeom prst="straightConnector1">
              <a:avLst/>
            </a:prstGeom>
            <a:noFill/>
            <a:ln w="9525" cap="flat" cmpd="sng">
              <a:solidFill>
                <a:srgbClr val="4A7DBA"/>
              </a:solidFill>
              <a:prstDash val="solid"/>
              <a:round/>
              <a:headEnd type="none" w="sm" len="sm"/>
              <a:tailEnd type="stealth" w="med" len="med"/>
            </a:ln>
          </p:spPr>
        </p:cxnSp>
      </p:grpSp>
      <p:grpSp>
        <p:nvGrpSpPr>
          <p:cNvPr id="204" name="Google Shape;204;p16"/>
          <p:cNvGrpSpPr/>
          <p:nvPr/>
        </p:nvGrpSpPr>
        <p:grpSpPr>
          <a:xfrm>
            <a:off x="3267739" y="1705296"/>
            <a:ext cx="1456660" cy="464491"/>
            <a:chOff x="4023901" y="2578529"/>
            <a:chExt cx="1005300" cy="978087"/>
          </a:xfrm>
        </p:grpSpPr>
        <p:sp>
          <p:nvSpPr>
            <p:cNvPr id="205" name="Google Shape;205;p16"/>
            <p:cNvSpPr txBox="1"/>
            <p:nvPr/>
          </p:nvSpPr>
          <p:spPr>
            <a:xfrm>
              <a:off x="4343401" y="2578529"/>
              <a:ext cx="685800" cy="861774"/>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name</a:t>
              </a:r>
              <a:endParaRPr sz="1400" b="0" i="0" u="none" strike="noStrike" cap="none">
                <a:solidFill>
                  <a:srgbClr val="000000"/>
                </a:solidFill>
                <a:latin typeface="Arial"/>
                <a:ea typeface="Arial"/>
                <a:cs typeface="Arial"/>
                <a:sym typeface="Arial"/>
              </a:endParaRPr>
            </a:p>
          </p:txBody>
        </p:sp>
        <p:cxnSp>
          <p:nvCxnSpPr>
            <p:cNvPr id="206" name="Google Shape;206;p16"/>
            <p:cNvCxnSpPr>
              <a:stCxn id="205" idx="1"/>
              <a:endCxn id="197" idx="3"/>
            </p:cNvCxnSpPr>
            <p:nvPr/>
          </p:nvCxnSpPr>
          <p:spPr>
            <a:xfrm flipH="1">
              <a:off x="4023901" y="3009416"/>
              <a:ext cx="319500" cy="547200"/>
            </a:xfrm>
            <a:prstGeom prst="straightConnector1">
              <a:avLst/>
            </a:prstGeom>
            <a:noFill/>
            <a:ln w="9525" cap="flat" cmpd="sng">
              <a:solidFill>
                <a:srgbClr val="4A7DBA"/>
              </a:solidFill>
              <a:prstDash val="solid"/>
              <a:round/>
              <a:headEnd type="none" w="sm" len="sm"/>
              <a:tailEnd type="stealth" w="med" len="med"/>
            </a:ln>
          </p:spPr>
        </p:cxnSp>
      </p:grpSp>
      <p:sp>
        <p:nvSpPr>
          <p:cNvPr id="207" name="Google Shape;207;p16"/>
          <p:cNvSpPr txBox="1"/>
          <p:nvPr/>
        </p:nvSpPr>
        <p:spPr>
          <a:xfrm>
            <a:off x="772885" y="2647950"/>
            <a:ext cx="979715" cy="436431"/>
          </a:xfrm>
          <a:prstGeom prst="rect">
            <a:avLst/>
          </a:prstGeom>
          <a:noFill/>
          <a:ln>
            <a:noFill/>
          </a:ln>
        </p:spPr>
        <p:txBody>
          <a:bodyPr spcFirstLastPara="1" wrap="square" lIns="66425" tIns="33225" rIns="66425" bIns="332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a = 5;</a:t>
            </a:r>
            <a:endParaRPr sz="1400" b="0" i="0" u="none" strike="noStrike" cap="none">
              <a:solidFill>
                <a:srgbClr val="000000"/>
              </a:solidFill>
              <a:latin typeface="Arial"/>
              <a:ea typeface="Arial"/>
              <a:cs typeface="Arial"/>
              <a:sym typeface="Arial"/>
            </a:endParaRPr>
          </a:p>
        </p:txBody>
      </p:sp>
      <p:sp>
        <p:nvSpPr>
          <p:cNvPr id="208" name="Google Shape;208;p16"/>
          <p:cNvSpPr txBox="1"/>
          <p:nvPr/>
        </p:nvSpPr>
        <p:spPr>
          <a:xfrm>
            <a:off x="3026890" y="2492106"/>
            <a:ext cx="326571" cy="300083"/>
          </a:xfrm>
          <a:prstGeom prst="rect">
            <a:avLst/>
          </a:prstGeom>
          <a:noFill/>
          <a:ln>
            <a:noFill/>
          </a:ln>
        </p:spPr>
        <p:txBody>
          <a:bodyPr spcFirstLastPara="1" wrap="square" lIns="66425" tIns="33225" rIns="66425" bIns="332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Times New Roman"/>
                <a:ea typeface="Times New Roman"/>
                <a:cs typeface="Times New Roman"/>
                <a:sym typeface="Times New Roman"/>
              </a:rPr>
              <a:t>5</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
                                        </p:tgtEl>
                                        <p:attrNameLst>
                                          <p:attrName>style.visibility</p:attrName>
                                        </p:attrNameLst>
                                      </p:cBhvr>
                                      <p:to>
                                        <p:strVal val="visible"/>
                                      </p:to>
                                    </p:set>
                                    <p:animEffect transition="in" filter="fade">
                                      <p:cBhvr>
                                        <p:cTn id="12" dur="2000"/>
                                        <p:tgtEl>
                                          <p:spTgt spid="19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fade">
                                      <p:cBhvr>
                                        <p:cTn id="17" dur="5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0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08"/>
                                        </p:tgtEl>
                                        <p:attrNameLst>
                                          <p:attrName>style.visibility</p:attrName>
                                        </p:attrNameLst>
                                      </p:cBhvr>
                                      <p:to>
                                        <p:strVal val="visible"/>
                                      </p:to>
                                    </p:set>
                                    <p:anim calcmode="lin" valueType="num">
                                      <p:cBhvr additive="base">
                                        <p:cTn id="26" dur="500"/>
                                        <p:tgtEl>
                                          <p:spTgt spid="20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7"/>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Without Array</a:t>
            </a:r>
            <a:endParaRPr/>
          </a:p>
        </p:txBody>
      </p:sp>
      <p:sp>
        <p:nvSpPr>
          <p:cNvPr id="214" name="Google Shape;214;p17"/>
          <p:cNvSpPr txBox="1">
            <a:spLocks noGrp="1"/>
          </p:cNvSpPr>
          <p:nvPr>
            <p:ph type="body" idx="1"/>
          </p:nvPr>
        </p:nvSpPr>
        <p:spPr>
          <a:xfrm>
            <a:off x="457200" y="819150"/>
            <a:ext cx="8229600" cy="31242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10, 20, 30, 40, 50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#include&lt;stdio.h&gt;</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main()</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int a1, a2, a3, a4, a5;</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scanf("%d %d %d %d %d", &amp;a1, &amp;a2, &amp;a3, &amp;a4, &amp;a5);</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printf("%d %d %d %d %d", a1, a2, a3, a4, a5);</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animEffect transition="in" filter="fade">
                                      <p:cBhvr>
                                        <p:cTn id="7" dur="500"/>
                                        <p:tgtEl>
                                          <p:spTgt spid="2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4">
                                            <p:txEl>
                                              <p:pRg st="1" end="1"/>
                                            </p:txEl>
                                          </p:spTgt>
                                        </p:tgtEl>
                                        <p:attrNameLst>
                                          <p:attrName>style.visibility</p:attrName>
                                        </p:attrNameLst>
                                      </p:cBhvr>
                                      <p:to>
                                        <p:strVal val="visible"/>
                                      </p:to>
                                    </p:set>
                                    <p:animEffect transition="in" filter="fade">
                                      <p:cBhvr>
                                        <p:cTn id="12" dur="500"/>
                                        <p:tgtEl>
                                          <p:spTgt spid="2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4">
                                            <p:txEl>
                                              <p:pRg st="2" end="2"/>
                                            </p:txEl>
                                          </p:spTgt>
                                        </p:tgtEl>
                                        <p:attrNameLst>
                                          <p:attrName>style.visibility</p:attrName>
                                        </p:attrNameLst>
                                      </p:cBhvr>
                                      <p:to>
                                        <p:strVal val="visible"/>
                                      </p:to>
                                    </p:set>
                                    <p:animEffect transition="in" filter="fade">
                                      <p:cBhvr>
                                        <p:cTn id="17" dur="500"/>
                                        <p:tgtEl>
                                          <p:spTgt spid="2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4">
                                            <p:txEl>
                                              <p:pRg st="3" end="3"/>
                                            </p:txEl>
                                          </p:spTgt>
                                        </p:tgtEl>
                                        <p:attrNameLst>
                                          <p:attrName>style.visibility</p:attrName>
                                        </p:attrNameLst>
                                      </p:cBhvr>
                                      <p:to>
                                        <p:strVal val="visible"/>
                                      </p:to>
                                    </p:set>
                                    <p:animEffect transition="in" filter="fade">
                                      <p:cBhvr>
                                        <p:cTn id="22" dur="500"/>
                                        <p:tgtEl>
                                          <p:spTgt spid="2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4">
                                            <p:txEl>
                                              <p:pRg st="4" end="4"/>
                                            </p:txEl>
                                          </p:spTgt>
                                        </p:tgtEl>
                                        <p:attrNameLst>
                                          <p:attrName>style.visibility</p:attrName>
                                        </p:attrNameLst>
                                      </p:cBhvr>
                                      <p:to>
                                        <p:strVal val="visible"/>
                                      </p:to>
                                    </p:set>
                                    <p:animEffect transition="in" filter="fade">
                                      <p:cBhvr>
                                        <p:cTn id="27" dur="500"/>
                                        <p:tgtEl>
                                          <p:spTgt spid="2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4">
                                            <p:txEl>
                                              <p:pRg st="5" end="5"/>
                                            </p:txEl>
                                          </p:spTgt>
                                        </p:tgtEl>
                                        <p:attrNameLst>
                                          <p:attrName>style.visibility</p:attrName>
                                        </p:attrNameLst>
                                      </p:cBhvr>
                                      <p:to>
                                        <p:strVal val="visible"/>
                                      </p:to>
                                    </p:set>
                                    <p:animEffect transition="in" filter="fade">
                                      <p:cBhvr>
                                        <p:cTn id="32" dur="500"/>
                                        <p:tgtEl>
                                          <p:spTgt spid="2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4">
                                            <p:txEl>
                                              <p:pRg st="6" end="6"/>
                                            </p:txEl>
                                          </p:spTgt>
                                        </p:tgtEl>
                                        <p:attrNameLst>
                                          <p:attrName>style.visibility</p:attrName>
                                        </p:attrNameLst>
                                      </p:cBhvr>
                                      <p:to>
                                        <p:strVal val="visible"/>
                                      </p:to>
                                    </p:set>
                                    <p:animEffect transition="in" filter="fade">
                                      <p:cBhvr>
                                        <p:cTn id="37" dur="500"/>
                                        <p:tgtEl>
                                          <p:spTgt spid="2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4">
                                            <p:txEl>
                                              <p:pRg st="7" end="7"/>
                                            </p:txEl>
                                          </p:spTgt>
                                        </p:tgtEl>
                                        <p:attrNameLst>
                                          <p:attrName>style.visibility</p:attrName>
                                        </p:attrNameLst>
                                      </p:cBhvr>
                                      <p:to>
                                        <p:strVal val="visible"/>
                                      </p:to>
                                    </p:set>
                                    <p:animEffect transition="in" filter="fade">
                                      <p:cBhvr>
                                        <p:cTn id="42" dur="500"/>
                                        <p:tgtEl>
                                          <p:spTgt spid="2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8"/>
          <p:cNvSpPr txBox="1">
            <a:spLocks noGrp="1"/>
          </p:cNvSpPr>
          <p:nvPr>
            <p:ph type="title"/>
          </p:nvPr>
        </p:nvSpPr>
        <p:spPr>
          <a:xfrm>
            <a:off x="457200" y="-19050"/>
            <a:ext cx="8229600" cy="7810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With Array</a:t>
            </a:r>
            <a:endParaRPr/>
          </a:p>
        </p:txBody>
      </p:sp>
      <p:sp>
        <p:nvSpPr>
          <p:cNvPr id="220" name="Google Shape;220;p18"/>
          <p:cNvSpPr txBox="1">
            <a:spLocks noGrp="1"/>
          </p:cNvSpPr>
          <p:nvPr>
            <p:ph type="body" idx="1"/>
          </p:nvPr>
        </p:nvSpPr>
        <p:spPr>
          <a:xfrm>
            <a:off x="457200" y="819150"/>
            <a:ext cx="71628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10, 20, 30, 40, 50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#include&lt;stdio.h&gt;</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main()</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int a[5];</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scanf("%d %d %d %d %d", &amp;a[0], &amp;a[1], &amp;a[2], &amp;a[3], &amp;a[4]);</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printf("%d %d %d %d %d", a[0], a[1], a[2], a[3], a[4]);</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t>
            </a:r>
            <a:endParaRPr sz="2000"/>
          </a:p>
        </p:txBody>
      </p:sp>
      <p:graphicFrame>
        <p:nvGraphicFramePr>
          <p:cNvPr id="221" name="Google Shape;221;p18"/>
          <p:cNvGraphicFramePr/>
          <p:nvPr/>
        </p:nvGraphicFramePr>
        <p:xfrm>
          <a:off x="7086600" y="768350"/>
          <a:ext cx="457200" cy="1727250"/>
        </p:xfrm>
        <a:graphic>
          <a:graphicData uri="http://schemas.openxmlformats.org/drawingml/2006/table">
            <a:tbl>
              <a:tblPr firstRow="1" bandRow="1">
                <a:noFill/>
                <a:tableStyleId>{3FBC2B39-A801-4669-B20D-D6CF5779721A}</a:tableStyleId>
              </a:tblPr>
              <a:tblGrid>
                <a:gridCol w="4572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10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20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30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40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50</a:t>
                      </a:r>
                      <a:endParaRPr sz="1600" u="none" strike="noStrike" cap="none">
                        <a:latin typeface="Times New Roman"/>
                        <a:ea typeface="Times New Roman"/>
                        <a:cs typeface="Times New Roman"/>
                        <a:sym typeface="Times New Roman"/>
                      </a:endParaRPr>
                    </a:p>
                  </a:txBody>
                  <a:tcPr marL="91450" marR="91450" marT="45725" marB="45725">
                    <a:noFill/>
                  </a:tcPr>
                </a:tc>
              </a:tr>
            </a:tbl>
          </a:graphicData>
        </a:graphic>
      </p:graphicFrame>
      <p:graphicFrame>
        <p:nvGraphicFramePr>
          <p:cNvPr id="222" name="Google Shape;222;p18"/>
          <p:cNvGraphicFramePr/>
          <p:nvPr/>
        </p:nvGraphicFramePr>
        <p:xfrm>
          <a:off x="6629400" y="768350"/>
          <a:ext cx="533400" cy="1727250"/>
        </p:xfrm>
        <a:graphic>
          <a:graphicData uri="http://schemas.openxmlformats.org/drawingml/2006/table">
            <a:tbl>
              <a:tblPr firstRow="1" bandRow="1">
                <a:noFill/>
                <a:tableStyleId>{3FBC2B39-A801-4669-B20D-D6CF5779721A}</a:tableStyleId>
              </a:tblPr>
              <a:tblGrid>
                <a:gridCol w="5334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a[3]</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a[4]</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
                                            <p:txEl>
                                              <p:pRg st="0" end="0"/>
                                            </p:txEl>
                                          </p:spTgt>
                                        </p:tgtEl>
                                        <p:attrNameLst>
                                          <p:attrName>style.visibility</p:attrName>
                                        </p:attrNameLst>
                                      </p:cBhvr>
                                      <p:to>
                                        <p:strVal val="visible"/>
                                      </p:to>
                                    </p:set>
                                    <p:animEffect transition="in" filter="fade">
                                      <p:cBhvr>
                                        <p:cTn id="7" dur="500"/>
                                        <p:tgtEl>
                                          <p:spTgt spid="2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xEl>
                                              <p:pRg st="1" end="1"/>
                                            </p:txEl>
                                          </p:spTgt>
                                        </p:tgtEl>
                                        <p:attrNameLst>
                                          <p:attrName>style.visibility</p:attrName>
                                        </p:attrNameLst>
                                      </p:cBhvr>
                                      <p:to>
                                        <p:strVal val="visible"/>
                                      </p:to>
                                    </p:set>
                                    <p:animEffect transition="in" filter="fade">
                                      <p:cBhvr>
                                        <p:cTn id="12" dur="500"/>
                                        <p:tgtEl>
                                          <p:spTgt spid="2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0">
                                            <p:txEl>
                                              <p:pRg st="2" end="2"/>
                                            </p:txEl>
                                          </p:spTgt>
                                        </p:tgtEl>
                                        <p:attrNameLst>
                                          <p:attrName>style.visibility</p:attrName>
                                        </p:attrNameLst>
                                      </p:cBhvr>
                                      <p:to>
                                        <p:strVal val="visible"/>
                                      </p:to>
                                    </p:set>
                                    <p:animEffect transition="in" filter="fade">
                                      <p:cBhvr>
                                        <p:cTn id="17" dur="500"/>
                                        <p:tgtEl>
                                          <p:spTgt spid="2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0">
                                            <p:txEl>
                                              <p:pRg st="3" end="3"/>
                                            </p:txEl>
                                          </p:spTgt>
                                        </p:tgtEl>
                                        <p:attrNameLst>
                                          <p:attrName>style.visibility</p:attrName>
                                        </p:attrNameLst>
                                      </p:cBhvr>
                                      <p:to>
                                        <p:strVal val="visible"/>
                                      </p:to>
                                    </p:set>
                                    <p:animEffect transition="in" filter="fade">
                                      <p:cBhvr>
                                        <p:cTn id="22" dur="500"/>
                                        <p:tgtEl>
                                          <p:spTgt spid="2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0">
                                            <p:txEl>
                                              <p:pRg st="4" end="4"/>
                                            </p:txEl>
                                          </p:spTgt>
                                        </p:tgtEl>
                                        <p:attrNameLst>
                                          <p:attrName>style.visibility</p:attrName>
                                        </p:attrNameLst>
                                      </p:cBhvr>
                                      <p:to>
                                        <p:strVal val="visible"/>
                                      </p:to>
                                    </p:set>
                                    <p:animEffect transition="in" filter="fade">
                                      <p:cBhvr>
                                        <p:cTn id="27" dur="500"/>
                                        <p:tgtEl>
                                          <p:spTgt spid="22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0">
                                            <p:txEl>
                                              <p:pRg st="5" end="5"/>
                                            </p:txEl>
                                          </p:spTgt>
                                        </p:tgtEl>
                                        <p:attrNameLst>
                                          <p:attrName>style.visibility</p:attrName>
                                        </p:attrNameLst>
                                      </p:cBhvr>
                                      <p:to>
                                        <p:strVal val="visible"/>
                                      </p:to>
                                    </p:set>
                                    <p:animEffect transition="in" filter="fade">
                                      <p:cBhvr>
                                        <p:cTn id="32" dur="500"/>
                                        <p:tgtEl>
                                          <p:spTgt spid="22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0">
                                            <p:txEl>
                                              <p:pRg st="6" end="6"/>
                                            </p:txEl>
                                          </p:spTgt>
                                        </p:tgtEl>
                                        <p:attrNameLst>
                                          <p:attrName>style.visibility</p:attrName>
                                        </p:attrNameLst>
                                      </p:cBhvr>
                                      <p:to>
                                        <p:strVal val="visible"/>
                                      </p:to>
                                    </p:set>
                                    <p:animEffect transition="in" filter="fade">
                                      <p:cBhvr>
                                        <p:cTn id="37" dur="500"/>
                                        <p:tgtEl>
                                          <p:spTgt spid="22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0">
                                            <p:txEl>
                                              <p:pRg st="7" end="7"/>
                                            </p:txEl>
                                          </p:spTgt>
                                        </p:tgtEl>
                                        <p:attrNameLst>
                                          <p:attrName>style.visibility</p:attrName>
                                        </p:attrNameLst>
                                      </p:cBhvr>
                                      <p:to>
                                        <p:strVal val="visible"/>
                                      </p:to>
                                    </p:set>
                                    <p:animEffect transition="in" filter="fade">
                                      <p:cBhvr>
                                        <p:cTn id="42" dur="500"/>
                                        <p:tgtEl>
                                          <p:spTgt spid="22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2"/>
                                        </p:tgtEl>
                                        <p:attrNameLst>
                                          <p:attrName>style.visibility</p:attrName>
                                        </p:attrNameLst>
                                      </p:cBhvr>
                                      <p:to>
                                        <p:strVal val="visible"/>
                                      </p:to>
                                    </p:set>
                                    <p:animEffect transition="in" filter="fade">
                                      <p:cBhvr>
                                        <p:cTn id="47" dur="500"/>
                                        <p:tgtEl>
                                          <p:spTgt spid="222"/>
                                        </p:tgtEl>
                                      </p:cBhvr>
                                    </p:animEffect>
                                  </p:childTnLst>
                                </p:cTn>
                              </p:par>
                              <p:par>
                                <p:cTn id="48" presetID="10" presetClass="entr" presetSubtype="0" fill="hold" nodeType="withEffect">
                                  <p:stCondLst>
                                    <p:cond delay="0"/>
                                  </p:stCondLst>
                                  <p:childTnLst>
                                    <p:set>
                                      <p:cBhvr>
                                        <p:cTn id="49" dur="1" fill="hold">
                                          <p:stCondLst>
                                            <p:cond delay="0"/>
                                          </p:stCondLst>
                                        </p:cTn>
                                        <p:tgtEl>
                                          <p:spTgt spid="221"/>
                                        </p:tgtEl>
                                        <p:attrNameLst>
                                          <p:attrName>style.visibility</p:attrName>
                                        </p:attrNameLst>
                                      </p:cBhvr>
                                      <p:to>
                                        <p:strVal val="visible"/>
                                      </p:to>
                                    </p:set>
                                    <p:animEffect transition="in" filter="fade">
                                      <p:cBhvr>
                                        <p:cTn id="50"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9"/>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Type of Array</a:t>
            </a:r>
            <a:endParaRPr/>
          </a:p>
        </p:txBody>
      </p:sp>
      <p:sp>
        <p:nvSpPr>
          <p:cNvPr id="228" name="Google Shape;228;p19"/>
          <p:cNvSpPr txBox="1">
            <a:spLocks noGrp="1"/>
          </p:cNvSpPr>
          <p:nvPr>
            <p:ph type="body" idx="1"/>
          </p:nvPr>
        </p:nvSpPr>
        <p:spPr>
          <a:xfrm>
            <a:off x="457200" y="971550"/>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One Dimensional Array / 1D Array</a:t>
            </a:r>
            <a:endParaRPr/>
          </a:p>
          <a:p>
            <a:pPr marL="342900" lvl="0" indent="-342900" algn="l" rtl="0">
              <a:lnSpc>
                <a:spcPct val="100000"/>
              </a:lnSpc>
              <a:spcBef>
                <a:spcPts val="480"/>
              </a:spcBef>
              <a:spcAft>
                <a:spcPts val="0"/>
              </a:spcAft>
              <a:buClr>
                <a:schemeClr val="dk1"/>
              </a:buClr>
              <a:buSzPts val="2400"/>
              <a:buChar char="•"/>
            </a:pPr>
            <a:r>
              <a:rPr lang="en-US" sz="2400">
                <a:latin typeface="Times New Roman"/>
                <a:ea typeface="Times New Roman"/>
                <a:cs typeface="Times New Roman"/>
                <a:sym typeface="Times New Roman"/>
              </a:rPr>
              <a:t>Two Dimensional Array / 2D Array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
                                            <p:txEl>
                                              <p:pRg st="0" end="0"/>
                                            </p:txEl>
                                          </p:spTgt>
                                        </p:tgtEl>
                                        <p:attrNameLst>
                                          <p:attrName>style.visibility</p:attrName>
                                        </p:attrNameLst>
                                      </p:cBhvr>
                                      <p:to>
                                        <p:strVal val="visible"/>
                                      </p:to>
                                    </p:set>
                                    <p:animEffect transition="in" filter="fade">
                                      <p:cBhvr>
                                        <p:cTn id="7" dur="500"/>
                                        <p:tgtEl>
                                          <p:spTgt spid="2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
                                            <p:txEl>
                                              <p:pRg st="1" end="1"/>
                                            </p:txEl>
                                          </p:spTgt>
                                        </p:tgtEl>
                                        <p:attrNameLst>
                                          <p:attrName>style.visibility</p:attrName>
                                        </p:attrNameLst>
                                      </p:cBhvr>
                                      <p:to>
                                        <p:strVal val="visible"/>
                                      </p:to>
                                    </p:set>
                                    <p:animEffect transition="in" filter="fade">
                                      <p:cBhvr>
                                        <p:cTn id="12" dur="500"/>
                                        <p:tgtEl>
                                          <p:spTgt spid="2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0"/>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One Dimensional Array</a:t>
            </a:r>
            <a:endParaRPr/>
          </a:p>
        </p:txBody>
      </p:sp>
      <p:sp>
        <p:nvSpPr>
          <p:cNvPr id="234" name="Google Shape;234;p20"/>
          <p:cNvSpPr txBox="1">
            <a:spLocks noGrp="1"/>
          </p:cNvSpPr>
          <p:nvPr>
            <p:ph type="body" idx="1"/>
          </p:nvPr>
        </p:nvSpPr>
        <p:spPr>
          <a:xfrm>
            <a:off x="457200" y="971550"/>
            <a:ext cx="8229600"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000"/>
              <a:buChar char="•"/>
            </a:pPr>
            <a:r>
              <a:rPr lang="en-US" sz="2000"/>
              <a:t>A </a:t>
            </a:r>
            <a:r>
              <a:rPr lang="en-US" sz="2000" b="1"/>
              <a:t>one-dimensional array</a:t>
            </a:r>
            <a:r>
              <a:rPr lang="en-US" sz="2000"/>
              <a:t> is a linear data structure that stores a collection of elements in a single row or column, where each element is accessed using a unique index.</a:t>
            </a:r>
            <a:endParaRPr/>
          </a:p>
          <a:p>
            <a:pPr marL="342900" lvl="0" indent="-342900" algn="l" rtl="0">
              <a:lnSpc>
                <a:spcPct val="100000"/>
              </a:lnSpc>
              <a:spcBef>
                <a:spcPts val="400"/>
              </a:spcBef>
              <a:spcAft>
                <a:spcPts val="0"/>
              </a:spcAft>
              <a:buClr>
                <a:schemeClr val="dk1"/>
              </a:buClr>
              <a:buSzPts val="2000"/>
              <a:buChar char="•"/>
            </a:pPr>
            <a:r>
              <a:rPr lang="en-US" sz="2000"/>
              <a:t>It is a contiguous block of memory, and all elements in the array must be of the same data type.</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Example:- </a:t>
            </a:r>
            <a:r>
              <a:rPr lang="en-US" sz="2000"/>
              <a:t>int numbers[5] = {1, 2, 3, 4, 5};</a:t>
            </a:r>
            <a:endParaRPr sz="20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4">
                                            <p:txEl>
                                              <p:pRg st="0" end="0"/>
                                            </p:txEl>
                                          </p:spTgt>
                                        </p:tgtEl>
                                        <p:attrNameLst>
                                          <p:attrName>style.visibility</p:attrName>
                                        </p:attrNameLst>
                                      </p:cBhvr>
                                      <p:to>
                                        <p:strVal val="visible"/>
                                      </p:to>
                                    </p:set>
                                    <p:animEffect transition="in" filter="fade">
                                      <p:cBhvr>
                                        <p:cTn id="7" dur="500"/>
                                        <p:tgtEl>
                                          <p:spTgt spid="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
                                            <p:txEl>
                                              <p:pRg st="1" end="1"/>
                                            </p:txEl>
                                          </p:spTgt>
                                        </p:tgtEl>
                                        <p:attrNameLst>
                                          <p:attrName>style.visibility</p:attrName>
                                        </p:attrNameLst>
                                      </p:cBhvr>
                                      <p:to>
                                        <p:strVal val="visible"/>
                                      </p:to>
                                    </p:set>
                                    <p:animEffect transition="in" filter="fade">
                                      <p:cBhvr>
                                        <p:cTn id="12" dur="500"/>
                                        <p:tgtEl>
                                          <p:spTgt spid="2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4">
                                            <p:txEl>
                                              <p:pRg st="2" end="2"/>
                                            </p:txEl>
                                          </p:spTgt>
                                        </p:tgtEl>
                                        <p:attrNameLst>
                                          <p:attrName>style.visibility</p:attrName>
                                        </p:attrNameLst>
                                      </p:cBhvr>
                                      <p:to>
                                        <p:strVal val="visible"/>
                                      </p:to>
                                    </p:set>
                                    <p:animEffect transition="in" filter="fade">
                                      <p:cBhvr>
                                        <p:cTn id="17" dur="500"/>
                                        <p:tgtEl>
                                          <p:spTgt spid="2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Declaring One-D Array</a:t>
            </a:r>
            <a:endParaRPr/>
          </a:p>
        </p:txBody>
      </p:sp>
      <p:sp>
        <p:nvSpPr>
          <p:cNvPr id="240" name="Google Shape;240;p21"/>
          <p:cNvSpPr txBox="1">
            <a:spLocks noGrp="1"/>
          </p:cNvSpPr>
          <p:nvPr>
            <p:ph type="body" idx="1"/>
          </p:nvPr>
        </p:nvSpPr>
        <p:spPr>
          <a:xfrm>
            <a:off x="457200" y="8953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Syntax :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data_type array_name [size];</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Ex: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int a[5];</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Index always starts with 0 (zero).</a:t>
            </a:r>
            <a:endParaRPr/>
          </a:p>
        </p:txBody>
      </p:sp>
      <p:sp>
        <p:nvSpPr>
          <p:cNvPr id="241" name="Google Shape;241;p21"/>
          <p:cNvSpPr txBox="1"/>
          <p:nvPr/>
        </p:nvSpPr>
        <p:spPr>
          <a:xfrm>
            <a:off x="4419600" y="1885950"/>
            <a:ext cx="1056700" cy="369332"/>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Subscript</a:t>
            </a:r>
            <a:endParaRPr sz="1400" b="0" i="0" u="none" strike="noStrike" cap="none">
              <a:solidFill>
                <a:srgbClr val="000000"/>
              </a:solidFill>
              <a:latin typeface="Arial"/>
              <a:ea typeface="Arial"/>
              <a:cs typeface="Arial"/>
              <a:sym typeface="Arial"/>
            </a:endParaRPr>
          </a:p>
        </p:txBody>
      </p:sp>
      <p:cxnSp>
        <p:nvCxnSpPr>
          <p:cNvPr id="242" name="Google Shape;242;p21"/>
          <p:cNvCxnSpPr/>
          <p:nvPr/>
        </p:nvCxnSpPr>
        <p:spPr>
          <a:xfrm rot="10800000">
            <a:off x="4343400" y="1581150"/>
            <a:ext cx="228600" cy="304800"/>
          </a:xfrm>
          <a:prstGeom prst="straightConnector1">
            <a:avLst/>
          </a:prstGeom>
          <a:noFill/>
          <a:ln w="9525" cap="flat" cmpd="sng">
            <a:solidFill>
              <a:srgbClr val="4A7DBA"/>
            </a:solidFill>
            <a:prstDash val="solid"/>
            <a:round/>
            <a:headEnd type="none" w="sm" len="sm"/>
            <a:tailEnd type="stealth" w="med" len="med"/>
          </a:ln>
        </p:spPr>
      </p:cxnSp>
      <p:sp>
        <p:nvSpPr>
          <p:cNvPr id="243" name="Google Shape;243;p21"/>
          <p:cNvSpPr txBox="1"/>
          <p:nvPr/>
        </p:nvSpPr>
        <p:spPr>
          <a:xfrm>
            <a:off x="4724400" y="971550"/>
            <a:ext cx="2175083" cy="369332"/>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Number of Elements</a:t>
            </a:r>
            <a:endParaRPr sz="1400" b="0" i="0" u="none" strike="noStrike" cap="none">
              <a:solidFill>
                <a:srgbClr val="000000"/>
              </a:solidFill>
              <a:latin typeface="Arial"/>
              <a:ea typeface="Arial"/>
              <a:cs typeface="Arial"/>
              <a:sym typeface="Arial"/>
            </a:endParaRPr>
          </a:p>
        </p:txBody>
      </p:sp>
      <p:cxnSp>
        <p:nvCxnSpPr>
          <p:cNvPr id="244" name="Google Shape;244;p21"/>
          <p:cNvCxnSpPr>
            <a:stCxn id="243" idx="1"/>
          </p:cNvCxnSpPr>
          <p:nvPr/>
        </p:nvCxnSpPr>
        <p:spPr>
          <a:xfrm flipH="1">
            <a:off x="4343400" y="1156216"/>
            <a:ext cx="381000" cy="196200"/>
          </a:xfrm>
          <a:prstGeom prst="straightConnector1">
            <a:avLst/>
          </a:prstGeom>
          <a:noFill/>
          <a:ln w="9525" cap="flat" cmpd="sng">
            <a:solidFill>
              <a:srgbClr val="97B853"/>
            </a:solidFill>
            <a:prstDash val="solid"/>
            <a:round/>
            <a:headEnd type="none" w="sm" len="sm"/>
            <a:tailEnd type="stealth" w="med" len="med"/>
          </a:ln>
        </p:spPr>
      </p:cxnSp>
      <p:sp>
        <p:nvSpPr>
          <p:cNvPr id="245" name="Google Shape;245;p21"/>
          <p:cNvSpPr txBox="1"/>
          <p:nvPr/>
        </p:nvSpPr>
        <p:spPr>
          <a:xfrm>
            <a:off x="3200400" y="789431"/>
            <a:ext cx="710451" cy="369332"/>
          </a:xfrm>
          <a:prstGeom prst="rect">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Index</a:t>
            </a:r>
            <a:endParaRPr sz="1400" b="0" i="0" u="none" strike="noStrike" cap="none">
              <a:solidFill>
                <a:srgbClr val="000000"/>
              </a:solidFill>
              <a:latin typeface="Arial"/>
              <a:ea typeface="Arial"/>
              <a:cs typeface="Arial"/>
              <a:sym typeface="Arial"/>
            </a:endParaRPr>
          </a:p>
        </p:txBody>
      </p:sp>
      <p:cxnSp>
        <p:nvCxnSpPr>
          <p:cNvPr id="246" name="Google Shape;246;p21"/>
          <p:cNvCxnSpPr>
            <a:stCxn id="245" idx="2"/>
          </p:cNvCxnSpPr>
          <p:nvPr/>
        </p:nvCxnSpPr>
        <p:spPr>
          <a:xfrm>
            <a:off x="3555625" y="1158763"/>
            <a:ext cx="635400" cy="193800"/>
          </a:xfrm>
          <a:prstGeom prst="straightConnector1">
            <a:avLst/>
          </a:prstGeom>
          <a:noFill/>
          <a:ln w="9525" cap="flat" cmpd="sng">
            <a:solidFill>
              <a:srgbClr val="BD4B48"/>
            </a:solidFill>
            <a:prstDash val="solid"/>
            <a:round/>
            <a:headEnd type="none" w="sm" len="sm"/>
            <a:tailEnd type="stealth" w="med" len="med"/>
          </a:ln>
        </p:spPr>
      </p:cxnSp>
      <p:graphicFrame>
        <p:nvGraphicFramePr>
          <p:cNvPr id="247" name="Google Shape;247;p21"/>
          <p:cNvGraphicFramePr/>
          <p:nvPr/>
        </p:nvGraphicFramePr>
        <p:xfrm>
          <a:off x="2286000" y="3181350"/>
          <a:ext cx="457200" cy="1727250"/>
        </p:xfrm>
        <a:graphic>
          <a:graphicData uri="http://schemas.openxmlformats.org/drawingml/2006/table">
            <a:tbl>
              <a:tblPr firstRow="1" bandRow="1">
                <a:noFill/>
                <a:tableStyleId>{3FBC2B39-A801-4669-B20D-D6CF5779721A}</a:tableStyleId>
              </a:tblPr>
              <a:tblGrid>
                <a:gridCol w="457200"/>
              </a:tblGrid>
              <a:tr h="3454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91450" marR="91450" marT="45725" marB="45725">
                    <a:noFill/>
                  </a:tcPr>
                </a:tc>
              </a:tr>
            </a:tbl>
          </a:graphicData>
        </a:graphic>
      </p:graphicFrame>
      <p:graphicFrame>
        <p:nvGraphicFramePr>
          <p:cNvPr id="248" name="Google Shape;248;p21"/>
          <p:cNvGraphicFramePr/>
          <p:nvPr/>
        </p:nvGraphicFramePr>
        <p:xfrm>
          <a:off x="1828800" y="3181350"/>
          <a:ext cx="533400" cy="1727250"/>
        </p:xfrm>
        <a:graphic>
          <a:graphicData uri="http://schemas.openxmlformats.org/drawingml/2006/table">
            <a:tbl>
              <a:tblPr firstRow="1" bandRow="1">
                <a:noFill/>
                <a:tableStyleId>{3FBC2B39-A801-4669-B20D-D6CF5779721A}</a:tableStyleId>
              </a:tblPr>
              <a:tblGrid>
                <a:gridCol w="5334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a[3]</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a[4]</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xEl>
                                              <p:pRg st="0" end="0"/>
                                            </p:txEl>
                                          </p:spTgt>
                                        </p:tgtEl>
                                        <p:attrNameLst>
                                          <p:attrName>style.visibility</p:attrName>
                                        </p:attrNameLst>
                                      </p:cBhvr>
                                      <p:to>
                                        <p:strVal val="visible"/>
                                      </p:to>
                                    </p:set>
                                    <p:animEffect transition="in" filter="fade">
                                      <p:cBhvr>
                                        <p:cTn id="7" dur="500"/>
                                        <p:tgtEl>
                                          <p:spTgt spid="2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0">
                                            <p:txEl>
                                              <p:pRg st="1" end="1"/>
                                            </p:txEl>
                                          </p:spTgt>
                                        </p:tgtEl>
                                        <p:attrNameLst>
                                          <p:attrName>style.visibility</p:attrName>
                                        </p:attrNameLst>
                                      </p:cBhvr>
                                      <p:to>
                                        <p:strVal val="visible"/>
                                      </p:to>
                                    </p:set>
                                    <p:animEffect transition="in" filter="fade">
                                      <p:cBhvr>
                                        <p:cTn id="12" dur="500"/>
                                        <p:tgtEl>
                                          <p:spTgt spid="2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0">
                                            <p:txEl>
                                              <p:pRg st="2" end="2"/>
                                            </p:txEl>
                                          </p:spTgt>
                                        </p:tgtEl>
                                        <p:attrNameLst>
                                          <p:attrName>style.visibility</p:attrName>
                                        </p:attrNameLst>
                                      </p:cBhvr>
                                      <p:to>
                                        <p:strVal val="visible"/>
                                      </p:to>
                                    </p:set>
                                    <p:animEffect transition="in" filter="fade">
                                      <p:cBhvr>
                                        <p:cTn id="17" dur="500"/>
                                        <p:tgtEl>
                                          <p:spTgt spid="2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0">
                                            <p:txEl>
                                              <p:pRg st="3" end="3"/>
                                            </p:txEl>
                                          </p:spTgt>
                                        </p:tgtEl>
                                        <p:attrNameLst>
                                          <p:attrName>style.visibility</p:attrName>
                                        </p:attrNameLst>
                                      </p:cBhvr>
                                      <p:to>
                                        <p:strVal val="visible"/>
                                      </p:to>
                                    </p:set>
                                    <p:animEffect transition="in" filter="fade">
                                      <p:cBhvr>
                                        <p:cTn id="22" dur="500"/>
                                        <p:tgtEl>
                                          <p:spTgt spid="2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0">
                                            <p:txEl>
                                              <p:pRg st="4" end="4"/>
                                            </p:txEl>
                                          </p:spTgt>
                                        </p:tgtEl>
                                        <p:attrNameLst>
                                          <p:attrName>style.visibility</p:attrName>
                                        </p:attrNameLst>
                                      </p:cBhvr>
                                      <p:to>
                                        <p:strVal val="visible"/>
                                      </p:to>
                                    </p:set>
                                    <p:animEffect transition="in" filter="fade">
                                      <p:cBhvr>
                                        <p:cTn id="27" dur="500"/>
                                        <p:tgtEl>
                                          <p:spTgt spid="2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xEl>
                                              <p:pRg st="5" end="5"/>
                                            </p:txEl>
                                          </p:spTgt>
                                        </p:tgtEl>
                                        <p:attrNameLst>
                                          <p:attrName>style.visibility</p:attrName>
                                        </p:attrNameLst>
                                      </p:cBhvr>
                                      <p:to>
                                        <p:strVal val="visible"/>
                                      </p:to>
                                    </p:set>
                                    <p:animEffect transition="in" filter="fade">
                                      <p:cBhvr>
                                        <p:cTn id="32" dur="500"/>
                                        <p:tgtEl>
                                          <p:spTgt spid="2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6"/>
                                        </p:tgtEl>
                                        <p:attrNameLst>
                                          <p:attrName>style.visibility</p:attrName>
                                        </p:attrNameLst>
                                      </p:cBhvr>
                                      <p:to>
                                        <p:strVal val="visible"/>
                                      </p:to>
                                    </p:set>
                                    <p:animEffect transition="in" filter="fade">
                                      <p:cBhvr>
                                        <p:cTn id="37" dur="500"/>
                                        <p:tgtEl>
                                          <p:spTgt spid="246"/>
                                        </p:tgtEl>
                                      </p:cBhvr>
                                    </p:animEffect>
                                  </p:childTnLst>
                                </p:cTn>
                              </p:par>
                              <p:par>
                                <p:cTn id="38" presetID="10" presetClass="entr" presetSubtype="0" fill="hold" nodeType="withEffect">
                                  <p:stCondLst>
                                    <p:cond delay="0"/>
                                  </p:stCondLst>
                                  <p:childTnLst>
                                    <p:set>
                                      <p:cBhvr>
                                        <p:cTn id="39" dur="1" fill="hold">
                                          <p:stCondLst>
                                            <p:cond delay="0"/>
                                          </p:stCondLst>
                                        </p:cTn>
                                        <p:tgtEl>
                                          <p:spTgt spid="245"/>
                                        </p:tgtEl>
                                        <p:attrNameLst>
                                          <p:attrName>style.visibility</p:attrName>
                                        </p:attrNameLst>
                                      </p:cBhvr>
                                      <p:to>
                                        <p:strVal val="visible"/>
                                      </p:to>
                                    </p:set>
                                    <p:animEffect transition="in" filter="fade">
                                      <p:cBhvr>
                                        <p:cTn id="40" dur="500"/>
                                        <p:tgtEl>
                                          <p:spTgt spid="24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44"/>
                                        </p:tgtEl>
                                        <p:attrNameLst>
                                          <p:attrName>style.visibility</p:attrName>
                                        </p:attrNameLst>
                                      </p:cBhvr>
                                      <p:to>
                                        <p:strVal val="visible"/>
                                      </p:to>
                                    </p:set>
                                    <p:animEffect transition="in" filter="fade">
                                      <p:cBhvr>
                                        <p:cTn id="45" dur="500"/>
                                        <p:tgtEl>
                                          <p:spTgt spid="244"/>
                                        </p:tgtEl>
                                      </p:cBhvr>
                                    </p:animEffect>
                                  </p:childTnLst>
                                </p:cTn>
                              </p:par>
                              <p:par>
                                <p:cTn id="46" presetID="10" presetClass="entr" presetSubtype="0" fill="hold" nodeType="withEffect">
                                  <p:stCondLst>
                                    <p:cond delay="0"/>
                                  </p:stCondLst>
                                  <p:childTnLst>
                                    <p:set>
                                      <p:cBhvr>
                                        <p:cTn id="47" dur="1" fill="hold">
                                          <p:stCondLst>
                                            <p:cond delay="0"/>
                                          </p:stCondLst>
                                        </p:cTn>
                                        <p:tgtEl>
                                          <p:spTgt spid="243"/>
                                        </p:tgtEl>
                                        <p:attrNameLst>
                                          <p:attrName>style.visibility</p:attrName>
                                        </p:attrNameLst>
                                      </p:cBhvr>
                                      <p:to>
                                        <p:strVal val="visible"/>
                                      </p:to>
                                    </p:set>
                                    <p:animEffect transition="in" filter="fade">
                                      <p:cBhvr>
                                        <p:cTn id="48" dur="500"/>
                                        <p:tgtEl>
                                          <p:spTgt spid="24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2"/>
                                        </p:tgtEl>
                                        <p:attrNameLst>
                                          <p:attrName>style.visibility</p:attrName>
                                        </p:attrNameLst>
                                      </p:cBhvr>
                                      <p:to>
                                        <p:strVal val="visible"/>
                                      </p:to>
                                    </p:set>
                                    <p:animEffect transition="in" filter="fade">
                                      <p:cBhvr>
                                        <p:cTn id="53" dur="500"/>
                                        <p:tgtEl>
                                          <p:spTgt spid="242"/>
                                        </p:tgtEl>
                                      </p:cBhvr>
                                    </p:animEffect>
                                  </p:childTnLst>
                                </p:cTn>
                              </p:par>
                              <p:par>
                                <p:cTn id="54" presetID="10" presetClass="entr" presetSubtype="0" fill="hold" nodeType="withEffect">
                                  <p:stCondLst>
                                    <p:cond delay="0"/>
                                  </p:stCondLst>
                                  <p:childTnLst>
                                    <p:set>
                                      <p:cBhvr>
                                        <p:cTn id="55" dur="1" fill="hold">
                                          <p:stCondLst>
                                            <p:cond delay="0"/>
                                          </p:stCondLst>
                                        </p:cTn>
                                        <p:tgtEl>
                                          <p:spTgt spid="241"/>
                                        </p:tgtEl>
                                        <p:attrNameLst>
                                          <p:attrName>style.visibility</p:attrName>
                                        </p:attrNameLst>
                                      </p:cBhvr>
                                      <p:to>
                                        <p:strVal val="visible"/>
                                      </p:to>
                                    </p:set>
                                    <p:animEffect transition="in" filter="fade">
                                      <p:cBhvr>
                                        <p:cTn id="56" dur="500"/>
                                        <p:tgtEl>
                                          <p:spTgt spid="24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8"/>
                                        </p:tgtEl>
                                        <p:attrNameLst>
                                          <p:attrName>style.visibility</p:attrName>
                                        </p:attrNameLst>
                                      </p:cBhvr>
                                      <p:to>
                                        <p:strVal val="visible"/>
                                      </p:to>
                                    </p:set>
                                    <p:animEffect transition="in" filter="fade">
                                      <p:cBhvr>
                                        <p:cTn id="61" dur="500"/>
                                        <p:tgtEl>
                                          <p:spTgt spid="248"/>
                                        </p:tgtEl>
                                      </p:cBhvr>
                                    </p:animEffect>
                                  </p:childTnLst>
                                </p:cTn>
                              </p:par>
                              <p:par>
                                <p:cTn id="62" presetID="10" presetClass="entr" presetSubtype="0" fill="hold" nodeType="withEffect">
                                  <p:stCondLst>
                                    <p:cond delay="0"/>
                                  </p:stCondLst>
                                  <p:childTnLst>
                                    <p:set>
                                      <p:cBhvr>
                                        <p:cTn id="63" dur="1" fill="hold">
                                          <p:stCondLst>
                                            <p:cond delay="0"/>
                                          </p:stCondLst>
                                        </p:cTn>
                                        <p:tgtEl>
                                          <p:spTgt spid="247"/>
                                        </p:tgtEl>
                                        <p:attrNameLst>
                                          <p:attrName>style.visibility</p:attrName>
                                        </p:attrNameLst>
                                      </p:cBhvr>
                                      <p:to>
                                        <p:strVal val="visible"/>
                                      </p:to>
                                    </p:set>
                                    <p:animEffect transition="in" filter="fade">
                                      <p:cBhvr>
                                        <p:cTn id="64"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2"/>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Initializing One-D Array</a:t>
            </a:r>
            <a:endParaRPr/>
          </a:p>
        </p:txBody>
      </p:sp>
      <p:sp>
        <p:nvSpPr>
          <p:cNvPr id="254" name="Google Shape;254;p22"/>
          <p:cNvSpPr txBox="1">
            <a:spLocks noGrp="1"/>
          </p:cNvSpPr>
          <p:nvPr>
            <p:ph type="body" idx="1"/>
          </p:nvPr>
        </p:nvSpPr>
        <p:spPr>
          <a:xfrm>
            <a:off x="457200" y="8953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int a[5];</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 = 10;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 = 20;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 = 30;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a[3] = 40;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a[4] = 50;</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graphicFrame>
        <p:nvGraphicFramePr>
          <p:cNvPr id="255" name="Google Shape;255;p22"/>
          <p:cNvGraphicFramePr/>
          <p:nvPr/>
        </p:nvGraphicFramePr>
        <p:xfrm>
          <a:off x="3657600" y="1276350"/>
          <a:ext cx="457200" cy="1727250"/>
        </p:xfrm>
        <a:graphic>
          <a:graphicData uri="http://schemas.openxmlformats.org/drawingml/2006/table">
            <a:tbl>
              <a:tblPr firstRow="1" bandRow="1">
                <a:noFill/>
                <a:tableStyleId>{3FBC2B39-A801-4669-B20D-D6CF5779721A}</a:tableStyleId>
              </a:tblPr>
              <a:tblGrid>
                <a:gridCol w="4572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10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20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30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40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50</a:t>
                      </a:r>
                      <a:endParaRPr sz="1600" u="none" strike="noStrike" cap="none">
                        <a:latin typeface="Times New Roman"/>
                        <a:ea typeface="Times New Roman"/>
                        <a:cs typeface="Times New Roman"/>
                        <a:sym typeface="Times New Roman"/>
                      </a:endParaRPr>
                    </a:p>
                  </a:txBody>
                  <a:tcPr marL="91450" marR="91450" marT="45725" marB="45725">
                    <a:noFill/>
                  </a:tcPr>
                </a:tc>
              </a:tr>
            </a:tbl>
          </a:graphicData>
        </a:graphic>
      </p:graphicFrame>
      <p:graphicFrame>
        <p:nvGraphicFramePr>
          <p:cNvPr id="256" name="Google Shape;256;p22"/>
          <p:cNvGraphicFramePr/>
          <p:nvPr/>
        </p:nvGraphicFramePr>
        <p:xfrm>
          <a:off x="3200400" y="1276350"/>
          <a:ext cx="533400" cy="1727250"/>
        </p:xfrm>
        <a:graphic>
          <a:graphicData uri="http://schemas.openxmlformats.org/drawingml/2006/table">
            <a:tbl>
              <a:tblPr firstRow="1" bandRow="1">
                <a:noFill/>
                <a:tableStyleId>{3FBC2B39-A801-4669-B20D-D6CF5779721A}</a:tableStyleId>
              </a:tblPr>
              <a:tblGrid>
                <a:gridCol w="5334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a[3]</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a[4]</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4">
                                            <p:txEl>
                                              <p:pRg st="0" end="0"/>
                                            </p:txEl>
                                          </p:spTgt>
                                        </p:tgtEl>
                                        <p:attrNameLst>
                                          <p:attrName>style.visibility</p:attrName>
                                        </p:attrNameLst>
                                      </p:cBhvr>
                                      <p:to>
                                        <p:strVal val="visible"/>
                                      </p:to>
                                    </p:set>
                                    <p:animEffect transition="in" filter="fade">
                                      <p:cBhvr>
                                        <p:cTn id="7" dur="500"/>
                                        <p:tgtEl>
                                          <p:spTgt spid="2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4">
                                            <p:txEl>
                                              <p:pRg st="1" end="1"/>
                                            </p:txEl>
                                          </p:spTgt>
                                        </p:tgtEl>
                                        <p:attrNameLst>
                                          <p:attrName>style.visibility</p:attrName>
                                        </p:attrNameLst>
                                      </p:cBhvr>
                                      <p:to>
                                        <p:strVal val="visible"/>
                                      </p:to>
                                    </p:set>
                                    <p:animEffect transition="in" filter="fade">
                                      <p:cBhvr>
                                        <p:cTn id="12" dur="500"/>
                                        <p:tgtEl>
                                          <p:spTgt spid="2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4">
                                            <p:txEl>
                                              <p:pRg st="2" end="2"/>
                                            </p:txEl>
                                          </p:spTgt>
                                        </p:tgtEl>
                                        <p:attrNameLst>
                                          <p:attrName>style.visibility</p:attrName>
                                        </p:attrNameLst>
                                      </p:cBhvr>
                                      <p:to>
                                        <p:strVal val="visible"/>
                                      </p:to>
                                    </p:set>
                                    <p:animEffect transition="in" filter="fade">
                                      <p:cBhvr>
                                        <p:cTn id="17" dur="500"/>
                                        <p:tgtEl>
                                          <p:spTgt spid="2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4">
                                            <p:txEl>
                                              <p:pRg st="3" end="3"/>
                                            </p:txEl>
                                          </p:spTgt>
                                        </p:tgtEl>
                                        <p:attrNameLst>
                                          <p:attrName>style.visibility</p:attrName>
                                        </p:attrNameLst>
                                      </p:cBhvr>
                                      <p:to>
                                        <p:strVal val="visible"/>
                                      </p:to>
                                    </p:set>
                                    <p:animEffect transition="in" filter="fade">
                                      <p:cBhvr>
                                        <p:cTn id="22" dur="500"/>
                                        <p:tgtEl>
                                          <p:spTgt spid="25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4">
                                            <p:txEl>
                                              <p:pRg st="4" end="4"/>
                                            </p:txEl>
                                          </p:spTgt>
                                        </p:tgtEl>
                                        <p:attrNameLst>
                                          <p:attrName>style.visibility</p:attrName>
                                        </p:attrNameLst>
                                      </p:cBhvr>
                                      <p:to>
                                        <p:strVal val="visible"/>
                                      </p:to>
                                    </p:set>
                                    <p:animEffect transition="in" filter="fade">
                                      <p:cBhvr>
                                        <p:cTn id="27" dur="500"/>
                                        <p:tgtEl>
                                          <p:spTgt spid="25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4">
                                            <p:txEl>
                                              <p:pRg st="5" end="5"/>
                                            </p:txEl>
                                          </p:spTgt>
                                        </p:tgtEl>
                                        <p:attrNameLst>
                                          <p:attrName>style.visibility</p:attrName>
                                        </p:attrNameLst>
                                      </p:cBhvr>
                                      <p:to>
                                        <p:strVal val="visible"/>
                                      </p:to>
                                    </p:set>
                                    <p:animEffect transition="in" filter="fade">
                                      <p:cBhvr>
                                        <p:cTn id="32" dur="500"/>
                                        <p:tgtEl>
                                          <p:spTgt spid="25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4">
                                            <p:txEl>
                                              <p:pRg st="6" end="6"/>
                                            </p:txEl>
                                          </p:spTgt>
                                        </p:tgtEl>
                                        <p:attrNameLst>
                                          <p:attrName>style.visibility</p:attrName>
                                        </p:attrNameLst>
                                      </p:cBhvr>
                                      <p:to>
                                        <p:strVal val="visible"/>
                                      </p:to>
                                    </p:set>
                                    <p:animEffect transition="in" filter="fade">
                                      <p:cBhvr>
                                        <p:cTn id="37" dur="500"/>
                                        <p:tgtEl>
                                          <p:spTgt spid="25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6"/>
                                        </p:tgtEl>
                                        <p:attrNameLst>
                                          <p:attrName>style.visibility</p:attrName>
                                        </p:attrNameLst>
                                      </p:cBhvr>
                                      <p:to>
                                        <p:strVal val="visible"/>
                                      </p:to>
                                    </p:set>
                                    <p:animEffect transition="in" filter="fade">
                                      <p:cBhvr>
                                        <p:cTn id="42" dur="500"/>
                                        <p:tgtEl>
                                          <p:spTgt spid="256"/>
                                        </p:tgtEl>
                                      </p:cBhvr>
                                    </p:animEffect>
                                  </p:childTnLst>
                                </p:cTn>
                              </p:par>
                              <p:par>
                                <p:cTn id="43" presetID="10" presetClass="entr" presetSubtype="0" fill="hold" nodeType="withEffect">
                                  <p:stCondLst>
                                    <p:cond delay="0"/>
                                  </p:stCondLst>
                                  <p:childTnLst>
                                    <p:set>
                                      <p:cBhvr>
                                        <p:cTn id="44" dur="1" fill="hold">
                                          <p:stCondLst>
                                            <p:cond delay="0"/>
                                          </p:stCondLst>
                                        </p:cTn>
                                        <p:tgtEl>
                                          <p:spTgt spid="255"/>
                                        </p:tgtEl>
                                        <p:attrNameLst>
                                          <p:attrName>style.visibility</p:attrName>
                                        </p:attrNameLst>
                                      </p:cBhvr>
                                      <p:to>
                                        <p:strVal val="visible"/>
                                      </p:to>
                                    </p:set>
                                    <p:animEffect transition="in" filter="fade">
                                      <p:cBhvr>
                                        <p:cTn id="45" dur="5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3"/>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3600" b="1" u="sng">
                <a:latin typeface="Times New Roman"/>
                <a:ea typeface="Times New Roman"/>
                <a:cs typeface="Times New Roman"/>
                <a:sym typeface="Times New Roman"/>
              </a:rPr>
              <a:t>Declaration and Initialization One-D Array</a:t>
            </a:r>
            <a:endParaRPr/>
          </a:p>
        </p:txBody>
      </p:sp>
      <p:sp>
        <p:nvSpPr>
          <p:cNvPr id="262" name="Google Shape;262;p23"/>
          <p:cNvSpPr txBox="1">
            <a:spLocks noGrp="1"/>
          </p:cNvSpPr>
          <p:nvPr>
            <p:ph type="body" idx="1"/>
          </p:nvPr>
        </p:nvSpPr>
        <p:spPr>
          <a:xfrm>
            <a:off x="457200" y="8953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Syntax: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data_type array_name [size] = {val1, val2…..valn};</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data_type array_name [ ] = {val1, val2…..valn};</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Ex: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a[5] = {10, 20, 30, 40, 50};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 ] = {10, 20, 30, 40, 50};</a:t>
            </a:r>
            <a:endParaRPr/>
          </a:p>
          <a:p>
            <a:pPr marL="0" lvl="0" indent="0" algn="l" rtl="0">
              <a:lnSpc>
                <a:spcPct val="100000"/>
              </a:lnSpc>
              <a:spcBef>
                <a:spcPts val="480"/>
              </a:spcBef>
              <a:spcAft>
                <a:spcPts val="0"/>
              </a:spcAft>
              <a:buClr>
                <a:schemeClr val="dk1"/>
              </a:buClr>
              <a:buSzPts val="2400"/>
              <a:buNone/>
            </a:pPr>
            <a:endParaRPr sz="2400">
              <a:latin typeface="Times New Roman"/>
              <a:ea typeface="Times New Roman"/>
              <a:cs typeface="Times New Roman"/>
              <a:sym typeface="Times New Roman"/>
            </a:endParaRPr>
          </a:p>
        </p:txBody>
      </p:sp>
      <p:graphicFrame>
        <p:nvGraphicFramePr>
          <p:cNvPr id="263" name="Google Shape;263;p23"/>
          <p:cNvGraphicFramePr/>
          <p:nvPr/>
        </p:nvGraphicFramePr>
        <p:xfrm>
          <a:off x="5031941" y="2266950"/>
          <a:ext cx="457200" cy="1727250"/>
        </p:xfrm>
        <a:graphic>
          <a:graphicData uri="http://schemas.openxmlformats.org/drawingml/2006/table">
            <a:tbl>
              <a:tblPr firstRow="1" bandRow="1">
                <a:noFill/>
                <a:tableStyleId>{3FBC2B39-A801-4669-B20D-D6CF5779721A}</a:tableStyleId>
              </a:tblPr>
              <a:tblGrid>
                <a:gridCol w="4572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10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20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30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40</a:t>
                      </a:r>
                      <a:endParaRPr sz="1600" u="none" strike="noStrike" cap="none">
                        <a:latin typeface="Times New Roman"/>
                        <a:ea typeface="Times New Roman"/>
                        <a:cs typeface="Times New Roman"/>
                        <a:sym typeface="Times New Roman"/>
                      </a:endParaRPr>
                    </a:p>
                  </a:txBody>
                  <a:tcPr marL="91450" marR="91450" marT="45725" marB="45725">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50</a:t>
                      </a:r>
                      <a:endParaRPr sz="1600" u="none" strike="noStrike" cap="none">
                        <a:latin typeface="Times New Roman"/>
                        <a:ea typeface="Times New Roman"/>
                        <a:cs typeface="Times New Roman"/>
                        <a:sym typeface="Times New Roman"/>
                      </a:endParaRPr>
                    </a:p>
                  </a:txBody>
                  <a:tcPr marL="91450" marR="91450" marT="45725" marB="45725">
                    <a:noFill/>
                  </a:tcPr>
                </a:tc>
              </a:tr>
            </a:tbl>
          </a:graphicData>
        </a:graphic>
      </p:graphicFrame>
      <p:graphicFrame>
        <p:nvGraphicFramePr>
          <p:cNvPr id="264" name="Google Shape;264;p23"/>
          <p:cNvGraphicFramePr/>
          <p:nvPr/>
        </p:nvGraphicFramePr>
        <p:xfrm>
          <a:off x="4574741" y="2266950"/>
          <a:ext cx="533400" cy="1727250"/>
        </p:xfrm>
        <a:graphic>
          <a:graphicData uri="http://schemas.openxmlformats.org/drawingml/2006/table">
            <a:tbl>
              <a:tblPr firstRow="1" bandRow="1">
                <a:noFill/>
                <a:tableStyleId>{3FBC2B39-A801-4669-B20D-D6CF5779721A}</a:tableStyleId>
              </a:tblPr>
              <a:tblGrid>
                <a:gridCol w="533400"/>
              </a:tblGrid>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a[3]</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45450">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a[4]</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2">
                                            <p:txEl>
                                              <p:pRg st="0" end="0"/>
                                            </p:txEl>
                                          </p:spTgt>
                                        </p:tgtEl>
                                        <p:attrNameLst>
                                          <p:attrName>style.visibility</p:attrName>
                                        </p:attrNameLst>
                                      </p:cBhvr>
                                      <p:to>
                                        <p:strVal val="visible"/>
                                      </p:to>
                                    </p:set>
                                    <p:animEffect transition="in" filter="fade">
                                      <p:cBhvr>
                                        <p:cTn id="7" dur="500"/>
                                        <p:tgtEl>
                                          <p:spTgt spid="2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2">
                                            <p:txEl>
                                              <p:pRg st="1" end="1"/>
                                            </p:txEl>
                                          </p:spTgt>
                                        </p:tgtEl>
                                        <p:attrNameLst>
                                          <p:attrName>style.visibility</p:attrName>
                                        </p:attrNameLst>
                                      </p:cBhvr>
                                      <p:to>
                                        <p:strVal val="visible"/>
                                      </p:to>
                                    </p:set>
                                    <p:animEffect transition="in" filter="fade">
                                      <p:cBhvr>
                                        <p:cTn id="12" dur="500"/>
                                        <p:tgtEl>
                                          <p:spTgt spid="2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2">
                                            <p:txEl>
                                              <p:pRg st="2" end="2"/>
                                            </p:txEl>
                                          </p:spTgt>
                                        </p:tgtEl>
                                        <p:attrNameLst>
                                          <p:attrName>style.visibility</p:attrName>
                                        </p:attrNameLst>
                                      </p:cBhvr>
                                      <p:to>
                                        <p:strVal val="visible"/>
                                      </p:to>
                                    </p:set>
                                    <p:animEffect transition="in" filter="fade">
                                      <p:cBhvr>
                                        <p:cTn id="17" dur="500"/>
                                        <p:tgtEl>
                                          <p:spTgt spid="26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2">
                                            <p:txEl>
                                              <p:pRg st="3" end="3"/>
                                            </p:txEl>
                                          </p:spTgt>
                                        </p:tgtEl>
                                        <p:attrNameLst>
                                          <p:attrName>style.visibility</p:attrName>
                                        </p:attrNameLst>
                                      </p:cBhvr>
                                      <p:to>
                                        <p:strVal val="visible"/>
                                      </p:to>
                                    </p:set>
                                    <p:animEffect transition="in" filter="fade">
                                      <p:cBhvr>
                                        <p:cTn id="22" dur="500"/>
                                        <p:tgtEl>
                                          <p:spTgt spid="26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2">
                                            <p:txEl>
                                              <p:pRg st="4" end="4"/>
                                            </p:txEl>
                                          </p:spTgt>
                                        </p:tgtEl>
                                        <p:attrNameLst>
                                          <p:attrName>style.visibility</p:attrName>
                                        </p:attrNameLst>
                                      </p:cBhvr>
                                      <p:to>
                                        <p:strVal val="visible"/>
                                      </p:to>
                                    </p:set>
                                    <p:animEffect transition="in" filter="fade">
                                      <p:cBhvr>
                                        <p:cTn id="27" dur="500"/>
                                        <p:tgtEl>
                                          <p:spTgt spid="2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2">
                                            <p:txEl>
                                              <p:pRg st="5" end="5"/>
                                            </p:txEl>
                                          </p:spTgt>
                                        </p:tgtEl>
                                        <p:attrNameLst>
                                          <p:attrName>style.visibility</p:attrName>
                                        </p:attrNameLst>
                                      </p:cBhvr>
                                      <p:to>
                                        <p:strVal val="visible"/>
                                      </p:to>
                                    </p:set>
                                    <p:animEffect transition="in" filter="fade">
                                      <p:cBhvr>
                                        <p:cTn id="32" dur="500"/>
                                        <p:tgtEl>
                                          <p:spTgt spid="2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2">
                                            <p:txEl>
                                              <p:pRg st="6" end="6"/>
                                            </p:txEl>
                                          </p:spTgt>
                                        </p:tgtEl>
                                        <p:attrNameLst>
                                          <p:attrName>style.visibility</p:attrName>
                                        </p:attrNameLst>
                                      </p:cBhvr>
                                      <p:to>
                                        <p:strVal val="visible"/>
                                      </p:to>
                                    </p:set>
                                    <p:animEffect transition="in" filter="fade">
                                      <p:cBhvr>
                                        <p:cTn id="37" dur="500"/>
                                        <p:tgtEl>
                                          <p:spTgt spid="2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2">
                                            <p:txEl>
                                              <p:pRg st="7" end="7"/>
                                            </p:txEl>
                                          </p:spTgt>
                                        </p:tgtEl>
                                        <p:attrNameLst>
                                          <p:attrName>style.visibility</p:attrName>
                                        </p:attrNameLst>
                                      </p:cBhvr>
                                      <p:to>
                                        <p:strVal val="visible"/>
                                      </p:to>
                                    </p:set>
                                    <p:animEffect transition="in" filter="fade">
                                      <p:cBhvr>
                                        <p:cTn id="42" dur="500"/>
                                        <p:tgtEl>
                                          <p:spTgt spid="26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4"/>
                                        </p:tgtEl>
                                        <p:attrNameLst>
                                          <p:attrName>style.visibility</p:attrName>
                                        </p:attrNameLst>
                                      </p:cBhvr>
                                      <p:to>
                                        <p:strVal val="visible"/>
                                      </p:to>
                                    </p:set>
                                    <p:animEffect transition="in" filter="fade">
                                      <p:cBhvr>
                                        <p:cTn id="47" dur="500"/>
                                        <p:tgtEl>
                                          <p:spTgt spid="264"/>
                                        </p:tgtEl>
                                      </p:cBhvr>
                                    </p:animEffect>
                                  </p:childTnLst>
                                </p:cTn>
                              </p:par>
                              <p:par>
                                <p:cTn id="48" presetID="10" presetClass="entr" presetSubtype="0" fill="hold" nodeType="withEffect">
                                  <p:stCondLst>
                                    <p:cond delay="0"/>
                                  </p:stCondLst>
                                  <p:childTnLst>
                                    <p:set>
                                      <p:cBhvr>
                                        <p:cTn id="49" dur="1" fill="hold">
                                          <p:stCondLst>
                                            <p:cond delay="0"/>
                                          </p:stCondLst>
                                        </p:cTn>
                                        <p:tgtEl>
                                          <p:spTgt spid="263"/>
                                        </p:tgtEl>
                                        <p:attrNameLst>
                                          <p:attrName>style.visibility</p:attrName>
                                        </p:attrNameLst>
                                      </p:cBhvr>
                                      <p:to>
                                        <p:strVal val="visible"/>
                                      </p:to>
                                    </p:set>
                                    <p:animEffect transition="in" filter="fade">
                                      <p:cBhvr>
                                        <p:cTn id="50" dur="5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4"/>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Memory Allocation One-D Array</a:t>
            </a:r>
            <a:endParaRPr/>
          </a:p>
        </p:txBody>
      </p:sp>
      <p:graphicFrame>
        <p:nvGraphicFramePr>
          <p:cNvPr id="270" name="Google Shape;270;p24"/>
          <p:cNvGraphicFramePr/>
          <p:nvPr/>
        </p:nvGraphicFramePr>
        <p:xfrm>
          <a:off x="457200" y="1695450"/>
          <a:ext cx="8229800" cy="2400440"/>
        </p:xfrm>
        <a:graphic>
          <a:graphicData uri="http://schemas.openxmlformats.org/drawingml/2006/table">
            <a:tbl>
              <a:tblPr firstRow="1" bandRow="1">
                <a:noFill/>
                <a:tableStyleId>{3FBC2B39-A801-4669-B20D-D6CF5779721A}</a:tableStyleId>
              </a:tblPr>
              <a:tblGrid>
                <a:gridCol w="2057450"/>
                <a:gridCol w="2057450"/>
                <a:gridCol w="2057450"/>
                <a:gridCol w="2057450"/>
              </a:tblGrid>
              <a:tr h="342900">
                <a:tc rowSpan="2">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Element No. </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(Size)</a:t>
                      </a:r>
                      <a:endParaRPr sz="1400" u="none" strike="noStrike" cap="none"/>
                    </a:p>
                  </a:txBody>
                  <a:tcPr marL="84700" marR="84700" marT="34300" marB="34300">
                    <a:solidFill>
                      <a:srgbClr val="FDE9D8"/>
                    </a:solidFill>
                  </a:tcPr>
                </a:tc>
                <a:tc rowSpan="2">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Index</a:t>
                      </a:r>
                      <a:endParaRPr sz="1400" u="none" strike="noStrike" cap="none"/>
                    </a:p>
                  </a:txBody>
                  <a:tcPr marL="84700" marR="84700" marT="34300" marB="34300">
                    <a:solidFill>
                      <a:srgbClr val="FDE9D8"/>
                    </a:solidFill>
                  </a:tcPr>
                </a:tc>
                <a:tc gridSpan="2">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 Array</a:t>
                      </a:r>
                      <a:endParaRPr sz="1400" u="none" strike="noStrike" cap="none"/>
                    </a:p>
                  </a:txBody>
                  <a:tcPr marL="84700" marR="84700" marT="34300" marB="34300">
                    <a:solidFill>
                      <a:srgbClr val="FDE9D8"/>
                    </a:solidFill>
                  </a:tcPr>
                </a:tc>
                <a:tc hMerge="1">
                  <a:txBody>
                    <a:bodyPr/>
                    <a:lstStyle/>
                    <a:p>
                      <a:endParaRPr lang="en-US"/>
                    </a:p>
                  </a:txBody>
                  <a:tcPr/>
                </a:tc>
              </a:tr>
              <a:tr h="342900">
                <a:tc vMerge="1">
                  <a:txBody>
                    <a:bodyPr/>
                    <a:lstStyle/>
                    <a:p>
                      <a:endParaRPr lang="en-US"/>
                    </a:p>
                  </a:txBody>
                  <a:tcPr/>
                </a:tc>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Reference</a:t>
                      </a:r>
                      <a:endParaRPr sz="1400" u="none" strike="noStrike" cap="none"/>
                    </a:p>
                  </a:txBody>
                  <a:tcPr marL="84700" marR="84700" marT="34300" marB="34300">
                    <a:solidFill>
                      <a:srgbClr val="FDE9D8"/>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Value</a:t>
                      </a:r>
                      <a:endParaRPr sz="1400" u="none" strike="noStrike" cap="none"/>
                    </a:p>
                  </a:txBody>
                  <a:tcPr marL="84700" marR="84700" marT="34300" marB="34300">
                    <a:solidFill>
                      <a:srgbClr val="FDE9D8"/>
                    </a:solidFill>
                  </a:tcPr>
                </a:tc>
              </a:tr>
              <a:tr h="3429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0</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a[0]</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10</a:t>
                      </a:r>
                      <a:endParaRPr sz="1400" u="none" strike="noStrike" cap="none"/>
                    </a:p>
                  </a:txBody>
                  <a:tcPr marL="84700" marR="84700" marT="34300" marB="34300">
                    <a:noFill/>
                  </a:tcPr>
                </a:tc>
              </a:tr>
              <a:tr h="3429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1</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a[1]</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20</a:t>
                      </a:r>
                      <a:endParaRPr sz="1400" u="none" strike="noStrike" cap="none"/>
                    </a:p>
                  </a:txBody>
                  <a:tcPr marL="84700" marR="84700" marT="34300" marB="34300">
                    <a:noFill/>
                  </a:tcPr>
                </a:tc>
              </a:tr>
              <a:tr h="3429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2</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a[2]</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30</a:t>
                      </a:r>
                      <a:endParaRPr sz="1400" u="none" strike="noStrike" cap="none"/>
                    </a:p>
                  </a:txBody>
                  <a:tcPr marL="84700" marR="84700" marT="34300" marB="34300">
                    <a:noFill/>
                  </a:tcPr>
                </a:tc>
              </a:tr>
              <a:tr h="3429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3</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a[3]</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40</a:t>
                      </a:r>
                      <a:endParaRPr sz="1400" u="none" strike="noStrike" cap="none"/>
                    </a:p>
                  </a:txBody>
                  <a:tcPr marL="84700" marR="84700" marT="34300" marB="34300">
                    <a:noFill/>
                  </a:tcPr>
                </a:tc>
              </a:tr>
              <a:tr h="3429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5</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4</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a[4]</a:t>
                      </a:r>
                      <a:endParaRPr sz="1400" u="none" strike="noStrike" cap="none"/>
                    </a:p>
                  </a:txBody>
                  <a:tcPr marL="84700" marR="84700" marT="34300" marB="34300">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50</a:t>
                      </a:r>
                      <a:endParaRPr sz="1400" u="none" strike="noStrike" cap="none"/>
                    </a:p>
                  </a:txBody>
                  <a:tcPr marL="84700" marR="84700" marT="34300" marB="34300">
                    <a:noFill/>
                  </a:tcPr>
                </a:tc>
              </a:tr>
            </a:tbl>
          </a:graphicData>
        </a:graphic>
      </p:graphicFrame>
      <p:sp>
        <p:nvSpPr>
          <p:cNvPr id="271" name="Google Shape;271;p24"/>
          <p:cNvSpPr txBox="1"/>
          <p:nvPr/>
        </p:nvSpPr>
        <p:spPr>
          <a:xfrm>
            <a:off x="533400" y="971550"/>
            <a:ext cx="300434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int a[5] = {10, 20, 30, 40, 50};</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1">
                                            <p:txEl>
                                              <p:pRg st="0" end="0"/>
                                            </p:txEl>
                                          </p:spTgt>
                                        </p:tgtEl>
                                        <p:attrNameLst>
                                          <p:attrName>style.visibility</p:attrName>
                                        </p:attrNameLst>
                                      </p:cBhvr>
                                      <p:to>
                                        <p:strVal val="visible"/>
                                      </p:to>
                                    </p:set>
                                    <p:animEffect transition="in" filter="fade">
                                      <p:cBhvr>
                                        <p:cTn id="7" dur="500"/>
                                        <p:tgtEl>
                                          <p:spTgt spid="2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0"/>
                                        </p:tgtEl>
                                        <p:attrNameLst>
                                          <p:attrName>style.visibility</p:attrName>
                                        </p:attrNameLst>
                                      </p:cBhvr>
                                      <p:to>
                                        <p:strVal val="visible"/>
                                      </p:to>
                                    </p:set>
                                    <p:animEffect transition="in" filter="fade">
                                      <p:cBhvr>
                                        <p:cTn id="12" dur="5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5"/>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Accessing One-D Array Elements</a:t>
            </a:r>
            <a:endParaRPr/>
          </a:p>
        </p:txBody>
      </p:sp>
      <p:sp>
        <p:nvSpPr>
          <p:cNvPr id="277" name="Google Shape;277;p25"/>
          <p:cNvSpPr txBox="1">
            <a:spLocks noGrp="1"/>
          </p:cNvSpPr>
          <p:nvPr>
            <p:ph type="body" idx="1"/>
          </p:nvPr>
        </p:nvSpPr>
        <p:spPr>
          <a:xfrm>
            <a:off x="457200" y="895350"/>
            <a:ext cx="37338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int a[5] = {10, 20, 30, 40, 50};</a:t>
            </a:r>
            <a:endParaRPr sz="2000"/>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 = 10;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 = 20;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 = 30;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a[3] = 40;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a[4] = 50;</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278" name="Google Shape;278;p25"/>
          <p:cNvSpPr/>
          <p:nvPr/>
        </p:nvSpPr>
        <p:spPr>
          <a:xfrm>
            <a:off x="4543067" y="1211818"/>
            <a:ext cx="2300630" cy="24006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a[0]);</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a[1]);</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a[2]);</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a[3]);</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a[4]);</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xEl>
                                              <p:pRg st="0" end="0"/>
                                            </p:txEl>
                                          </p:spTgt>
                                        </p:tgtEl>
                                        <p:attrNameLst>
                                          <p:attrName>style.visibility</p:attrName>
                                        </p:attrNameLst>
                                      </p:cBhvr>
                                      <p:to>
                                        <p:strVal val="visible"/>
                                      </p:to>
                                    </p:set>
                                    <p:animEffect transition="in" filter="fade">
                                      <p:cBhvr>
                                        <p:cTn id="7" dur="500"/>
                                        <p:tgtEl>
                                          <p:spTgt spid="2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7">
                                            <p:txEl>
                                              <p:pRg st="1" end="1"/>
                                            </p:txEl>
                                          </p:spTgt>
                                        </p:tgtEl>
                                        <p:attrNameLst>
                                          <p:attrName>style.visibility</p:attrName>
                                        </p:attrNameLst>
                                      </p:cBhvr>
                                      <p:to>
                                        <p:strVal val="visible"/>
                                      </p:to>
                                    </p:set>
                                    <p:animEffect transition="in" filter="fade">
                                      <p:cBhvr>
                                        <p:cTn id="12" dur="500"/>
                                        <p:tgtEl>
                                          <p:spTgt spid="2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7">
                                            <p:txEl>
                                              <p:pRg st="2" end="2"/>
                                            </p:txEl>
                                          </p:spTgt>
                                        </p:tgtEl>
                                        <p:attrNameLst>
                                          <p:attrName>style.visibility</p:attrName>
                                        </p:attrNameLst>
                                      </p:cBhvr>
                                      <p:to>
                                        <p:strVal val="visible"/>
                                      </p:to>
                                    </p:set>
                                    <p:animEffect transition="in" filter="fade">
                                      <p:cBhvr>
                                        <p:cTn id="17" dur="500"/>
                                        <p:tgtEl>
                                          <p:spTgt spid="2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7">
                                            <p:txEl>
                                              <p:pRg st="3" end="3"/>
                                            </p:txEl>
                                          </p:spTgt>
                                        </p:tgtEl>
                                        <p:attrNameLst>
                                          <p:attrName>style.visibility</p:attrName>
                                        </p:attrNameLst>
                                      </p:cBhvr>
                                      <p:to>
                                        <p:strVal val="visible"/>
                                      </p:to>
                                    </p:set>
                                    <p:animEffect transition="in" filter="fade">
                                      <p:cBhvr>
                                        <p:cTn id="22" dur="500"/>
                                        <p:tgtEl>
                                          <p:spTgt spid="2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7">
                                            <p:txEl>
                                              <p:pRg st="4" end="4"/>
                                            </p:txEl>
                                          </p:spTgt>
                                        </p:tgtEl>
                                        <p:attrNameLst>
                                          <p:attrName>style.visibility</p:attrName>
                                        </p:attrNameLst>
                                      </p:cBhvr>
                                      <p:to>
                                        <p:strVal val="visible"/>
                                      </p:to>
                                    </p:set>
                                    <p:animEffect transition="in" filter="fade">
                                      <p:cBhvr>
                                        <p:cTn id="27" dur="500"/>
                                        <p:tgtEl>
                                          <p:spTgt spid="27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7">
                                            <p:txEl>
                                              <p:pRg st="5" end="5"/>
                                            </p:txEl>
                                          </p:spTgt>
                                        </p:tgtEl>
                                        <p:attrNameLst>
                                          <p:attrName>style.visibility</p:attrName>
                                        </p:attrNameLst>
                                      </p:cBhvr>
                                      <p:to>
                                        <p:strVal val="visible"/>
                                      </p:to>
                                    </p:set>
                                    <p:animEffect transition="in" filter="fade">
                                      <p:cBhvr>
                                        <p:cTn id="32" dur="500"/>
                                        <p:tgtEl>
                                          <p:spTgt spid="27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7">
                                            <p:txEl>
                                              <p:pRg st="6" end="6"/>
                                            </p:txEl>
                                          </p:spTgt>
                                        </p:tgtEl>
                                        <p:attrNameLst>
                                          <p:attrName>style.visibility</p:attrName>
                                        </p:attrNameLst>
                                      </p:cBhvr>
                                      <p:to>
                                        <p:strVal val="visible"/>
                                      </p:to>
                                    </p:set>
                                    <p:animEffect transition="in" filter="fade">
                                      <p:cBhvr>
                                        <p:cTn id="37" dur="500"/>
                                        <p:tgtEl>
                                          <p:spTgt spid="27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8">
                                            <p:txEl>
                                              <p:pRg st="0" end="0"/>
                                            </p:txEl>
                                          </p:spTgt>
                                        </p:tgtEl>
                                        <p:attrNameLst>
                                          <p:attrName>style.visibility</p:attrName>
                                        </p:attrNameLst>
                                      </p:cBhvr>
                                      <p:to>
                                        <p:strVal val="visible"/>
                                      </p:to>
                                    </p:set>
                                    <p:animEffect transition="in" filter="fade">
                                      <p:cBhvr>
                                        <p:cTn id="42" dur="500"/>
                                        <p:tgtEl>
                                          <p:spTgt spid="27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8">
                                            <p:txEl>
                                              <p:pRg st="1" end="1"/>
                                            </p:txEl>
                                          </p:spTgt>
                                        </p:tgtEl>
                                        <p:attrNameLst>
                                          <p:attrName>style.visibility</p:attrName>
                                        </p:attrNameLst>
                                      </p:cBhvr>
                                      <p:to>
                                        <p:strVal val="visible"/>
                                      </p:to>
                                    </p:set>
                                    <p:animEffect transition="in" filter="fade">
                                      <p:cBhvr>
                                        <p:cTn id="47" dur="500"/>
                                        <p:tgtEl>
                                          <p:spTgt spid="278">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78">
                                            <p:txEl>
                                              <p:pRg st="2" end="2"/>
                                            </p:txEl>
                                          </p:spTgt>
                                        </p:tgtEl>
                                        <p:attrNameLst>
                                          <p:attrName>style.visibility</p:attrName>
                                        </p:attrNameLst>
                                      </p:cBhvr>
                                      <p:to>
                                        <p:strVal val="visible"/>
                                      </p:to>
                                    </p:set>
                                    <p:animEffect transition="in" filter="fade">
                                      <p:cBhvr>
                                        <p:cTn id="52" dur="500"/>
                                        <p:tgtEl>
                                          <p:spTgt spid="278">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8">
                                            <p:txEl>
                                              <p:pRg st="3" end="3"/>
                                            </p:txEl>
                                          </p:spTgt>
                                        </p:tgtEl>
                                        <p:attrNameLst>
                                          <p:attrName>style.visibility</p:attrName>
                                        </p:attrNameLst>
                                      </p:cBhvr>
                                      <p:to>
                                        <p:strVal val="visible"/>
                                      </p:to>
                                    </p:set>
                                    <p:animEffect transition="in" filter="fade">
                                      <p:cBhvr>
                                        <p:cTn id="57" dur="500"/>
                                        <p:tgtEl>
                                          <p:spTgt spid="278">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78">
                                            <p:txEl>
                                              <p:pRg st="4" end="4"/>
                                            </p:txEl>
                                          </p:spTgt>
                                        </p:tgtEl>
                                        <p:attrNameLst>
                                          <p:attrName>style.visibility</p:attrName>
                                        </p:attrNameLst>
                                      </p:cBhvr>
                                      <p:to>
                                        <p:strVal val="visible"/>
                                      </p:to>
                                    </p:set>
                                    <p:animEffect transition="in" filter="fade">
                                      <p:cBhvr>
                                        <p:cTn id="62" dur="500"/>
                                        <p:tgtEl>
                                          <p:spTgt spid="2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6"/>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Accessing 1-D Array using loop</a:t>
            </a:r>
            <a:endParaRPr/>
          </a:p>
        </p:txBody>
      </p:sp>
      <p:sp>
        <p:nvSpPr>
          <p:cNvPr id="284" name="Google Shape;284;p26"/>
          <p:cNvSpPr txBox="1">
            <a:spLocks noGrp="1"/>
          </p:cNvSpPr>
          <p:nvPr>
            <p:ph type="body" idx="1"/>
          </p:nvPr>
        </p:nvSpPr>
        <p:spPr>
          <a:xfrm>
            <a:off x="457200" y="971550"/>
            <a:ext cx="3505200" cy="33944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800"/>
              <a:buNone/>
            </a:pPr>
            <a:r>
              <a:rPr lang="en-US" sz="1800">
                <a:latin typeface="Times New Roman"/>
                <a:ea typeface="Times New Roman"/>
                <a:cs typeface="Times New Roman"/>
                <a:sym typeface="Times New Roman"/>
              </a:rPr>
              <a:t>int a[5] = {10, 20, 30, 40, 50};</a:t>
            </a:r>
            <a:endParaRPr/>
          </a:p>
          <a:p>
            <a:pPr marL="0" lvl="0" indent="0" algn="l" rtl="0">
              <a:lnSpc>
                <a:spcPct val="100000"/>
              </a:lnSpc>
              <a:spcBef>
                <a:spcPts val="360"/>
              </a:spcBef>
              <a:spcAft>
                <a:spcPts val="0"/>
              </a:spcAft>
              <a:buClr>
                <a:schemeClr val="dk1"/>
              </a:buClr>
              <a:buSzPts val="1800"/>
              <a:buNone/>
            </a:pPr>
            <a:endParaRPr sz="1800">
              <a:latin typeface="Times New Roman"/>
              <a:ea typeface="Times New Roman"/>
              <a:cs typeface="Times New Roman"/>
              <a:sym typeface="Times New Roman"/>
            </a:endParaRPr>
          </a:p>
          <a:p>
            <a:pPr marL="0" lvl="0" indent="0" algn="l" rtl="0">
              <a:lnSpc>
                <a:spcPct val="100000"/>
              </a:lnSpc>
              <a:spcBef>
                <a:spcPts val="360"/>
              </a:spcBef>
              <a:spcAft>
                <a:spcPts val="0"/>
              </a:spcAft>
              <a:buClr>
                <a:schemeClr val="dk1"/>
              </a:buClr>
              <a:buSzPts val="1800"/>
              <a:buNone/>
            </a:pPr>
            <a:r>
              <a:rPr lang="en-US" sz="1800" u="sng">
                <a:latin typeface="Times New Roman"/>
                <a:ea typeface="Times New Roman"/>
                <a:cs typeface="Times New Roman"/>
                <a:sym typeface="Times New Roman"/>
              </a:rPr>
              <a:t>Using For Loop</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int i;</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for(</a:t>
            </a:r>
            <a:r>
              <a:rPr lang="en-US" sz="1800"/>
              <a:t>i = 0; i&lt;5; i++</a:t>
            </a:r>
            <a:r>
              <a:rPr lang="en-US" sz="1800">
                <a:latin typeface="Times New Roman"/>
                <a:ea typeface="Times New Roman"/>
                <a:cs typeface="Times New Roman"/>
                <a:sym typeface="Times New Roman"/>
              </a:rPr>
              <a:t>)</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     printf(“%d\n”, a[i]);</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a:t>
            </a:r>
            <a:endParaRPr/>
          </a:p>
          <a:p>
            <a:pPr marL="0" lvl="0" indent="0" algn="l" rtl="0">
              <a:lnSpc>
                <a:spcPct val="100000"/>
              </a:lnSpc>
              <a:spcBef>
                <a:spcPts val="360"/>
              </a:spcBef>
              <a:spcAft>
                <a:spcPts val="0"/>
              </a:spcAft>
              <a:buClr>
                <a:schemeClr val="dk1"/>
              </a:buClr>
              <a:buSzPts val="1800"/>
              <a:buNone/>
            </a:pPr>
            <a:endParaRPr sz="1800">
              <a:latin typeface="Times New Roman"/>
              <a:ea typeface="Times New Roman"/>
              <a:cs typeface="Times New Roman"/>
              <a:sym typeface="Times New Roman"/>
            </a:endParaRPr>
          </a:p>
        </p:txBody>
      </p:sp>
      <p:sp>
        <p:nvSpPr>
          <p:cNvPr id="285" name="Google Shape;285;p26"/>
          <p:cNvSpPr/>
          <p:nvPr/>
        </p:nvSpPr>
        <p:spPr>
          <a:xfrm>
            <a:off x="3429000" y="1523821"/>
            <a:ext cx="2514600"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imes New Roman"/>
                <a:ea typeface="Times New Roman"/>
                <a:cs typeface="Times New Roman"/>
                <a:sym typeface="Times New Roman"/>
              </a:rPr>
              <a:t>Using While Loop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int i =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while (</a:t>
            </a:r>
            <a:r>
              <a:rPr lang="en-US" sz="1800" b="0" i="0" u="none" strike="noStrike" cap="none">
                <a:solidFill>
                  <a:schemeClr val="dk1"/>
                </a:solidFill>
                <a:latin typeface="Calibri"/>
                <a:ea typeface="Calibri"/>
                <a:cs typeface="Calibri"/>
                <a:sym typeface="Calibri"/>
              </a:rPr>
              <a:t>i&lt;5</a:t>
            </a:r>
            <a:r>
              <a:rPr lang="en-US" sz="1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printf(“%d\n”, a[i]);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
        <p:nvSpPr>
          <p:cNvPr id="286" name="Google Shape;286;p26"/>
          <p:cNvSpPr/>
          <p:nvPr/>
        </p:nvSpPr>
        <p:spPr>
          <a:xfrm>
            <a:off x="6096000" y="1531025"/>
            <a:ext cx="2514600"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Times New Roman"/>
                <a:ea typeface="Times New Roman"/>
                <a:cs typeface="Times New Roman"/>
                <a:sym typeface="Times New Roman"/>
              </a:rPr>
              <a:t>Using Do While Loop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int i =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printf(“%d\n”, a[i]);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i++;</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while (</a:t>
            </a:r>
            <a:r>
              <a:rPr lang="en-US" sz="1800" b="0" i="0" u="none" strike="noStrike" cap="none">
                <a:solidFill>
                  <a:schemeClr val="dk1"/>
                </a:solidFill>
                <a:latin typeface="Calibri"/>
                <a:ea typeface="Calibri"/>
                <a:cs typeface="Calibri"/>
                <a:sym typeface="Calibri"/>
              </a:rPr>
              <a:t>i&lt;5</a:t>
            </a:r>
            <a:r>
              <a:rPr lang="en-US" sz="18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4">
                                            <p:txEl>
                                              <p:pRg st="0" end="0"/>
                                            </p:txEl>
                                          </p:spTgt>
                                        </p:tgtEl>
                                        <p:attrNameLst>
                                          <p:attrName>style.visibility</p:attrName>
                                        </p:attrNameLst>
                                      </p:cBhvr>
                                      <p:to>
                                        <p:strVal val="visible"/>
                                      </p:to>
                                    </p:set>
                                    <p:animEffect transition="in" filter="fade">
                                      <p:cBhvr>
                                        <p:cTn id="7" dur="500"/>
                                        <p:tgtEl>
                                          <p:spTgt spid="2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4">
                                            <p:txEl>
                                              <p:pRg st="1" end="1"/>
                                            </p:txEl>
                                          </p:spTgt>
                                        </p:tgtEl>
                                        <p:attrNameLst>
                                          <p:attrName>style.visibility</p:attrName>
                                        </p:attrNameLst>
                                      </p:cBhvr>
                                      <p:to>
                                        <p:strVal val="visible"/>
                                      </p:to>
                                    </p:set>
                                    <p:animEffect transition="in" filter="fade">
                                      <p:cBhvr>
                                        <p:cTn id="12" dur="500"/>
                                        <p:tgtEl>
                                          <p:spTgt spid="2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4">
                                            <p:txEl>
                                              <p:pRg st="2" end="2"/>
                                            </p:txEl>
                                          </p:spTgt>
                                        </p:tgtEl>
                                        <p:attrNameLst>
                                          <p:attrName>style.visibility</p:attrName>
                                        </p:attrNameLst>
                                      </p:cBhvr>
                                      <p:to>
                                        <p:strVal val="visible"/>
                                      </p:to>
                                    </p:set>
                                    <p:animEffect transition="in" filter="fade">
                                      <p:cBhvr>
                                        <p:cTn id="17" dur="500"/>
                                        <p:tgtEl>
                                          <p:spTgt spid="2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4">
                                            <p:txEl>
                                              <p:pRg st="3" end="3"/>
                                            </p:txEl>
                                          </p:spTgt>
                                        </p:tgtEl>
                                        <p:attrNameLst>
                                          <p:attrName>style.visibility</p:attrName>
                                        </p:attrNameLst>
                                      </p:cBhvr>
                                      <p:to>
                                        <p:strVal val="visible"/>
                                      </p:to>
                                    </p:set>
                                    <p:animEffect transition="in" filter="fade">
                                      <p:cBhvr>
                                        <p:cTn id="22" dur="500"/>
                                        <p:tgtEl>
                                          <p:spTgt spid="28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4">
                                            <p:txEl>
                                              <p:pRg st="4" end="4"/>
                                            </p:txEl>
                                          </p:spTgt>
                                        </p:tgtEl>
                                        <p:attrNameLst>
                                          <p:attrName>style.visibility</p:attrName>
                                        </p:attrNameLst>
                                      </p:cBhvr>
                                      <p:to>
                                        <p:strVal val="visible"/>
                                      </p:to>
                                    </p:set>
                                    <p:animEffect transition="in" filter="fade">
                                      <p:cBhvr>
                                        <p:cTn id="27" dur="500"/>
                                        <p:tgtEl>
                                          <p:spTgt spid="28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4">
                                            <p:txEl>
                                              <p:pRg st="5" end="5"/>
                                            </p:txEl>
                                          </p:spTgt>
                                        </p:tgtEl>
                                        <p:attrNameLst>
                                          <p:attrName>style.visibility</p:attrName>
                                        </p:attrNameLst>
                                      </p:cBhvr>
                                      <p:to>
                                        <p:strVal val="visible"/>
                                      </p:to>
                                    </p:set>
                                    <p:animEffect transition="in" filter="fade">
                                      <p:cBhvr>
                                        <p:cTn id="32" dur="500"/>
                                        <p:tgtEl>
                                          <p:spTgt spid="28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4">
                                            <p:txEl>
                                              <p:pRg st="6" end="6"/>
                                            </p:txEl>
                                          </p:spTgt>
                                        </p:tgtEl>
                                        <p:attrNameLst>
                                          <p:attrName>style.visibility</p:attrName>
                                        </p:attrNameLst>
                                      </p:cBhvr>
                                      <p:to>
                                        <p:strVal val="visible"/>
                                      </p:to>
                                    </p:set>
                                    <p:animEffect transition="in" filter="fade">
                                      <p:cBhvr>
                                        <p:cTn id="37" dur="500"/>
                                        <p:tgtEl>
                                          <p:spTgt spid="28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4">
                                            <p:txEl>
                                              <p:pRg st="7" end="7"/>
                                            </p:txEl>
                                          </p:spTgt>
                                        </p:tgtEl>
                                        <p:attrNameLst>
                                          <p:attrName>style.visibility</p:attrName>
                                        </p:attrNameLst>
                                      </p:cBhvr>
                                      <p:to>
                                        <p:strVal val="visible"/>
                                      </p:to>
                                    </p:set>
                                    <p:animEffect transition="in" filter="fade">
                                      <p:cBhvr>
                                        <p:cTn id="42" dur="500"/>
                                        <p:tgtEl>
                                          <p:spTgt spid="28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4">
                                            <p:txEl>
                                              <p:pRg st="8" end="8"/>
                                            </p:txEl>
                                          </p:spTgt>
                                        </p:tgtEl>
                                        <p:attrNameLst>
                                          <p:attrName>style.visibility</p:attrName>
                                        </p:attrNameLst>
                                      </p:cBhvr>
                                      <p:to>
                                        <p:strVal val="visible"/>
                                      </p:to>
                                    </p:set>
                                    <p:animEffect transition="in" filter="fade">
                                      <p:cBhvr>
                                        <p:cTn id="47" dur="500"/>
                                        <p:tgtEl>
                                          <p:spTgt spid="28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85">
                                            <p:txEl>
                                              <p:pRg st="0" end="0"/>
                                            </p:txEl>
                                          </p:spTgt>
                                        </p:tgtEl>
                                        <p:attrNameLst>
                                          <p:attrName>style.visibility</p:attrName>
                                        </p:attrNameLst>
                                      </p:cBhvr>
                                      <p:to>
                                        <p:strVal val="visible"/>
                                      </p:to>
                                    </p:set>
                                    <p:animEffect transition="in" filter="fade">
                                      <p:cBhvr>
                                        <p:cTn id="52" dur="500"/>
                                        <p:tgtEl>
                                          <p:spTgt spid="28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85">
                                            <p:txEl>
                                              <p:pRg st="1" end="1"/>
                                            </p:txEl>
                                          </p:spTgt>
                                        </p:tgtEl>
                                        <p:attrNameLst>
                                          <p:attrName>style.visibility</p:attrName>
                                        </p:attrNameLst>
                                      </p:cBhvr>
                                      <p:to>
                                        <p:strVal val="visible"/>
                                      </p:to>
                                    </p:set>
                                    <p:animEffect transition="in" filter="fade">
                                      <p:cBhvr>
                                        <p:cTn id="57" dur="500"/>
                                        <p:tgtEl>
                                          <p:spTgt spid="28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85">
                                            <p:txEl>
                                              <p:pRg st="2" end="2"/>
                                            </p:txEl>
                                          </p:spTgt>
                                        </p:tgtEl>
                                        <p:attrNameLst>
                                          <p:attrName>style.visibility</p:attrName>
                                        </p:attrNameLst>
                                      </p:cBhvr>
                                      <p:to>
                                        <p:strVal val="visible"/>
                                      </p:to>
                                    </p:set>
                                    <p:animEffect transition="in" filter="fade">
                                      <p:cBhvr>
                                        <p:cTn id="62" dur="500"/>
                                        <p:tgtEl>
                                          <p:spTgt spid="285">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85">
                                            <p:txEl>
                                              <p:pRg st="3" end="3"/>
                                            </p:txEl>
                                          </p:spTgt>
                                        </p:tgtEl>
                                        <p:attrNameLst>
                                          <p:attrName>style.visibility</p:attrName>
                                        </p:attrNameLst>
                                      </p:cBhvr>
                                      <p:to>
                                        <p:strVal val="visible"/>
                                      </p:to>
                                    </p:set>
                                    <p:animEffect transition="in" filter="fade">
                                      <p:cBhvr>
                                        <p:cTn id="67" dur="500"/>
                                        <p:tgtEl>
                                          <p:spTgt spid="285">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85">
                                            <p:txEl>
                                              <p:pRg st="4" end="4"/>
                                            </p:txEl>
                                          </p:spTgt>
                                        </p:tgtEl>
                                        <p:attrNameLst>
                                          <p:attrName>style.visibility</p:attrName>
                                        </p:attrNameLst>
                                      </p:cBhvr>
                                      <p:to>
                                        <p:strVal val="visible"/>
                                      </p:to>
                                    </p:set>
                                    <p:animEffect transition="in" filter="fade">
                                      <p:cBhvr>
                                        <p:cTn id="72" dur="500"/>
                                        <p:tgtEl>
                                          <p:spTgt spid="285">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85">
                                            <p:txEl>
                                              <p:pRg st="5" end="5"/>
                                            </p:txEl>
                                          </p:spTgt>
                                        </p:tgtEl>
                                        <p:attrNameLst>
                                          <p:attrName>style.visibility</p:attrName>
                                        </p:attrNameLst>
                                      </p:cBhvr>
                                      <p:to>
                                        <p:strVal val="visible"/>
                                      </p:to>
                                    </p:set>
                                    <p:animEffect transition="in" filter="fade">
                                      <p:cBhvr>
                                        <p:cTn id="77" dur="500"/>
                                        <p:tgtEl>
                                          <p:spTgt spid="285">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85">
                                            <p:txEl>
                                              <p:pRg st="6" end="6"/>
                                            </p:txEl>
                                          </p:spTgt>
                                        </p:tgtEl>
                                        <p:attrNameLst>
                                          <p:attrName>style.visibility</p:attrName>
                                        </p:attrNameLst>
                                      </p:cBhvr>
                                      <p:to>
                                        <p:strVal val="visible"/>
                                      </p:to>
                                    </p:set>
                                    <p:animEffect transition="in" filter="fade">
                                      <p:cBhvr>
                                        <p:cTn id="82" dur="500"/>
                                        <p:tgtEl>
                                          <p:spTgt spid="285">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86">
                                            <p:txEl>
                                              <p:pRg st="0" end="0"/>
                                            </p:txEl>
                                          </p:spTgt>
                                        </p:tgtEl>
                                        <p:attrNameLst>
                                          <p:attrName>style.visibility</p:attrName>
                                        </p:attrNameLst>
                                      </p:cBhvr>
                                      <p:to>
                                        <p:strVal val="visible"/>
                                      </p:to>
                                    </p:set>
                                    <p:animEffect transition="in" filter="fade">
                                      <p:cBhvr>
                                        <p:cTn id="87" dur="500"/>
                                        <p:tgtEl>
                                          <p:spTgt spid="286">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86">
                                            <p:txEl>
                                              <p:pRg st="1" end="1"/>
                                            </p:txEl>
                                          </p:spTgt>
                                        </p:tgtEl>
                                        <p:attrNameLst>
                                          <p:attrName>style.visibility</p:attrName>
                                        </p:attrNameLst>
                                      </p:cBhvr>
                                      <p:to>
                                        <p:strVal val="visible"/>
                                      </p:to>
                                    </p:set>
                                    <p:animEffect transition="in" filter="fade">
                                      <p:cBhvr>
                                        <p:cTn id="92" dur="500"/>
                                        <p:tgtEl>
                                          <p:spTgt spid="286">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86">
                                            <p:txEl>
                                              <p:pRg st="2" end="2"/>
                                            </p:txEl>
                                          </p:spTgt>
                                        </p:tgtEl>
                                        <p:attrNameLst>
                                          <p:attrName>style.visibility</p:attrName>
                                        </p:attrNameLst>
                                      </p:cBhvr>
                                      <p:to>
                                        <p:strVal val="visible"/>
                                      </p:to>
                                    </p:set>
                                    <p:animEffect transition="in" filter="fade">
                                      <p:cBhvr>
                                        <p:cTn id="97" dur="500"/>
                                        <p:tgtEl>
                                          <p:spTgt spid="286">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86">
                                            <p:txEl>
                                              <p:pRg st="3" end="3"/>
                                            </p:txEl>
                                          </p:spTgt>
                                        </p:tgtEl>
                                        <p:attrNameLst>
                                          <p:attrName>style.visibility</p:attrName>
                                        </p:attrNameLst>
                                      </p:cBhvr>
                                      <p:to>
                                        <p:strVal val="visible"/>
                                      </p:to>
                                    </p:set>
                                    <p:animEffect transition="in" filter="fade">
                                      <p:cBhvr>
                                        <p:cTn id="102" dur="500"/>
                                        <p:tgtEl>
                                          <p:spTgt spid="286">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286">
                                            <p:txEl>
                                              <p:pRg st="4" end="4"/>
                                            </p:txEl>
                                          </p:spTgt>
                                        </p:tgtEl>
                                        <p:attrNameLst>
                                          <p:attrName>style.visibility</p:attrName>
                                        </p:attrNameLst>
                                      </p:cBhvr>
                                      <p:to>
                                        <p:strVal val="visible"/>
                                      </p:to>
                                    </p:set>
                                    <p:animEffect transition="in" filter="fade">
                                      <p:cBhvr>
                                        <p:cTn id="107" dur="500"/>
                                        <p:tgtEl>
                                          <p:spTgt spid="286">
                                            <p:txEl>
                                              <p:pRg st="4" end="4"/>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286">
                                            <p:txEl>
                                              <p:pRg st="5" end="5"/>
                                            </p:txEl>
                                          </p:spTgt>
                                        </p:tgtEl>
                                        <p:attrNameLst>
                                          <p:attrName>style.visibility</p:attrName>
                                        </p:attrNameLst>
                                      </p:cBhvr>
                                      <p:to>
                                        <p:strVal val="visible"/>
                                      </p:to>
                                    </p:set>
                                    <p:animEffect transition="in" filter="fade">
                                      <p:cBhvr>
                                        <p:cTn id="112" dur="500"/>
                                        <p:tgtEl>
                                          <p:spTgt spid="286">
                                            <p:txEl>
                                              <p:pRg st="5" end="5"/>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286">
                                            <p:txEl>
                                              <p:pRg st="6" end="6"/>
                                            </p:txEl>
                                          </p:spTgt>
                                        </p:tgtEl>
                                        <p:attrNameLst>
                                          <p:attrName>style.visibility</p:attrName>
                                        </p:attrNameLst>
                                      </p:cBhvr>
                                      <p:to>
                                        <p:strVal val="visible"/>
                                      </p:to>
                                    </p:set>
                                    <p:animEffect transition="in" filter="fade">
                                      <p:cBhvr>
                                        <p:cTn id="117" dur="500"/>
                                        <p:tgtEl>
                                          <p:spTgt spid="28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7"/>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Two Dimensional Array</a:t>
            </a:r>
            <a:endParaRPr/>
          </a:p>
        </p:txBody>
      </p:sp>
      <p:sp>
        <p:nvSpPr>
          <p:cNvPr id="292" name="Google Shape;292;p27"/>
          <p:cNvSpPr txBox="1">
            <a:spLocks noGrp="1"/>
          </p:cNvSpPr>
          <p:nvPr>
            <p:ph type="body" idx="1"/>
          </p:nvPr>
        </p:nvSpPr>
        <p:spPr>
          <a:xfrm>
            <a:off x="457200" y="8953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Two subscripted variable is referred to Two Dimensional or Matrix Array.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The two dimensional array in C language is represented in the form of rows and columns.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It is also known as array of arrays or list of arrays.</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Example:- int a [3]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animEffect transition="in" filter="fade">
                                      <p:cBhvr>
                                        <p:cTn id="7" dur="500"/>
                                        <p:tgtEl>
                                          <p:spTgt spid="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2">
                                            <p:txEl>
                                              <p:pRg st="1" end="1"/>
                                            </p:txEl>
                                          </p:spTgt>
                                        </p:tgtEl>
                                        <p:attrNameLst>
                                          <p:attrName>style.visibility</p:attrName>
                                        </p:attrNameLst>
                                      </p:cBhvr>
                                      <p:to>
                                        <p:strVal val="visible"/>
                                      </p:to>
                                    </p:set>
                                    <p:animEffect transition="in" filter="fade">
                                      <p:cBhvr>
                                        <p:cTn id="12" dur="500"/>
                                        <p:tgtEl>
                                          <p:spTgt spid="2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2">
                                            <p:txEl>
                                              <p:pRg st="2" end="2"/>
                                            </p:txEl>
                                          </p:spTgt>
                                        </p:tgtEl>
                                        <p:attrNameLst>
                                          <p:attrName>style.visibility</p:attrName>
                                        </p:attrNameLst>
                                      </p:cBhvr>
                                      <p:to>
                                        <p:strVal val="visible"/>
                                      </p:to>
                                    </p:set>
                                    <p:animEffect transition="in" filter="fade">
                                      <p:cBhvr>
                                        <p:cTn id="17" dur="500"/>
                                        <p:tgtEl>
                                          <p:spTgt spid="2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2">
                                            <p:txEl>
                                              <p:pRg st="3" end="3"/>
                                            </p:txEl>
                                          </p:spTgt>
                                        </p:tgtEl>
                                        <p:attrNameLst>
                                          <p:attrName>style.visibility</p:attrName>
                                        </p:attrNameLst>
                                      </p:cBhvr>
                                      <p:to>
                                        <p:strVal val="visible"/>
                                      </p:to>
                                    </p:set>
                                    <p:animEffect transition="in" filter="fade">
                                      <p:cBhvr>
                                        <p:cTn id="22" dur="500"/>
                                        <p:tgtEl>
                                          <p:spTgt spid="29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8"/>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Declaring Two-D Array</a:t>
            </a:r>
            <a:endParaRPr/>
          </a:p>
        </p:txBody>
      </p:sp>
      <p:sp>
        <p:nvSpPr>
          <p:cNvPr id="298" name="Google Shape;298;p28"/>
          <p:cNvSpPr txBox="1">
            <a:spLocks noGrp="1"/>
          </p:cNvSpPr>
          <p:nvPr>
            <p:ph type="body" idx="1"/>
          </p:nvPr>
        </p:nvSpPr>
        <p:spPr>
          <a:xfrm>
            <a:off x="457200" y="895350"/>
            <a:ext cx="8229600" cy="38862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00000"/>
              </a:lnSpc>
              <a:spcBef>
                <a:spcPts val="0"/>
              </a:spcBef>
              <a:spcAft>
                <a:spcPts val="0"/>
              </a:spcAft>
              <a:buClr>
                <a:schemeClr val="dk1"/>
              </a:buClr>
              <a:buSzPct val="100000"/>
              <a:buNone/>
            </a:pPr>
            <a:r>
              <a:rPr lang="en-US" sz="2200">
                <a:latin typeface="Times New Roman"/>
                <a:ea typeface="Times New Roman"/>
                <a:cs typeface="Times New Roman"/>
                <a:sym typeface="Times New Roman"/>
              </a:rPr>
              <a:t>Syntax: - data_type array_name[size][size];</a:t>
            </a:r>
            <a:endParaRPr/>
          </a:p>
          <a:p>
            <a:pPr marL="0" lvl="0" indent="0" algn="l" rtl="0">
              <a:lnSpc>
                <a:spcPct val="100000"/>
              </a:lnSpc>
              <a:spcBef>
                <a:spcPts val="374"/>
              </a:spcBef>
              <a:spcAft>
                <a:spcPts val="0"/>
              </a:spcAft>
              <a:buClr>
                <a:schemeClr val="dk1"/>
              </a:buClr>
              <a:buSzPct val="100000"/>
              <a:buNone/>
            </a:pPr>
            <a:r>
              <a:rPr lang="en-US" sz="2200">
                <a:latin typeface="Times New Roman"/>
                <a:ea typeface="Times New Roman"/>
                <a:cs typeface="Times New Roman"/>
                <a:sym typeface="Times New Roman"/>
              </a:rPr>
              <a:t>Ex: -</a:t>
            </a:r>
            <a:endParaRPr/>
          </a:p>
          <a:p>
            <a:pPr marL="457200" lvl="0" indent="-342900" algn="l" rtl="0">
              <a:lnSpc>
                <a:spcPct val="100000"/>
              </a:lnSpc>
              <a:spcBef>
                <a:spcPts val="360"/>
              </a:spcBef>
              <a:spcAft>
                <a:spcPts val="0"/>
              </a:spcAft>
              <a:buClr>
                <a:schemeClr val="dk1"/>
              </a:buClr>
              <a:buSzPct val="105882"/>
              <a:buChar char="•"/>
            </a:pPr>
            <a:r>
              <a:rPr lang="en-US" sz="2000"/>
              <a:t>int a[3][2];   // Both dimensions specified</a:t>
            </a:r>
            <a:endParaRPr/>
          </a:p>
          <a:p>
            <a:pPr marL="457200" lvl="0" indent="-228600" algn="l" rtl="0">
              <a:lnSpc>
                <a:spcPct val="100000"/>
              </a:lnSpc>
              <a:spcBef>
                <a:spcPts val="360"/>
              </a:spcBef>
              <a:spcAft>
                <a:spcPts val="0"/>
              </a:spcAft>
              <a:buClr>
                <a:schemeClr val="dk1"/>
              </a:buClr>
              <a:buSzPct val="105882"/>
              <a:buNone/>
            </a:pPr>
            <a:endParaRPr sz="2000"/>
          </a:p>
          <a:p>
            <a:pPr marL="457200" lvl="0" indent="-342900" algn="l" rtl="0">
              <a:lnSpc>
                <a:spcPct val="100000"/>
              </a:lnSpc>
              <a:spcBef>
                <a:spcPts val="360"/>
              </a:spcBef>
              <a:spcAft>
                <a:spcPts val="0"/>
              </a:spcAft>
              <a:buClr>
                <a:schemeClr val="dk1"/>
              </a:buClr>
              <a:buSzPct val="105882"/>
              <a:buChar char="•"/>
            </a:pPr>
            <a:r>
              <a:rPr lang="en-US" sz="2000"/>
              <a:t>❌ Invalid</a:t>
            </a:r>
            <a:endParaRPr/>
          </a:p>
          <a:p>
            <a:pPr marL="457200" lvl="0" indent="-342900" algn="l" rtl="0">
              <a:lnSpc>
                <a:spcPct val="100000"/>
              </a:lnSpc>
              <a:spcBef>
                <a:spcPts val="360"/>
              </a:spcBef>
              <a:spcAft>
                <a:spcPts val="0"/>
              </a:spcAft>
              <a:buClr>
                <a:schemeClr val="dk1"/>
              </a:buClr>
              <a:buSzPct val="105882"/>
              <a:buChar char="•"/>
            </a:pPr>
            <a:r>
              <a:rPr lang="en-US" sz="2000"/>
              <a:t>int a[][];     // Both dimensions missing</a:t>
            </a:r>
            <a:endParaRPr/>
          </a:p>
          <a:p>
            <a:pPr marL="457200" lvl="0" indent="-228600" algn="l" rtl="0">
              <a:lnSpc>
                <a:spcPct val="100000"/>
              </a:lnSpc>
              <a:spcBef>
                <a:spcPts val="360"/>
              </a:spcBef>
              <a:spcAft>
                <a:spcPts val="0"/>
              </a:spcAft>
              <a:buClr>
                <a:schemeClr val="dk1"/>
              </a:buClr>
              <a:buSzPct val="105882"/>
              <a:buNone/>
            </a:pPr>
            <a:endParaRPr sz="2000"/>
          </a:p>
          <a:p>
            <a:pPr marL="457200" lvl="0" indent="-342900" algn="l" rtl="0">
              <a:lnSpc>
                <a:spcPct val="100000"/>
              </a:lnSpc>
              <a:spcBef>
                <a:spcPts val="360"/>
              </a:spcBef>
              <a:spcAft>
                <a:spcPts val="0"/>
              </a:spcAft>
              <a:buClr>
                <a:schemeClr val="dk1"/>
              </a:buClr>
              <a:buSzPct val="105882"/>
              <a:buChar char="•"/>
            </a:pPr>
            <a:r>
              <a:rPr lang="en-US" sz="2000"/>
              <a:t>❌ Invalid</a:t>
            </a:r>
            <a:endParaRPr/>
          </a:p>
          <a:p>
            <a:pPr marL="457200" lvl="0" indent="-342900" algn="l" rtl="0">
              <a:lnSpc>
                <a:spcPct val="100000"/>
              </a:lnSpc>
              <a:spcBef>
                <a:spcPts val="360"/>
              </a:spcBef>
              <a:spcAft>
                <a:spcPts val="0"/>
              </a:spcAft>
              <a:buClr>
                <a:schemeClr val="dk1"/>
              </a:buClr>
              <a:buSzPct val="105882"/>
              <a:buChar char="•"/>
            </a:pPr>
            <a:r>
              <a:rPr lang="en-US" sz="2000"/>
              <a:t>int a[][2];    // First dimension missing (only valid in</a:t>
            </a:r>
            <a:endParaRPr/>
          </a:p>
          <a:p>
            <a:pPr marL="457200" lvl="0" indent="-342900" algn="l" rtl="0">
              <a:lnSpc>
                <a:spcPct val="100000"/>
              </a:lnSpc>
              <a:spcBef>
                <a:spcPts val="360"/>
              </a:spcBef>
              <a:spcAft>
                <a:spcPts val="0"/>
              </a:spcAft>
              <a:buClr>
                <a:schemeClr val="dk1"/>
              </a:buClr>
              <a:buSzPct val="105882"/>
              <a:buChar char="•"/>
            </a:pPr>
            <a:r>
              <a:rPr lang="en-US" sz="2000"/>
              <a:t> function parameter)</a:t>
            </a:r>
            <a:endParaRPr/>
          </a:p>
          <a:p>
            <a:pPr marL="457200" lvl="0" indent="-228600" algn="l" rtl="0">
              <a:lnSpc>
                <a:spcPct val="100000"/>
              </a:lnSpc>
              <a:spcBef>
                <a:spcPts val="360"/>
              </a:spcBef>
              <a:spcAft>
                <a:spcPts val="0"/>
              </a:spcAft>
              <a:buClr>
                <a:schemeClr val="dk1"/>
              </a:buClr>
              <a:buSzPct val="105882"/>
              <a:buNone/>
            </a:pPr>
            <a:endParaRPr sz="2000"/>
          </a:p>
          <a:p>
            <a:pPr marL="457200" lvl="0" indent="-342900" algn="l" rtl="0">
              <a:lnSpc>
                <a:spcPct val="100000"/>
              </a:lnSpc>
              <a:spcBef>
                <a:spcPts val="360"/>
              </a:spcBef>
              <a:spcAft>
                <a:spcPts val="0"/>
              </a:spcAft>
              <a:buClr>
                <a:schemeClr val="dk1"/>
              </a:buClr>
              <a:buSzPct val="105882"/>
              <a:buChar char="•"/>
            </a:pPr>
            <a:r>
              <a:rPr lang="en-US" sz="2000"/>
              <a:t>❌ Invalid</a:t>
            </a:r>
            <a:endParaRPr/>
          </a:p>
          <a:p>
            <a:pPr marL="114300" lvl="0" indent="0" algn="l" rtl="0">
              <a:lnSpc>
                <a:spcPct val="100000"/>
              </a:lnSpc>
              <a:spcBef>
                <a:spcPts val="360"/>
              </a:spcBef>
              <a:spcAft>
                <a:spcPts val="0"/>
              </a:spcAft>
              <a:buSzPct val="105882"/>
              <a:buNone/>
            </a:pPr>
            <a:endParaRPr sz="2000"/>
          </a:p>
          <a:p>
            <a:pPr marL="457200" lvl="0" indent="-342900" algn="l" rtl="0">
              <a:lnSpc>
                <a:spcPct val="100000"/>
              </a:lnSpc>
              <a:spcBef>
                <a:spcPts val="360"/>
              </a:spcBef>
              <a:spcAft>
                <a:spcPts val="0"/>
              </a:spcAft>
              <a:buClr>
                <a:schemeClr val="dk1"/>
              </a:buClr>
              <a:buSzPct val="105882"/>
              <a:buChar char="•"/>
            </a:pPr>
            <a:r>
              <a:rPr lang="en-US" sz="2000"/>
              <a:t>int a[3][];    // Second dimension missing (not allowed)</a:t>
            </a:r>
            <a:endParaRPr/>
          </a:p>
          <a:p>
            <a:pPr marL="0" lvl="0" indent="0" algn="l" rtl="0">
              <a:lnSpc>
                <a:spcPct val="100000"/>
              </a:lnSpc>
              <a:spcBef>
                <a:spcPts val="340"/>
              </a:spcBef>
              <a:spcAft>
                <a:spcPts val="0"/>
              </a:spcAft>
              <a:buClr>
                <a:schemeClr val="dk1"/>
              </a:buClr>
              <a:buSzPct val="100000"/>
              <a:buNone/>
            </a:pPr>
            <a:endParaRPr sz="2000">
              <a:latin typeface="Times New Roman"/>
              <a:ea typeface="Times New Roman"/>
              <a:cs typeface="Times New Roman"/>
              <a:sym typeface="Times New Roman"/>
            </a:endParaRPr>
          </a:p>
        </p:txBody>
      </p:sp>
      <p:graphicFrame>
        <p:nvGraphicFramePr>
          <p:cNvPr id="299" name="Google Shape;299;p28"/>
          <p:cNvGraphicFramePr/>
          <p:nvPr/>
        </p:nvGraphicFramePr>
        <p:xfrm>
          <a:off x="7161637" y="2419350"/>
          <a:ext cx="1375100" cy="1112550"/>
        </p:xfrm>
        <a:graphic>
          <a:graphicData uri="http://schemas.openxmlformats.org/drawingml/2006/table">
            <a:tbl>
              <a:tblPr firstRow="1" bandRow="1">
                <a:noFill/>
                <a:tableStyleId>{3FBC2B39-A801-4669-B20D-D6CF5779721A}</a:tableStyleId>
              </a:tblPr>
              <a:tblGrid>
                <a:gridCol w="687550"/>
                <a:gridCol w="687550"/>
              </a:tblGrid>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r>
              <a:tr h="3708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oFill/>
                  </a:tcPr>
                </a:tc>
              </a:tr>
            </a:tbl>
          </a:graphicData>
        </a:graphic>
      </p:graphicFrame>
      <p:graphicFrame>
        <p:nvGraphicFramePr>
          <p:cNvPr id="300" name="Google Shape;300;p28"/>
          <p:cNvGraphicFramePr/>
          <p:nvPr/>
        </p:nvGraphicFramePr>
        <p:xfrm>
          <a:off x="6617185" y="2419351"/>
          <a:ext cx="544450" cy="1195540"/>
        </p:xfrm>
        <a:graphic>
          <a:graphicData uri="http://schemas.openxmlformats.org/drawingml/2006/table">
            <a:tbl>
              <a:tblPr firstRow="1" bandRow="1">
                <a:noFill/>
                <a:tableStyleId>{3FBC2B39-A801-4669-B20D-D6CF5779721A}</a:tableStyleId>
              </a:tblPr>
              <a:tblGrid>
                <a:gridCol w="544450"/>
              </a:tblGrid>
              <a:tr h="4640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2427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2427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graphicFrame>
        <p:nvGraphicFramePr>
          <p:cNvPr id="301" name="Google Shape;301;p28"/>
          <p:cNvGraphicFramePr/>
          <p:nvPr/>
        </p:nvGraphicFramePr>
        <p:xfrm>
          <a:off x="7161635" y="2114550"/>
          <a:ext cx="1375100" cy="370850"/>
        </p:xfrm>
        <a:graphic>
          <a:graphicData uri="http://schemas.openxmlformats.org/drawingml/2006/table">
            <a:tbl>
              <a:tblPr firstRow="1" bandRow="1">
                <a:noFill/>
                <a:tableStyleId>{3FBC2B39-A801-4669-B20D-D6CF5779721A}</a:tableStyleId>
              </a:tblPr>
              <a:tblGrid>
                <a:gridCol w="687550"/>
                <a:gridCol w="68755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
        <p:nvSpPr>
          <p:cNvPr id="302" name="Google Shape;302;p28"/>
          <p:cNvSpPr txBox="1"/>
          <p:nvPr/>
        </p:nvSpPr>
        <p:spPr>
          <a:xfrm>
            <a:off x="3470416" y="1466196"/>
            <a:ext cx="1101584" cy="261610"/>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Number of Row</a:t>
            </a:r>
            <a:endParaRPr sz="1400" b="0" i="0" u="none" strike="noStrike" cap="none">
              <a:solidFill>
                <a:srgbClr val="000000"/>
              </a:solidFill>
              <a:latin typeface="Arial"/>
              <a:ea typeface="Arial"/>
              <a:cs typeface="Arial"/>
              <a:sym typeface="Arial"/>
            </a:endParaRPr>
          </a:p>
        </p:txBody>
      </p:sp>
      <p:cxnSp>
        <p:nvCxnSpPr>
          <p:cNvPr id="303" name="Google Shape;303;p28"/>
          <p:cNvCxnSpPr/>
          <p:nvPr/>
        </p:nvCxnSpPr>
        <p:spPr>
          <a:xfrm rot="10800000">
            <a:off x="3886200" y="1156810"/>
            <a:ext cx="228600" cy="304800"/>
          </a:xfrm>
          <a:prstGeom prst="straightConnector1">
            <a:avLst/>
          </a:prstGeom>
          <a:noFill/>
          <a:ln w="9525" cap="flat" cmpd="sng">
            <a:solidFill>
              <a:srgbClr val="4A7DBA"/>
            </a:solidFill>
            <a:prstDash val="solid"/>
            <a:round/>
            <a:headEnd type="none" w="sm" len="sm"/>
            <a:tailEnd type="stealth" w="med" len="med"/>
          </a:ln>
        </p:spPr>
      </p:cxnSp>
      <p:sp>
        <p:nvSpPr>
          <p:cNvPr id="304" name="Google Shape;304;p28"/>
          <p:cNvSpPr txBox="1"/>
          <p:nvPr/>
        </p:nvSpPr>
        <p:spPr>
          <a:xfrm>
            <a:off x="4698102" y="1446060"/>
            <a:ext cx="1287532" cy="261610"/>
          </a:xfrm>
          <a:prstGeom prst="rect">
            <a:avLst/>
          </a:prstGeom>
          <a:solidFill>
            <a:schemeClr val="lt1"/>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Number of Column</a:t>
            </a:r>
            <a:endParaRPr sz="1400" b="0" i="0" u="none" strike="noStrike" cap="none">
              <a:solidFill>
                <a:srgbClr val="000000"/>
              </a:solidFill>
              <a:latin typeface="Arial"/>
              <a:ea typeface="Arial"/>
              <a:cs typeface="Arial"/>
              <a:sym typeface="Arial"/>
            </a:endParaRPr>
          </a:p>
        </p:txBody>
      </p:sp>
      <p:cxnSp>
        <p:nvCxnSpPr>
          <p:cNvPr id="305" name="Google Shape;305;p28"/>
          <p:cNvCxnSpPr/>
          <p:nvPr/>
        </p:nvCxnSpPr>
        <p:spPr>
          <a:xfrm rot="10800000">
            <a:off x="4513192" y="1156811"/>
            <a:ext cx="287408" cy="289249"/>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xEl>
                                              <p:pRg st="0" end="0"/>
                                            </p:txEl>
                                          </p:spTgt>
                                        </p:tgtEl>
                                        <p:attrNameLst>
                                          <p:attrName>style.visibility</p:attrName>
                                        </p:attrNameLst>
                                      </p:cBhvr>
                                      <p:to>
                                        <p:strVal val="visible"/>
                                      </p:to>
                                    </p:set>
                                    <p:animEffect transition="in" filter="fade">
                                      <p:cBhvr>
                                        <p:cTn id="7" dur="500"/>
                                        <p:tgtEl>
                                          <p:spTgt spid="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8">
                                            <p:txEl>
                                              <p:pRg st="1" end="1"/>
                                            </p:txEl>
                                          </p:spTgt>
                                        </p:tgtEl>
                                        <p:attrNameLst>
                                          <p:attrName>style.visibility</p:attrName>
                                        </p:attrNameLst>
                                      </p:cBhvr>
                                      <p:to>
                                        <p:strVal val="visible"/>
                                      </p:to>
                                    </p:set>
                                    <p:animEffect transition="in" filter="fade">
                                      <p:cBhvr>
                                        <p:cTn id="12" dur="500"/>
                                        <p:tgtEl>
                                          <p:spTgt spid="2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8">
                                            <p:txEl>
                                              <p:pRg st="2" end="2"/>
                                            </p:txEl>
                                          </p:spTgt>
                                        </p:tgtEl>
                                        <p:attrNameLst>
                                          <p:attrName>style.visibility</p:attrName>
                                        </p:attrNameLst>
                                      </p:cBhvr>
                                      <p:to>
                                        <p:strVal val="visible"/>
                                      </p:to>
                                    </p:set>
                                    <p:animEffect transition="in" filter="fade">
                                      <p:cBhvr>
                                        <p:cTn id="17" dur="500"/>
                                        <p:tgtEl>
                                          <p:spTgt spid="2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8">
                                            <p:txEl>
                                              <p:pRg st="3" end="3"/>
                                            </p:txEl>
                                          </p:spTgt>
                                        </p:tgtEl>
                                        <p:attrNameLst>
                                          <p:attrName>style.visibility</p:attrName>
                                        </p:attrNameLst>
                                      </p:cBhvr>
                                      <p:to>
                                        <p:strVal val="visible"/>
                                      </p:to>
                                    </p:set>
                                    <p:animEffect transition="in" filter="fade">
                                      <p:cBhvr>
                                        <p:cTn id="22" dur="500"/>
                                        <p:tgtEl>
                                          <p:spTgt spid="2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8">
                                            <p:txEl>
                                              <p:pRg st="4" end="4"/>
                                            </p:txEl>
                                          </p:spTgt>
                                        </p:tgtEl>
                                        <p:attrNameLst>
                                          <p:attrName>style.visibility</p:attrName>
                                        </p:attrNameLst>
                                      </p:cBhvr>
                                      <p:to>
                                        <p:strVal val="visible"/>
                                      </p:to>
                                    </p:set>
                                    <p:animEffect transition="in" filter="fade">
                                      <p:cBhvr>
                                        <p:cTn id="27" dur="500"/>
                                        <p:tgtEl>
                                          <p:spTgt spid="2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8">
                                            <p:txEl>
                                              <p:pRg st="5" end="5"/>
                                            </p:txEl>
                                          </p:spTgt>
                                        </p:tgtEl>
                                        <p:attrNameLst>
                                          <p:attrName>style.visibility</p:attrName>
                                        </p:attrNameLst>
                                      </p:cBhvr>
                                      <p:to>
                                        <p:strVal val="visible"/>
                                      </p:to>
                                    </p:set>
                                    <p:animEffect transition="in" filter="fade">
                                      <p:cBhvr>
                                        <p:cTn id="32" dur="500"/>
                                        <p:tgtEl>
                                          <p:spTgt spid="29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8">
                                            <p:txEl>
                                              <p:pRg st="6" end="6"/>
                                            </p:txEl>
                                          </p:spTgt>
                                        </p:tgtEl>
                                        <p:attrNameLst>
                                          <p:attrName>style.visibility</p:attrName>
                                        </p:attrNameLst>
                                      </p:cBhvr>
                                      <p:to>
                                        <p:strVal val="visible"/>
                                      </p:to>
                                    </p:set>
                                    <p:animEffect transition="in" filter="fade">
                                      <p:cBhvr>
                                        <p:cTn id="37" dur="500"/>
                                        <p:tgtEl>
                                          <p:spTgt spid="29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8">
                                            <p:txEl>
                                              <p:pRg st="7" end="7"/>
                                            </p:txEl>
                                          </p:spTgt>
                                        </p:tgtEl>
                                        <p:attrNameLst>
                                          <p:attrName>style.visibility</p:attrName>
                                        </p:attrNameLst>
                                      </p:cBhvr>
                                      <p:to>
                                        <p:strVal val="visible"/>
                                      </p:to>
                                    </p:set>
                                    <p:animEffect transition="in" filter="fade">
                                      <p:cBhvr>
                                        <p:cTn id="42" dur="500"/>
                                        <p:tgtEl>
                                          <p:spTgt spid="29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8">
                                            <p:txEl>
                                              <p:pRg st="8" end="8"/>
                                            </p:txEl>
                                          </p:spTgt>
                                        </p:tgtEl>
                                        <p:attrNameLst>
                                          <p:attrName>style.visibility</p:attrName>
                                        </p:attrNameLst>
                                      </p:cBhvr>
                                      <p:to>
                                        <p:strVal val="visible"/>
                                      </p:to>
                                    </p:set>
                                    <p:animEffect transition="in" filter="fade">
                                      <p:cBhvr>
                                        <p:cTn id="47" dur="500"/>
                                        <p:tgtEl>
                                          <p:spTgt spid="29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8">
                                            <p:txEl>
                                              <p:pRg st="9" end="9"/>
                                            </p:txEl>
                                          </p:spTgt>
                                        </p:tgtEl>
                                        <p:attrNameLst>
                                          <p:attrName>style.visibility</p:attrName>
                                        </p:attrNameLst>
                                      </p:cBhvr>
                                      <p:to>
                                        <p:strVal val="visible"/>
                                      </p:to>
                                    </p:set>
                                    <p:animEffect transition="in" filter="fade">
                                      <p:cBhvr>
                                        <p:cTn id="52" dur="500"/>
                                        <p:tgtEl>
                                          <p:spTgt spid="29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98">
                                            <p:txEl>
                                              <p:pRg st="10" end="10"/>
                                            </p:txEl>
                                          </p:spTgt>
                                        </p:tgtEl>
                                        <p:attrNameLst>
                                          <p:attrName>style.visibility</p:attrName>
                                        </p:attrNameLst>
                                      </p:cBhvr>
                                      <p:to>
                                        <p:strVal val="visible"/>
                                      </p:to>
                                    </p:set>
                                    <p:animEffect transition="in" filter="fade">
                                      <p:cBhvr>
                                        <p:cTn id="57" dur="500"/>
                                        <p:tgtEl>
                                          <p:spTgt spid="29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98">
                                            <p:txEl>
                                              <p:pRg st="11" end="11"/>
                                            </p:txEl>
                                          </p:spTgt>
                                        </p:tgtEl>
                                        <p:attrNameLst>
                                          <p:attrName>style.visibility</p:attrName>
                                        </p:attrNameLst>
                                      </p:cBhvr>
                                      <p:to>
                                        <p:strVal val="visible"/>
                                      </p:to>
                                    </p:set>
                                    <p:animEffect transition="in" filter="fade">
                                      <p:cBhvr>
                                        <p:cTn id="62" dur="500"/>
                                        <p:tgtEl>
                                          <p:spTgt spid="29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98">
                                            <p:txEl>
                                              <p:pRg st="12" end="12"/>
                                            </p:txEl>
                                          </p:spTgt>
                                        </p:tgtEl>
                                        <p:attrNameLst>
                                          <p:attrName>style.visibility</p:attrName>
                                        </p:attrNameLst>
                                      </p:cBhvr>
                                      <p:to>
                                        <p:strVal val="visible"/>
                                      </p:to>
                                    </p:set>
                                    <p:animEffect transition="in" filter="fade">
                                      <p:cBhvr>
                                        <p:cTn id="67" dur="500"/>
                                        <p:tgtEl>
                                          <p:spTgt spid="29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98">
                                            <p:txEl>
                                              <p:pRg st="13" end="13"/>
                                            </p:txEl>
                                          </p:spTgt>
                                        </p:tgtEl>
                                        <p:attrNameLst>
                                          <p:attrName>style.visibility</p:attrName>
                                        </p:attrNameLst>
                                      </p:cBhvr>
                                      <p:to>
                                        <p:strVal val="visible"/>
                                      </p:to>
                                    </p:set>
                                    <p:animEffect transition="in" filter="fade">
                                      <p:cBhvr>
                                        <p:cTn id="72" dur="500"/>
                                        <p:tgtEl>
                                          <p:spTgt spid="298">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98">
                                            <p:txEl>
                                              <p:pRg st="14" end="14"/>
                                            </p:txEl>
                                          </p:spTgt>
                                        </p:tgtEl>
                                        <p:attrNameLst>
                                          <p:attrName>style.visibility</p:attrName>
                                        </p:attrNameLst>
                                      </p:cBhvr>
                                      <p:to>
                                        <p:strVal val="visible"/>
                                      </p:to>
                                    </p:set>
                                    <p:animEffect transition="in" filter="fade">
                                      <p:cBhvr>
                                        <p:cTn id="77" dur="500"/>
                                        <p:tgtEl>
                                          <p:spTgt spid="298">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03"/>
                                        </p:tgtEl>
                                        <p:attrNameLst>
                                          <p:attrName>style.visibility</p:attrName>
                                        </p:attrNameLst>
                                      </p:cBhvr>
                                      <p:to>
                                        <p:strVal val="visible"/>
                                      </p:to>
                                    </p:set>
                                    <p:animEffect transition="in" filter="fade">
                                      <p:cBhvr>
                                        <p:cTn id="82" dur="500"/>
                                        <p:tgtEl>
                                          <p:spTgt spid="303"/>
                                        </p:tgtEl>
                                      </p:cBhvr>
                                    </p:animEffect>
                                  </p:childTnLst>
                                </p:cTn>
                              </p:par>
                              <p:par>
                                <p:cTn id="83" presetID="10" presetClass="entr" presetSubtype="0" fill="hold" nodeType="withEffect">
                                  <p:stCondLst>
                                    <p:cond delay="0"/>
                                  </p:stCondLst>
                                  <p:childTnLst>
                                    <p:set>
                                      <p:cBhvr>
                                        <p:cTn id="84" dur="1" fill="hold">
                                          <p:stCondLst>
                                            <p:cond delay="0"/>
                                          </p:stCondLst>
                                        </p:cTn>
                                        <p:tgtEl>
                                          <p:spTgt spid="302"/>
                                        </p:tgtEl>
                                        <p:attrNameLst>
                                          <p:attrName>style.visibility</p:attrName>
                                        </p:attrNameLst>
                                      </p:cBhvr>
                                      <p:to>
                                        <p:strVal val="visible"/>
                                      </p:to>
                                    </p:set>
                                    <p:animEffect transition="in" filter="fade">
                                      <p:cBhvr>
                                        <p:cTn id="85" dur="500"/>
                                        <p:tgtEl>
                                          <p:spTgt spid="302"/>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05"/>
                                        </p:tgtEl>
                                        <p:attrNameLst>
                                          <p:attrName>style.visibility</p:attrName>
                                        </p:attrNameLst>
                                      </p:cBhvr>
                                      <p:to>
                                        <p:strVal val="visible"/>
                                      </p:to>
                                    </p:set>
                                    <p:animEffect transition="in" filter="fade">
                                      <p:cBhvr>
                                        <p:cTn id="90" dur="500"/>
                                        <p:tgtEl>
                                          <p:spTgt spid="305"/>
                                        </p:tgtEl>
                                      </p:cBhvr>
                                    </p:animEffect>
                                  </p:childTnLst>
                                </p:cTn>
                              </p:par>
                              <p:par>
                                <p:cTn id="91" presetID="10" presetClass="entr" presetSubtype="0" fill="hold" nodeType="withEffect">
                                  <p:stCondLst>
                                    <p:cond delay="0"/>
                                  </p:stCondLst>
                                  <p:childTnLst>
                                    <p:set>
                                      <p:cBhvr>
                                        <p:cTn id="92" dur="1" fill="hold">
                                          <p:stCondLst>
                                            <p:cond delay="0"/>
                                          </p:stCondLst>
                                        </p:cTn>
                                        <p:tgtEl>
                                          <p:spTgt spid="304"/>
                                        </p:tgtEl>
                                        <p:attrNameLst>
                                          <p:attrName>style.visibility</p:attrName>
                                        </p:attrNameLst>
                                      </p:cBhvr>
                                      <p:to>
                                        <p:strVal val="visible"/>
                                      </p:to>
                                    </p:set>
                                    <p:animEffect transition="in" filter="fade">
                                      <p:cBhvr>
                                        <p:cTn id="93" dur="500"/>
                                        <p:tgtEl>
                                          <p:spTgt spid="30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299"/>
                                        </p:tgtEl>
                                        <p:attrNameLst>
                                          <p:attrName>style.visibility</p:attrName>
                                        </p:attrNameLst>
                                      </p:cBhvr>
                                      <p:to>
                                        <p:strVal val="visible"/>
                                      </p:to>
                                    </p:set>
                                    <p:animEffect transition="in" filter="fade">
                                      <p:cBhvr>
                                        <p:cTn id="98" dur="500"/>
                                        <p:tgtEl>
                                          <p:spTgt spid="299"/>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00"/>
                                        </p:tgtEl>
                                        <p:attrNameLst>
                                          <p:attrName>style.visibility</p:attrName>
                                        </p:attrNameLst>
                                      </p:cBhvr>
                                      <p:to>
                                        <p:strVal val="visible"/>
                                      </p:to>
                                    </p:set>
                                    <p:animEffect transition="in" filter="fade">
                                      <p:cBhvr>
                                        <p:cTn id="103" dur="500"/>
                                        <p:tgtEl>
                                          <p:spTgt spid="30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301"/>
                                        </p:tgtEl>
                                        <p:attrNameLst>
                                          <p:attrName>style.visibility</p:attrName>
                                        </p:attrNameLst>
                                      </p:cBhvr>
                                      <p:to>
                                        <p:strVal val="visible"/>
                                      </p:to>
                                    </p:set>
                                    <p:animEffect transition="in" filter="fade">
                                      <p:cBhvr>
                                        <p:cTn id="108"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Why These Rules?</a:t>
            </a:r>
            <a:endParaRPr/>
          </a:p>
        </p:txBody>
      </p:sp>
      <p:sp>
        <p:nvSpPr>
          <p:cNvPr id="311" name="Google Shape;311;p48"/>
          <p:cNvSpPr txBox="1"/>
          <p:nvPr/>
        </p:nvSpPr>
        <p:spPr>
          <a:xfrm>
            <a:off x="1151725" y="1458853"/>
            <a:ext cx="6498522"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 Compiler needs column size to compute memory offsets.</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 Row size can be omitted in function parameters, but not in declarations.</a:t>
            </a:r>
            <a:endParaRPr/>
          </a:p>
          <a:p>
            <a:pPr marL="0" marR="0" lvl="0" indent="0" algn="l" rtl="0">
              <a:lnSpc>
                <a:spcPct val="100000"/>
              </a:lnSpc>
              <a:spcBef>
                <a:spcPts val="0"/>
              </a:spcBef>
              <a:spcAft>
                <a:spcPts val="0"/>
              </a:spcAft>
              <a:buNone/>
            </a:pP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 Example (valid in function):</a:t>
            </a:r>
            <a:endParaRPr/>
          </a:p>
          <a:p>
            <a:pPr marL="0" marR="0" lvl="0" indent="0" algn="l"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  void func(int a[][2], int rows) {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Initializing Two-D Array</a:t>
            </a:r>
            <a:endParaRPr/>
          </a:p>
        </p:txBody>
      </p:sp>
      <p:sp>
        <p:nvSpPr>
          <p:cNvPr id="317" name="Google Shape;317;p29"/>
          <p:cNvSpPr txBox="1">
            <a:spLocks noGrp="1"/>
          </p:cNvSpPr>
          <p:nvPr>
            <p:ph type="body" idx="1"/>
          </p:nvPr>
        </p:nvSpPr>
        <p:spPr>
          <a:xfrm>
            <a:off x="457200" y="819150"/>
            <a:ext cx="82296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int a [3] [2];</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a[0][0] = 11;</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a[0][1] = 22;</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a[1][0] = 10;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a[1][1] = 20;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a[2][0] = 80;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a[2][1] = 90;</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graphicFrame>
        <p:nvGraphicFramePr>
          <p:cNvPr id="318" name="Google Shape;318;p29"/>
          <p:cNvGraphicFramePr/>
          <p:nvPr/>
        </p:nvGraphicFramePr>
        <p:xfrm>
          <a:off x="3860800" y="1885950"/>
          <a:ext cx="1320800" cy="1112550"/>
        </p:xfrm>
        <a:graphic>
          <a:graphicData uri="http://schemas.openxmlformats.org/drawingml/2006/table">
            <a:tbl>
              <a:tblPr firstRow="1" bandRow="1">
                <a:noFill/>
                <a:tableStyleId>{3FBC2B39-A801-4669-B20D-D6CF5779721A}</a:tableStyleId>
              </a:tblPr>
              <a:tblGrid>
                <a:gridCol w="660400"/>
                <a:gridCol w="660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11</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22</a:t>
                      </a:r>
                      <a:endParaRPr sz="1400" u="none" strike="noStrike" cap="none"/>
                    </a:p>
                  </a:txBody>
                  <a:tcPr marL="91450" marR="91450" marT="45725" marB="45725">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10</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20</a:t>
                      </a:r>
                      <a:endParaRPr sz="1400" u="none" strike="noStrike" cap="none"/>
                    </a:p>
                  </a:txBody>
                  <a:tcPr marL="91450" marR="91450" marT="45725" marB="45725">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80</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90</a:t>
                      </a:r>
                      <a:endParaRPr sz="1400" u="none" strike="noStrike" cap="none"/>
                    </a:p>
                  </a:txBody>
                  <a:tcPr marL="91450" marR="91450" marT="45725" marB="45725">
                    <a:noFill/>
                  </a:tcPr>
                </a:tc>
              </a:tr>
            </a:tbl>
          </a:graphicData>
        </a:graphic>
      </p:graphicFrame>
      <p:graphicFrame>
        <p:nvGraphicFramePr>
          <p:cNvPr id="319" name="Google Shape;319;p29"/>
          <p:cNvGraphicFramePr/>
          <p:nvPr/>
        </p:nvGraphicFramePr>
        <p:xfrm>
          <a:off x="3352800" y="1885950"/>
          <a:ext cx="660400" cy="1112550"/>
        </p:xfrm>
        <a:graphic>
          <a:graphicData uri="http://schemas.openxmlformats.org/drawingml/2006/table">
            <a:tbl>
              <a:tblPr firstRow="1" bandRow="1">
                <a:noFill/>
                <a:tableStyleId>{3FBC2B39-A801-4669-B20D-D6CF5779721A}</a:tableStyleId>
              </a:tblPr>
              <a:tblGrid>
                <a:gridCol w="660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graphicFrame>
        <p:nvGraphicFramePr>
          <p:cNvPr id="320" name="Google Shape;320;p29"/>
          <p:cNvGraphicFramePr/>
          <p:nvPr/>
        </p:nvGraphicFramePr>
        <p:xfrm>
          <a:off x="3860800" y="1581150"/>
          <a:ext cx="1320800" cy="370850"/>
        </p:xfrm>
        <a:graphic>
          <a:graphicData uri="http://schemas.openxmlformats.org/drawingml/2006/table">
            <a:tbl>
              <a:tblPr firstRow="1" bandRow="1">
                <a:noFill/>
                <a:tableStyleId>{3FBC2B39-A801-4669-B20D-D6CF5779721A}</a:tableStyleId>
              </a:tblPr>
              <a:tblGrid>
                <a:gridCol w="660400"/>
                <a:gridCol w="660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xEl>
                                              <p:pRg st="0" end="0"/>
                                            </p:txEl>
                                          </p:spTgt>
                                        </p:tgtEl>
                                        <p:attrNameLst>
                                          <p:attrName>style.visibility</p:attrName>
                                        </p:attrNameLst>
                                      </p:cBhvr>
                                      <p:to>
                                        <p:strVal val="visible"/>
                                      </p:to>
                                    </p:set>
                                    <p:animEffect transition="in" filter="fade">
                                      <p:cBhvr>
                                        <p:cTn id="7" dur="500"/>
                                        <p:tgtEl>
                                          <p:spTgt spid="3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7">
                                            <p:txEl>
                                              <p:pRg st="1" end="1"/>
                                            </p:txEl>
                                          </p:spTgt>
                                        </p:tgtEl>
                                        <p:attrNameLst>
                                          <p:attrName>style.visibility</p:attrName>
                                        </p:attrNameLst>
                                      </p:cBhvr>
                                      <p:to>
                                        <p:strVal val="visible"/>
                                      </p:to>
                                    </p:set>
                                    <p:animEffect transition="in" filter="fade">
                                      <p:cBhvr>
                                        <p:cTn id="12" dur="500"/>
                                        <p:tgtEl>
                                          <p:spTgt spid="3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7">
                                            <p:txEl>
                                              <p:pRg st="2" end="2"/>
                                            </p:txEl>
                                          </p:spTgt>
                                        </p:tgtEl>
                                        <p:attrNameLst>
                                          <p:attrName>style.visibility</p:attrName>
                                        </p:attrNameLst>
                                      </p:cBhvr>
                                      <p:to>
                                        <p:strVal val="visible"/>
                                      </p:to>
                                    </p:set>
                                    <p:animEffect transition="in" filter="fade">
                                      <p:cBhvr>
                                        <p:cTn id="17" dur="500"/>
                                        <p:tgtEl>
                                          <p:spTgt spid="3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7">
                                            <p:txEl>
                                              <p:pRg st="3" end="3"/>
                                            </p:txEl>
                                          </p:spTgt>
                                        </p:tgtEl>
                                        <p:attrNameLst>
                                          <p:attrName>style.visibility</p:attrName>
                                        </p:attrNameLst>
                                      </p:cBhvr>
                                      <p:to>
                                        <p:strVal val="visible"/>
                                      </p:to>
                                    </p:set>
                                    <p:animEffect transition="in" filter="fade">
                                      <p:cBhvr>
                                        <p:cTn id="22" dur="500"/>
                                        <p:tgtEl>
                                          <p:spTgt spid="3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7">
                                            <p:txEl>
                                              <p:pRg st="4" end="4"/>
                                            </p:txEl>
                                          </p:spTgt>
                                        </p:tgtEl>
                                        <p:attrNameLst>
                                          <p:attrName>style.visibility</p:attrName>
                                        </p:attrNameLst>
                                      </p:cBhvr>
                                      <p:to>
                                        <p:strVal val="visible"/>
                                      </p:to>
                                    </p:set>
                                    <p:animEffect transition="in" filter="fade">
                                      <p:cBhvr>
                                        <p:cTn id="27" dur="500"/>
                                        <p:tgtEl>
                                          <p:spTgt spid="3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7">
                                            <p:txEl>
                                              <p:pRg st="5" end="5"/>
                                            </p:txEl>
                                          </p:spTgt>
                                        </p:tgtEl>
                                        <p:attrNameLst>
                                          <p:attrName>style.visibility</p:attrName>
                                        </p:attrNameLst>
                                      </p:cBhvr>
                                      <p:to>
                                        <p:strVal val="visible"/>
                                      </p:to>
                                    </p:set>
                                    <p:animEffect transition="in" filter="fade">
                                      <p:cBhvr>
                                        <p:cTn id="32" dur="500"/>
                                        <p:tgtEl>
                                          <p:spTgt spid="3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7">
                                            <p:txEl>
                                              <p:pRg st="6" end="6"/>
                                            </p:txEl>
                                          </p:spTgt>
                                        </p:tgtEl>
                                        <p:attrNameLst>
                                          <p:attrName>style.visibility</p:attrName>
                                        </p:attrNameLst>
                                      </p:cBhvr>
                                      <p:to>
                                        <p:strVal val="visible"/>
                                      </p:to>
                                    </p:set>
                                    <p:animEffect transition="in" filter="fade">
                                      <p:cBhvr>
                                        <p:cTn id="37" dur="500"/>
                                        <p:tgtEl>
                                          <p:spTgt spid="31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7">
                                            <p:txEl>
                                              <p:pRg st="7" end="7"/>
                                            </p:txEl>
                                          </p:spTgt>
                                        </p:tgtEl>
                                        <p:attrNameLst>
                                          <p:attrName>style.visibility</p:attrName>
                                        </p:attrNameLst>
                                      </p:cBhvr>
                                      <p:to>
                                        <p:strVal val="visible"/>
                                      </p:to>
                                    </p:set>
                                    <p:animEffect transition="in" filter="fade">
                                      <p:cBhvr>
                                        <p:cTn id="42" dur="500"/>
                                        <p:tgtEl>
                                          <p:spTgt spid="31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8"/>
                                        </p:tgtEl>
                                        <p:attrNameLst>
                                          <p:attrName>style.visibility</p:attrName>
                                        </p:attrNameLst>
                                      </p:cBhvr>
                                      <p:to>
                                        <p:strVal val="visible"/>
                                      </p:to>
                                    </p:set>
                                    <p:animEffect transition="in" filter="fade">
                                      <p:cBhvr>
                                        <p:cTn id="47" dur="500"/>
                                        <p:tgtEl>
                                          <p:spTgt spid="3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9"/>
                                        </p:tgtEl>
                                        <p:attrNameLst>
                                          <p:attrName>style.visibility</p:attrName>
                                        </p:attrNameLst>
                                      </p:cBhvr>
                                      <p:to>
                                        <p:strVal val="visible"/>
                                      </p:to>
                                    </p:set>
                                    <p:animEffect transition="in" filter="fade">
                                      <p:cBhvr>
                                        <p:cTn id="52" dur="500"/>
                                        <p:tgtEl>
                                          <p:spTgt spid="3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20"/>
                                        </p:tgtEl>
                                        <p:attrNameLst>
                                          <p:attrName>style.visibility</p:attrName>
                                        </p:attrNameLst>
                                      </p:cBhvr>
                                      <p:to>
                                        <p:strVal val="visible"/>
                                      </p:to>
                                    </p:set>
                                    <p:animEffect transition="in" filter="fade">
                                      <p:cBhvr>
                                        <p:cTn id="57" dur="5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0"/>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3600" b="1" u="sng">
                <a:latin typeface="Times New Roman"/>
                <a:ea typeface="Times New Roman"/>
                <a:cs typeface="Times New Roman"/>
                <a:sym typeface="Times New Roman"/>
              </a:rPr>
              <a:t>Declaration and Initialization Two-D Array</a:t>
            </a:r>
            <a:endParaRPr/>
          </a:p>
        </p:txBody>
      </p:sp>
      <p:sp>
        <p:nvSpPr>
          <p:cNvPr id="326" name="Google Shape;326;p30"/>
          <p:cNvSpPr txBox="1">
            <a:spLocks noGrp="1"/>
          </p:cNvSpPr>
          <p:nvPr>
            <p:ph type="body" idx="1"/>
          </p:nvPr>
        </p:nvSpPr>
        <p:spPr>
          <a:xfrm>
            <a:off x="457200" y="895350"/>
            <a:ext cx="8229600" cy="339447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Ex: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Valid declaration*/</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a[3][2]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11 , 22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10, 20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80 , 90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Valid declaration*/</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a[3][2] = {11 , 22 , 10 , 20 , 80 , 90 };</a:t>
            </a:r>
            <a:endParaRPr/>
          </a:p>
        </p:txBody>
      </p:sp>
      <p:sp>
        <p:nvSpPr>
          <p:cNvPr id="327" name="Google Shape;327;p30"/>
          <p:cNvSpPr txBox="1"/>
          <p:nvPr/>
        </p:nvSpPr>
        <p:spPr>
          <a:xfrm>
            <a:off x="4680857" y="1065950"/>
            <a:ext cx="3156900" cy="2686200"/>
          </a:xfrm>
          <a:prstGeom prst="rect">
            <a:avLst/>
          </a:prstGeom>
          <a:noFill/>
          <a:ln>
            <a:noFill/>
          </a:ln>
        </p:spPr>
        <p:txBody>
          <a:bodyPr spcFirstLastPara="1" wrap="square" lIns="66425" tIns="33225" rIns="66425" bIns="33225" anchor="t" anchorCtr="0">
            <a:norm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Valid declaration*/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int a[3][2]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 11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 10 , 2 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 80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xEl>
                                              <p:pRg st="0" end="0"/>
                                            </p:txEl>
                                          </p:spTgt>
                                        </p:tgtEl>
                                        <p:attrNameLst>
                                          <p:attrName>style.visibility</p:attrName>
                                        </p:attrNameLst>
                                      </p:cBhvr>
                                      <p:to>
                                        <p:strVal val="visible"/>
                                      </p:to>
                                    </p:set>
                                    <p:animEffect transition="in" filter="fade">
                                      <p:cBhvr>
                                        <p:cTn id="7" dur="500"/>
                                        <p:tgtEl>
                                          <p:spTgt spid="3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6">
                                            <p:txEl>
                                              <p:pRg st="1" end="1"/>
                                            </p:txEl>
                                          </p:spTgt>
                                        </p:tgtEl>
                                        <p:attrNameLst>
                                          <p:attrName>style.visibility</p:attrName>
                                        </p:attrNameLst>
                                      </p:cBhvr>
                                      <p:to>
                                        <p:strVal val="visible"/>
                                      </p:to>
                                    </p:set>
                                    <p:animEffect transition="in" filter="fade">
                                      <p:cBhvr>
                                        <p:cTn id="12" dur="500"/>
                                        <p:tgtEl>
                                          <p:spTgt spid="3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6">
                                            <p:txEl>
                                              <p:pRg st="2" end="2"/>
                                            </p:txEl>
                                          </p:spTgt>
                                        </p:tgtEl>
                                        <p:attrNameLst>
                                          <p:attrName>style.visibility</p:attrName>
                                        </p:attrNameLst>
                                      </p:cBhvr>
                                      <p:to>
                                        <p:strVal val="visible"/>
                                      </p:to>
                                    </p:set>
                                    <p:animEffect transition="in" filter="fade">
                                      <p:cBhvr>
                                        <p:cTn id="17" dur="500"/>
                                        <p:tgtEl>
                                          <p:spTgt spid="3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6">
                                            <p:txEl>
                                              <p:pRg st="3" end="3"/>
                                            </p:txEl>
                                          </p:spTgt>
                                        </p:tgtEl>
                                        <p:attrNameLst>
                                          <p:attrName>style.visibility</p:attrName>
                                        </p:attrNameLst>
                                      </p:cBhvr>
                                      <p:to>
                                        <p:strVal val="visible"/>
                                      </p:to>
                                    </p:set>
                                    <p:animEffect transition="in" filter="fade">
                                      <p:cBhvr>
                                        <p:cTn id="22" dur="500"/>
                                        <p:tgtEl>
                                          <p:spTgt spid="3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6">
                                            <p:txEl>
                                              <p:pRg st="4" end="4"/>
                                            </p:txEl>
                                          </p:spTgt>
                                        </p:tgtEl>
                                        <p:attrNameLst>
                                          <p:attrName>style.visibility</p:attrName>
                                        </p:attrNameLst>
                                      </p:cBhvr>
                                      <p:to>
                                        <p:strVal val="visible"/>
                                      </p:to>
                                    </p:set>
                                    <p:animEffect transition="in" filter="fade">
                                      <p:cBhvr>
                                        <p:cTn id="27" dur="500"/>
                                        <p:tgtEl>
                                          <p:spTgt spid="3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6">
                                            <p:txEl>
                                              <p:pRg st="5" end="5"/>
                                            </p:txEl>
                                          </p:spTgt>
                                        </p:tgtEl>
                                        <p:attrNameLst>
                                          <p:attrName>style.visibility</p:attrName>
                                        </p:attrNameLst>
                                      </p:cBhvr>
                                      <p:to>
                                        <p:strVal val="visible"/>
                                      </p:to>
                                    </p:set>
                                    <p:animEffect transition="in" filter="fade">
                                      <p:cBhvr>
                                        <p:cTn id="32" dur="500"/>
                                        <p:tgtEl>
                                          <p:spTgt spid="3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6">
                                            <p:txEl>
                                              <p:pRg st="6" end="6"/>
                                            </p:txEl>
                                          </p:spTgt>
                                        </p:tgtEl>
                                        <p:attrNameLst>
                                          <p:attrName>style.visibility</p:attrName>
                                        </p:attrNameLst>
                                      </p:cBhvr>
                                      <p:to>
                                        <p:strVal val="visible"/>
                                      </p:to>
                                    </p:set>
                                    <p:animEffect transition="in" filter="fade">
                                      <p:cBhvr>
                                        <p:cTn id="37" dur="500"/>
                                        <p:tgtEl>
                                          <p:spTgt spid="3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6">
                                            <p:txEl>
                                              <p:pRg st="7" end="7"/>
                                            </p:txEl>
                                          </p:spTgt>
                                        </p:tgtEl>
                                        <p:attrNameLst>
                                          <p:attrName>style.visibility</p:attrName>
                                        </p:attrNameLst>
                                      </p:cBhvr>
                                      <p:to>
                                        <p:strVal val="visible"/>
                                      </p:to>
                                    </p:set>
                                    <p:animEffect transition="in" filter="fade">
                                      <p:cBhvr>
                                        <p:cTn id="42" dur="500"/>
                                        <p:tgtEl>
                                          <p:spTgt spid="32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6">
                                            <p:txEl>
                                              <p:pRg st="8" end="8"/>
                                            </p:txEl>
                                          </p:spTgt>
                                        </p:tgtEl>
                                        <p:attrNameLst>
                                          <p:attrName>style.visibility</p:attrName>
                                        </p:attrNameLst>
                                      </p:cBhvr>
                                      <p:to>
                                        <p:strVal val="visible"/>
                                      </p:to>
                                    </p:set>
                                    <p:animEffect transition="in" filter="fade">
                                      <p:cBhvr>
                                        <p:cTn id="47" dur="500"/>
                                        <p:tgtEl>
                                          <p:spTgt spid="32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26">
                                            <p:txEl>
                                              <p:pRg st="9" end="9"/>
                                            </p:txEl>
                                          </p:spTgt>
                                        </p:tgtEl>
                                        <p:attrNameLst>
                                          <p:attrName>style.visibility</p:attrName>
                                        </p:attrNameLst>
                                      </p:cBhvr>
                                      <p:to>
                                        <p:strVal val="visible"/>
                                      </p:to>
                                    </p:set>
                                    <p:animEffect transition="in" filter="fade">
                                      <p:cBhvr>
                                        <p:cTn id="52" dur="500"/>
                                        <p:tgtEl>
                                          <p:spTgt spid="32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27">
                                            <p:txEl>
                                              <p:pRg st="0" end="0"/>
                                            </p:txEl>
                                          </p:spTgt>
                                        </p:tgtEl>
                                        <p:attrNameLst>
                                          <p:attrName>style.visibility</p:attrName>
                                        </p:attrNameLst>
                                      </p:cBhvr>
                                      <p:to>
                                        <p:strVal val="visible"/>
                                      </p:to>
                                    </p:set>
                                    <p:animEffect transition="in" filter="fade">
                                      <p:cBhvr>
                                        <p:cTn id="57" dur="500"/>
                                        <p:tgtEl>
                                          <p:spTgt spid="32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27">
                                            <p:txEl>
                                              <p:pRg st="1" end="1"/>
                                            </p:txEl>
                                          </p:spTgt>
                                        </p:tgtEl>
                                        <p:attrNameLst>
                                          <p:attrName>style.visibility</p:attrName>
                                        </p:attrNameLst>
                                      </p:cBhvr>
                                      <p:to>
                                        <p:strVal val="visible"/>
                                      </p:to>
                                    </p:set>
                                    <p:animEffect transition="in" filter="fade">
                                      <p:cBhvr>
                                        <p:cTn id="62" dur="500"/>
                                        <p:tgtEl>
                                          <p:spTgt spid="327">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27">
                                            <p:txEl>
                                              <p:pRg st="2" end="2"/>
                                            </p:txEl>
                                          </p:spTgt>
                                        </p:tgtEl>
                                        <p:attrNameLst>
                                          <p:attrName>style.visibility</p:attrName>
                                        </p:attrNameLst>
                                      </p:cBhvr>
                                      <p:to>
                                        <p:strVal val="visible"/>
                                      </p:to>
                                    </p:set>
                                    <p:animEffect transition="in" filter="fade">
                                      <p:cBhvr>
                                        <p:cTn id="67" dur="500"/>
                                        <p:tgtEl>
                                          <p:spTgt spid="327">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7">
                                            <p:txEl>
                                              <p:pRg st="3" end="3"/>
                                            </p:txEl>
                                          </p:spTgt>
                                        </p:tgtEl>
                                        <p:attrNameLst>
                                          <p:attrName>style.visibility</p:attrName>
                                        </p:attrNameLst>
                                      </p:cBhvr>
                                      <p:to>
                                        <p:strVal val="visible"/>
                                      </p:to>
                                    </p:set>
                                    <p:animEffect transition="in" filter="fade">
                                      <p:cBhvr>
                                        <p:cTn id="72" dur="500"/>
                                        <p:tgtEl>
                                          <p:spTgt spid="327">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27">
                                            <p:txEl>
                                              <p:pRg st="4" end="4"/>
                                            </p:txEl>
                                          </p:spTgt>
                                        </p:tgtEl>
                                        <p:attrNameLst>
                                          <p:attrName>style.visibility</p:attrName>
                                        </p:attrNameLst>
                                      </p:cBhvr>
                                      <p:to>
                                        <p:strVal val="visible"/>
                                      </p:to>
                                    </p:set>
                                    <p:animEffect transition="in" filter="fade">
                                      <p:cBhvr>
                                        <p:cTn id="77" dur="500"/>
                                        <p:tgtEl>
                                          <p:spTgt spid="327">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27">
                                            <p:txEl>
                                              <p:pRg st="5" end="5"/>
                                            </p:txEl>
                                          </p:spTgt>
                                        </p:tgtEl>
                                        <p:attrNameLst>
                                          <p:attrName>style.visibility</p:attrName>
                                        </p:attrNameLst>
                                      </p:cBhvr>
                                      <p:to>
                                        <p:strVal val="visible"/>
                                      </p:to>
                                    </p:set>
                                    <p:animEffect transition="in" filter="fade">
                                      <p:cBhvr>
                                        <p:cTn id="82" dur="500"/>
                                        <p:tgtEl>
                                          <p:spTgt spid="3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1"/>
          <p:cNvSpPr txBox="1">
            <a:spLocks noGrp="1"/>
          </p:cNvSpPr>
          <p:nvPr>
            <p:ph type="body" idx="1"/>
          </p:nvPr>
        </p:nvSpPr>
        <p:spPr>
          <a:xfrm>
            <a:off x="457200" y="895350"/>
            <a:ext cx="8229600" cy="38976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 Valid declaration*/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 ][2] = {1, 2, 3 ,4 }  </a:t>
            </a:r>
            <a:endParaRPr/>
          </a:p>
          <a:p>
            <a:pPr marL="0" lvl="0" indent="0" algn="l" rtl="0">
              <a:lnSpc>
                <a:spcPct val="100000"/>
              </a:lnSpc>
              <a:spcBef>
                <a:spcPts val="400"/>
              </a:spcBef>
              <a:spcAft>
                <a:spcPts val="0"/>
              </a:spcAft>
              <a:buSzPts val="2000"/>
              <a:buNone/>
            </a:pPr>
            <a:r>
              <a:rPr lang="en-US" sz="1800"/>
              <a:t>→ Compiler infers rows: 2x2 matrix.</a:t>
            </a:r>
            <a:endParaRPr/>
          </a:p>
          <a:p>
            <a:pPr marL="0" lvl="0" indent="0" algn="l" rtl="0">
              <a:lnSpc>
                <a:spcPct val="100000"/>
              </a:lnSpc>
              <a:spcBef>
                <a:spcPts val="400"/>
              </a:spcBef>
              <a:spcAft>
                <a:spcPts val="0"/>
              </a:spcAft>
              <a:buSzPts val="2000"/>
              <a:buNone/>
            </a:pPr>
            <a:endParaRPr sz="2000">
              <a:latin typeface="Times New Roman"/>
              <a:ea typeface="Times New Roman"/>
              <a:cs typeface="Times New Roman"/>
              <a:sym typeface="Times New Roman"/>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Invalid declaration – you must specify second dimension*/</a:t>
            </a:r>
            <a:endParaRPr/>
          </a:p>
          <a:p>
            <a:pPr marL="457200" lvl="0" indent="-342900" algn="l" rtl="0">
              <a:lnSpc>
                <a:spcPct val="100000"/>
              </a:lnSpc>
              <a:spcBef>
                <a:spcPts val="360"/>
              </a:spcBef>
              <a:spcAft>
                <a:spcPts val="0"/>
              </a:spcAft>
              <a:buClr>
                <a:schemeClr val="dk1"/>
              </a:buClr>
              <a:buSzPts val="1800"/>
              <a:buChar char="•"/>
            </a:pPr>
            <a:r>
              <a:rPr lang="en-US" sz="2000">
                <a:latin typeface="Times New Roman"/>
                <a:ea typeface="Times New Roman"/>
                <a:cs typeface="Times New Roman"/>
                <a:sym typeface="Times New Roman"/>
              </a:rPr>
              <a:t>int a[ ][ ] = {1, 2, 3 ,4 }   </a:t>
            </a:r>
            <a:endParaRPr/>
          </a:p>
          <a:p>
            <a:pPr marL="0" lvl="0" indent="0" algn="l" rtl="0">
              <a:lnSpc>
                <a:spcPct val="100000"/>
              </a:lnSpc>
              <a:spcBef>
                <a:spcPts val="400"/>
              </a:spcBef>
              <a:spcAft>
                <a:spcPts val="0"/>
              </a:spcAft>
              <a:buSzPts val="2000"/>
              <a:buNone/>
            </a:pPr>
            <a:r>
              <a:rPr lang="en-US" sz="2000"/>
              <a:t>→ Both dimensions missing, not allowed.</a:t>
            </a:r>
            <a:endParaRPr/>
          </a:p>
          <a:p>
            <a:pPr marL="0" lvl="0" indent="0" algn="l" rtl="0">
              <a:lnSpc>
                <a:spcPct val="100000"/>
              </a:lnSpc>
              <a:spcBef>
                <a:spcPts val="400"/>
              </a:spcBef>
              <a:spcAft>
                <a:spcPts val="0"/>
              </a:spcAft>
              <a:buSzPts val="2000"/>
              <a:buNone/>
            </a:pPr>
            <a:endParaRPr sz="2000">
              <a:latin typeface="Times New Roman"/>
              <a:ea typeface="Times New Roman"/>
              <a:cs typeface="Times New Roman"/>
              <a:sym typeface="Times New Roman"/>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Invalid because of the same reason  mentioned above*/</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int a[2][ ] = {1, 2, 3 ,4 }</a:t>
            </a:r>
            <a:endParaRPr/>
          </a:p>
          <a:p>
            <a:pPr marL="0" lvl="0" indent="0" algn="l" rtl="0">
              <a:lnSpc>
                <a:spcPct val="100000"/>
              </a:lnSpc>
              <a:spcBef>
                <a:spcPts val="400"/>
              </a:spcBef>
              <a:spcAft>
                <a:spcPts val="0"/>
              </a:spcAft>
              <a:buSzPts val="2000"/>
              <a:buNone/>
            </a:pPr>
            <a:r>
              <a:rPr lang="en-US" sz="1800"/>
              <a:t>→ Column size missing, compiler can't compute offsets</a:t>
            </a:r>
            <a:endParaRPr/>
          </a:p>
          <a:p>
            <a:pPr marL="0" lvl="0" indent="0" algn="l" rtl="0">
              <a:lnSpc>
                <a:spcPct val="100000"/>
              </a:lnSpc>
              <a:spcBef>
                <a:spcPts val="400"/>
              </a:spcBef>
              <a:spcAft>
                <a:spcPts val="0"/>
              </a:spcAft>
              <a:buClr>
                <a:schemeClr val="dk1"/>
              </a:buClr>
              <a:buSzPts val="2000"/>
              <a:buNone/>
            </a:pPr>
            <a:endParaRPr sz="1600"/>
          </a:p>
        </p:txBody>
      </p:sp>
      <p:sp>
        <p:nvSpPr>
          <p:cNvPr id="333" name="Google Shape;333;p31"/>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3600" b="1" u="sng">
                <a:latin typeface="Times New Roman"/>
                <a:ea typeface="Times New Roman"/>
                <a:cs typeface="Times New Roman"/>
                <a:sym typeface="Times New Roman"/>
              </a:rPr>
              <a:t>Declaration and Initialization Two-D Array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2">
                                            <p:txEl>
                                              <p:pRg st="0" end="0"/>
                                            </p:txEl>
                                          </p:spTgt>
                                        </p:tgtEl>
                                        <p:attrNameLst>
                                          <p:attrName>style.visibility</p:attrName>
                                        </p:attrNameLst>
                                      </p:cBhvr>
                                      <p:to>
                                        <p:strVal val="visible"/>
                                      </p:to>
                                    </p:set>
                                    <p:animEffect transition="in" filter="fade">
                                      <p:cBhvr>
                                        <p:cTn id="7" dur="500"/>
                                        <p:tgtEl>
                                          <p:spTgt spid="3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2">
                                            <p:txEl>
                                              <p:pRg st="1" end="1"/>
                                            </p:txEl>
                                          </p:spTgt>
                                        </p:tgtEl>
                                        <p:attrNameLst>
                                          <p:attrName>style.visibility</p:attrName>
                                        </p:attrNameLst>
                                      </p:cBhvr>
                                      <p:to>
                                        <p:strVal val="visible"/>
                                      </p:to>
                                    </p:set>
                                    <p:animEffect transition="in" filter="fade">
                                      <p:cBhvr>
                                        <p:cTn id="12" dur="500"/>
                                        <p:tgtEl>
                                          <p:spTgt spid="3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2">
                                            <p:txEl>
                                              <p:pRg st="2" end="2"/>
                                            </p:txEl>
                                          </p:spTgt>
                                        </p:tgtEl>
                                        <p:attrNameLst>
                                          <p:attrName>style.visibility</p:attrName>
                                        </p:attrNameLst>
                                      </p:cBhvr>
                                      <p:to>
                                        <p:strVal val="visible"/>
                                      </p:to>
                                    </p:set>
                                    <p:animEffect transition="in" filter="fade">
                                      <p:cBhvr>
                                        <p:cTn id="17" dur="500"/>
                                        <p:tgtEl>
                                          <p:spTgt spid="3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2">
                                            <p:txEl>
                                              <p:pRg st="3" end="3"/>
                                            </p:txEl>
                                          </p:spTgt>
                                        </p:tgtEl>
                                        <p:attrNameLst>
                                          <p:attrName>style.visibility</p:attrName>
                                        </p:attrNameLst>
                                      </p:cBhvr>
                                      <p:to>
                                        <p:strVal val="visible"/>
                                      </p:to>
                                    </p:set>
                                    <p:animEffect transition="in" filter="fade">
                                      <p:cBhvr>
                                        <p:cTn id="22" dur="500"/>
                                        <p:tgtEl>
                                          <p:spTgt spid="3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2">
                                            <p:txEl>
                                              <p:pRg st="4" end="4"/>
                                            </p:txEl>
                                          </p:spTgt>
                                        </p:tgtEl>
                                        <p:attrNameLst>
                                          <p:attrName>style.visibility</p:attrName>
                                        </p:attrNameLst>
                                      </p:cBhvr>
                                      <p:to>
                                        <p:strVal val="visible"/>
                                      </p:to>
                                    </p:set>
                                    <p:animEffect transition="in" filter="fade">
                                      <p:cBhvr>
                                        <p:cTn id="27" dur="500"/>
                                        <p:tgtEl>
                                          <p:spTgt spid="33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2">
                                            <p:txEl>
                                              <p:pRg st="5" end="5"/>
                                            </p:txEl>
                                          </p:spTgt>
                                        </p:tgtEl>
                                        <p:attrNameLst>
                                          <p:attrName>style.visibility</p:attrName>
                                        </p:attrNameLst>
                                      </p:cBhvr>
                                      <p:to>
                                        <p:strVal val="visible"/>
                                      </p:to>
                                    </p:set>
                                    <p:animEffect transition="in" filter="fade">
                                      <p:cBhvr>
                                        <p:cTn id="32" dur="500"/>
                                        <p:tgtEl>
                                          <p:spTgt spid="33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2">
                                            <p:txEl>
                                              <p:pRg st="6" end="6"/>
                                            </p:txEl>
                                          </p:spTgt>
                                        </p:tgtEl>
                                        <p:attrNameLst>
                                          <p:attrName>style.visibility</p:attrName>
                                        </p:attrNameLst>
                                      </p:cBhvr>
                                      <p:to>
                                        <p:strVal val="visible"/>
                                      </p:to>
                                    </p:set>
                                    <p:animEffect transition="in" filter="fade">
                                      <p:cBhvr>
                                        <p:cTn id="37" dur="500"/>
                                        <p:tgtEl>
                                          <p:spTgt spid="33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2">
                                            <p:txEl>
                                              <p:pRg st="7" end="7"/>
                                            </p:txEl>
                                          </p:spTgt>
                                        </p:tgtEl>
                                        <p:attrNameLst>
                                          <p:attrName>style.visibility</p:attrName>
                                        </p:attrNameLst>
                                      </p:cBhvr>
                                      <p:to>
                                        <p:strVal val="visible"/>
                                      </p:to>
                                    </p:set>
                                    <p:animEffect transition="in" filter="fade">
                                      <p:cBhvr>
                                        <p:cTn id="42" dur="500"/>
                                        <p:tgtEl>
                                          <p:spTgt spid="33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2">
                                            <p:txEl>
                                              <p:pRg st="8" end="8"/>
                                            </p:txEl>
                                          </p:spTgt>
                                        </p:tgtEl>
                                        <p:attrNameLst>
                                          <p:attrName>style.visibility</p:attrName>
                                        </p:attrNameLst>
                                      </p:cBhvr>
                                      <p:to>
                                        <p:strVal val="visible"/>
                                      </p:to>
                                    </p:set>
                                    <p:animEffect transition="in" filter="fade">
                                      <p:cBhvr>
                                        <p:cTn id="47" dur="500"/>
                                        <p:tgtEl>
                                          <p:spTgt spid="33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32">
                                            <p:txEl>
                                              <p:pRg st="9" end="9"/>
                                            </p:txEl>
                                          </p:spTgt>
                                        </p:tgtEl>
                                        <p:attrNameLst>
                                          <p:attrName>style.visibility</p:attrName>
                                        </p:attrNameLst>
                                      </p:cBhvr>
                                      <p:to>
                                        <p:strVal val="visible"/>
                                      </p:to>
                                    </p:set>
                                    <p:animEffect transition="in" filter="fade">
                                      <p:cBhvr>
                                        <p:cTn id="52" dur="500"/>
                                        <p:tgtEl>
                                          <p:spTgt spid="33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32">
                                            <p:txEl>
                                              <p:pRg st="10" end="10"/>
                                            </p:txEl>
                                          </p:spTgt>
                                        </p:tgtEl>
                                        <p:attrNameLst>
                                          <p:attrName>style.visibility</p:attrName>
                                        </p:attrNameLst>
                                      </p:cBhvr>
                                      <p:to>
                                        <p:strVal val="visible"/>
                                      </p:to>
                                    </p:set>
                                    <p:animEffect transition="in" filter="fade">
                                      <p:cBhvr>
                                        <p:cTn id="57" dur="500"/>
                                        <p:tgtEl>
                                          <p:spTgt spid="33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32">
                                            <p:txEl>
                                              <p:pRg st="11" end="11"/>
                                            </p:txEl>
                                          </p:spTgt>
                                        </p:tgtEl>
                                        <p:attrNameLst>
                                          <p:attrName>style.visibility</p:attrName>
                                        </p:attrNameLst>
                                      </p:cBhvr>
                                      <p:to>
                                        <p:strVal val="visible"/>
                                      </p:to>
                                    </p:set>
                                    <p:animEffect transition="in" filter="fade">
                                      <p:cBhvr>
                                        <p:cTn id="62" dur="500"/>
                                        <p:tgtEl>
                                          <p:spTgt spid="33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2"/>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Memory Allocation in Two-D Array</a:t>
            </a:r>
            <a:endParaRPr/>
          </a:p>
        </p:txBody>
      </p:sp>
      <p:sp>
        <p:nvSpPr>
          <p:cNvPr id="339" name="Google Shape;339;p32"/>
          <p:cNvSpPr txBox="1">
            <a:spLocks noGrp="1"/>
          </p:cNvSpPr>
          <p:nvPr>
            <p:ph type="body" idx="1"/>
          </p:nvPr>
        </p:nvSpPr>
        <p:spPr>
          <a:xfrm>
            <a:off x="457200" y="1082278"/>
            <a:ext cx="25908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800"/>
              <a:buNone/>
            </a:pPr>
            <a:r>
              <a:rPr lang="en-US" sz="1800">
                <a:latin typeface="Times New Roman"/>
                <a:ea typeface="Times New Roman"/>
                <a:cs typeface="Times New Roman"/>
                <a:sym typeface="Times New Roman"/>
              </a:rPr>
              <a:t>int a[3][2] = {</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                 { 11 , 22 },   </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                 { 10, 20 },  </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                 { 80 , 90 }   </a:t>
            </a:r>
            <a:endParaRPr/>
          </a:p>
          <a:p>
            <a:pPr marL="0" lvl="0" indent="0" algn="l" rtl="0">
              <a:lnSpc>
                <a:spcPct val="100000"/>
              </a:lnSpc>
              <a:spcBef>
                <a:spcPts val="360"/>
              </a:spcBef>
              <a:spcAft>
                <a:spcPts val="0"/>
              </a:spcAft>
              <a:buClr>
                <a:schemeClr val="dk1"/>
              </a:buClr>
              <a:buSzPts val="1800"/>
              <a:buNone/>
            </a:pPr>
            <a:r>
              <a:rPr lang="en-US" sz="1800">
                <a:latin typeface="Times New Roman"/>
                <a:ea typeface="Times New Roman"/>
                <a:cs typeface="Times New Roman"/>
                <a:sym typeface="Times New Roman"/>
              </a:rPr>
              <a:t>              };</a:t>
            </a:r>
            <a:endParaRPr/>
          </a:p>
          <a:p>
            <a:pPr marL="0" lvl="0" indent="0" algn="l" rtl="0">
              <a:lnSpc>
                <a:spcPct val="100000"/>
              </a:lnSpc>
              <a:spcBef>
                <a:spcPts val="360"/>
              </a:spcBef>
              <a:spcAft>
                <a:spcPts val="0"/>
              </a:spcAft>
              <a:buClr>
                <a:schemeClr val="dk1"/>
              </a:buClr>
              <a:buSzPts val="1800"/>
              <a:buNone/>
            </a:pPr>
            <a:endParaRPr sz="1800"/>
          </a:p>
        </p:txBody>
      </p:sp>
      <p:graphicFrame>
        <p:nvGraphicFramePr>
          <p:cNvPr id="340" name="Google Shape;340;p32"/>
          <p:cNvGraphicFramePr/>
          <p:nvPr/>
        </p:nvGraphicFramePr>
        <p:xfrm>
          <a:off x="4343400" y="1809750"/>
          <a:ext cx="2590800" cy="1112550"/>
        </p:xfrm>
        <a:graphic>
          <a:graphicData uri="http://schemas.openxmlformats.org/drawingml/2006/table">
            <a:tbl>
              <a:tblPr firstRow="1" bandRow="1">
                <a:noFill/>
                <a:tableStyleId>{3FBC2B39-A801-4669-B20D-D6CF5779721A}</a:tableStyleId>
              </a:tblPr>
              <a:tblGrid>
                <a:gridCol w="1295400"/>
                <a:gridCol w="1295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a[0][0] = 11</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a[0][1] = 22</a:t>
                      </a:r>
                      <a:endParaRPr sz="1400" u="none" strike="noStrike" cap="none"/>
                    </a:p>
                  </a:txBody>
                  <a:tcPr marL="91450" marR="91450" marT="45725" marB="45725">
                    <a:noFill/>
                  </a:tcPr>
                </a:tc>
              </a:tr>
              <a:tr h="370850">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a[1][0] = 10</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a[1][1] = 20</a:t>
                      </a:r>
                      <a:endParaRPr sz="1400" u="none" strike="noStrike" cap="none"/>
                    </a:p>
                  </a:txBody>
                  <a:tcPr marL="91450" marR="91450" marT="45725" marB="45725">
                    <a:noFill/>
                  </a:tcPr>
                </a:tc>
              </a:tr>
              <a:tr h="370850">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a[2][0] = 80</a:t>
                      </a:r>
                      <a:endParaRPr sz="1400" u="none" strike="noStrike" cap="none"/>
                    </a:p>
                  </a:txBody>
                  <a:tcPr marL="91450" marR="91450" marT="45725" marB="45725">
                    <a:noFill/>
                  </a:tcPr>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a[2][1] = 90</a:t>
                      </a:r>
                      <a:endParaRPr sz="1400" u="none" strike="noStrike" cap="none"/>
                    </a:p>
                  </a:txBody>
                  <a:tcPr marL="91450" marR="91450" marT="45725" marB="45725">
                    <a:noFill/>
                  </a:tcPr>
                </a:tc>
              </a:tr>
            </a:tbl>
          </a:graphicData>
        </a:graphic>
      </p:graphicFrame>
      <p:graphicFrame>
        <p:nvGraphicFramePr>
          <p:cNvPr id="341" name="Google Shape;341;p32"/>
          <p:cNvGraphicFramePr/>
          <p:nvPr/>
        </p:nvGraphicFramePr>
        <p:xfrm>
          <a:off x="3835400" y="1809750"/>
          <a:ext cx="660400" cy="1112550"/>
        </p:xfrm>
        <a:graphic>
          <a:graphicData uri="http://schemas.openxmlformats.org/drawingml/2006/table">
            <a:tbl>
              <a:tblPr firstRow="1" bandRow="1">
                <a:noFill/>
                <a:tableStyleId>{3FBC2B39-A801-4669-B20D-D6CF5779721A}</a:tableStyleId>
              </a:tblPr>
              <a:tblGrid>
                <a:gridCol w="660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2</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graphicFrame>
        <p:nvGraphicFramePr>
          <p:cNvPr id="342" name="Google Shape;342;p32"/>
          <p:cNvGraphicFramePr/>
          <p:nvPr/>
        </p:nvGraphicFramePr>
        <p:xfrm>
          <a:off x="4343400" y="1515110"/>
          <a:ext cx="2590800" cy="370850"/>
        </p:xfrm>
        <a:graphic>
          <a:graphicData uri="http://schemas.openxmlformats.org/drawingml/2006/table">
            <a:tbl>
              <a:tblPr firstRow="1" bandRow="1">
                <a:noFill/>
                <a:tableStyleId>{3FBC2B39-A801-4669-B20D-D6CF5779721A}</a:tableStyleId>
              </a:tblPr>
              <a:tblGrid>
                <a:gridCol w="1295400"/>
                <a:gridCol w="1295400"/>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0</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1</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Effect transition="in" filter="fade">
                                      <p:cBhvr>
                                        <p:cTn id="7" dur="500"/>
                                        <p:tgtEl>
                                          <p:spTgt spid="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9">
                                            <p:txEl>
                                              <p:pRg st="1" end="1"/>
                                            </p:txEl>
                                          </p:spTgt>
                                        </p:tgtEl>
                                        <p:attrNameLst>
                                          <p:attrName>style.visibility</p:attrName>
                                        </p:attrNameLst>
                                      </p:cBhvr>
                                      <p:to>
                                        <p:strVal val="visible"/>
                                      </p:to>
                                    </p:set>
                                    <p:animEffect transition="in" filter="fade">
                                      <p:cBhvr>
                                        <p:cTn id="12" dur="500"/>
                                        <p:tgtEl>
                                          <p:spTgt spid="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9">
                                            <p:txEl>
                                              <p:pRg st="2" end="2"/>
                                            </p:txEl>
                                          </p:spTgt>
                                        </p:tgtEl>
                                        <p:attrNameLst>
                                          <p:attrName>style.visibility</p:attrName>
                                        </p:attrNameLst>
                                      </p:cBhvr>
                                      <p:to>
                                        <p:strVal val="visible"/>
                                      </p:to>
                                    </p:set>
                                    <p:animEffect transition="in" filter="fade">
                                      <p:cBhvr>
                                        <p:cTn id="17" dur="500"/>
                                        <p:tgtEl>
                                          <p:spTgt spid="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9">
                                            <p:txEl>
                                              <p:pRg st="3" end="3"/>
                                            </p:txEl>
                                          </p:spTgt>
                                        </p:tgtEl>
                                        <p:attrNameLst>
                                          <p:attrName>style.visibility</p:attrName>
                                        </p:attrNameLst>
                                      </p:cBhvr>
                                      <p:to>
                                        <p:strVal val="visible"/>
                                      </p:to>
                                    </p:set>
                                    <p:animEffect transition="in" filter="fade">
                                      <p:cBhvr>
                                        <p:cTn id="22" dur="500"/>
                                        <p:tgtEl>
                                          <p:spTgt spid="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9">
                                            <p:txEl>
                                              <p:pRg st="4" end="4"/>
                                            </p:txEl>
                                          </p:spTgt>
                                        </p:tgtEl>
                                        <p:attrNameLst>
                                          <p:attrName>style.visibility</p:attrName>
                                        </p:attrNameLst>
                                      </p:cBhvr>
                                      <p:to>
                                        <p:strVal val="visible"/>
                                      </p:to>
                                    </p:set>
                                    <p:animEffect transition="in" filter="fade">
                                      <p:cBhvr>
                                        <p:cTn id="27" dur="500"/>
                                        <p:tgtEl>
                                          <p:spTgt spid="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9">
                                            <p:txEl>
                                              <p:pRg st="5" end="5"/>
                                            </p:txEl>
                                          </p:spTgt>
                                        </p:tgtEl>
                                        <p:attrNameLst>
                                          <p:attrName>style.visibility</p:attrName>
                                        </p:attrNameLst>
                                      </p:cBhvr>
                                      <p:to>
                                        <p:strVal val="visible"/>
                                      </p:to>
                                    </p:set>
                                    <p:animEffect transition="in" filter="fade">
                                      <p:cBhvr>
                                        <p:cTn id="32" dur="500"/>
                                        <p:tgtEl>
                                          <p:spTgt spid="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0"/>
                                        </p:tgtEl>
                                        <p:attrNameLst>
                                          <p:attrName>style.visibility</p:attrName>
                                        </p:attrNameLst>
                                      </p:cBhvr>
                                      <p:to>
                                        <p:strVal val="visible"/>
                                      </p:to>
                                    </p:set>
                                    <p:animEffect transition="in" filter="fade">
                                      <p:cBhvr>
                                        <p:cTn id="37" dur="500"/>
                                        <p:tgtEl>
                                          <p:spTgt spid="3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1"/>
                                        </p:tgtEl>
                                        <p:attrNameLst>
                                          <p:attrName>style.visibility</p:attrName>
                                        </p:attrNameLst>
                                      </p:cBhvr>
                                      <p:to>
                                        <p:strVal val="visible"/>
                                      </p:to>
                                    </p:set>
                                    <p:animEffect transition="in" filter="fade">
                                      <p:cBhvr>
                                        <p:cTn id="42" dur="500"/>
                                        <p:tgtEl>
                                          <p:spTgt spid="3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2"/>
                                        </p:tgtEl>
                                        <p:attrNameLst>
                                          <p:attrName>style.visibility</p:attrName>
                                        </p:attrNameLst>
                                      </p:cBhvr>
                                      <p:to>
                                        <p:strVal val="visible"/>
                                      </p:to>
                                    </p:set>
                                    <p:animEffect transition="in" filter="fade">
                                      <p:cBhvr>
                                        <p:cTn id="47"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3"/>
          <p:cNvSpPr txBox="1">
            <a:spLocks noGrp="1"/>
          </p:cNvSpPr>
          <p:nvPr>
            <p:ph type="title"/>
          </p:nvPr>
        </p:nvSpPr>
        <p:spPr>
          <a:xfrm>
            <a:off x="457200" y="3810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Accessing Two-D Array</a:t>
            </a:r>
            <a:endParaRPr/>
          </a:p>
        </p:txBody>
      </p:sp>
      <p:sp>
        <p:nvSpPr>
          <p:cNvPr id="348" name="Google Shape;348;p33"/>
          <p:cNvSpPr txBox="1">
            <a:spLocks noGrp="1"/>
          </p:cNvSpPr>
          <p:nvPr>
            <p:ph type="body" idx="1"/>
          </p:nvPr>
        </p:nvSpPr>
        <p:spPr>
          <a:xfrm>
            <a:off x="457200" y="1006078"/>
            <a:ext cx="28194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int a [3] [2];</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a[0][0] = 11;</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a[0][1] = 22;</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a[1][0] = 10;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a[1][1] = 20;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a[2][0] = 80;</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a[2][1] = 90;</a:t>
            </a:r>
            <a:endParaRPr/>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349" name="Google Shape;349;p33"/>
          <p:cNvSpPr txBox="1"/>
          <p:nvPr/>
        </p:nvSpPr>
        <p:spPr>
          <a:xfrm>
            <a:off x="3657600" y="819150"/>
            <a:ext cx="2819400" cy="3394472"/>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a[0][0]);</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a[0][1]);</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a[1][0]);</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a[1][1]);</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a[2][0]);</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printf(“%d\n”, a[2][1]);</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8">
                                            <p:txEl>
                                              <p:pRg st="0" end="0"/>
                                            </p:txEl>
                                          </p:spTgt>
                                        </p:tgtEl>
                                        <p:attrNameLst>
                                          <p:attrName>style.visibility</p:attrName>
                                        </p:attrNameLst>
                                      </p:cBhvr>
                                      <p:to>
                                        <p:strVal val="visible"/>
                                      </p:to>
                                    </p:set>
                                    <p:animEffect transition="in" filter="fade">
                                      <p:cBhvr>
                                        <p:cTn id="7" dur="500"/>
                                        <p:tgtEl>
                                          <p:spTgt spid="3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8">
                                            <p:txEl>
                                              <p:pRg st="1" end="1"/>
                                            </p:txEl>
                                          </p:spTgt>
                                        </p:tgtEl>
                                        <p:attrNameLst>
                                          <p:attrName>style.visibility</p:attrName>
                                        </p:attrNameLst>
                                      </p:cBhvr>
                                      <p:to>
                                        <p:strVal val="visible"/>
                                      </p:to>
                                    </p:set>
                                    <p:animEffect transition="in" filter="fade">
                                      <p:cBhvr>
                                        <p:cTn id="12" dur="500"/>
                                        <p:tgtEl>
                                          <p:spTgt spid="3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8">
                                            <p:txEl>
                                              <p:pRg st="2" end="2"/>
                                            </p:txEl>
                                          </p:spTgt>
                                        </p:tgtEl>
                                        <p:attrNameLst>
                                          <p:attrName>style.visibility</p:attrName>
                                        </p:attrNameLst>
                                      </p:cBhvr>
                                      <p:to>
                                        <p:strVal val="visible"/>
                                      </p:to>
                                    </p:set>
                                    <p:animEffect transition="in" filter="fade">
                                      <p:cBhvr>
                                        <p:cTn id="17" dur="500"/>
                                        <p:tgtEl>
                                          <p:spTgt spid="3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8">
                                            <p:txEl>
                                              <p:pRg st="3" end="3"/>
                                            </p:txEl>
                                          </p:spTgt>
                                        </p:tgtEl>
                                        <p:attrNameLst>
                                          <p:attrName>style.visibility</p:attrName>
                                        </p:attrNameLst>
                                      </p:cBhvr>
                                      <p:to>
                                        <p:strVal val="visible"/>
                                      </p:to>
                                    </p:set>
                                    <p:animEffect transition="in" filter="fade">
                                      <p:cBhvr>
                                        <p:cTn id="22" dur="500"/>
                                        <p:tgtEl>
                                          <p:spTgt spid="3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8">
                                            <p:txEl>
                                              <p:pRg st="4" end="4"/>
                                            </p:txEl>
                                          </p:spTgt>
                                        </p:tgtEl>
                                        <p:attrNameLst>
                                          <p:attrName>style.visibility</p:attrName>
                                        </p:attrNameLst>
                                      </p:cBhvr>
                                      <p:to>
                                        <p:strVal val="visible"/>
                                      </p:to>
                                    </p:set>
                                    <p:animEffect transition="in" filter="fade">
                                      <p:cBhvr>
                                        <p:cTn id="27" dur="500"/>
                                        <p:tgtEl>
                                          <p:spTgt spid="34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8">
                                            <p:txEl>
                                              <p:pRg st="5" end="5"/>
                                            </p:txEl>
                                          </p:spTgt>
                                        </p:tgtEl>
                                        <p:attrNameLst>
                                          <p:attrName>style.visibility</p:attrName>
                                        </p:attrNameLst>
                                      </p:cBhvr>
                                      <p:to>
                                        <p:strVal val="visible"/>
                                      </p:to>
                                    </p:set>
                                    <p:animEffect transition="in" filter="fade">
                                      <p:cBhvr>
                                        <p:cTn id="32" dur="500"/>
                                        <p:tgtEl>
                                          <p:spTgt spid="34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8">
                                            <p:txEl>
                                              <p:pRg st="6" end="6"/>
                                            </p:txEl>
                                          </p:spTgt>
                                        </p:tgtEl>
                                        <p:attrNameLst>
                                          <p:attrName>style.visibility</p:attrName>
                                        </p:attrNameLst>
                                      </p:cBhvr>
                                      <p:to>
                                        <p:strVal val="visible"/>
                                      </p:to>
                                    </p:set>
                                    <p:animEffect transition="in" filter="fade">
                                      <p:cBhvr>
                                        <p:cTn id="37" dur="500"/>
                                        <p:tgtEl>
                                          <p:spTgt spid="34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48">
                                            <p:txEl>
                                              <p:pRg st="7" end="7"/>
                                            </p:txEl>
                                          </p:spTgt>
                                        </p:tgtEl>
                                        <p:attrNameLst>
                                          <p:attrName>style.visibility</p:attrName>
                                        </p:attrNameLst>
                                      </p:cBhvr>
                                      <p:to>
                                        <p:strVal val="visible"/>
                                      </p:to>
                                    </p:set>
                                    <p:animEffect transition="in" filter="fade">
                                      <p:cBhvr>
                                        <p:cTn id="42" dur="500"/>
                                        <p:tgtEl>
                                          <p:spTgt spid="34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9">
                                            <p:txEl>
                                              <p:pRg st="0" end="0"/>
                                            </p:txEl>
                                          </p:spTgt>
                                        </p:tgtEl>
                                        <p:attrNameLst>
                                          <p:attrName>style.visibility</p:attrName>
                                        </p:attrNameLst>
                                      </p:cBhvr>
                                      <p:to>
                                        <p:strVal val="visible"/>
                                      </p:to>
                                    </p:set>
                                    <p:animEffect transition="in" filter="fade">
                                      <p:cBhvr>
                                        <p:cTn id="47" dur="500"/>
                                        <p:tgtEl>
                                          <p:spTgt spid="34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9">
                                            <p:txEl>
                                              <p:pRg st="1" end="1"/>
                                            </p:txEl>
                                          </p:spTgt>
                                        </p:tgtEl>
                                        <p:attrNameLst>
                                          <p:attrName>style.visibility</p:attrName>
                                        </p:attrNameLst>
                                      </p:cBhvr>
                                      <p:to>
                                        <p:strVal val="visible"/>
                                      </p:to>
                                    </p:set>
                                    <p:animEffect transition="in" filter="fade">
                                      <p:cBhvr>
                                        <p:cTn id="52" dur="500"/>
                                        <p:tgtEl>
                                          <p:spTgt spid="349">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9">
                                            <p:txEl>
                                              <p:pRg st="2" end="2"/>
                                            </p:txEl>
                                          </p:spTgt>
                                        </p:tgtEl>
                                        <p:attrNameLst>
                                          <p:attrName>style.visibility</p:attrName>
                                        </p:attrNameLst>
                                      </p:cBhvr>
                                      <p:to>
                                        <p:strVal val="visible"/>
                                      </p:to>
                                    </p:set>
                                    <p:animEffect transition="in" filter="fade">
                                      <p:cBhvr>
                                        <p:cTn id="57" dur="500"/>
                                        <p:tgtEl>
                                          <p:spTgt spid="349">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49">
                                            <p:txEl>
                                              <p:pRg st="3" end="3"/>
                                            </p:txEl>
                                          </p:spTgt>
                                        </p:tgtEl>
                                        <p:attrNameLst>
                                          <p:attrName>style.visibility</p:attrName>
                                        </p:attrNameLst>
                                      </p:cBhvr>
                                      <p:to>
                                        <p:strVal val="visible"/>
                                      </p:to>
                                    </p:set>
                                    <p:animEffect transition="in" filter="fade">
                                      <p:cBhvr>
                                        <p:cTn id="62" dur="500"/>
                                        <p:tgtEl>
                                          <p:spTgt spid="349">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49">
                                            <p:txEl>
                                              <p:pRg st="4" end="4"/>
                                            </p:txEl>
                                          </p:spTgt>
                                        </p:tgtEl>
                                        <p:attrNameLst>
                                          <p:attrName>style.visibility</p:attrName>
                                        </p:attrNameLst>
                                      </p:cBhvr>
                                      <p:to>
                                        <p:strVal val="visible"/>
                                      </p:to>
                                    </p:set>
                                    <p:animEffect transition="in" filter="fade">
                                      <p:cBhvr>
                                        <p:cTn id="67" dur="500"/>
                                        <p:tgtEl>
                                          <p:spTgt spid="349">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49">
                                            <p:txEl>
                                              <p:pRg st="5" end="5"/>
                                            </p:txEl>
                                          </p:spTgt>
                                        </p:tgtEl>
                                        <p:attrNameLst>
                                          <p:attrName>style.visibility</p:attrName>
                                        </p:attrNameLst>
                                      </p:cBhvr>
                                      <p:to>
                                        <p:strVal val="visible"/>
                                      </p:to>
                                    </p:set>
                                    <p:animEffect transition="in" filter="fade">
                                      <p:cBhvr>
                                        <p:cTn id="72" dur="500"/>
                                        <p:tgtEl>
                                          <p:spTgt spid="34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4"/>
          <p:cNvSpPr txBox="1">
            <a:spLocks noGrp="1"/>
          </p:cNvSpPr>
          <p:nvPr>
            <p:ph type="body" idx="1"/>
          </p:nvPr>
        </p:nvSpPr>
        <p:spPr>
          <a:xfrm>
            <a:off x="457200" y="929878"/>
            <a:ext cx="2590800" cy="339447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int a[3][2]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11 , 22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10, 20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 80 , 90 }   </a:t>
            </a:r>
            <a:endParaRPr/>
          </a:p>
          <a:p>
            <a:pPr marL="0" lvl="0" indent="0" algn="l" rtl="0">
              <a:lnSpc>
                <a:spcPct val="100000"/>
              </a:lnSpc>
              <a:spcBef>
                <a:spcPts val="400"/>
              </a:spcBef>
              <a:spcAft>
                <a:spcPts val="0"/>
              </a:spcAft>
              <a:buClr>
                <a:schemeClr val="dk1"/>
              </a:buClr>
              <a:buSzPts val="2000"/>
              <a:buNone/>
            </a:pPr>
            <a:r>
              <a:rPr lang="en-US" sz="2000">
                <a:latin typeface="Times New Roman"/>
                <a:ea typeface="Times New Roman"/>
                <a:cs typeface="Times New Roman"/>
                <a:sym typeface="Times New Roman"/>
              </a:rPr>
              <a:t>              };</a:t>
            </a:r>
            <a:endParaRPr sz="2000"/>
          </a:p>
          <a:p>
            <a:pPr marL="0" lvl="0" indent="0" algn="l" rtl="0">
              <a:lnSpc>
                <a:spcPct val="10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355" name="Google Shape;355;p34"/>
          <p:cNvSpPr txBox="1">
            <a:spLocks noGrp="1"/>
          </p:cNvSpPr>
          <p:nvPr>
            <p:ph type="title"/>
          </p:nvPr>
        </p:nvSpPr>
        <p:spPr>
          <a:xfrm>
            <a:off x="457200" y="-19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Times New Roman"/>
              <a:buNone/>
            </a:pPr>
            <a:r>
              <a:rPr lang="en-US" sz="3600" b="1" u="sng">
                <a:latin typeface="Times New Roman"/>
                <a:ea typeface="Times New Roman"/>
                <a:cs typeface="Times New Roman"/>
                <a:sym typeface="Times New Roman"/>
              </a:rPr>
              <a:t>Accessing 2-D Array using for loop</a:t>
            </a:r>
            <a:endParaRPr/>
          </a:p>
        </p:txBody>
      </p:sp>
      <p:sp>
        <p:nvSpPr>
          <p:cNvPr id="356" name="Google Shape;356;p34"/>
          <p:cNvSpPr txBox="1"/>
          <p:nvPr/>
        </p:nvSpPr>
        <p:spPr>
          <a:xfrm>
            <a:off x="3886200" y="929878"/>
            <a:ext cx="4419600" cy="339447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int i, 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for(</a:t>
            </a:r>
            <a:r>
              <a:rPr lang="en-US" sz="2000" b="0" i="0" u="none" strike="noStrike" cap="none">
                <a:solidFill>
                  <a:schemeClr val="dk1"/>
                </a:solidFill>
                <a:latin typeface="Calibri"/>
                <a:ea typeface="Calibri"/>
                <a:cs typeface="Calibri"/>
                <a:sym typeface="Calibri"/>
              </a:rPr>
              <a:t>i=0; i&lt;3; i++</a:t>
            </a:r>
            <a:r>
              <a:rPr lang="en-US" sz="20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for(</a:t>
            </a:r>
            <a:r>
              <a:rPr lang="en-US" sz="2000" b="0" i="0" u="none" strike="noStrike" cap="none">
                <a:solidFill>
                  <a:schemeClr val="dk1"/>
                </a:solidFill>
                <a:latin typeface="Calibri"/>
                <a:ea typeface="Calibri"/>
                <a:cs typeface="Calibri"/>
                <a:sym typeface="Calibri"/>
              </a:rPr>
              <a:t>j=0; j&lt;2; j++</a:t>
            </a:r>
            <a:r>
              <a:rPr lang="en-US" sz="20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printf(“%d\t”, a[i][j]);</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printf(“\n”);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4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4">
                                            <p:txEl>
                                              <p:pRg st="0" end="0"/>
                                            </p:txEl>
                                          </p:spTgt>
                                        </p:tgtEl>
                                        <p:attrNameLst>
                                          <p:attrName>style.visibility</p:attrName>
                                        </p:attrNameLst>
                                      </p:cBhvr>
                                      <p:to>
                                        <p:strVal val="visible"/>
                                      </p:to>
                                    </p:set>
                                    <p:animEffect transition="in" filter="fade">
                                      <p:cBhvr>
                                        <p:cTn id="7" dur="500"/>
                                        <p:tgtEl>
                                          <p:spTgt spid="3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4">
                                            <p:txEl>
                                              <p:pRg st="1" end="1"/>
                                            </p:txEl>
                                          </p:spTgt>
                                        </p:tgtEl>
                                        <p:attrNameLst>
                                          <p:attrName>style.visibility</p:attrName>
                                        </p:attrNameLst>
                                      </p:cBhvr>
                                      <p:to>
                                        <p:strVal val="visible"/>
                                      </p:to>
                                    </p:set>
                                    <p:animEffect transition="in" filter="fade">
                                      <p:cBhvr>
                                        <p:cTn id="12" dur="500"/>
                                        <p:tgtEl>
                                          <p:spTgt spid="3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4">
                                            <p:txEl>
                                              <p:pRg st="2" end="2"/>
                                            </p:txEl>
                                          </p:spTgt>
                                        </p:tgtEl>
                                        <p:attrNameLst>
                                          <p:attrName>style.visibility</p:attrName>
                                        </p:attrNameLst>
                                      </p:cBhvr>
                                      <p:to>
                                        <p:strVal val="visible"/>
                                      </p:to>
                                    </p:set>
                                    <p:animEffect transition="in" filter="fade">
                                      <p:cBhvr>
                                        <p:cTn id="17" dur="500"/>
                                        <p:tgtEl>
                                          <p:spTgt spid="3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4">
                                            <p:txEl>
                                              <p:pRg st="3" end="3"/>
                                            </p:txEl>
                                          </p:spTgt>
                                        </p:tgtEl>
                                        <p:attrNameLst>
                                          <p:attrName>style.visibility</p:attrName>
                                        </p:attrNameLst>
                                      </p:cBhvr>
                                      <p:to>
                                        <p:strVal val="visible"/>
                                      </p:to>
                                    </p:set>
                                    <p:animEffect transition="in" filter="fade">
                                      <p:cBhvr>
                                        <p:cTn id="22" dur="500"/>
                                        <p:tgtEl>
                                          <p:spTgt spid="35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4">
                                            <p:txEl>
                                              <p:pRg st="4" end="4"/>
                                            </p:txEl>
                                          </p:spTgt>
                                        </p:tgtEl>
                                        <p:attrNameLst>
                                          <p:attrName>style.visibility</p:attrName>
                                        </p:attrNameLst>
                                      </p:cBhvr>
                                      <p:to>
                                        <p:strVal val="visible"/>
                                      </p:to>
                                    </p:set>
                                    <p:animEffect transition="in" filter="fade">
                                      <p:cBhvr>
                                        <p:cTn id="27" dur="500"/>
                                        <p:tgtEl>
                                          <p:spTgt spid="35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4">
                                            <p:txEl>
                                              <p:pRg st="5" end="5"/>
                                            </p:txEl>
                                          </p:spTgt>
                                        </p:tgtEl>
                                        <p:attrNameLst>
                                          <p:attrName>style.visibility</p:attrName>
                                        </p:attrNameLst>
                                      </p:cBhvr>
                                      <p:to>
                                        <p:strVal val="visible"/>
                                      </p:to>
                                    </p:set>
                                    <p:animEffect transition="in" filter="fade">
                                      <p:cBhvr>
                                        <p:cTn id="32" dur="500"/>
                                        <p:tgtEl>
                                          <p:spTgt spid="35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6">
                                            <p:txEl>
                                              <p:pRg st="0" end="0"/>
                                            </p:txEl>
                                          </p:spTgt>
                                        </p:tgtEl>
                                        <p:attrNameLst>
                                          <p:attrName>style.visibility</p:attrName>
                                        </p:attrNameLst>
                                      </p:cBhvr>
                                      <p:to>
                                        <p:strVal val="visible"/>
                                      </p:to>
                                    </p:set>
                                    <p:animEffect transition="in" filter="fade">
                                      <p:cBhvr>
                                        <p:cTn id="37" dur="500"/>
                                        <p:tgtEl>
                                          <p:spTgt spid="356">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56">
                                            <p:txEl>
                                              <p:pRg st="1" end="1"/>
                                            </p:txEl>
                                          </p:spTgt>
                                        </p:tgtEl>
                                        <p:attrNameLst>
                                          <p:attrName>style.visibility</p:attrName>
                                        </p:attrNameLst>
                                      </p:cBhvr>
                                      <p:to>
                                        <p:strVal val="visible"/>
                                      </p:to>
                                    </p:set>
                                    <p:animEffect transition="in" filter="fade">
                                      <p:cBhvr>
                                        <p:cTn id="42" dur="500"/>
                                        <p:tgtEl>
                                          <p:spTgt spid="356">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6">
                                            <p:txEl>
                                              <p:pRg st="2" end="2"/>
                                            </p:txEl>
                                          </p:spTgt>
                                        </p:tgtEl>
                                        <p:attrNameLst>
                                          <p:attrName>style.visibility</p:attrName>
                                        </p:attrNameLst>
                                      </p:cBhvr>
                                      <p:to>
                                        <p:strVal val="visible"/>
                                      </p:to>
                                    </p:set>
                                    <p:animEffect transition="in" filter="fade">
                                      <p:cBhvr>
                                        <p:cTn id="47" dur="500"/>
                                        <p:tgtEl>
                                          <p:spTgt spid="356">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56">
                                            <p:txEl>
                                              <p:pRg st="3" end="3"/>
                                            </p:txEl>
                                          </p:spTgt>
                                        </p:tgtEl>
                                        <p:attrNameLst>
                                          <p:attrName>style.visibility</p:attrName>
                                        </p:attrNameLst>
                                      </p:cBhvr>
                                      <p:to>
                                        <p:strVal val="visible"/>
                                      </p:to>
                                    </p:set>
                                    <p:animEffect transition="in" filter="fade">
                                      <p:cBhvr>
                                        <p:cTn id="52" dur="500"/>
                                        <p:tgtEl>
                                          <p:spTgt spid="356">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56">
                                            <p:txEl>
                                              <p:pRg st="4" end="4"/>
                                            </p:txEl>
                                          </p:spTgt>
                                        </p:tgtEl>
                                        <p:attrNameLst>
                                          <p:attrName>style.visibility</p:attrName>
                                        </p:attrNameLst>
                                      </p:cBhvr>
                                      <p:to>
                                        <p:strVal val="visible"/>
                                      </p:to>
                                    </p:set>
                                    <p:animEffect transition="in" filter="fade">
                                      <p:cBhvr>
                                        <p:cTn id="57" dur="500"/>
                                        <p:tgtEl>
                                          <p:spTgt spid="356">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56">
                                            <p:txEl>
                                              <p:pRg st="5" end="5"/>
                                            </p:txEl>
                                          </p:spTgt>
                                        </p:tgtEl>
                                        <p:attrNameLst>
                                          <p:attrName>style.visibility</p:attrName>
                                        </p:attrNameLst>
                                      </p:cBhvr>
                                      <p:to>
                                        <p:strVal val="visible"/>
                                      </p:to>
                                    </p:set>
                                    <p:animEffect transition="in" filter="fade">
                                      <p:cBhvr>
                                        <p:cTn id="62" dur="500"/>
                                        <p:tgtEl>
                                          <p:spTgt spid="356">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56">
                                            <p:txEl>
                                              <p:pRg st="6" end="6"/>
                                            </p:txEl>
                                          </p:spTgt>
                                        </p:tgtEl>
                                        <p:attrNameLst>
                                          <p:attrName>style.visibility</p:attrName>
                                        </p:attrNameLst>
                                      </p:cBhvr>
                                      <p:to>
                                        <p:strVal val="visible"/>
                                      </p:to>
                                    </p:set>
                                    <p:animEffect transition="in" filter="fade">
                                      <p:cBhvr>
                                        <p:cTn id="67" dur="500"/>
                                        <p:tgtEl>
                                          <p:spTgt spid="356">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56">
                                            <p:txEl>
                                              <p:pRg st="7" end="7"/>
                                            </p:txEl>
                                          </p:spTgt>
                                        </p:tgtEl>
                                        <p:attrNameLst>
                                          <p:attrName>style.visibility</p:attrName>
                                        </p:attrNameLst>
                                      </p:cBhvr>
                                      <p:to>
                                        <p:strVal val="visible"/>
                                      </p:to>
                                    </p:set>
                                    <p:animEffect transition="in" filter="fade">
                                      <p:cBhvr>
                                        <p:cTn id="72" dur="500"/>
                                        <p:tgtEl>
                                          <p:spTgt spid="356">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56">
                                            <p:txEl>
                                              <p:pRg st="8" end="8"/>
                                            </p:txEl>
                                          </p:spTgt>
                                        </p:tgtEl>
                                        <p:attrNameLst>
                                          <p:attrName>style.visibility</p:attrName>
                                        </p:attrNameLst>
                                      </p:cBhvr>
                                      <p:to>
                                        <p:strVal val="visible"/>
                                      </p:to>
                                    </p:set>
                                    <p:animEffect transition="in" filter="fade">
                                      <p:cBhvr>
                                        <p:cTn id="77" dur="500"/>
                                        <p:tgtEl>
                                          <p:spTgt spid="356">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56">
                                            <p:txEl>
                                              <p:pRg st="9" end="9"/>
                                            </p:txEl>
                                          </p:spTgt>
                                        </p:tgtEl>
                                        <p:attrNameLst>
                                          <p:attrName>style.visibility</p:attrName>
                                        </p:attrNameLst>
                                      </p:cBhvr>
                                      <p:to>
                                        <p:strVal val="visible"/>
                                      </p:to>
                                    </p:set>
                                    <p:animEffect transition="in" filter="fade">
                                      <p:cBhvr>
                                        <p:cTn id="82" dur="500"/>
                                        <p:tgtEl>
                                          <p:spTgt spid="35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5"/>
          <p:cNvSpPr txBox="1"/>
          <p:nvPr/>
        </p:nvSpPr>
        <p:spPr>
          <a:xfrm>
            <a:off x="609600" y="2419350"/>
            <a:ext cx="8229600" cy="85725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dk1"/>
              </a:buClr>
              <a:buSzPts val="4000"/>
              <a:buFont typeface="Calibri"/>
              <a:buNone/>
            </a:pPr>
            <a:r>
              <a:rPr lang="en-US" sz="4000" b="1" i="0" u="none" strike="noStrike" cap="none">
                <a:solidFill>
                  <a:schemeClr val="dk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2404</Words>
  <PresentationFormat>On-screen Show (16:9)</PresentationFormat>
  <Paragraphs>433</Paragraphs>
  <Slides>36</Slides>
  <Notes>36</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Slide 1</vt:lpstr>
      <vt:lpstr>Array</vt:lpstr>
      <vt:lpstr>Slide 3</vt:lpstr>
      <vt:lpstr>CONTINUE</vt:lpstr>
      <vt:lpstr>Why do we need arrays?</vt:lpstr>
      <vt:lpstr>Array Representation</vt:lpstr>
      <vt:lpstr>More on Array representation</vt:lpstr>
      <vt:lpstr>Array Initialization</vt:lpstr>
      <vt:lpstr>Accessing array elements</vt:lpstr>
      <vt:lpstr>Arrays and Loops</vt:lpstr>
      <vt:lpstr>More on accessing arrays</vt:lpstr>
      <vt:lpstr>Traversing an array</vt:lpstr>
      <vt:lpstr>Searching for an element in an array</vt:lpstr>
      <vt:lpstr>Variable Length Arrays</vt:lpstr>
      <vt:lpstr>Variable length arrays…</vt:lpstr>
      <vt:lpstr>Basic understanding</vt:lpstr>
      <vt:lpstr>Without Array</vt:lpstr>
      <vt:lpstr>With Array</vt:lpstr>
      <vt:lpstr>Type of Array</vt:lpstr>
      <vt:lpstr>One Dimensional Array</vt:lpstr>
      <vt:lpstr>Declaring One-D Array</vt:lpstr>
      <vt:lpstr>Initializing One-D Array</vt:lpstr>
      <vt:lpstr>Declaration and Initialization One-D Array</vt:lpstr>
      <vt:lpstr>Memory Allocation One-D Array</vt:lpstr>
      <vt:lpstr>Accessing One-D Array Elements</vt:lpstr>
      <vt:lpstr>Accessing 1-D Array using loop</vt:lpstr>
      <vt:lpstr>Two Dimensional Array</vt:lpstr>
      <vt:lpstr>Declaring Two-D Array</vt:lpstr>
      <vt:lpstr>Why These Rules?</vt:lpstr>
      <vt:lpstr>Initializing Two-D Array</vt:lpstr>
      <vt:lpstr>Declaration and Initialization Two-D Array</vt:lpstr>
      <vt:lpstr>Declaration and Initialization Two-D Array</vt:lpstr>
      <vt:lpstr>Memory Allocation in Two-D Array</vt:lpstr>
      <vt:lpstr>Accessing Two-D Array</vt:lpstr>
      <vt:lpstr>Accessing 2-D Array using for loop</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RK</dc:creator>
  <cp:lastModifiedBy>Windows User</cp:lastModifiedBy>
  <cp:revision>5</cp:revision>
  <dcterms:created xsi:type="dcterms:W3CDTF">2006-08-16T00:00:00Z</dcterms:created>
  <dcterms:modified xsi:type="dcterms:W3CDTF">2026-01-24T06:32:27Z</dcterms:modified>
</cp:coreProperties>
</file>